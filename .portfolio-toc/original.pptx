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Microsoft YaHei" panose="020B0503020204020204" pitchFamily="34" charset="-122"/>
      <p:regular r:id="rId12"/>
      <p:bold r:id="rId13"/>
    </p:embeddedFont>
    <p:embeddedFont>
      <p:font typeface="Calibri" panose="020F0502020204030204" pitchFamily="34" charset="0"/>
      <p:regular r:id="rId14"/>
      <p:bold r:id="rId15"/>
      <p:italic r:id="rId16"/>
      <p:boldItalic r:id="rId17"/>
    </p:embeddedFont>
    <p:embeddedFont>
      <p:font typeface="Montserrat" panose="00000500000000000000" pitchFamily="2" charset="0"/>
      <p:regular r:id="rId18"/>
      <p:bold r:id="rId19"/>
      <p:italic r:id="rId20"/>
      <p:boldItalic r:id="rId21"/>
    </p:embeddedFont>
    <p:embeddedFont>
      <p:font typeface="Montserrat Bold" panose="00000800000000000000" pitchFamily="2" charset="0"/>
      <p:regular r:id="rId22"/>
      <p:bold r:id="rId23"/>
    </p:embeddedFont>
    <p:embeddedFont>
      <p:font typeface="Proxima Nova Light" panose="02010600030101010101" charset="0"/>
      <p:regular r:id="rId24"/>
    </p:embeddedFont>
  </p:embeddedFontLst>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6" d="100"/>
          <a:sy n="66" d="100"/>
        </p:scale>
        <p:origin x="9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independently designed and developed the application, integrating document processing, semantic retrieval, real-time 3D graphics and reading interactions. My application uses third-party frameworks and pretrained models. The independent ownership statement reflects the applicant’s explicit account of their development role.</a:t>
            </a:r>
          </a:p>
          <a:p>
            <a:endParaRPr/>
          </a:p>
          <a:p>
            <a:r>
              <a:t>Project sources:</a:t>
            </a:r>
          </a:p>
          <a:p>
            <a:r>
              <a:t>C:/Users/Asus/Desktop/PDF_GalaxAI/README.md</a:t>
            </a:r>
          </a:p>
          <a:p>
            <a:r>
              <a:t>C:/Users/Asus/Desktop/PDF_GalaxAI/package.json</a:t>
            </a:r>
          </a:p>
          <a:p>
            <a:r>
              <a:t>C:/Users/Asus/Desktop/PDF_GalaxAI/backend/store.py</a:t>
            </a:r>
          </a:p>
          <a:p>
            <a:r>
              <a:t>C:/Users/Asus/Desktop/PDF_GalaxAI/frontend/src/ui/App.tsx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objectives express the product’s design rationale for research workflows. They are design hypotheses, not findings from a completed user interview study. The project materials do not document a formal user research sample.</a:t>
            </a:r>
          </a:p>
          <a:p>
            <a:endParaRPr/>
          </a:p>
          <a:p>
            <a:r>
              <a:t>Project sources:</a:t>
            </a:r>
          </a:p>
          <a:p>
            <a:r>
              <a:t>C:/Users/Asus/Desktop/PDF_GalaxAI/README.md</a:t>
            </a:r>
          </a:p>
          <a:p>
            <a:r>
              <a:t>C:/Users/Asus/Desktop/PDF_GalaxAI/frontend/src/ui/App.tsx</a:t>
            </a:r>
          </a:p>
          <a:p>
            <a:r>
              <a:t>C:/Users/Asus/Desktop/PDF_GalaxAI/frontend/src/ui/ReaderModal.tsx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App component owns selectedPaper, readerPaper, attachedPapers and activeHighlights. Search performs case-insensitive substring matching on titles, display titles, filenames and keywords. Node selection and right-click add-to-chat connect the galaxy to reading and questioning. The UI search is not a vector search.</a:t>
            </a:r>
          </a:p>
          <a:p>
            <a:endParaRPr/>
          </a:p>
          <a:p>
            <a:r>
              <a:t>Project sources:</a:t>
            </a:r>
          </a:p>
          <a:p>
            <a:r>
              <a:t>C:/Users/Asus/Desktop/PDF_GalaxAI/frontend/src/ui/App.tsx</a:t>
            </a:r>
          </a:p>
          <a:p>
            <a:r>
              <a:t>C:/Users/Asus/Desktop/PDF_GalaxAI/frontend/src/ui/GalaxyArea.tsx</a:t>
            </a:r>
          </a:p>
          <a:p>
            <a:r>
              <a:t>C:/Users/Asus/Desktop/PDF_GalaxAI/frontend/src/rendering/GalaxyRenderer.tsx</a:t>
            </a:r>
          </a:p>
          <a:p>
            <a:r>
              <a:t>C:/Users/Asus/Desktop/PDF_GalaxAI/frontend/src/ui/PaperDetail.tsx</a:t>
            </a:r>
          </a:p>
          <a:p>
            <a:endParaRPr/>
          </a:p>
          <a:p>
            <a:r>
              <a:t>A normal workflow is upload, graph exploration, paper context attachment, model/mode selection, question, citation and PDF reading. ModelPicker exposes built-in local/cloud and custom configurations. ModelManager offers protocol, endpoint, credentials, proxy selection and test connection. An index status warning indicates an embedding-model mismatch and offers a rebuild. Provider switching changes generation, not the local embedding representation. Vision questions require a compatible model and can use an uploaded or pasted screenshot in ReaderChat.</a:t>
            </a:r>
          </a:p>
          <a:p>
            <a:endParaRPr/>
          </a:p>
          <a:p>
            <a:r>
              <a:t>Project sources:</a:t>
            </a:r>
          </a:p>
          <a:p>
            <a:r>
              <a:t>C:/Users/Asus/Desktop/PDF_GalaxAI/frontend/src/ui/ModelPicker.tsx</a:t>
            </a:r>
          </a:p>
          <a:p>
            <a:r>
              <a:t>C:/Users/Asus/Desktop/PDF_GalaxAI/frontend/src/ui/ModelManager.tsx</a:t>
            </a:r>
          </a:p>
          <a:p>
            <a:r>
              <a:t>C:/Users/Asus/Desktop/PDF_GalaxAI/frontend/src/ui/IndexAdmin.tsx</a:t>
            </a:r>
          </a:p>
          <a:p>
            <a:r>
              <a:t>C:/Users/Asus/Desktop/PDF_GalaxAI/frontend/src/ui/ReaderChat.tsx</a:t>
            </a:r>
          </a:p>
          <a:p>
            <a:r>
              <a:t>C:/Users/Asus/Desktop/PDF_GalaxAI/backend/models_registry.py</a:t>
            </a:r>
          </a:p>
          <a:p>
            <a:r>
              <a:t>C:/Users/Asus/Desktop/PDF_GalaxAI/backend/llm_client.py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Paper-level embeddings use the abstract and keywords. KMeans selects a cluster count using cosine silhouette scores where possible. UMAP/PCA produces three-dimensional coordinates, then store.py tightens and offsets clusters for separation. One to three papers use fixed positions. Position is an exploratory projection and not an exact semantic distance. Similarity edges use cosine top-4 neighbours and a 0.20 cutoff. The renderer currently draws edges with a common visual style, so it should not be described as encoding edge weight by line intensity. Nebula shading uses a sampled density field and a GPU particle system. 3D benefits remain a usability hypothesis pending comparison with list and 2D layouts.</a:t>
            </a:r>
          </a:p>
          <a:p>
            <a:endParaRPr/>
          </a:p>
          <a:p>
            <a:r>
              <a:t>Project sources:</a:t>
            </a:r>
          </a:p>
          <a:p>
            <a:r>
              <a:t>C:/Users/Asus/Desktop/PDF_GalaxAI/backend/store.py</a:t>
            </a:r>
          </a:p>
          <a:p>
            <a:r>
              <a:t>C:/Users/Asus/Desktop/PDF_GalaxAI/backend/clustering.py</a:t>
            </a:r>
          </a:p>
          <a:p>
            <a:r>
              <a:t>C:/Users/Asus/Desktop/PDF_GalaxAI/backend/api.py</a:t>
            </a:r>
          </a:p>
          <a:p>
            <a:r>
              <a:t>C:/Users/Asus/Desktop/PDF_GalaxAI/frontend/src/rendering/GalaxyRenderer.tsx</a:t>
            </a:r>
          </a:p>
          <a:p>
            <a:r>
              <a:t>C:/Users/Asus/Desktop/PDF_GalaxAI/frontend/src/rendering/SemanticNebula.tsx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default embedding model is BAAI/bge-m3, configurable through SCHOLAR_ST_MODEL. Paper embeddings use abstract and keyword text. chunk_text uses a 500-character window and 100-character overlap, preferring sentence boundaries. Indexing filters very short or poor-quality chunks. The vector store has separate scholar_papers and scholar_chunks collections with cosine distance. OCR is optional and falls back to native extraction when Tesseract is unavailable. MinerU requires a separate CLI installation. Auto keywords use corpus TF-IDF, mixed-language tokenisation and MMR diversity; declared keywords remain preserved.</a:t>
            </a:r>
          </a:p>
          <a:p>
            <a:endParaRPr/>
          </a:p>
          <a:p>
            <a:r>
              <a:t>Project sources:</a:t>
            </a:r>
          </a:p>
          <a:p>
            <a:r>
              <a:t>C:/Users/Asus/Desktop/PDF_GalaxAI/backend/text_processing.py</a:t>
            </a:r>
          </a:p>
          <a:p>
            <a:r>
              <a:t>C:/Users/Asus/Desktop/PDF_GalaxAI/backend/chunker.py</a:t>
            </a:r>
          </a:p>
          <a:p>
            <a:r>
              <a:t>C:/Users/Asus/Desktop/PDF_GalaxAI/backend/store.py</a:t>
            </a:r>
          </a:p>
          <a:p>
            <a:r>
              <a:t>C:/Users/Asus/Desktop/PDF_GalaxAI/backend/vector_store.py</a:t>
            </a:r>
          </a:p>
          <a:p>
            <a:r>
              <a:t>C:/Users/Asus/Desktop/PDF_GalaxAI/backend/keyword_extractor.py</a:t>
            </a:r>
          </a:p>
          <a:p>
            <a:r>
              <a:t>C:/Users/Asus/Desktop/PDF_GalaxAI/backend/mineru_parser.py</a:t>
            </a:r>
          </a:p>
          <a:p>
            <a:endParaRPr/>
          </a:p>
          <a:p>
            <a:r>
              <a:t>search_chunks fetches max(top_k*5,20) candidate chunks, then applies a weighted reranking score: 0.72 semantic similarity, 0.18 lexical overlap and 0.10 text quality. The main query endpoint generally selects five chunks, or six in a named-paper search. Auto routing uses retrieval quality and raw semantic scores to choose rag, rag_soft or chat. Forced RAG without chunks can use rag_soft, so the product does not implement a universal strict refusal policy. The backend sends context and recent dialogue to the chosen provider and returns answer, cite_details, provider_used and mode. RAG improves access to evidence but does not eliminate hallucination.</a:t>
            </a:r>
          </a:p>
          <a:p>
            <a:endParaRPr/>
          </a:p>
          <a:p>
            <a:r>
              <a:t>Project sources:</a:t>
            </a:r>
          </a:p>
          <a:p>
            <a:r>
              <a:t>C:/Users/Asus/Desktop/PDF_GalaxAI/backend/store.py</a:t>
            </a:r>
          </a:p>
          <a:p>
            <a:r>
              <a:t>C:/Users/Asus/Desktop/PDF_GalaxAI/backend/api.py</a:t>
            </a:r>
          </a:p>
          <a:p>
            <a:r>
              <a:t>C:/Users/Asus/Desktop/PDF_GalaxAI/backend/llm_client.py</a:t>
            </a:r>
          </a:p>
          <a:p>
            <a:r>
              <a:t>C:/Users/Asus/Desktop/PDF_GalaxAI/frontend/src/api/client.ts</a:t>
            </a:r>
          </a:p>
          <a:p>
            <a:r>
              <a:t>C:/Users/Asus/Desktop/PDF_GalaxAI/frontend/src/ui/App.tsx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backend attaches references for the retrieved passages, then locate_snippet_page searches native PDF page text using normalised snippets and a keyword fallback. The main and reader chats render citation chips and source cards. Paragraph-to-source associations use lexical matching with a fallback, not semantic entailment verification. PdfReaderPane highlights matching PDF text-layer items and scrolls to the first hit. OCR-only pages, layout differences, or ambiguous keywords may prevent precise location. Citations expose possible supporting material; they do not prove every generated claim.</a:t>
            </a:r>
          </a:p>
          <a:p>
            <a:endParaRPr/>
          </a:p>
          <a:p>
            <a:r>
              <a:t>Project sources:</a:t>
            </a:r>
          </a:p>
          <a:p>
            <a:r>
              <a:t>C:/Users/Asus/Desktop/PDF_GalaxAI/backend/store.py</a:t>
            </a:r>
          </a:p>
          <a:p>
            <a:r>
              <a:t>C:/Users/Asus/Desktop/PDF_GalaxAI/backend/api.py</a:t>
            </a:r>
          </a:p>
          <a:p>
            <a:r>
              <a:t>C:/Users/Asus/Desktop/PDF_GalaxAI/frontend/src/ui/App.tsx</a:t>
            </a:r>
          </a:p>
          <a:p>
            <a:r>
              <a:t>C:/Users/Asus/Desktop/PDF_GalaxAI/frontend/src/ui/ReaderChat.tsx</a:t>
            </a:r>
          </a:p>
          <a:p>
            <a:r>
              <a:t>C:/Users/Asus/Desktop/PDF_GalaxAI/frontend/src/ui/ReaderModal.tsx</a:t>
            </a:r>
          </a:p>
          <a:p>
            <a:r>
              <a:t>C:/Users/Asus/Desktop/PDF_GalaxAI/frontend/src/ui/PdfReaderPane.tsx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frontend uses REST fetch calls, not a streaming websocket RAG channel. Vite development proxies /api and /files to 127.0.0.1:8000. Backend startup imports inbox PDFs and restores/checks indexes. Files and metadata use local directories and JSON. Chroma telemetry is disabled in VectorStore. Local Ollama is a built-in OpenAI-compatible provider; Gemini and custom providers share the model registry and HTTP client. Cloud inference receives prompt context and vision images when used. Embedding model acquisition may require network access initially. The project is a local research application and does not document production authentication or deployment hardening.</a:t>
            </a:r>
          </a:p>
          <a:p>
            <a:endParaRPr/>
          </a:p>
          <a:p>
            <a:r>
              <a:t>Project sources:</a:t>
            </a:r>
          </a:p>
          <a:p>
            <a:r>
              <a:t>C:/Users/Asus/Desktop/PDF_GalaxAI/vite.config.ts</a:t>
            </a:r>
          </a:p>
          <a:p>
            <a:r>
              <a:t>C:/Users/Asus/Desktop/PDF_GalaxAI/backend/main.py</a:t>
            </a:r>
          </a:p>
          <a:p>
            <a:r>
              <a:t>C:/Users/Asus/Desktop/PDF_GalaxAI/backend/api.py</a:t>
            </a:r>
          </a:p>
          <a:p>
            <a:r>
              <a:t>C:/Users/Asus/Desktop/PDF_GalaxAI/backend/store.py</a:t>
            </a:r>
          </a:p>
          <a:p>
            <a:r>
              <a:t>C:/Users/Asus/Desktop/PDF_GalaxAI/backend/vector_store.py</a:t>
            </a:r>
          </a:p>
          <a:p>
            <a:r>
              <a:t>C:/Users/Asus/Desktop/PDF_GalaxAI/backend/models_registry.py</a:t>
            </a:r>
          </a:p>
          <a:p>
            <a:r>
              <a:t>C:/Users/Asus/Desktop/PDF_GalaxAI/backend/llm_client.py</a:t>
            </a:r>
          </a:p>
          <a:p>
            <a:r>
              <a:t>C:/Users/Asus/Desktop/PDF_GalaxAI/frontend/src/ui/App.tsx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 reports: DEMO records occlusion, responsiveness and directory sync issues; v1.1.1 records a pass for filename hover, nebula occlusion improvement and preview. The v1.2 folder report labels itself v1.1.1 and records keyboard/preview layout issues without a final resolution table. The current code includes bounded OrbitControls, adaptive rendering presets, quality-aware chunk reranking, keyword filtering, OCR/parser fallbacks, PDF viewer fallback, index warnings, model tests and graph refresh retries. Do not equate code presence with a completed regression pass. No benchmark supports a speed improvement percentage.</a:t>
            </a:r>
          </a:p>
          <a:p>
            <a:endParaRPr/>
          </a:p>
          <a:p>
            <a:r>
              <a:t>Project sources:</a:t>
            </a:r>
          </a:p>
          <a:p>
            <a:r>
              <a:t>C:/Users/Asus/Desktop/PDF_GalaxAI/tests/test_v1/Test_report_v1.md</a:t>
            </a:r>
          </a:p>
          <a:p>
            <a:r>
              <a:t>C:/Users/Asus/Desktop/PDF_GalaxAI/tests/test_v1.1.1/Test_report_v1.1.1.md</a:t>
            </a:r>
          </a:p>
          <a:p>
            <a:r>
              <a:t>C:/Users/Asus/Desktop/PDF_GalaxAI/tests/test_v1.2/Test_report_v1.2.md</a:t>
            </a:r>
          </a:p>
          <a:p>
            <a:r>
              <a:t>C:/Users/Asus/Desktop/PDF_GalaxAI/frontend/src/rendering/GalaxyRenderer.tsx</a:t>
            </a:r>
          </a:p>
          <a:p>
            <a:r>
              <a:t>C:/Users/Asus/Desktop/PDF_GalaxAI/frontend/src/rendering/SemanticNebula.tsx</a:t>
            </a:r>
          </a:p>
          <a:p>
            <a:r>
              <a:t>C:/Users/Asus/Desktop/PDF_GalaxAI/frontend/src/ui/App.tsx</a:t>
            </a:r>
          </a:p>
          <a:p>
            <a:r>
              <a:t>C:/Users/Asus/Desktop/PDF_GalaxAI/backend/keyword_extractor.py</a:t>
            </a:r>
          </a:p>
          <a:p>
            <a:endParaRPr/>
          </a:p>
          <a:p>
            <a:r>
              <a:t>The frontend production build completes and emits a large-bundle warning. The project’s manual test reports cover earlier versions, including preview, tooltip and nebula occlusion checks. A working end-to-end RAG setup requires Chroma, the embedding model and a configured inference provider. Build success does not establish retrieval accuracy or user-efficiency gains. Formal user studies and rendering performance benchmarks remain future evaluation work.</a:t>
            </a:r>
          </a:p>
          <a:p>
            <a:endParaRPr/>
          </a:p>
          <a:p>
            <a:r>
              <a:t>Project sources:</a:t>
            </a:r>
          </a:p>
          <a:p>
            <a:r>
              <a:t>C:/Users/Asus/Desktop/PDF_GalaxAI/package.json</a:t>
            </a:r>
          </a:p>
          <a:p>
            <a:r>
              <a:t>C:/Users/Asus/Desktop/PDF_GalaxAI/backend/requirements.txt</a:t>
            </a:r>
          </a:p>
          <a:p>
            <a:r>
              <a:t>C:/Users/Asus/Desktop/PDF_GalaxAI/tests/test_v1.1.1/Test_report_v1.1.1.md</a:t>
            </a:r>
          </a:p>
          <a:p>
            <a:r>
              <a:t>C:/Users/Asus/Desktop/PDF_GalaxAI/GRAPHICS_RESEARCH.md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Personal contribution: independent application-level product design and development, according to the applicant’s explicit statement. Third-party foundations include React, Vite, Three.js, FastAPI, Chroma, PDF.js, BGE-M3 and selected inference models. Proposed evaluations are future work: list/2D/3D comparisons, task completion and usability, retrieval precision and source-alignment accuracy, and graphics performance. No planned metric appears as a completed result.</a:t>
            </a:r>
          </a:p>
          <a:p>
            <a:endParaRPr/>
          </a:p>
          <a:p>
            <a:r>
              <a:t>Project sources:</a:t>
            </a:r>
          </a:p>
          <a:p>
            <a:r>
              <a:t>C:/Users/Asus/Desktop/PDF_GalaxAI/README.md</a:t>
            </a:r>
          </a:p>
          <a:p>
            <a:r>
              <a:t>C:/Users/Asus/Desktop/PDF_GalaxAI/package.json</a:t>
            </a:r>
          </a:p>
          <a:p>
            <a:r>
              <a:t>C:/Users/Asus/Desktop/PDF_GalaxAI/backend/requirements.txt</a:t>
            </a:r>
          </a:p>
          <a:p>
            <a:r>
              <a:t>C:/Users/Asus/Desktop/PDF_GalaxAI/GRAPHICS_RESEARCH.md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6BE68-7E6C-48BA-BC89-38892C1B582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6672D54D-174B-4FC9-B282-1C9BAFF0B721}"/>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9E112ADC-F8B3-497F-AC0D-665C39ACE824}"/>
              </a:ext>
            </a:extLst>
          </p:cNvPr>
          <p:cNvSpPr>
            <a:spLocks noGrp="1"/>
          </p:cNvSpPr>
          <p:nvPr>
            <p:ph type="dt" idx="10"/>
          </p:nvPr>
        </p:nvSpPr>
        <p:spPr/>
        <p:txBody>
          <a:bodyPr/>
          <a:lstStyle/>
          <a:p>
            <a:fld id="{1D8BD707-D9CF-40AE-B4C6-C98DA3205C09}" type="datetimeFigureOut">
              <a:t>2026/10/12</a:t>
            </a:fld>
            <a:endParaRPr/>
          </a:p>
        </p:txBody>
      </p:sp>
      <p:sp>
        <p:nvSpPr>
          <p:cNvPr id="5" name="Footer Placeholder 4">
            <a:extLst>
              <a:ext uri="{FF2B5EF4-FFF2-40B4-BE49-F238E27FC236}">
                <a16:creationId xmlns:a16="http://schemas.microsoft.com/office/drawing/2014/main" id="{7E15E4D2-9F45-4653-85C2-54C55EB0831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BC7BBE7-F96C-4B01-8157-5A179C2ECD54}"/>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7B283-9DB8-46B3-B075-3A0F5BC45E0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331B51F9-4D5C-41F8-A344-D53AAFEFBE41}"/>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3ACDA34-0620-4447-B567-94A912730E0D}"/>
              </a:ext>
            </a:extLst>
          </p:cNvPr>
          <p:cNvSpPr>
            <a:spLocks noGrp="1"/>
          </p:cNvSpPr>
          <p:nvPr>
            <p:ph type="dt" idx="10"/>
          </p:nvPr>
        </p:nvSpPr>
        <p:spPr/>
        <p:txBody>
          <a:bodyPr/>
          <a:lstStyle/>
          <a:p>
            <a:fld id="{1D8BD707-D9CF-40AE-B4C6-C98DA3205C09}" type="datetimeFigureOut">
              <a:t>2026/10/12</a:t>
            </a:fld>
            <a:endParaRPr/>
          </a:p>
        </p:txBody>
      </p:sp>
      <p:sp>
        <p:nvSpPr>
          <p:cNvPr id="5" name="Footer Placeholder 4">
            <a:extLst>
              <a:ext uri="{FF2B5EF4-FFF2-40B4-BE49-F238E27FC236}">
                <a16:creationId xmlns:a16="http://schemas.microsoft.com/office/drawing/2014/main" id="{A10948F3-B3B0-43F9-ADDE-9950155E454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77D04C7-4FAC-4747-BDA7-6F3976321BE5}"/>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F26CA-3948-4244-8000-29FB4BC50E60}"/>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191F7F1E-A79E-454C-AF41-1A2B16E9B001}"/>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673E446-07E0-4CD7-9751-3A644F54B8A0}"/>
              </a:ext>
            </a:extLst>
          </p:cNvPr>
          <p:cNvSpPr>
            <a:spLocks noGrp="1"/>
          </p:cNvSpPr>
          <p:nvPr>
            <p:ph type="dt" idx="10"/>
          </p:nvPr>
        </p:nvSpPr>
        <p:spPr/>
        <p:txBody>
          <a:bodyPr/>
          <a:lstStyle/>
          <a:p>
            <a:fld id="{1D8BD707-D9CF-40AE-B4C6-C98DA3205C09}" type="datetimeFigureOut">
              <a:t>2026/10/12</a:t>
            </a:fld>
            <a:endParaRPr/>
          </a:p>
        </p:txBody>
      </p:sp>
      <p:sp>
        <p:nvSpPr>
          <p:cNvPr id="5" name="Footer Placeholder 4">
            <a:extLst>
              <a:ext uri="{FF2B5EF4-FFF2-40B4-BE49-F238E27FC236}">
                <a16:creationId xmlns:a16="http://schemas.microsoft.com/office/drawing/2014/main" id="{BB89834F-8E6D-46A0-B820-66703DC4603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BE54659-CE98-4158-A615-29326691E387}"/>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5CFAF-7219-4C09-8AA3-2023086540D7}"/>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7CAF852-7459-4966-8461-619B8C81C063}"/>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CE88E3B-C13C-440C-B90A-A07F4E031D07}"/>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71AF3322-0354-4A60-BA03-FC7C86DA0E4F}"/>
              </a:ext>
            </a:extLst>
          </p:cNvPr>
          <p:cNvSpPr>
            <a:spLocks noGrp="1"/>
          </p:cNvSpPr>
          <p:nvPr>
            <p:ph type="dt" idx="10"/>
          </p:nvPr>
        </p:nvSpPr>
        <p:spPr/>
        <p:txBody>
          <a:bodyPr/>
          <a:lstStyle/>
          <a:p>
            <a:fld id="{1D8BD707-D9CF-40AE-B4C6-C98DA3205C09}" type="datetimeFigureOut">
              <a:t>2026/10/12</a:t>
            </a:fld>
            <a:endParaRPr/>
          </a:p>
        </p:txBody>
      </p:sp>
      <p:sp>
        <p:nvSpPr>
          <p:cNvPr id="6" name="Footer Placeholder 5">
            <a:extLst>
              <a:ext uri="{FF2B5EF4-FFF2-40B4-BE49-F238E27FC236}">
                <a16:creationId xmlns:a16="http://schemas.microsoft.com/office/drawing/2014/main" id="{F8CA2BA9-3096-441D-9B97-0C6461128DE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A65A5CF-AEB2-48E4-8C25-8AF3A833E5F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A5819-A2B5-4530-9679-1A824D41A10C}"/>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74FBA993-212D-4877-AAB5-BF31DA0E3FFC}"/>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8F34BA19-0321-4149-89D5-EDC70F80EBCB}"/>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A6D9253-7587-47B5-BA0A-E32231AF4633}"/>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CE0C06EE-D744-4D7C-AB41-FED43C588873}"/>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5E48E741-5DBF-4CF9-AA02-D620E79DD5D5}"/>
              </a:ext>
            </a:extLst>
          </p:cNvPr>
          <p:cNvSpPr>
            <a:spLocks noGrp="1"/>
          </p:cNvSpPr>
          <p:nvPr>
            <p:ph type="dt" idx="10"/>
          </p:nvPr>
        </p:nvSpPr>
        <p:spPr/>
        <p:txBody>
          <a:bodyPr/>
          <a:lstStyle/>
          <a:p>
            <a:fld id="{1D8BD707-D9CF-40AE-B4C6-C98DA3205C09}" type="datetimeFigureOut">
              <a:t>2026/10/12</a:t>
            </a:fld>
            <a:endParaRPr/>
          </a:p>
        </p:txBody>
      </p:sp>
      <p:sp>
        <p:nvSpPr>
          <p:cNvPr id="8" name="Footer Placeholder 7">
            <a:extLst>
              <a:ext uri="{FF2B5EF4-FFF2-40B4-BE49-F238E27FC236}">
                <a16:creationId xmlns:a16="http://schemas.microsoft.com/office/drawing/2014/main" id="{08B2EDD8-068A-4E78-AC92-FA368AA69C41}"/>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CCFFBEA6-31BB-46BB-80B3-FC79F11C8C3B}"/>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829E3-08B7-4056-A4B9-364D4913BE52}"/>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11247904-AD95-447D-8515-4DEB461A32A4}"/>
              </a:ext>
            </a:extLst>
          </p:cNvPr>
          <p:cNvSpPr>
            <a:spLocks noGrp="1"/>
          </p:cNvSpPr>
          <p:nvPr>
            <p:ph type="dt" idx="10"/>
          </p:nvPr>
        </p:nvSpPr>
        <p:spPr/>
        <p:txBody>
          <a:bodyPr/>
          <a:lstStyle/>
          <a:p>
            <a:fld id="{1D8BD707-D9CF-40AE-B4C6-C98DA3205C09}" type="datetimeFigureOut">
              <a:t>2026/10/12</a:t>
            </a:fld>
            <a:endParaRPr/>
          </a:p>
        </p:txBody>
      </p:sp>
      <p:sp>
        <p:nvSpPr>
          <p:cNvPr id="4" name="Footer Placeholder 3">
            <a:extLst>
              <a:ext uri="{FF2B5EF4-FFF2-40B4-BE49-F238E27FC236}">
                <a16:creationId xmlns:a16="http://schemas.microsoft.com/office/drawing/2014/main" id="{E5FFD0FF-5FC8-4924-80BA-5E5A9F2984B4}"/>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EEA5A70C-9FA0-4668-AF6A-05F8C23DB7C1}"/>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C35B9C-C82F-4ECF-AB68-879C63F66399}"/>
              </a:ext>
            </a:extLst>
          </p:cNvPr>
          <p:cNvSpPr>
            <a:spLocks noGrp="1"/>
          </p:cNvSpPr>
          <p:nvPr>
            <p:ph type="dt" idx="10"/>
          </p:nvPr>
        </p:nvSpPr>
        <p:spPr/>
        <p:txBody>
          <a:bodyPr/>
          <a:lstStyle/>
          <a:p>
            <a:fld id="{1D8BD707-D9CF-40AE-B4C6-C98DA3205C09}" type="datetimeFigureOut">
              <a:t>2026/10/12</a:t>
            </a:fld>
            <a:endParaRPr/>
          </a:p>
        </p:txBody>
      </p:sp>
      <p:sp>
        <p:nvSpPr>
          <p:cNvPr id="3" name="Footer Placeholder 2">
            <a:extLst>
              <a:ext uri="{FF2B5EF4-FFF2-40B4-BE49-F238E27FC236}">
                <a16:creationId xmlns:a16="http://schemas.microsoft.com/office/drawing/2014/main" id="{241F768A-E66D-4D87-ACFB-FF50E018558C}"/>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5E945404-B6AF-4396-8EDC-E7C283E1EEE1}"/>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A4E40-E22A-49F3-8BA0-EF33A7BDB22E}"/>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D7508BE4-212D-4FA7-9A0E-390A9A20FB2B}"/>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1AFDA61B-A59E-4449-81AB-6767A8DC6A3C}"/>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4969CBD7-1792-49CC-BE28-AC5EDE786494}"/>
              </a:ext>
            </a:extLst>
          </p:cNvPr>
          <p:cNvSpPr>
            <a:spLocks noGrp="1"/>
          </p:cNvSpPr>
          <p:nvPr>
            <p:ph type="dt" idx="10"/>
          </p:nvPr>
        </p:nvSpPr>
        <p:spPr/>
        <p:txBody>
          <a:bodyPr/>
          <a:lstStyle/>
          <a:p>
            <a:fld id="{1D8BD707-D9CF-40AE-B4C6-C98DA3205C09}" type="datetimeFigureOut">
              <a:t>2026/10/12</a:t>
            </a:fld>
            <a:endParaRPr/>
          </a:p>
        </p:txBody>
      </p:sp>
      <p:sp>
        <p:nvSpPr>
          <p:cNvPr id="6" name="Footer Placeholder 5">
            <a:extLst>
              <a:ext uri="{FF2B5EF4-FFF2-40B4-BE49-F238E27FC236}">
                <a16:creationId xmlns:a16="http://schemas.microsoft.com/office/drawing/2014/main" id="{220C8C85-FF69-428E-A25E-EBF4E7DC68F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3A229C0-D6EA-4979-A9DF-ECA7834521F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9666D-8398-40D3-B4A4-7762EE95F204}"/>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93AE2A39-93EF-4891-8133-5E15AE338FC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887378E3-2D86-4FCF-A33A-631F00A3F4FE}"/>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FEB1E882-9457-4398-86B0-B955E0A721E9}"/>
              </a:ext>
            </a:extLst>
          </p:cNvPr>
          <p:cNvSpPr>
            <a:spLocks noGrp="1"/>
          </p:cNvSpPr>
          <p:nvPr>
            <p:ph type="dt" idx="10"/>
          </p:nvPr>
        </p:nvSpPr>
        <p:spPr/>
        <p:txBody>
          <a:bodyPr/>
          <a:lstStyle/>
          <a:p>
            <a:fld id="{1D8BD707-D9CF-40AE-B4C6-C98DA3205C09}" type="datetimeFigureOut">
              <a:t>2026/10/12</a:t>
            </a:fld>
            <a:endParaRPr/>
          </a:p>
        </p:txBody>
      </p:sp>
      <p:sp>
        <p:nvSpPr>
          <p:cNvPr id="6" name="Footer Placeholder 5">
            <a:extLst>
              <a:ext uri="{FF2B5EF4-FFF2-40B4-BE49-F238E27FC236}">
                <a16:creationId xmlns:a16="http://schemas.microsoft.com/office/drawing/2014/main" id="{871D3594-FA5F-4CE6-B298-FC48391D5367}"/>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51E2E28-A206-418F-90C8-BA69FF54887D}"/>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0B75E-50D2-421D-8007-393877B66BF4}"/>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69DD224C-A671-43E8-8508-7ED6C7D578CA}"/>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8B7573F-2216-4D7C-A115-C82E659AFD47}"/>
              </a:ext>
            </a:extLst>
          </p:cNvPr>
          <p:cNvSpPr>
            <a:spLocks noGrp="1"/>
          </p:cNvSpPr>
          <p:nvPr>
            <p:ph type="dt" idx="10"/>
          </p:nvPr>
        </p:nvSpPr>
        <p:spPr/>
        <p:txBody>
          <a:bodyPr/>
          <a:lstStyle/>
          <a:p>
            <a:fld id="{1D8BD707-D9CF-40AE-B4C6-C98DA3205C09}" type="datetimeFigureOut">
              <a:t>2026/10/12</a:t>
            </a:fld>
            <a:endParaRPr/>
          </a:p>
        </p:txBody>
      </p:sp>
      <p:sp>
        <p:nvSpPr>
          <p:cNvPr id="5" name="Footer Placeholder 4">
            <a:extLst>
              <a:ext uri="{FF2B5EF4-FFF2-40B4-BE49-F238E27FC236}">
                <a16:creationId xmlns:a16="http://schemas.microsoft.com/office/drawing/2014/main" id="{BE26CD74-E36A-4FB6-B0B9-ED3D76E46CE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110655C-41C4-4B32-BBA8-FE4ED09C1934}"/>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230D47-830C-456F-AF54-B7AA8354E951}"/>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D92DE7C6-CE2B-4866-9612-CABE7545A101}"/>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79F1420-A8D4-4070-B6B1-F7F9BB9291A6}"/>
              </a:ext>
            </a:extLst>
          </p:cNvPr>
          <p:cNvSpPr>
            <a:spLocks noGrp="1"/>
          </p:cNvSpPr>
          <p:nvPr>
            <p:ph type="dt" idx="10"/>
          </p:nvPr>
        </p:nvSpPr>
        <p:spPr/>
        <p:txBody>
          <a:bodyPr/>
          <a:lstStyle/>
          <a:p>
            <a:fld id="{1D8BD707-D9CF-40AE-B4C6-C98DA3205C09}" type="datetimeFigureOut">
              <a:t>2026/10/12</a:t>
            </a:fld>
            <a:endParaRPr/>
          </a:p>
        </p:txBody>
      </p:sp>
      <p:sp>
        <p:nvSpPr>
          <p:cNvPr id="5" name="Footer Placeholder 4">
            <a:extLst>
              <a:ext uri="{FF2B5EF4-FFF2-40B4-BE49-F238E27FC236}">
                <a16:creationId xmlns:a16="http://schemas.microsoft.com/office/drawing/2014/main" id="{184DAD47-C95D-43B8-A112-84F22FE232B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7E49F8F-4552-40D1-8842-E29CDF746896}"/>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0AE11C-D2C6-41A1-8D62-1883AA0766CF}"/>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CCBF994F-C8A5-4668-B117-969FE9A232FC}"/>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FCC7E13-2971-4DA7-A300-AEB9006D70EE}"/>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t>2026/10/12</a:t>
            </a:fld>
            <a:endParaRPr/>
          </a:p>
        </p:txBody>
      </p:sp>
      <p:sp>
        <p:nvSpPr>
          <p:cNvPr id="5" name="Footer Placeholder 4">
            <a:extLst>
              <a:ext uri="{FF2B5EF4-FFF2-40B4-BE49-F238E27FC236}">
                <a16:creationId xmlns:a16="http://schemas.microsoft.com/office/drawing/2014/main" id="{782F2C6A-631B-4A9F-922B-122608EC32CF}"/>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7FD5AF99-D4C5-4BE0-B985-CE6664E7F55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pic>
        <p:nvPicPr>
          <p:cNvPr id="5" name="图片 4" descr="电脑萤幕的截图&#10;&#10;描述已自动生成">
            <a:extLst>
              <a:ext uri="{FF2B5EF4-FFF2-40B4-BE49-F238E27FC236}">
                <a16:creationId xmlns:a16="http://schemas.microsoft.com/office/drawing/2014/main" id="{0260C166-6E30-A26D-8AF1-05010D45B4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712" y="1403873"/>
            <a:ext cx="17992576" cy="8883127"/>
          </a:xfrm>
          <a:prstGeom prst="roundRect">
            <a:avLst>
              <a:gd name="adj" fmla="val 539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5" name="Cover image contrast">
            <a:extLst>
              <a:ext uri="{FF2B5EF4-FFF2-40B4-BE49-F238E27FC236}">
                <a16:creationId xmlns:a16="http://schemas.microsoft.com/office/drawing/2014/main" id="{373CEE9E-1112-A0DD-7005-F27F18297EA5}"/>
              </a:ext>
            </a:extLst>
          </p:cNvPr>
          <p:cNvSpPr>
            <a:spLocks noGrp="1"/>
          </p:cNvSpPr>
          <p:nvPr/>
        </p:nvSpPr>
        <p:spPr>
          <a:xfrm>
            <a:off x="0" y="0"/>
            <a:ext cx="18288000" cy="10287000"/>
          </a:xfrm>
          <a:prstGeom prst="rect">
            <a:avLst/>
          </a:prstGeom>
          <a:gradFill flip="none" rotWithShape="1">
            <a:gsLst>
              <a:gs pos="24000">
                <a:schemeClr val="bg1">
                  <a:alpha val="40000"/>
                </a:schemeClr>
              </a:gs>
              <a:gs pos="49000">
                <a:schemeClr val="bg1">
                  <a:alpha val="20000"/>
                </a:schemeClr>
              </a:gs>
              <a:gs pos="69000">
                <a:schemeClr val="bg1">
                  <a:alpha val="0"/>
                </a:schemeClr>
              </a:gs>
            </a:gsLst>
            <a:lin ang="5400000" scaled="1"/>
            <a:tileRect/>
          </a:gradFill>
          <a:ln w="0">
            <a:noFill/>
          </a:ln>
        </p:spPr>
        <p:txBody>
          <a:bodyPr/>
          <a:lstStyle/>
          <a:p>
            <a:endParaRPr lang="zh-CN" altLang="en-US" dirty="0">
              <a:latin typeface="Proxima Nova Light" panose="02010600030101010101" charset="0"/>
            </a:endParaRPr>
          </a:p>
        </p:txBody>
      </p:sp>
      <p:sp>
        <p:nvSpPr>
          <p:cNvPr id="3" name="Freeform 3">
            <a:extLst>
              <a:ext uri="{FF2B5EF4-FFF2-40B4-BE49-F238E27FC236}">
                <a16:creationId xmlns:a16="http://schemas.microsoft.com/office/drawing/2014/main" id="{69563D75-79FA-46ED-AD79-ADD757CDE894}"/>
              </a:ext>
            </a:extLst>
          </p:cNvPr>
          <p:cNvSpPr>
            <a:spLocks noGrp="1"/>
          </p:cNvSpPr>
          <p:nvPr/>
        </p:nvSpPr>
        <p:spPr>
          <a:xfrm>
            <a:off x="4410075" y="514350"/>
            <a:ext cx="9467850" cy="819150"/>
          </a:xfrm>
          <a:custGeom>
            <a:avLst/>
            <a:gdLst/>
            <a:ahLst/>
            <a:cxnLst/>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id="4" name="TextBox 4">
            <a:extLst>
              <a:ext uri="{FF2B5EF4-FFF2-40B4-BE49-F238E27FC236}">
                <a16:creationId xmlns:a16="http://schemas.microsoft.com/office/drawing/2014/main" id="{867E9453-733C-48DE-B217-7CB68E2EA1D6}"/>
              </a:ext>
            </a:extLst>
          </p:cNvPr>
          <p:cNvSpPr>
            <a:spLocks noGrp="1"/>
          </p:cNvSpPr>
          <p:nvPr/>
        </p:nvSpPr>
        <p:spPr>
          <a:xfrm>
            <a:off x="4409081" y="370811"/>
            <a:ext cx="9469839" cy="959252"/>
          </a:xfrm>
          <a:prstGeom prst="rect">
            <a:avLst/>
          </a:prstGeom>
        </p:spPr>
        <p:txBody>
          <a:bodyPr lIns="50800" tIns="50800" rIns="50800" bIns="50800" anchor="ctr"/>
          <a:lstStyle/>
          <a:p>
            <a:pPr algn="ctr">
              <a:lnSpc>
                <a:spcPts val="2871"/>
              </a:lnSpc>
              <a:buNone/>
            </a:pPr>
            <a:endParaRPr/>
          </a:p>
        </p:txBody>
      </p:sp>
      <p:sp>
        <p:nvSpPr>
          <p:cNvPr id="6" name="Freeform 6">
            <a:extLst>
              <a:ext uri="{FF2B5EF4-FFF2-40B4-BE49-F238E27FC236}">
                <a16:creationId xmlns:a16="http://schemas.microsoft.com/office/drawing/2014/main" id="{FB3A289C-6478-4D0C-8E17-6569A6767E63}"/>
              </a:ext>
            </a:extLst>
          </p:cNvPr>
          <p:cNvSpPr>
            <a:spLocks noGrp="1"/>
          </p:cNvSpPr>
          <p:nvPr/>
        </p:nvSpPr>
        <p:spPr>
          <a:xfrm>
            <a:off x="4543425" y="628650"/>
            <a:ext cx="1466850" cy="590550"/>
          </a:xfrm>
          <a:custGeom>
            <a:avLst/>
            <a:gdLst/>
            <a:ahLst/>
            <a:cxnLst/>
            <a:rect l="l" t="t" r="r" b="b"/>
            <a:pathLst>
              <a:path w="385586" h="155110">
                <a:moveTo>
                  <a:pt x="77555" y="0"/>
                </a:moveTo>
                <a:lnTo>
                  <a:pt x="308031" y="0"/>
                </a:lnTo>
                <a:cubicBezTo>
                  <a:pt x="350864" y="0"/>
                  <a:pt x="385586" y="34722"/>
                  <a:pt x="385586" y="77555"/>
                </a:cubicBezTo>
                <a:lnTo>
                  <a:pt x="385586" y="77555"/>
                </a:lnTo>
                <a:cubicBezTo>
                  <a:pt x="385586" y="120387"/>
                  <a:pt x="350864" y="155110"/>
                  <a:pt x="308031"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id="7" name="TextBox 7">
            <a:extLst>
              <a:ext uri="{FF2B5EF4-FFF2-40B4-BE49-F238E27FC236}">
                <a16:creationId xmlns:a16="http://schemas.microsoft.com/office/drawing/2014/main" id="{DC43F693-9031-4555-99A5-99E46EC97DDF}"/>
              </a:ext>
            </a:extLst>
          </p:cNvPr>
          <p:cNvSpPr>
            <a:spLocks noGrp="1"/>
          </p:cNvSpPr>
          <p:nvPr/>
        </p:nvSpPr>
        <p:spPr>
          <a:xfrm>
            <a:off x="4541120" y="485855"/>
            <a:ext cx="1464022" cy="733592"/>
          </a:xfrm>
          <a:prstGeom prst="rect">
            <a:avLst/>
          </a:prstGeom>
        </p:spPr>
        <p:txBody>
          <a:bodyPr lIns="50800" tIns="50800" rIns="50800" bIns="50800" anchor="ctr"/>
          <a:lstStyle/>
          <a:p>
            <a:pPr algn="ctr">
              <a:lnSpc>
                <a:spcPts val="2871"/>
              </a:lnSpc>
              <a:buNone/>
            </a:pPr>
            <a:endParaRPr/>
          </a:p>
        </p:txBody>
      </p:sp>
      <p:sp>
        <p:nvSpPr>
          <p:cNvPr id="26" name="TextBox 26">
            <a:extLst>
              <a:ext uri="{FF2B5EF4-FFF2-40B4-BE49-F238E27FC236}">
                <a16:creationId xmlns:a16="http://schemas.microsoft.com/office/drawing/2014/main" id="{B2368DAF-F960-4F2F-A83E-7C3DA4114C24}"/>
              </a:ext>
            </a:extLst>
          </p:cNvPr>
          <p:cNvSpPr>
            <a:spLocks noGrp="1"/>
          </p:cNvSpPr>
          <p:nvPr/>
        </p:nvSpPr>
        <p:spPr>
          <a:xfrm>
            <a:off x="4438650" y="733425"/>
            <a:ext cx="1666875" cy="329057"/>
          </a:xfrm>
          <a:prstGeom prst="rect">
            <a:avLst/>
          </a:prstGeom>
        </p:spPr>
        <p:txBody>
          <a:bodyPr lIns="0" tIns="0" rIns="0" bIns="0" anchor="t">
            <a:spAutoFit/>
          </a:bodyPr>
          <a:lstStyle>
            <a:defPPr algn="ctr">
              <a:defRPr sz="1800" b="1">
                <a:solidFill>
                  <a:srgbClr val="FFFFFF"/>
                </a:solidFill>
                <a:latin typeface="Montserrat"/>
                <a:ea typeface="Montserrat"/>
                <a:cs typeface="Montserrat"/>
              </a:defRPr>
            </a:defPPr>
          </a:lstStyle>
          <a:p>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VISION</a:t>
            </a:r>
          </a:p>
        </p:txBody>
      </p:sp>
      <p:sp>
        <p:nvSpPr>
          <p:cNvPr id="27" name="TextBox 27">
            <a:extLst>
              <a:ext uri="{FF2B5EF4-FFF2-40B4-BE49-F238E27FC236}">
                <a16:creationId xmlns:a16="http://schemas.microsoft.com/office/drawing/2014/main" id="{9B24F0BA-9F4C-4710-9D53-DD68996F339D}"/>
              </a:ext>
            </a:extLst>
          </p:cNvPr>
          <p:cNvSpPr>
            <a:spLocks noGrp="1"/>
          </p:cNvSpPr>
          <p:nvPr/>
        </p:nvSpPr>
        <p:spPr>
          <a:xfrm>
            <a:off x="6829425" y="733425"/>
            <a:ext cx="1905000"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28" name="TextBox 28">
            <a:extLst>
              <a:ext uri="{FF2B5EF4-FFF2-40B4-BE49-F238E27FC236}">
                <a16:creationId xmlns:a16="http://schemas.microsoft.com/office/drawing/2014/main" id="{2594C8F0-63EF-433D-ADDD-BFDD867EC47B}"/>
              </a:ext>
            </a:extLst>
          </p:cNvPr>
          <p:cNvSpPr>
            <a:spLocks noGrp="1"/>
          </p:cNvSpPr>
          <p:nvPr/>
        </p:nvSpPr>
        <p:spPr>
          <a:xfrm>
            <a:off x="9496425" y="733425"/>
            <a:ext cx="15906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29" name="TextBox 29">
            <a:extLst>
              <a:ext uri="{FF2B5EF4-FFF2-40B4-BE49-F238E27FC236}">
                <a16:creationId xmlns:a16="http://schemas.microsoft.com/office/drawing/2014/main" id="{FC4200B8-F07A-4ECA-9DB8-BD51CE664499}"/>
              </a:ext>
            </a:extLst>
          </p:cNvPr>
          <p:cNvSpPr>
            <a:spLocks noGrp="1"/>
          </p:cNvSpPr>
          <p:nvPr/>
        </p:nvSpPr>
        <p:spPr>
          <a:xfrm>
            <a:off x="11591925" y="733425"/>
            <a:ext cx="2228850"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30" name="TextBox 30">
            <a:extLst>
              <a:ext uri="{FF2B5EF4-FFF2-40B4-BE49-F238E27FC236}">
                <a16:creationId xmlns:a16="http://schemas.microsoft.com/office/drawing/2014/main" id="{94B29ADB-453E-4E9F-A846-135519A6AAF0}"/>
              </a:ext>
            </a:extLst>
          </p:cNvPr>
          <p:cNvSpPr>
            <a:spLocks noGrp="1"/>
          </p:cNvSpPr>
          <p:nvPr/>
        </p:nvSpPr>
        <p:spPr>
          <a:xfrm>
            <a:off x="800100" y="628650"/>
            <a:ext cx="2381250" cy="567690"/>
          </a:xfrm>
          <a:prstGeom prst="rect">
            <a:avLst/>
          </a:prstGeom>
        </p:spPr>
        <p:txBody>
          <a:bodyPr lIns="0" tIns="0" rIns="0" bIns="0" anchor="t">
            <a:spAutoFit/>
          </a:bodyPr>
          <a:lstStyle>
            <a:defPPr>
              <a:defRPr sz="1800" b="1">
                <a:solidFill>
                  <a:srgbClr val="101B40"/>
                </a:solidFill>
                <a:latin typeface="Montserrat"/>
                <a:ea typeface="Montserrat"/>
                <a:cs typeface="Montserrat"/>
              </a:defRPr>
            </a:defPPr>
          </a:lstStyle>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31" name="01">
            <a:extLst>
              <a:ext uri="{FF2B5EF4-FFF2-40B4-BE49-F238E27FC236}">
                <a16:creationId xmlns:a16="http://schemas.microsoft.com/office/drawing/2014/main" id="{BEBA0D98-3A98-4613-ACE6-AA0CA1EBCA8D}"/>
              </a:ext>
            </a:extLst>
          </p:cNvPr>
          <p:cNvSpPr>
            <a:spLocks noGrp="1"/>
          </p:cNvSpPr>
          <p:nvPr/>
        </p:nvSpPr>
        <p:spPr>
          <a:xfrm>
            <a:off x="16735425" y="733425"/>
            <a:ext cx="666750" cy="381000"/>
          </a:xfrm>
          <a:prstGeom prst="rect">
            <a:avLst/>
          </a:prstGeom>
          <a:noFill/>
          <a:ln w="0">
            <a:noFill/>
          </a:ln>
        </p:spPr>
        <p:txBody>
          <a:bodyPr wrap="square" lIns="0" tIns="0" rIns="0" bIns="0" anchor="t">
            <a:noAutofit/>
          </a:bodyPr>
          <a:lstStyle>
            <a:defPPr algn="r">
              <a:defRPr sz="1875" b="1">
                <a:solidFill>
                  <a:srgbClr val="101B40"/>
                </a:solidFill>
                <a:latin typeface="Montserrat Bold"/>
                <a:ea typeface="Montserrat Bold"/>
                <a:cs typeface="Montserrat Bold"/>
              </a:defRPr>
            </a:defPPr>
          </a:lstStyle>
          <a:p>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01</a:t>
            </a:r>
          </a:p>
        </p:txBody>
      </p:sp>
      <p:sp>
        <p:nvSpPr>
          <p:cNvPr id="32" name="PDF-GalaxAI">
            <a:extLst>
              <a:ext uri="{FF2B5EF4-FFF2-40B4-BE49-F238E27FC236}">
                <a16:creationId xmlns:a16="http://schemas.microsoft.com/office/drawing/2014/main" id="{9C476DF5-CD7C-4CC3-8947-66BFD6074685}"/>
              </a:ext>
            </a:extLst>
          </p:cNvPr>
          <p:cNvSpPr>
            <a:spLocks noGrp="1"/>
          </p:cNvSpPr>
          <p:nvPr/>
        </p:nvSpPr>
        <p:spPr>
          <a:xfrm>
            <a:off x="1238250" y="9620250"/>
            <a:ext cx="4286250" cy="333375"/>
          </a:xfrm>
          <a:prstGeom prst="rect">
            <a:avLst/>
          </a:prstGeom>
          <a:noFill/>
          <a:ln w="0">
            <a:noFill/>
          </a:ln>
        </p:spPr>
        <p:txBody>
          <a:bodyPr wrap="square" lIns="0" tIns="0" rIns="0" bIns="0" anchor="t">
            <a:noAutofit/>
          </a:bodyPr>
          <a:lstStyle>
            <a:defPPr algn="l">
              <a:defRPr sz="1650" b="0">
                <a:solidFill>
                  <a:srgbClr val="536681"/>
                </a:solidFill>
                <a:latin typeface="Montserrat"/>
                <a:ea typeface="Montserrat"/>
                <a:cs typeface="Montserrat"/>
              </a:defRPr>
            </a:defPPr>
          </a:lstStyle>
          <a:p>
            <a:pPr algn="l">
              <a:buNone/>
              <a:defRPr sz="1650" b="0">
                <a:solidFill>
                  <a:srgbClr val="536681"/>
                </a:solidFill>
                <a:latin typeface="Montserrat"/>
                <a:ea typeface="Montserrat"/>
                <a:cs typeface="Montserrat"/>
              </a:defRPr>
            </a:pPr>
            <a:r>
              <a:rPr sz="1650" b="0" dirty="0">
                <a:solidFill>
                  <a:schemeClr val="bg1"/>
                </a:solidFill>
                <a:latin typeface="Montserrat"/>
                <a:ea typeface="Montserrat"/>
                <a:cs typeface="Montserrat"/>
              </a:rPr>
              <a:t>PDF-</a:t>
            </a:r>
            <a:r>
              <a:rPr sz="1650" b="0" dirty="0" err="1">
                <a:solidFill>
                  <a:schemeClr val="bg1"/>
                </a:solidFill>
                <a:latin typeface="Montserrat"/>
                <a:ea typeface="Montserrat"/>
                <a:cs typeface="Montserrat"/>
              </a:rPr>
              <a:t>GalaxAI</a:t>
            </a:r>
            <a:endParaRPr sz="1650" b="0" dirty="0">
              <a:solidFill>
                <a:schemeClr val="bg1"/>
              </a:solidFill>
              <a:latin typeface="Montserrat"/>
              <a:ea typeface="Montserrat"/>
              <a:cs typeface="Montserrat"/>
            </a:endParaRPr>
          </a:p>
        </p:txBody>
      </p:sp>
      <p:sp>
        <p:nvSpPr>
          <p:cNvPr id="33" name="01 / 12">
            <a:extLst>
              <a:ext uri="{FF2B5EF4-FFF2-40B4-BE49-F238E27FC236}">
                <a16:creationId xmlns:a16="http://schemas.microsoft.com/office/drawing/2014/main" id="{9C6C5FC8-21F0-4214-9726-65B5AD063879}"/>
              </a:ext>
            </a:extLst>
          </p:cNvPr>
          <p:cNvSpPr>
            <a:spLocks noGrp="1"/>
          </p:cNvSpPr>
          <p:nvPr/>
        </p:nvSpPr>
        <p:spPr>
          <a:xfrm>
            <a:off x="15430500" y="9620250"/>
            <a:ext cx="1524000" cy="333375"/>
          </a:xfrm>
          <a:prstGeom prst="rect">
            <a:avLst/>
          </a:prstGeom>
          <a:noFill/>
          <a:ln w="0">
            <a:noFill/>
          </a:ln>
        </p:spPr>
        <p:txBody>
          <a:bodyPr wrap="square" lIns="0" tIns="0" rIns="0" bIns="0" anchor="t">
            <a:noAutofit/>
          </a:bodyPr>
          <a:lstStyle>
            <a:defPPr algn="r">
              <a:defRPr sz="1650" b="0">
                <a:solidFill>
                  <a:srgbClr val="536681"/>
                </a:solidFill>
                <a:latin typeface="Montserrat"/>
                <a:ea typeface="Montserrat"/>
                <a:cs typeface="Montserrat"/>
              </a:defRPr>
            </a:defPPr>
          </a:lstStyle>
          <a:p>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01 / 09</a:t>
            </a:r>
          </a:p>
        </p:txBody>
      </p:sp>
      <p:sp>
        <p:nvSpPr>
          <p:cNvPr id="34" name="PDF-GalaxAI">
            <a:extLst>
              <a:ext uri="{FF2B5EF4-FFF2-40B4-BE49-F238E27FC236}">
                <a16:creationId xmlns:a16="http://schemas.microsoft.com/office/drawing/2014/main" id="{93499F55-0FFA-4A04-9BCC-E484B5A34BED}"/>
              </a:ext>
            </a:extLst>
          </p:cNvPr>
          <p:cNvSpPr>
            <a:spLocks noGrp="1"/>
          </p:cNvSpPr>
          <p:nvPr/>
        </p:nvSpPr>
        <p:spPr>
          <a:xfrm>
            <a:off x="1238250" y="2324100"/>
            <a:ext cx="15335250" cy="1238250"/>
          </a:xfrm>
          <a:prstGeom prst="rect">
            <a:avLst/>
          </a:prstGeom>
          <a:noFill/>
          <a:ln w="0">
            <a:noFill/>
          </a:ln>
        </p:spPr>
        <p:txBody>
          <a:bodyPr wrap="square" lIns="0" tIns="0" rIns="0" bIns="0" anchor="t">
            <a:noAutofit/>
          </a:bodyPr>
          <a:lstStyle>
            <a:defPPr algn="l">
              <a:defRPr sz="7500" b="1">
                <a:solidFill>
                  <a:srgbClr val="101B40"/>
                </a:solidFill>
                <a:latin typeface="Montserrat Bold"/>
                <a:ea typeface="Montserrat Bold"/>
                <a:cs typeface="Montserrat Bold"/>
              </a:defRPr>
            </a:defPPr>
          </a:lstStyle>
          <a:p>
            <a:pPr algn="l">
              <a:buNone/>
              <a:defRPr sz="7500" b="1">
                <a:solidFill>
                  <a:srgbClr val="101B40"/>
                </a:solidFill>
                <a:latin typeface="Montserrat Bold"/>
                <a:ea typeface="Montserrat Bold"/>
                <a:cs typeface="Montserrat Bold"/>
              </a:defRPr>
            </a:pPr>
            <a:r>
              <a:rPr sz="7500" b="1" dirty="0">
                <a:solidFill>
                  <a:srgbClr val="101B40"/>
                </a:solidFill>
                <a:latin typeface="Montserrat Bold"/>
                <a:ea typeface="Montserrat Bold"/>
                <a:cs typeface="Montserrat Bold"/>
              </a:rPr>
              <a:t>PDF-</a:t>
            </a:r>
            <a:r>
              <a:rPr sz="7500" b="1" dirty="0" err="1">
                <a:solidFill>
                  <a:srgbClr val="101B40"/>
                </a:solidFill>
                <a:latin typeface="Montserrat Bold"/>
                <a:ea typeface="Montserrat Bold"/>
                <a:cs typeface="Montserrat Bold"/>
              </a:rPr>
              <a:t>GalaxAI</a:t>
            </a:r>
            <a:endParaRPr sz="7500" b="1" dirty="0">
              <a:solidFill>
                <a:srgbClr val="101B40"/>
              </a:solidFill>
              <a:latin typeface="Montserrat Bold"/>
              <a:ea typeface="Montserrat Bold"/>
              <a:cs typeface="Montserrat Bold"/>
            </a:endParaRPr>
          </a:p>
        </p:txBody>
      </p:sp>
      <p:sp>
        <p:nvSpPr>
          <p:cNvPr id="35" name="An AI-Driven Interactive&#10;Knowledge Exploration Platform">
            <a:extLst>
              <a:ext uri="{FF2B5EF4-FFF2-40B4-BE49-F238E27FC236}">
                <a16:creationId xmlns:a16="http://schemas.microsoft.com/office/drawing/2014/main" id="{453D3808-6C95-4C7D-8572-835D67D25883}"/>
              </a:ext>
            </a:extLst>
          </p:cNvPr>
          <p:cNvSpPr>
            <a:spLocks noGrp="1"/>
          </p:cNvSpPr>
          <p:nvPr/>
        </p:nvSpPr>
        <p:spPr>
          <a:xfrm>
            <a:off x="1276350" y="3714750"/>
            <a:ext cx="7143750" cy="1381125"/>
          </a:xfrm>
          <a:prstGeom prst="rect">
            <a:avLst/>
          </a:prstGeom>
          <a:noFill/>
          <a:ln w="0">
            <a:noFill/>
          </a:ln>
        </p:spPr>
        <p:txBody>
          <a:bodyPr wrap="square" lIns="0" tIns="0" rIns="0" bIns="0" anchor="t">
            <a:noAutofit/>
          </a:bodyPr>
          <a:lstStyle>
            <a:defPPr algn="l">
              <a:defRPr sz="3450" b="0">
                <a:solidFill>
                  <a:srgbClr val="101B40"/>
                </a:solidFill>
                <a:latin typeface="Montserrat"/>
                <a:ea typeface="Montserrat"/>
                <a:cs typeface="Montserrat"/>
              </a:defRPr>
            </a:defPPr>
          </a:lstStyle>
          <a:p>
            <a:pPr algn="l">
              <a:buNone/>
              <a:defRPr sz="3450" b="0">
                <a:solidFill>
                  <a:srgbClr val="101B40"/>
                </a:solidFill>
                <a:latin typeface="Montserrat"/>
                <a:ea typeface="Montserrat"/>
                <a:cs typeface="Montserrat"/>
              </a:defRPr>
            </a:pPr>
            <a:r>
              <a:rPr sz="3450" b="1" dirty="0">
                <a:solidFill>
                  <a:srgbClr val="101B40"/>
                </a:solidFill>
                <a:latin typeface="Montserrat"/>
                <a:ea typeface="Montserrat"/>
                <a:cs typeface="Montserrat"/>
              </a:rPr>
              <a:t>An AI-Driven Interactive</a:t>
            </a:r>
          </a:p>
          <a:p>
            <a:pPr algn="l">
              <a:buNone/>
              <a:defRPr sz="3450" b="0">
                <a:solidFill>
                  <a:srgbClr val="101B40"/>
                </a:solidFill>
                <a:latin typeface="Montserrat"/>
                <a:ea typeface="Montserrat"/>
                <a:cs typeface="Montserrat"/>
              </a:defRPr>
            </a:pPr>
            <a:r>
              <a:rPr sz="3450" b="1" dirty="0">
                <a:solidFill>
                  <a:srgbClr val="101B40"/>
                </a:solidFill>
                <a:latin typeface="Montserrat"/>
                <a:ea typeface="Montserrat"/>
                <a:cs typeface="Montserrat"/>
              </a:rPr>
              <a:t>Knowledge Exploration Platform</a:t>
            </a:r>
          </a:p>
        </p:txBody>
      </p:sp>
      <p:sp>
        <p:nvSpPr>
          <p:cNvPr id="36" name="Independently Designed and Developed">
            <a:extLst>
              <a:ext uri="{FF2B5EF4-FFF2-40B4-BE49-F238E27FC236}">
                <a16:creationId xmlns:a16="http://schemas.microsoft.com/office/drawing/2014/main" id="{4D53854F-A02D-47B2-AA8D-1633C734A23D}"/>
              </a:ext>
            </a:extLst>
          </p:cNvPr>
          <p:cNvSpPr>
            <a:spLocks noGrp="1"/>
          </p:cNvSpPr>
          <p:nvPr/>
        </p:nvSpPr>
        <p:spPr>
          <a:xfrm>
            <a:off x="1276350" y="5524500"/>
            <a:ext cx="6905625" cy="476250"/>
          </a:xfrm>
          <a:prstGeom prst="rect">
            <a:avLst/>
          </a:prstGeom>
          <a:noFill/>
          <a:ln w="0">
            <a:noFill/>
          </a:ln>
        </p:spPr>
        <p:txBody>
          <a:bodyPr wrap="square" lIns="0" tIns="0" rIns="0" bIns="0" anchor="t">
            <a:noAutofit/>
          </a:bodyPr>
          <a:lstStyle>
            <a:defPPr algn="l">
              <a:defRPr sz="2250" b="1">
                <a:solidFill>
                  <a:srgbClr val="101B40"/>
                </a:solidFill>
                <a:latin typeface="Montserrat Bold"/>
                <a:ea typeface="Montserrat Bold"/>
                <a:cs typeface="Montserrat Bold"/>
              </a:defRPr>
            </a:defPPr>
          </a:lstStyle>
          <a:p>
            <a:pPr algn="l">
              <a:buNone/>
              <a:defRPr sz="2250" b="1">
                <a:solidFill>
                  <a:srgbClr val="101B40"/>
                </a:solidFill>
                <a:latin typeface="Montserrat Bold"/>
                <a:ea typeface="Montserrat Bold"/>
                <a:cs typeface="Montserrat Bold"/>
              </a:defRPr>
            </a:pPr>
            <a:r>
              <a:rPr sz="2250" b="1" dirty="0">
                <a:solidFill>
                  <a:schemeClr val="bg1"/>
                </a:solidFill>
                <a:latin typeface="Montserrat Bold"/>
                <a:ea typeface="Montserrat Bold"/>
                <a:cs typeface="Montserrat Bold"/>
              </a:rPr>
              <a:t>Independently Designed and Developed</a:t>
            </a:r>
          </a:p>
        </p:txBody>
      </p:sp>
      <p:sp>
        <p:nvSpPr>
          <p:cNvPr id="37" name="[Your Name]">
            <a:extLst>
              <a:ext uri="{FF2B5EF4-FFF2-40B4-BE49-F238E27FC236}">
                <a16:creationId xmlns:a16="http://schemas.microsoft.com/office/drawing/2014/main" id="{8FE629DA-ADFB-45D1-BD0D-0D0DCCF7EBF9}"/>
              </a:ext>
            </a:extLst>
          </p:cNvPr>
          <p:cNvSpPr>
            <a:spLocks noGrp="1"/>
          </p:cNvSpPr>
          <p:nvPr/>
        </p:nvSpPr>
        <p:spPr>
          <a:xfrm>
            <a:off x="1276350" y="6457950"/>
            <a:ext cx="6905625" cy="619125"/>
          </a:xfrm>
          <a:prstGeom prst="rect">
            <a:avLst/>
          </a:prstGeom>
          <a:noFill/>
          <a:ln w="0">
            <a:noFill/>
          </a:ln>
        </p:spPr>
        <p:txBody>
          <a:bodyPr wrap="square" lIns="0" tIns="0" rIns="0" bIns="0" anchor="t">
            <a:noAutofit/>
          </a:bodyPr>
          <a:lstStyle>
            <a:defPPr algn="l">
              <a:defRPr sz="3150" b="1">
                <a:solidFill>
                  <a:srgbClr val="101B40"/>
                </a:solidFill>
                <a:latin typeface="Montserrat Bold"/>
                <a:ea typeface="Montserrat Bold"/>
                <a:cs typeface="Montserrat Bold"/>
              </a:defRPr>
            </a:defPPr>
          </a:lstStyle>
          <a:p>
            <a:pPr algn="l">
              <a:buNone/>
              <a:defRPr sz="3150" b="1">
                <a:solidFill>
                  <a:srgbClr val="101B40"/>
                </a:solidFill>
                <a:latin typeface="Montserrat Bold"/>
                <a:ea typeface="Montserrat Bold"/>
                <a:cs typeface="Montserrat Bold"/>
              </a:defRPr>
            </a:pPr>
            <a:r>
              <a:rPr sz="3150" b="1" dirty="0">
                <a:solidFill>
                  <a:schemeClr val="bg1"/>
                </a:solidFill>
                <a:latin typeface="Montserrat Bold"/>
                <a:ea typeface="Montserrat Bold"/>
                <a:cs typeface="Montserrat Bold"/>
              </a:rPr>
              <a:t>[</a:t>
            </a:r>
            <a:r>
              <a:rPr lang="en-US" sz="3150" b="1" dirty="0">
                <a:solidFill>
                  <a:schemeClr val="bg1"/>
                </a:solidFill>
                <a:latin typeface="Montserrat Bold"/>
                <a:ea typeface="Montserrat Bold"/>
                <a:cs typeface="Montserrat Bold"/>
              </a:rPr>
              <a:t>Li </a:t>
            </a:r>
            <a:r>
              <a:rPr lang="en-US" sz="3150" b="1" dirty="0" err="1">
                <a:solidFill>
                  <a:schemeClr val="bg1"/>
                </a:solidFill>
                <a:latin typeface="Montserrat Bold"/>
                <a:ea typeface="Montserrat Bold"/>
                <a:cs typeface="Montserrat Bold"/>
              </a:rPr>
              <a:t>Shouchuan</a:t>
            </a:r>
            <a:r>
              <a:rPr sz="3150" b="1" dirty="0">
                <a:solidFill>
                  <a:schemeClr val="bg1"/>
                </a:solidFill>
                <a:latin typeface="Montserrat Bold"/>
                <a:ea typeface="Montserrat Bold"/>
                <a:cs typeface="Montserrat Bold"/>
              </a:rPr>
              <a:t>]</a:t>
            </a:r>
          </a:p>
        </p:txBody>
      </p:sp>
      <p:sp>
        <p:nvSpPr>
          <p:cNvPr id="38" name="Application Portfolio&#10;HKU MSc(Eng) Innovative Design and Technology">
            <a:extLst>
              <a:ext uri="{FF2B5EF4-FFF2-40B4-BE49-F238E27FC236}">
                <a16:creationId xmlns:a16="http://schemas.microsoft.com/office/drawing/2014/main" id="{F5782908-C960-4DD7-B1B3-B1A4F2213A1F}"/>
              </a:ext>
            </a:extLst>
          </p:cNvPr>
          <p:cNvSpPr>
            <a:spLocks noGrp="1"/>
          </p:cNvSpPr>
          <p:nvPr/>
        </p:nvSpPr>
        <p:spPr>
          <a:xfrm>
            <a:off x="1276350" y="7467600"/>
            <a:ext cx="6953250" cy="1047750"/>
          </a:xfrm>
          <a:prstGeom prst="rect">
            <a:avLst/>
          </a:prstGeom>
          <a:noFill/>
          <a:ln w="0">
            <a:noFill/>
          </a:ln>
        </p:spPr>
        <p:txBody>
          <a:bodyPr wrap="square" lIns="0" tIns="0" rIns="0" bIns="0" anchor="t">
            <a:noAutofit/>
          </a:bodyPr>
          <a:lstStyle>
            <a:defPPr algn="l">
              <a:defRPr sz="2100" b="0">
                <a:solidFill>
                  <a:srgbClr val="536681"/>
                </a:solidFill>
                <a:latin typeface="Montserrat"/>
                <a:ea typeface="Montserrat"/>
                <a:cs typeface="Montserrat"/>
              </a:defRPr>
            </a:defPPr>
          </a:lstStyle>
          <a:p>
            <a:pPr algn="l">
              <a:buNone/>
              <a:defRPr sz="2100" b="0">
                <a:solidFill>
                  <a:srgbClr val="536681"/>
                </a:solidFill>
                <a:latin typeface="Montserrat"/>
                <a:ea typeface="Montserrat"/>
                <a:cs typeface="Montserrat"/>
              </a:defRPr>
            </a:pPr>
            <a:r>
              <a:rPr sz="2100" b="0" dirty="0">
                <a:solidFill>
                  <a:schemeClr val="bg1"/>
                </a:solidFill>
                <a:latin typeface="Montserrat"/>
                <a:ea typeface="Montserrat"/>
                <a:cs typeface="Montserrat"/>
              </a:rPr>
              <a:t>Application Portfolio</a:t>
            </a:r>
          </a:p>
          <a:p>
            <a:pPr algn="l">
              <a:buNone/>
              <a:defRPr sz="2100" b="0">
                <a:solidFill>
                  <a:srgbClr val="536681"/>
                </a:solidFill>
                <a:latin typeface="Montserrat"/>
                <a:ea typeface="Montserrat"/>
                <a:cs typeface="Montserrat"/>
              </a:defRPr>
            </a:pPr>
            <a:r>
              <a:rPr sz="2100" b="0" dirty="0">
                <a:solidFill>
                  <a:schemeClr val="bg1"/>
                </a:solidFill>
                <a:latin typeface="Montserrat"/>
                <a:ea typeface="Montserrat"/>
                <a:cs typeface="Montserrat"/>
              </a:rPr>
              <a:t>HKU MSc(</a:t>
            </a:r>
            <a:r>
              <a:rPr sz="2100" b="0" dirty="0" err="1">
                <a:solidFill>
                  <a:schemeClr val="bg1"/>
                </a:solidFill>
                <a:latin typeface="Montserrat"/>
                <a:ea typeface="Montserrat"/>
                <a:cs typeface="Montserrat"/>
              </a:rPr>
              <a:t>Eng</a:t>
            </a:r>
            <a:r>
              <a:rPr sz="2100" b="0" dirty="0">
                <a:solidFill>
                  <a:schemeClr val="bg1"/>
                </a:solidFill>
                <a:latin typeface="Montserrat"/>
                <a:ea typeface="Montserrat"/>
                <a:cs typeface="Montserrat"/>
              </a:rPr>
              <a:t>) Innovative Design and Technology</a:t>
            </a:r>
          </a:p>
        </p:txBody>
      </p:sp>
    </p:spTree>
    <p:extLst>
      <p:ext uri="{BB962C8B-B14F-4D97-AF65-F5344CB8AC3E}">
        <p14:creationId xmlns:p14="http://schemas.microsoft.com/office/powerpoint/2010/main" val="753561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451DB41B-06B9-47D3-9E88-1D1F65C82D28}"/>
              </a:ext>
            </a:extLst>
          </p:cNvPr>
          <p:cNvSpPr>
            <a:spLocks noGrp="1"/>
          </p:cNvSpPr>
          <p:nvPr/>
        </p:nvSpPr>
        <p:spPr>
          <a:xfrm>
            <a:off x="4410075" y="514350"/>
            <a:ext cx="9467850" cy="819150"/>
          </a:xfrm>
          <a:custGeom>
            <a:avLst/>
            <a:gdLst/>
            <a:ahLst/>
            <a:cxnLst/>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id="4" name="TextBox 4">
            <a:extLst>
              <a:ext uri="{FF2B5EF4-FFF2-40B4-BE49-F238E27FC236}">
                <a16:creationId xmlns:a16="http://schemas.microsoft.com/office/drawing/2014/main" id="{C73E431D-CAA6-4C80-89A4-80ABDAC3F28A}"/>
              </a:ext>
            </a:extLst>
          </p:cNvPr>
          <p:cNvSpPr>
            <a:spLocks noGrp="1"/>
          </p:cNvSpPr>
          <p:nvPr/>
        </p:nvSpPr>
        <p:spPr>
          <a:xfrm>
            <a:off x="4409081" y="370811"/>
            <a:ext cx="9469839" cy="959252"/>
          </a:xfrm>
          <a:prstGeom prst="rect">
            <a:avLst/>
          </a:prstGeom>
        </p:spPr>
        <p:txBody>
          <a:bodyPr lIns="50800" tIns="50800" rIns="50800" bIns="50800" anchor="ctr"/>
          <a:lstStyle/>
          <a:p>
            <a:pPr algn="ctr">
              <a:lnSpc>
                <a:spcPts val="2871"/>
              </a:lnSpc>
              <a:buNone/>
            </a:pPr>
            <a:endParaRPr/>
          </a:p>
        </p:txBody>
      </p:sp>
      <p:sp>
        <p:nvSpPr>
          <p:cNvPr id="6" name="Freeform 6">
            <a:extLst>
              <a:ext uri="{FF2B5EF4-FFF2-40B4-BE49-F238E27FC236}">
                <a16:creationId xmlns:a16="http://schemas.microsoft.com/office/drawing/2014/main" id="{14AF1670-6876-4024-9ECF-E2D643B9CD1D}"/>
              </a:ext>
            </a:extLst>
          </p:cNvPr>
          <p:cNvSpPr>
            <a:spLocks noGrp="1"/>
          </p:cNvSpPr>
          <p:nvPr/>
        </p:nvSpPr>
        <p:spPr>
          <a:xfrm>
            <a:off x="7048500" y="628650"/>
            <a:ext cx="1466850" cy="590550"/>
          </a:xfrm>
          <a:custGeom>
            <a:avLst/>
            <a:gdLst/>
            <a:ahLst/>
            <a:cxnLst/>
            <a:rect l="l" t="t" r="r" b="b"/>
            <a:pathLst>
              <a:path w="385586" h="155110">
                <a:moveTo>
                  <a:pt x="77555" y="0"/>
                </a:moveTo>
                <a:lnTo>
                  <a:pt x="308031" y="0"/>
                </a:lnTo>
                <a:cubicBezTo>
                  <a:pt x="350864" y="0"/>
                  <a:pt x="385586" y="34722"/>
                  <a:pt x="385586" y="77555"/>
                </a:cubicBezTo>
                <a:lnTo>
                  <a:pt x="385586" y="77555"/>
                </a:lnTo>
                <a:cubicBezTo>
                  <a:pt x="385586" y="120387"/>
                  <a:pt x="350864" y="155110"/>
                  <a:pt x="308031"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id="7" name="TextBox 7">
            <a:extLst>
              <a:ext uri="{FF2B5EF4-FFF2-40B4-BE49-F238E27FC236}">
                <a16:creationId xmlns:a16="http://schemas.microsoft.com/office/drawing/2014/main" id="{AEADC97D-4CF2-46A6-BCE1-95034A882F1F}"/>
              </a:ext>
            </a:extLst>
          </p:cNvPr>
          <p:cNvSpPr>
            <a:spLocks noGrp="1"/>
          </p:cNvSpPr>
          <p:nvPr/>
        </p:nvSpPr>
        <p:spPr>
          <a:xfrm>
            <a:off x="7051333" y="483641"/>
            <a:ext cx="1464022" cy="733592"/>
          </a:xfrm>
          <a:prstGeom prst="rect">
            <a:avLst/>
          </a:prstGeom>
        </p:spPr>
        <p:txBody>
          <a:bodyPr lIns="50800" tIns="50800" rIns="50800" bIns="50800" anchor="ctr"/>
          <a:lstStyle/>
          <a:p>
            <a:pPr algn="ctr">
              <a:lnSpc>
                <a:spcPts val="2871"/>
              </a:lnSpc>
              <a:buNone/>
            </a:pPr>
            <a:endParaRPr/>
          </a:p>
        </p:txBody>
      </p:sp>
      <p:sp>
        <p:nvSpPr>
          <p:cNvPr id="31" name="TextBox 31">
            <a:extLst>
              <a:ext uri="{FF2B5EF4-FFF2-40B4-BE49-F238E27FC236}">
                <a16:creationId xmlns:a16="http://schemas.microsoft.com/office/drawing/2014/main" id="{A9E0484D-DC82-4E2F-9230-E8E009F719AE}"/>
              </a:ext>
            </a:extLst>
          </p:cNvPr>
          <p:cNvSpPr>
            <a:spLocks noGrp="1"/>
          </p:cNvSpPr>
          <p:nvPr/>
        </p:nvSpPr>
        <p:spPr>
          <a:xfrm>
            <a:off x="4438650" y="733425"/>
            <a:ext cx="16668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32" name="TextBox 32">
            <a:extLst>
              <a:ext uri="{FF2B5EF4-FFF2-40B4-BE49-F238E27FC236}">
                <a16:creationId xmlns:a16="http://schemas.microsoft.com/office/drawing/2014/main" id="{8A0C8032-06CF-4912-A00E-FE356871323C}"/>
              </a:ext>
            </a:extLst>
          </p:cNvPr>
          <p:cNvSpPr>
            <a:spLocks noGrp="1"/>
          </p:cNvSpPr>
          <p:nvPr/>
        </p:nvSpPr>
        <p:spPr>
          <a:xfrm>
            <a:off x="6829425" y="733425"/>
            <a:ext cx="1905000" cy="329057"/>
          </a:xfrm>
          <a:prstGeom prst="rect">
            <a:avLst/>
          </a:prstGeom>
        </p:spPr>
        <p:txBody>
          <a:bodyPr lIns="0" tIns="0" rIns="0" bIns="0" anchor="t">
            <a:spAutoFit/>
          </a:bodyPr>
          <a:lstStyle>
            <a:defPPr algn="ctr">
              <a:defRPr sz="1800" b="1">
                <a:solidFill>
                  <a:srgbClr val="FFFFFF"/>
                </a:solidFill>
                <a:latin typeface="Montserrat"/>
                <a:ea typeface="Montserrat"/>
                <a:cs typeface="Montserrat"/>
              </a:defRPr>
            </a:defPPr>
          </a:lstStyle>
          <a:p>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33" name="TextBox 33">
            <a:extLst>
              <a:ext uri="{FF2B5EF4-FFF2-40B4-BE49-F238E27FC236}">
                <a16:creationId xmlns:a16="http://schemas.microsoft.com/office/drawing/2014/main" id="{D40F2FAD-511A-4CAC-A19C-D7EAA3329FFC}"/>
              </a:ext>
            </a:extLst>
          </p:cNvPr>
          <p:cNvSpPr>
            <a:spLocks noGrp="1"/>
          </p:cNvSpPr>
          <p:nvPr/>
        </p:nvSpPr>
        <p:spPr>
          <a:xfrm>
            <a:off x="9496425" y="733425"/>
            <a:ext cx="15906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34" name="TextBox 34">
            <a:extLst>
              <a:ext uri="{FF2B5EF4-FFF2-40B4-BE49-F238E27FC236}">
                <a16:creationId xmlns:a16="http://schemas.microsoft.com/office/drawing/2014/main" id="{8CED178F-B4CC-437D-91BD-6F3C099E14B9}"/>
              </a:ext>
            </a:extLst>
          </p:cNvPr>
          <p:cNvSpPr>
            <a:spLocks noGrp="1"/>
          </p:cNvSpPr>
          <p:nvPr/>
        </p:nvSpPr>
        <p:spPr>
          <a:xfrm>
            <a:off x="11591925" y="733425"/>
            <a:ext cx="2228850"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35" name="TextBox 35">
            <a:extLst>
              <a:ext uri="{FF2B5EF4-FFF2-40B4-BE49-F238E27FC236}">
                <a16:creationId xmlns:a16="http://schemas.microsoft.com/office/drawing/2014/main" id="{8B21B1CB-CA5C-4BF0-AC17-99BD7C789B0A}"/>
              </a:ext>
            </a:extLst>
          </p:cNvPr>
          <p:cNvSpPr>
            <a:spLocks noGrp="1"/>
          </p:cNvSpPr>
          <p:nvPr/>
        </p:nvSpPr>
        <p:spPr>
          <a:xfrm>
            <a:off x="800100" y="628650"/>
            <a:ext cx="2381250" cy="567690"/>
          </a:xfrm>
          <a:prstGeom prst="rect">
            <a:avLst/>
          </a:prstGeom>
        </p:spPr>
        <p:txBody>
          <a:bodyPr lIns="0" tIns="0" rIns="0" bIns="0" anchor="t">
            <a:spAutoFit/>
          </a:bodyPr>
          <a:lstStyle>
            <a:defPPr>
              <a:defRPr sz="1800" b="1">
                <a:solidFill>
                  <a:srgbClr val="101B40"/>
                </a:solidFill>
                <a:latin typeface="Montserrat"/>
                <a:ea typeface="Montserrat"/>
                <a:cs typeface="Montserrat"/>
              </a:defRPr>
            </a:defPPr>
          </a:lstStyle>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36" name="02">
            <a:extLst>
              <a:ext uri="{FF2B5EF4-FFF2-40B4-BE49-F238E27FC236}">
                <a16:creationId xmlns:a16="http://schemas.microsoft.com/office/drawing/2014/main" id="{71757E11-53B8-414B-AAB1-9A81303B9F03}"/>
              </a:ext>
            </a:extLst>
          </p:cNvPr>
          <p:cNvSpPr>
            <a:spLocks noGrp="1"/>
          </p:cNvSpPr>
          <p:nvPr/>
        </p:nvSpPr>
        <p:spPr>
          <a:xfrm>
            <a:off x="16735425" y="733425"/>
            <a:ext cx="666750" cy="381000"/>
          </a:xfrm>
          <a:prstGeom prst="rect">
            <a:avLst/>
          </a:prstGeom>
          <a:noFill/>
          <a:ln w="0">
            <a:noFill/>
          </a:ln>
        </p:spPr>
        <p:txBody>
          <a:bodyPr wrap="square" lIns="0" tIns="0" rIns="0" bIns="0" anchor="t">
            <a:noAutofit/>
          </a:bodyPr>
          <a:lstStyle>
            <a:defPPr algn="r">
              <a:defRPr sz="1875" b="1">
                <a:solidFill>
                  <a:srgbClr val="101B40"/>
                </a:solidFill>
                <a:latin typeface="Montserrat Bold"/>
                <a:ea typeface="Montserrat Bold"/>
                <a:cs typeface="Montserrat Bold"/>
              </a:defRPr>
            </a:defPPr>
          </a:lstStyle>
          <a:p>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02</a:t>
            </a:r>
          </a:p>
        </p:txBody>
      </p:sp>
      <p:sp>
        <p:nvSpPr>
          <p:cNvPr id="37" name="PDF-GalaxAI">
            <a:extLst>
              <a:ext uri="{FF2B5EF4-FFF2-40B4-BE49-F238E27FC236}">
                <a16:creationId xmlns:a16="http://schemas.microsoft.com/office/drawing/2014/main" id="{58C96FCE-7EB1-415A-A793-A1845630B8CA}"/>
              </a:ext>
            </a:extLst>
          </p:cNvPr>
          <p:cNvSpPr>
            <a:spLocks noGrp="1"/>
          </p:cNvSpPr>
          <p:nvPr/>
        </p:nvSpPr>
        <p:spPr>
          <a:xfrm>
            <a:off x="1238250" y="9620250"/>
            <a:ext cx="4286250" cy="333375"/>
          </a:xfrm>
          <a:prstGeom prst="rect">
            <a:avLst/>
          </a:prstGeom>
          <a:noFill/>
          <a:ln w="0">
            <a:noFill/>
          </a:ln>
        </p:spPr>
        <p:txBody>
          <a:bodyPr wrap="square" lIns="0" tIns="0" rIns="0" bIns="0" anchor="t">
            <a:noAutofit/>
          </a:bodyPr>
          <a:lstStyle>
            <a:defPPr algn="l">
              <a:defRPr sz="1650" b="0">
                <a:solidFill>
                  <a:srgbClr val="536681"/>
                </a:solidFill>
                <a:latin typeface="Montserrat"/>
                <a:ea typeface="Montserrat"/>
                <a:cs typeface="Montserrat"/>
              </a:defRPr>
            </a:defPPr>
          </a:lstStyle>
          <a:p>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38" name="02 / 12">
            <a:extLst>
              <a:ext uri="{FF2B5EF4-FFF2-40B4-BE49-F238E27FC236}">
                <a16:creationId xmlns:a16="http://schemas.microsoft.com/office/drawing/2014/main" id="{4A1FF8FE-A8D3-450A-8242-6842E89BD6DE}"/>
              </a:ext>
            </a:extLst>
          </p:cNvPr>
          <p:cNvSpPr>
            <a:spLocks noGrp="1"/>
          </p:cNvSpPr>
          <p:nvPr/>
        </p:nvSpPr>
        <p:spPr>
          <a:xfrm>
            <a:off x="15430500" y="9620250"/>
            <a:ext cx="1524000" cy="333375"/>
          </a:xfrm>
          <a:prstGeom prst="rect">
            <a:avLst/>
          </a:prstGeom>
          <a:noFill/>
          <a:ln w="0">
            <a:noFill/>
          </a:ln>
        </p:spPr>
        <p:txBody>
          <a:bodyPr wrap="square" lIns="0" tIns="0" rIns="0" bIns="0" anchor="t">
            <a:noAutofit/>
          </a:bodyPr>
          <a:lstStyle>
            <a:defPPr algn="r">
              <a:defRPr sz="1650" b="0">
                <a:solidFill>
                  <a:srgbClr val="536681"/>
                </a:solidFill>
                <a:latin typeface="Montserrat"/>
                <a:ea typeface="Montserrat"/>
                <a:cs typeface="Montserrat"/>
              </a:defRPr>
            </a:defPPr>
          </a:lstStyle>
          <a:p>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02 / 09</a:t>
            </a:r>
          </a:p>
        </p:txBody>
      </p:sp>
      <p:sp>
        <p:nvSpPr>
          <p:cNvPr id="39" name="User Problems &amp; Design Objectives">
            <a:extLst>
              <a:ext uri="{FF2B5EF4-FFF2-40B4-BE49-F238E27FC236}">
                <a16:creationId xmlns:a16="http://schemas.microsoft.com/office/drawing/2014/main" id="{8F375502-DAC4-41E8-A407-F0B23FF2EF5F}"/>
              </a:ext>
            </a:extLst>
          </p:cNvPr>
          <p:cNvSpPr>
            <a:spLocks noGrp="1"/>
          </p:cNvSpPr>
          <p:nvPr/>
        </p:nvSpPr>
        <p:spPr>
          <a:xfrm>
            <a:off x="1238250" y="1952625"/>
            <a:ext cx="15668625" cy="838200"/>
          </a:xfrm>
          <a:prstGeom prst="rect">
            <a:avLst/>
          </a:prstGeom>
          <a:noFill/>
          <a:ln w="0">
            <a:noFill/>
          </a:ln>
        </p:spPr>
        <p:txBody>
          <a:bodyPr wrap="square" lIns="0" tIns="0" rIns="0" bIns="0" anchor="t">
            <a:noAutofit/>
          </a:bodyPr>
          <a:lstStyle>
            <a:defPPr algn="l">
              <a:defRPr sz="4425" b="1">
                <a:solidFill>
                  <a:srgbClr val="101B40"/>
                </a:solidFill>
                <a:latin typeface="Montserrat Bold"/>
                <a:ea typeface="Montserrat Bold"/>
                <a:cs typeface="Montserrat Bold"/>
              </a:defRPr>
            </a:defPPr>
          </a:lstStyle>
          <a:p>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User Problems &amp; Design Objectives</a:t>
            </a:r>
          </a:p>
        </p:txBody>
      </p:sp>
      <p:sp>
        <p:nvSpPr>
          <p:cNvPr id="40" name="Designed for researchers exploring relationships across a growing coll">
            <a:extLst>
              <a:ext uri="{FF2B5EF4-FFF2-40B4-BE49-F238E27FC236}">
                <a16:creationId xmlns:a16="http://schemas.microsoft.com/office/drawing/2014/main" id="{1C1841D4-1A7D-41B2-BC0E-11401715AB59}"/>
              </a:ext>
            </a:extLst>
          </p:cNvPr>
          <p:cNvSpPr>
            <a:spLocks noGrp="1"/>
          </p:cNvSpPr>
          <p:nvPr/>
        </p:nvSpPr>
        <p:spPr>
          <a:xfrm>
            <a:off x="1257300" y="2905125"/>
            <a:ext cx="15382875" cy="809625"/>
          </a:xfrm>
          <a:prstGeom prst="rect">
            <a:avLst/>
          </a:prstGeom>
          <a:noFill/>
          <a:ln w="0">
            <a:noFill/>
          </a:ln>
        </p:spPr>
        <p:txBody>
          <a:bodyPr wrap="square" lIns="0" tIns="0" rIns="0" bIns="0" anchor="t">
            <a:noAutofit/>
          </a:bodyPr>
          <a:lstStyle>
            <a:defPPr algn="l">
              <a:defRPr sz="2250" b="0">
                <a:solidFill>
                  <a:srgbClr val="536681"/>
                </a:solidFill>
                <a:latin typeface="Montserrat"/>
                <a:ea typeface="Montserrat"/>
                <a:cs typeface="Montserrat"/>
              </a:defRPr>
            </a:defPPr>
          </a:lstStyle>
          <a:p>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Designed for researchers exploring relationships across a growing collection of papers.</a:t>
            </a:r>
          </a:p>
        </p:txBody>
      </p:sp>
      <p:sp>
        <p:nvSpPr>
          <p:cNvPr id="41" name="RESEARCH TASK">
            <a:extLst>
              <a:ext uri="{FF2B5EF4-FFF2-40B4-BE49-F238E27FC236}">
                <a16:creationId xmlns:a16="http://schemas.microsoft.com/office/drawing/2014/main" id="{170D77D2-EFCB-4EC1-ACEF-B04E0AC7A8A5}"/>
              </a:ext>
            </a:extLst>
          </p:cNvPr>
          <p:cNvSpPr>
            <a:spLocks noGrp="1"/>
          </p:cNvSpPr>
          <p:nvPr/>
        </p:nvSpPr>
        <p:spPr>
          <a:xfrm>
            <a:off x="1285875" y="4029075"/>
            <a:ext cx="6667500" cy="428625"/>
          </a:xfrm>
          <a:prstGeom prst="rect">
            <a:avLst/>
          </a:prstGeom>
          <a:noFill/>
          <a:ln w="0">
            <a:noFill/>
          </a:ln>
        </p:spPr>
        <p:txBody>
          <a:bodyPr wrap="square" lIns="0" tIns="0" rIns="0" bIns="0" anchor="t">
            <a:noAutofit/>
          </a:bodyPr>
          <a:lstStyle>
            <a:defPPr algn="l">
              <a:defRPr sz="1800" b="1">
                <a:solidFill>
                  <a:srgbClr val="536681"/>
                </a:solidFill>
                <a:latin typeface="Montserrat Bold"/>
                <a:ea typeface="Montserrat Bold"/>
                <a:cs typeface="Montserrat Bold"/>
              </a:defRPr>
            </a:defPPr>
          </a:lstStyle>
          <a:p>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RESEARCH TASK</a:t>
            </a:r>
          </a:p>
        </p:txBody>
      </p:sp>
      <p:sp>
        <p:nvSpPr>
          <p:cNvPr id="42" name="PRODUCT RESPONSE">
            <a:extLst>
              <a:ext uri="{FF2B5EF4-FFF2-40B4-BE49-F238E27FC236}">
                <a16:creationId xmlns:a16="http://schemas.microsoft.com/office/drawing/2014/main" id="{185D7574-1B58-4B10-8256-5265FB3074A6}"/>
              </a:ext>
            </a:extLst>
          </p:cNvPr>
          <p:cNvSpPr>
            <a:spLocks noGrp="1"/>
          </p:cNvSpPr>
          <p:nvPr/>
        </p:nvSpPr>
        <p:spPr>
          <a:xfrm>
            <a:off x="9286875" y="4029075"/>
            <a:ext cx="7429500" cy="428625"/>
          </a:xfrm>
          <a:prstGeom prst="rect">
            <a:avLst/>
          </a:prstGeom>
          <a:noFill/>
          <a:ln w="0">
            <a:noFill/>
          </a:ln>
        </p:spPr>
        <p:txBody>
          <a:bodyPr wrap="square" lIns="0" tIns="0" rIns="0" bIns="0" anchor="t">
            <a:noAutofit/>
          </a:bodyPr>
          <a:lstStyle>
            <a:defPPr algn="l">
              <a:defRPr sz="1800" b="1">
                <a:solidFill>
                  <a:srgbClr val="536681"/>
                </a:solidFill>
                <a:latin typeface="Montserrat Bold"/>
                <a:ea typeface="Montserrat Bold"/>
                <a:cs typeface="Montserrat Bold"/>
              </a:defRPr>
            </a:defPPr>
          </a:lstStyle>
          <a:p>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PRODUCT RESPONSE</a:t>
            </a:r>
          </a:p>
        </p:txBody>
      </p:sp>
      <p:sp>
        <p:nvSpPr>
          <p:cNvPr id="43" name="Fragmented knowledge">
            <a:extLst>
              <a:ext uri="{FF2B5EF4-FFF2-40B4-BE49-F238E27FC236}">
                <a16:creationId xmlns:a16="http://schemas.microsoft.com/office/drawing/2014/main" id="{44F669A3-35B0-44EE-BEBB-461759DA8206}"/>
              </a:ext>
            </a:extLst>
          </p:cNvPr>
          <p:cNvSpPr>
            <a:spLocks noGrp="1"/>
          </p:cNvSpPr>
          <p:nvPr/>
        </p:nvSpPr>
        <p:spPr>
          <a:xfrm>
            <a:off x="1285875" y="4667250"/>
            <a:ext cx="7096125" cy="428625"/>
          </a:xfrm>
          <a:prstGeom prst="rect">
            <a:avLst/>
          </a:prstGeom>
          <a:noFill/>
          <a:ln w="0">
            <a:noFill/>
          </a:ln>
        </p:spPr>
        <p:txBody>
          <a:bodyPr wrap="square" lIns="0" tIns="0" rIns="0" bIns="0" anchor="t">
            <a:noAutofit/>
          </a:bodyPr>
          <a:lstStyle>
            <a:defPPr algn="l">
              <a:defRPr sz="2400" b="1">
                <a:solidFill>
                  <a:srgbClr val="101B40"/>
                </a:solidFill>
                <a:latin typeface="Montserrat Bold"/>
                <a:ea typeface="Montserrat Bold"/>
                <a:cs typeface="Montserrat Bold"/>
              </a:defRPr>
            </a:defPPr>
          </a:lstStyle>
          <a:p>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Fragmented knowledge</a:t>
            </a:r>
          </a:p>
        </p:txBody>
      </p:sp>
      <p:sp>
        <p:nvSpPr>
          <p:cNvPr id="44" name="Individual PDFs hide connections across a collection.">
            <a:extLst>
              <a:ext uri="{FF2B5EF4-FFF2-40B4-BE49-F238E27FC236}">
                <a16:creationId xmlns:a16="http://schemas.microsoft.com/office/drawing/2014/main" id="{B0FA2008-5FF8-4212-8F3B-F125002BABF8}"/>
              </a:ext>
            </a:extLst>
          </p:cNvPr>
          <p:cNvSpPr>
            <a:spLocks noGrp="1"/>
          </p:cNvSpPr>
          <p:nvPr/>
        </p:nvSpPr>
        <p:spPr>
          <a:xfrm>
            <a:off x="1285875" y="5114925"/>
            <a:ext cx="7096125" cy="5715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Individual PDFs hide connections across a collection.</a:t>
            </a:r>
          </a:p>
        </p:txBody>
      </p:sp>
      <p:sp>
        <p:nvSpPr>
          <p:cNvPr id="45" name="A semantic knowledge galaxy">
            <a:extLst>
              <a:ext uri="{FF2B5EF4-FFF2-40B4-BE49-F238E27FC236}">
                <a16:creationId xmlns:a16="http://schemas.microsoft.com/office/drawing/2014/main" id="{5EC37D8B-29C1-43F7-99F4-A01188B1F5B2}"/>
              </a:ext>
            </a:extLst>
          </p:cNvPr>
          <p:cNvSpPr>
            <a:spLocks noGrp="1"/>
          </p:cNvSpPr>
          <p:nvPr/>
        </p:nvSpPr>
        <p:spPr>
          <a:xfrm>
            <a:off x="9286875" y="4667250"/>
            <a:ext cx="7524750" cy="428625"/>
          </a:xfrm>
          <a:prstGeom prst="rect">
            <a:avLst/>
          </a:prstGeom>
          <a:noFill/>
          <a:ln w="0">
            <a:noFill/>
          </a:ln>
        </p:spPr>
        <p:txBody>
          <a:bodyPr wrap="square" lIns="0" tIns="0" rIns="0" bIns="0" anchor="t">
            <a:noAutofit/>
          </a:bodyPr>
          <a:lstStyle>
            <a:defPPr algn="l">
              <a:defRPr sz="2400" b="1">
                <a:solidFill>
                  <a:srgbClr val="101B40"/>
                </a:solidFill>
                <a:latin typeface="Montserrat Bold"/>
                <a:ea typeface="Montserrat Bold"/>
                <a:cs typeface="Montserrat Bold"/>
              </a:defRPr>
            </a:defPPr>
          </a:lstStyle>
          <a:p>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semantic knowledge galaxy</a:t>
            </a:r>
          </a:p>
        </p:txBody>
      </p:sp>
      <p:sp>
        <p:nvSpPr>
          <p:cNvPr id="46" name="Organise papers by topic and expose related documents.">
            <a:extLst>
              <a:ext uri="{FF2B5EF4-FFF2-40B4-BE49-F238E27FC236}">
                <a16:creationId xmlns:a16="http://schemas.microsoft.com/office/drawing/2014/main" id="{A0A610E1-A4EE-413D-9104-169D9394D3BB}"/>
              </a:ext>
            </a:extLst>
          </p:cNvPr>
          <p:cNvSpPr>
            <a:spLocks noGrp="1"/>
          </p:cNvSpPr>
          <p:nvPr/>
        </p:nvSpPr>
        <p:spPr>
          <a:xfrm>
            <a:off x="9286875" y="5114925"/>
            <a:ext cx="7524750" cy="5715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Organise papers by topic and expose related documents.</a:t>
            </a:r>
          </a:p>
        </p:txBody>
      </p:sp>
      <p:sp>
        <p:nvSpPr>
          <p:cNvPr id="47" name="直接连接符 46">
            <a:extLst>
              <a:ext uri="{FF2B5EF4-FFF2-40B4-BE49-F238E27FC236}">
                <a16:creationId xmlns:a16="http://schemas.microsoft.com/office/drawing/2014/main" id="{168B8A35-F408-46AF-9408-DD4E87D90F01}"/>
              </a:ext>
            </a:extLst>
          </p:cNvPr>
          <p:cNvSpPr>
            <a:spLocks noGrp="1"/>
          </p:cNvSpPr>
          <p:nvPr/>
        </p:nvSpPr>
        <p:spPr>
          <a:xfrm>
            <a:off x="1285875" y="5648325"/>
            <a:ext cx="15525750" cy="0"/>
          </a:xfrm>
          <a:prstGeom prst="line">
            <a:avLst/>
          </a:prstGeom>
          <a:noFill/>
          <a:ln w="13335">
            <a:solidFill>
              <a:srgbClr val="8FA4C1"/>
            </a:solidFill>
          </a:ln>
        </p:spPr>
      </p:sp>
      <p:sp>
        <p:nvSpPr>
          <p:cNvPr id="48" name="Slow changes of context">
            <a:extLst>
              <a:ext uri="{FF2B5EF4-FFF2-40B4-BE49-F238E27FC236}">
                <a16:creationId xmlns:a16="http://schemas.microsoft.com/office/drawing/2014/main" id="{2670FC71-3BDA-4C0D-B672-6C4AA7A278F8}"/>
              </a:ext>
            </a:extLst>
          </p:cNvPr>
          <p:cNvSpPr>
            <a:spLocks noGrp="1"/>
          </p:cNvSpPr>
          <p:nvPr/>
        </p:nvSpPr>
        <p:spPr>
          <a:xfrm>
            <a:off x="1285875" y="5734050"/>
            <a:ext cx="7096125" cy="428625"/>
          </a:xfrm>
          <a:prstGeom prst="rect">
            <a:avLst/>
          </a:prstGeom>
          <a:noFill/>
          <a:ln w="0">
            <a:noFill/>
          </a:ln>
        </p:spPr>
        <p:txBody>
          <a:bodyPr wrap="square" lIns="0" tIns="0" rIns="0" bIns="0" anchor="t">
            <a:noAutofit/>
          </a:bodyPr>
          <a:lstStyle>
            <a:defPPr algn="l">
              <a:defRPr sz="2400" b="1">
                <a:solidFill>
                  <a:srgbClr val="101B40"/>
                </a:solidFill>
                <a:latin typeface="Montserrat Bold"/>
                <a:ea typeface="Montserrat Bold"/>
                <a:cs typeface="Montserrat Bold"/>
              </a:defRPr>
            </a:defPPr>
          </a:lstStyle>
          <a:p>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Slow changes of context</a:t>
            </a:r>
          </a:p>
        </p:txBody>
      </p:sp>
      <p:sp>
        <p:nvSpPr>
          <p:cNvPr id="49" name="Finding, reading and questioning require separate steps.">
            <a:extLst>
              <a:ext uri="{FF2B5EF4-FFF2-40B4-BE49-F238E27FC236}">
                <a16:creationId xmlns:a16="http://schemas.microsoft.com/office/drawing/2014/main" id="{E8987A4A-C12F-476A-96D8-60F5B3B35B49}"/>
              </a:ext>
            </a:extLst>
          </p:cNvPr>
          <p:cNvSpPr>
            <a:spLocks noGrp="1"/>
          </p:cNvSpPr>
          <p:nvPr/>
        </p:nvSpPr>
        <p:spPr>
          <a:xfrm>
            <a:off x="1285875" y="6181725"/>
            <a:ext cx="7096125" cy="5715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Finding, reading and questioning require separate steps.</a:t>
            </a:r>
          </a:p>
        </p:txBody>
      </p:sp>
      <p:sp>
        <p:nvSpPr>
          <p:cNvPr id="50" name="A connected reading workspace">
            <a:extLst>
              <a:ext uri="{FF2B5EF4-FFF2-40B4-BE49-F238E27FC236}">
                <a16:creationId xmlns:a16="http://schemas.microsoft.com/office/drawing/2014/main" id="{84F61FBA-7AFD-4CA0-B9BF-AD8EB160B74E}"/>
              </a:ext>
            </a:extLst>
          </p:cNvPr>
          <p:cNvSpPr>
            <a:spLocks noGrp="1"/>
          </p:cNvSpPr>
          <p:nvPr/>
        </p:nvSpPr>
        <p:spPr>
          <a:xfrm>
            <a:off x="9286875" y="5734050"/>
            <a:ext cx="7524750" cy="428625"/>
          </a:xfrm>
          <a:prstGeom prst="rect">
            <a:avLst/>
          </a:prstGeom>
          <a:noFill/>
          <a:ln w="0">
            <a:noFill/>
          </a:ln>
        </p:spPr>
        <p:txBody>
          <a:bodyPr wrap="square" lIns="0" tIns="0" rIns="0" bIns="0" anchor="t">
            <a:noAutofit/>
          </a:bodyPr>
          <a:lstStyle>
            <a:defPPr algn="l">
              <a:defRPr sz="2400" b="1">
                <a:solidFill>
                  <a:srgbClr val="101B40"/>
                </a:solidFill>
                <a:latin typeface="Montserrat Bold"/>
                <a:ea typeface="Montserrat Bold"/>
                <a:cs typeface="Montserrat Bold"/>
              </a:defRPr>
            </a:defPPr>
          </a:lstStyle>
          <a:p>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connected reading workspace</a:t>
            </a:r>
          </a:p>
        </p:txBody>
      </p:sp>
      <p:sp>
        <p:nvSpPr>
          <p:cNvPr id="51" name="Carry the selected paper into AI dialogue and PDF reading.">
            <a:extLst>
              <a:ext uri="{FF2B5EF4-FFF2-40B4-BE49-F238E27FC236}">
                <a16:creationId xmlns:a16="http://schemas.microsoft.com/office/drawing/2014/main" id="{D71E4259-5C78-48AA-A488-E35A9AA584E3}"/>
              </a:ext>
            </a:extLst>
          </p:cNvPr>
          <p:cNvSpPr>
            <a:spLocks noGrp="1"/>
          </p:cNvSpPr>
          <p:nvPr/>
        </p:nvSpPr>
        <p:spPr>
          <a:xfrm>
            <a:off x="9286875" y="6181725"/>
            <a:ext cx="7524750" cy="5715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Carry the selected paper into AI dialogue and PDF reading.</a:t>
            </a:r>
          </a:p>
        </p:txBody>
      </p:sp>
      <p:sp>
        <p:nvSpPr>
          <p:cNvPr id="52" name="直接连接符 51">
            <a:extLst>
              <a:ext uri="{FF2B5EF4-FFF2-40B4-BE49-F238E27FC236}">
                <a16:creationId xmlns:a16="http://schemas.microsoft.com/office/drawing/2014/main" id="{E3BB4CEE-D4AB-444B-B02F-6B7B877D5781}"/>
              </a:ext>
            </a:extLst>
          </p:cNvPr>
          <p:cNvSpPr>
            <a:spLocks noGrp="1"/>
          </p:cNvSpPr>
          <p:nvPr/>
        </p:nvSpPr>
        <p:spPr>
          <a:xfrm>
            <a:off x="1285875" y="6715125"/>
            <a:ext cx="15525750" cy="0"/>
          </a:xfrm>
          <a:prstGeom prst="line">
            <a:avLst/>
          </a:prstGeom>
          <a:noFill/>
          <a:ln w="13335">
            <a:solidFill>
              <a:srgbClr val="8FA4C1"/>
            </a:solidFill>
          </a:ln>
        </p:spPr>
      </p:sp>
      <p:sp>
        <p:nvSpPr>
          <p:cNvPr id="53" name="Unclear AI provenance">
            <a:extLst>
              <a:ext uri="{FF2B5EF4-FFF2-40B4-BE49-F238E27FC236}">
                <a16:creationId xmlns:a16="http://schemas.microsoft.com/office/drawing/2014/main" id="{755C0692-B348-4B82-AE4C-037D793078CF}"/>
              </a:ext>
            </a:extLst>
          </p:cNvPr>
          <p:cNvSpPr>
            <a:spLocks noGrp="1"/>
          </p:cNvSpPr>
          <p:nvPr/>
        </p:nvSpPr>
        <p:spPr>
          <a:xfrm>
            <a:off x="1285875" y="6800850"/>
            <a:ext cx="7096125" cy="428625"/>
          </a:xfrm>
          <a:prstGeom prst="rect">
            <a:avLst/>
          </a:prstGeom>
          <a:noFill/>
          <a:ln w="0">
            <a:noFill/>
          </a:ln>
        </p:spPr>
        <p:txBody>
          <a:bodyPr wrap="square" lIns="0" tIns="0" rIns="0" bIns="0" anchor="t">
            <a:noAutofit/>
          </a:bodyPr>
          <a:lstStyle>
            <a:defPPr algn="l">
              <a:defRPr sz="2400" b="1">
                <a:solidFill>
                  <a:srgbClr val="101B40"/>
                </a:solidFill>
                <a:latin typeface="Montserrat Bold"/>
                <a:ea typeface="Montserrat Bold"/>
                <a:cs typeface="Montserrat Bold"/>
              </a:defRPr>
            </a:defPPr>
          </a:lstStyle>
          <a:p>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Unclear AI provenance</a:t>
            </a:r>
          </a:p>
        </p:txBody>
      </p:sp>
      <p:sp>
        <p:nvSpPr>
          <p:cNvPr id="54" name="A fluent answer can be difficult to verify.">
            <a:extLst>
              <a:ext uri="{FF2B5EF4-FFF2-40B4-BE49-F238E27FC236}">
                <a16:creationId xmlns:a16="http://schemas.microsoft.com/office/drawing/2014/main" id="{CBC842B0-204C-47C1-A676-BE47156B5152}"/>
              </a:ext>
            </a:extLst>
          </p:cNvPr>
          <p:cNvSpPr>
            <a:spLocks noGrp="1"/>
          </p:cNvSpPr>
          <p:nvPr/>
        </p:nvSpPr>
        <p:spPr>
          <a:xfrm>
            <a:off x="1285875" y="7248525"/>
            <a:ext cx="7096125" cy="5715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A fluent answer can be difficult to verify.</a:t>
            </a:r>
          </a:p>
        </p:txBody>
      </p:sp>
      <p:sp>
        <p:nvSpPr>
          <p:cNvPr id="55" name="Accessible source evidence">
            <a:extLst>
              <a:ext uri="{FF2B5EF4-FFF2-40B4-BE49-F238E27FC236}">
                <a16:creationId xmlns:a16="http://schemas.microsoft.com/office/drawing/2014/main" id="{D7092214-36C0-41D8-B939-C866B972E639}"/>
              </a:ext>
            </a:extLst>
          </p:cNvPr>
          <p:cNvSpPr>
            <a:spLocks noGrp="1"/>
          </p:cNvSpPr>
          <p:nvPr/>
        </p:nvSpPr>
        <p:spPr>
          <a:xfrm>
            <a:off x="9286875" y="6800850"/>
            <a:ext cx="7524750" cy="428625"/>
          </a:xfrm>
          <a:prstGeom prst="rect">
            <a:avLst/>
          </a:prstGeom>
          <a:noFill/>
          <a:ln w="0">
            <a:noFill/>
          </a:ln>
        </p:spPr>
        <p:txBody>
          <a:bodyPr wrap="square" lIns="0" tIns="0" rIns="0" bIns="0" anchor="t">
            <a:noAutofit/>
          </a:bodyPr>
          <a:lstStyle>
            <a:defPPr algn="l">
              <a:defRPr sz="2400" b="1">
                <a:solidFill>
                  <a:srgbClr val="101B40"/>
                </a:solidFill>
                <a:latin typeface="Montserrat Bold"/>
                <a:ea typeface="Montserrat Bold"/>
                <a:cs typeface="Montserrat Bold"/>
              </a:defRPr>
            </a:defPPr>
          </a:lstStyle>
          <a:p>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Accessible source evidence</a:t>
            </a:r>
          </a:p>
        </p:txBody>
      </p:sp>
      <p:sp>
        <p:nvSpPr>
          <p:cNvPr id="56" name="Return retrieved passages and links to original PDF pages.">
            <a:extLst>
              <a:ext uri="{FF2B5EF4-FFF2-40B4-BE49-F238E27FC236}">
                <a16:creationId xmlns:a16="http://schemas.microsoft.com/office/drawing/2014/main" id="{5DD90FCF-CAED-406F-B87B-81703936B096}"/>
              </a:ext>
            </a:extLst>
          </p:cNvPr>
          <p:cNvSpPr>
            <a:spLocks noGrp="1"/>
          </p:cNvSpPr>
          <p:nvPr/>
        </p:nvSpPr>
        <p:spPr>
          <a:xfrm>
            <a:off x="9286875" y="7248525"/>
            <a:ext cx="7524750" cy="5715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Return retrieved passages and links to original PDF pages.</a:t>
            </a:r>
          </a:p>
        </p:txBody>
      </p:sp>
      <p:sp>
        <p:nvSpPr>
          <p:cNvPr id="57" name="直接连接符 56">
            <a:extLst>
              <a:ext uri="{FF2B5EF4-FFF2-40B4-BE49-F238E27FC236}">
                <a16:creationId xmlns:a16="http://schemas.microsoft.com/office/drawing/2014/main" id="{DE10E1FB-C698-4060-99BD-28B727F0ED5E}"/>
              </a:ext>
            </a:extLst>
          </p:cNvPr>
          <p:cNvSpPr>
            <a:spLocks noGrp="1"/>
          </p:cNvSpPr>
          <p:nvPr/>
        </p:nvSpPr>
        <p:spPr>
          <a:xfrm>
            <a:off x="1285875" y="7781925"/>
            <a:ext cx="15525750" cy="0"/>
          </a:xfrm>
          <a:prstGeom prst="line">
            <a:avLst/>
          </a:prstGeom>
          <a:noFill/>
          <a:ln w="13335">
            <a:solidFill>
              <a:srgbClr val="8FA4C1"/>
            </a:solidFill>
          </a:ln>
        </p:spPr>
      </p:sp>
      <p:sp>
        <p:nvSpPr>
          <p:cNvPr id="58" name="Different privacy needs">
            <a:extLst>
              <a:ext uri="{FF2B5EF4-FFF2-40B4-BE49-F238E27FC236}">
                <a16:creationId xmlns:a16="http://schemas.microsoft.com/office/drawing/2014/main" id="{1189DF5F-7460-4486-82D1-86DE9407A0F1}"/>
              </a:ext>
            </a:extLst>
          </p:cNvPr>
          <p:cNvSpPr>
            <a:spLocks noGrp="1"/>
          </p:cNvSpPr>
          <p:nvPr/>
        </p:nvSpPr>
        <p:spPr>
          <a:xfrm>
            <a:off x="1285875" y="7867650"/>
            <a:ext cx="7096125" cy="428625"/>
          </a:xfrm>
          <a:prstGeom prst="rect">
            <a:avLst/>
          </a:prstGeom>
          <a:noFill/>
          <a:ln w="0">
            <a:noFill/>
          </a:ln>
        </p:spPr>
        <p:txBody>
          <a:bodyPr wrap="square" lIns="0" tIns="0" rIns="0" bIns="0" anchor="t">
            <a:noAutofit/>
          </a:bodyPr>
          <a:lstStyle>
            <a:defPPr algn="l">
              <a:defRPr sz="2400" b="1">
                <a:solidFill>
                  <a:srgbClr val="101B40"/>
                </a:solidFill>
                <a:latin typeface="Montserrat Bold"/>
                <a:ea typeface="Montserrat Bold"/>
                <a:cs typeface="Montserrat Bold"/>
              </a:defRPr>
            </a:defPPr>
          </a:lstStyle>
          <a:p>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Different privacy needs</a:t>
            </a:r>
          </a:p>
        </p:txBody>
      </p:sp>
      <p:sp>
        <p:nvSpPr>
          <p:cNvPr id="59" name="Cloud capability and local processing involve trade-offs.">
            <a:extLst>
              <a:ext uri="{FF2B5EF4-FFF2-40B4-BE49-F238E27FC236}">
                <a16:creationId xmlns:a16="http://schemas.microsoft.com/office/drawing/2014/main" id="{80243FC1-1627-498A-A272-FB56C9662445}"/>
              </a:ext>
            </a:extLst>
          </p:cNvPr>
          <p:cNvSpPr>
            <a:spLocks noGrp="1"/>
          </p:cNvSpPr>
          <p:nvPr/>
        </p:nvSpPr>
        <p:spPr>
          <a:xfrm>
            <a:off x="1285875" y="8315325"/>
            <a:ext cx="7096125" cy="5715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Cloud capability and local processing involve trade-offs.</a:t>
            </a:r>
          </a:p>
        </p:txBody>
      </p:sp>
      <p:sp>
        <p:nvSpPr>
          <p:cNvPr id="60" name="A visible model choice">
            <a:extLst>
              <a:ext uri="{FF2B5EF4-FFF2-40B4-BE49-F238E27FC236}">
                <a16:creationId xmlns:a16="http://schemas.microsoft.com/office/drawing/2014/main" id="{8E3399A2-DFD0-4899-9F4A-5E8C2C7BB73A}"/>
              </a:ext>
            </a:extLst>
          </p:cNvPr>
          <p:cNvSpPr>
            <a:spLocks noGrp="1"/>
          </p:cNvSpPr>
          <p:nvPr/>
        </p:nvSpPr>
        <p:spPr>
          <a:xfrm>
            <a:off x="9286875" y="7867650"/>
            <a:ext cx="7524750" cy="428625"/>
          </a:xfrm>
          <a:prstGeom prst="rect">
            <a:avLst/>
          </a:prstGeom>
          <a:noFill/>
          <a:ln w="0">
            <a:noFill/>
          </a:ln>
        </p:spPr>
        <p:txBody>
          <a:bodyPr wrap="square" lIns="0" tIns="0" rIns="0" bIns="0" anchor="t">
            <a:noAutofit/>
          </a:bodyPr>
          <a:lstStyle>
            <a:defPPr algn="l">
              <a:defRPr sz="2400" b="1">
                <a:solidFill>
                  <a:srgbClr val="101B40"/>
                </a:solidFill>
                <a:latin typeface="Montserrat Bold"/>
                <a:ea typeface="Montserrat Bold"/>
                <a:cs typeface="Montserrat Bold"/>
              </a:defRPr>
            </a:defPPr>
          </a:lstStyle>
          <a:p>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visible model choice</a:t>
            </a:r>
          </a:p>
        </p:txBody>
      </p:sp>
      <p:sp>
        <p:nvSpPr>
          <p:cNvPr id="61" name="Let users choose local or cloud inference in the same interface.">
            <a:extLst>
              <a:ext uri="{FF2B5EF4-FFF2-40B4-BE49-F238E27FC236}">
                <a16:creationId xmlns:a16="http://schemas.microsoft.com/office/drawing/2014/main" id="{397CE679-B059-43C3-B910-7897A7E06A13}"/>
              </a:ext>
            </a:extLst>
          </p:cNvPr>
          <p:cNvSpPr>
            <a:spLocks noGrp="1"/>
          </p:cNvSpPr>
          <p:nvPr/>
        </p:nvSpPr>
        <p:spPr>
          <a:xfrm>
            <a:off x="9286875" y="8315325"/>
            <a:ext cx="7524750" cy="5715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Let users choose local or cloud inference in the same interface.</a:t>
            </a:r>
          </a:p>
        </p:txBody>
      </p:sp>
    </p:spTree>
    <p:extLst>
      <p:ext uri="{BB962C8B-B14F-4D97-AF65-F5344CB8AC3E}">
        <p14:creationId xmlns:p14="http://schemas.microsoft.com/office/powerpoint/2010/main" val="807220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ED631D5E-5F22-4A1A-B72F-2448906067F6}"/>
              </a:ext>
            </a:extLst>
          </p:cNvPr>
          <p:cNvSpPr>
            <a:spLocks noGrp="1"/>
          </p:cNvSpPr>
          <p:nvPr/>
        </p:nvSpPr>
        <p:spPr>
          <a:xfrm>
            <a:off x="4410075" y="514350"/>
            <a:ext cx="9467850" cy="819150"/>
          </a:xfrm>
          <a:custGeom>
            <a:avLst/>
            <a:gdLst/>
            <a:ahLst/>
            <a:cxnLst/>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id="4" name="TextBox 4">
            <a:extLst>
              <a:ext uri="{FF2B5EF4-FFF2-40B4-BE49-F238E27FC236}">
                <a16:creationId xmlns:a16="http://schemas.microsoft.com/office/drawing/2014/main" id="{2AEF9D59-DA31-446F-938E-8F80B41CB509}"/>
              </a:ext>
            </a:extLst>
          </p:cNvPr>
          <p:cNvSpPr>
            <a:spLocks noGrp="1"/>
          </p:cNvSpPr>
          <p:nvPr/>
        </p:nvSpPr>
        <p:spPr>
          <a:xfrm>
            <a:off x="4409081" y="370811"/>
            <a:ext cx="9469839" cy="959252"/>
          </a:xfrm>
          <a:prstGeom prst="rect">
            <a:avLst/>
          </a:prstGeom>
        </p:spPr>
        <p:txBody>
          <a:bodyPr lIns="50800" tIns="50800" rIns="50800" bIns="50800" anchor="ctr"/>
          <a:lstStyle/>
          <a:p>
            <a:pPr algn="ctr">
              <a:lnSpc>
                <a:spcPts val="2871"/>
              </a:lnSpc>
              <a:buNone/>
            </a:pPr>
            <a:endParaRPr/>
          </a:p>
        </p:txBody>
      </p:sp>
      <p:sp>
        <p:nvSpPr>
          <p:cNvPr id="6" name="Freeform 6">
            <a:extLst>
              <a:ext uri="{FF2B5EF4-FFF2-40B4-BE49-F238E27FC236}">
                <a16:creationId xmlns:a16="http://schemas.microsoft.com/office/drawing/2014/main" id="{66A4A1F3-25A5-4E8C-93FE-C7B55A30B33B}"/>
              </a:ext>
            </a:extLst>
          </p:cNvPr>
          <p:cNvSpPr>
            <a:spLocks noGrp="1"/>
          </p:cNvSpPr>
          <p:nvPr/>
        </p:nvSpPr>
        <p:spPr>
          <a:xfrm>
            <a:off x="7048500" y="628650"/>
            <a:ext cx="1466850" cy="590550"/>
          </a:xfrm>
          <a:custGeom>
            <a:avLst/>
            <a:gdLst/>
            <a:ahLst/>
            <a:cxnLst/>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id="7" name="TextBox 7">
            <a:extLst>
              <a:ext uri="{FF2B5EF4-FFF2-40B4-BE49-F238E27FC236}">
                <a16:creationId xmlns:a16="http://schemas.microsoft.com/office/drawing/2014/main" id="{A133CF64-0320-46F4-B9CE-50068B61021C}"/>
              </a:ext>
            </a:extLst>
          </p:cNvPr>
          <p:cNvSpPr>
            <a:spLocks noGrp="1"/>
          </p:cNvSpPr>
          <p:nvPr/>
        </p:nvSpPr>
        <p:spPr>
          <a:xfrm>
            <a:off x="9460786" y="483641"/>
            <a:ext cx="1665830" cy="733592"/>
          </a:xfrm>
          <a:prstGeom prst="rect">
            <a:avLst/>
          </a:prstGeom>
        </p:spPr>
        <p:txBody>
          <a:bodyPr lIns="50800" tIns="50800" rIns="50800" bIns="50800" anchor="ctr"/>
          <a:lstStyle/>
          <a:p>
            <a:pPr algn="ctr">
              <a:lnSpc>
                <a:spcPts val="2871"/>
              </a:lnSpc>
              <a:buNone/>
            </a:pPr>
            <a:endParaRPr/>
          </a:p>
        </p:txBody>
      </p:sp>
      <p:sp>
        <p:nvSpPr>
          <p:cNvPr id="9" name="TextBox 9">
            <a:extLst>
              <a:ext uri="{FF2B5EF4-FFF2-40B4-BE49-F238E27FC236}">
                <a16:creationId xmlns:a16="http://schemas.microsoft.com/office/drawing/2014/main" id="{44D83A55-2006-4691-B3DD-2D637A7DDDC8}"/>
              </a:ext>
            </a:extLst>
          </p:cNvPr>
          <p:cNvSpPr>
            <a:spLocks noGrp="1"/>
          </p:cNvSpPr>
          <p:nvPr/>
        </p:nvSpPr>
        <p:spPr>
          <a:xfrm>
            <a:off x="4438650" y="733425"/>
            <a:ext cx="16668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a:ext uri="{FF2B5EF4-FFF2-40B4-BE49-F238E27FC236}">
                <a16:creationId xmlns:a16="http://schemas.microsoft.com/office/drawing/2014/main" id="{54694FC0-9039-4073-8B58-2133C06FE37F}"/>
              </a:ext>
            </a:extLst>
          </p:cNvPr>
          <p:cNvSpPr>
            <a:spLocks noGrp="1"/>
          </p:cNvSpPr>
          <p:nvPr/>
        </p:nvSpPr>
        <p:spPr>
          <a:xfrm>
            <a:off x="6829425" y="733425"/>
            <a:ext cx="1905000" cy="329057"/>
          </a:xfrm>
          <a:prstGeom prst="rect">
            <a:avLst/>
          </a:prstGeom>
        </p:spPr>
        <p:txBody>
          <a:bodyPr lIns="0" tIns="0" rIns="0" bIns="0" anchor="t">
            <a:spAutoFit/>
          </a:bodyPr>
          <a:lstStyle>
            <a:defPPr algn="ctr">
              <a:defRPr sz="1800" b="1">
                <a:solidFill>
                  <a:srgbClr val="FFFFFF"/>
                </a:solidFill>
                <a:latin typeface="Montserrat"/>
                <a:ea typeface="Montserrat"/>
                <a:cs typeface="Montserrat"/>
              </a:defRPr>
            </a:defPPr>
          </a:lstStyle>
          <a:p>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11" name="TextBox 11">
            <a:extLst>
              <a:ext uri="{FF2B5EF4-FFF2-40B4-BE49-F238E27FC236}">
                <a16:creationId xmlns:a16="http://schemas.microsoft.com/office/drawing/2014/main" id="{E4696CDF-33C5-4C82-9090-E6A090CF962E}"/>
              </a:ext>
            </a:extLst>
          </p:cNvPr>
          <p:cNvSpPr>
            <a:spLocks noGrp="1"/>
          </p:cNvSpPr>
          <p:nvPr/>
        </p:nvSpPr>
        <p:spPr>
          <a:xfrm>
            <a:off x="9496425" y="733425"/>
            <a:ext cx="15906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12" name="TextBox 12">
            <a:extLst>
              <a:ext uri="{FF2B5EF4-FFF2-40B4-BE49-F238E27FC236}">
                <a16:creationId xmlns:a16="http://schemas.microsoft.com/office/drawing/2014/main" id="{5BBB5C4C-656B-4D02-AB0A-B71E37790AEB}"/>
              </a:ext>
            </a:extLst>
          </p:cNvPr>
          <p:cNvSpPr>
            <a:spLocks noGrp="1"/>
          </p:cNvSpPr>
          <p:nvPr/>
        </p:nvSpPr>
        <p:spPr>
          <a:xfrm>
            <a:off x="11591925" y="733425"/>
            <a:ext cx="2228850"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13" name="TextBox 13">
            <a:extLst>
              <a:ext uri="{FF2B5EF4-FFF2-40B4-BE49-F238E27FC236}">
                <a16:creationId xmlns:a16="http://schemas.microsoft.com/office/drawing/2014/main" id="{0F6A38E6-592A-4080-B0EA-E2B355C431C7}"/>
              </a:ext>
            </a:extLst>
          </p:cNvPr>
          <p:cNvSpPr>
            <a:spLocks noGrp="1"/>
          </p:cNvSpPr>
          <p:nvPr/>
        </p:nvSpPr>
        <p:spPr>
          <a:xfrm>
            <a:off x="800100" y="628650"/>
            <a:ext cx="2381250" cy="567690"/>
          </a:xfrm>
          <a:prstGeom prst="rect">
            <a:avLst/>
          </a:prstGeom>
        </p:spPr>
        <p:txBody>
          <a:bodyPr lIns="0" tIns="0" rIns="0" bIns="0" anchor="t">
            <a:spAutoFit/>
          </a:bodyPr>
          <a:lstStyle>
            <a:defPPr>
              <a:defRPr sz="1800" b="1">
                <a:solidFill>
                  <a:srgbClr val="101B40"/>
                </a:solidFill>
                <a:latin typeface="Montserrat"/>
                <a:ea typeface="Montserrat"/>
                <a:cs typeface="Montserrat"/>
              </a:defRPr>
            </a:defPPr>
          </a:lstStyle>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09">
            <a:extLst>
              <a:ext uri="{FF2B5EF4-FFF2-40B4-BE49-F238E27FC236}">
                <a16:creationId xmlns:a16="http://schemas.microsoft.com/office/drawing/2014/main" id="{667138C3-4A2C-4649-990A-93957EB6B934}"/>
              </a:ext>
            </a:extLst>
          </p:cNvPr>
          <p:cNvSpPr>
            <a:spLocks noGrp="1"/>
          </p:cNvSpPr>
          <p:nvPr/>
        </p:nvSpPr>
        <p:spPr>
          <a:xfrm>
            <a:off x="16735425" y="733425"/>
            <a:ext cx="666750" cy="381000"/>
          </a:xfrm>
          <a:prstGeom prst="rect">
            <a:avLst/>
          </a:prstGeom>
          <a:noFill/>
          <a:ln w="0">
            <a:noFill/>
          </a:ln>
        </p:spPr>
        <p:txBody>
          <a:bodyPr wrap="square" lIns="0" tIns="0" rIns="0" bIns="0" anchor="t">
            <a:noAutofit/>
          </a:bodyPr>
          <a:lstStyle>
            <a:defPPr algn="r">
              <a:defRPr sz="1875" b="1">
                <a:solidFill>
                  <a:srgbClr val="101B40"/>
                </a:solidFill>
                <a:latin typeface="Montserrat Bold"/>
                <a:ea typeface="Montserrat Bold"/>
                <a:cs typeface="Montserrat Bold"/>
              </a:defRPr>
            </a:defPPr>
          </a:lstStyle>
          <a:p>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03</a:t>
            </a:r>
          </a:p>
        </p:txBody>
      </p:sp>
      <p:sp>
        <p:nvSpPr>
          <p:cNvPr id="15" name="PDF-GalaxAI">
            <a:extLst>
              <a:ext uri="{FF2B5EF4-FFF2-40B4-BE49-F238E27FC236}">
                <a16:creationId xmlns:a16="http://schemas.microsoft.com/office/drawing/2014/main" id="{205D69A9-479B-4C7F-9DC3-787E275C2567}"/>
              </a:ext>
            </a:extLst>
          </p:cNvPr>
          <p:cNvSpPr>
            <a:spLocks noGrp="1"/>
          </p:cNvSpPr>
          <p:nvPr/>
        </p:nvSpPr>
        <p:spPr>
          <a:xfrm>
            <a:off x="1238250" y="9620250"/>
            <a:ext cx="4286250" cy="333375"/>
          </a:xfrm>
          <a:prstGeom prst="rect">
            <a:avLst/>
          </a:prstGeom>
          <a:noFill/>
          <a:ln w="0">
            <a:noFill/>
          </a:ln>
        </p:spPr>
        <p:txBody>
          <a:bodyPr wrap="square" lIns="0" tIns="0" rIns="0" bIns="0" anchor="t">
            <a:noAutofit/>
          </a:bodyPr>
          <a:lstStyle>
            <a:defPPr algn="l">
              <a:defRPr sz="1650" b="0">
                <a:solidFill>
                  <a:srgbClr val="536681"/>
                </a:solidFill>
                <a:latin typeface="Montserrat"/>
                <a:ea typeface="Montserrat"/>
                <a:cs typeface="Montserrat"/>
              </a:defRPr>
            </a:defPPr>
          </a:lstStyle>
          <a:p>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09 / 12">
            <a:extLst>
              <a:ext uri="{FF2B5EF4-FFF2-40B4-BE49-F238E27FC236}">
                <a16:creationId xmlns:a16="http://schemas.microsoft.com/office/drawing/2014/main" id="{6CCF80CF-1AA2-4450-B29D-AE5A98270371}"/>
              </a:ext>
            </a:extLst>
          </p:cNvPr>
          <p:cNvSpPr>
            <a:spLocks noGrp="1"/>
          </p:cNvSpPr>
          <p:nvPr/>
        </p:nvSpPr>
        <p:spPr>
          <a:xfrm>
            <a:off x="15430500" y="9620250"/>
            <a:ext cx="1524000" cy="333375"/>
          </a:xfrm>
          <a:prstGeom prst="rect">
            <a:avLst/>
          </a:prstGeom>
          <a:noFill/>
          <a:ln w="0">
            <a:noFill/>
          </a:ln>
        </p:spPr>
        <p:txBody>
          <a:bodyPr wrap="square" lIns="0" tIns="0" rIns="0" bIns="0" anchor="t">
            <a:noAutofit/>
          </a:bodyPr>
          <a:lstStyle>
            <a:defPPr algn="r">
              <a:defRPr sz="1650" b="0">
                <a:solidFill>
                  <a:srgbClr val="536681"/>
                </a:solidFill>
                <a:latin typeface="Montserrat"/>
                <a:ea typeface="Montserrat"/>
                <a:cs typeface="Montserrat"/>
              </a:defRPr>
            </a:defPPr>
          </a:lstStyle>
          <a:p>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03 / 09</a:t>
            </a:r>
          </a:p>
        </p:txBody>
      </p:sp>
      <p:sp>
        <p:nvSpPr>
          <p:cNvPr id="17" name="Interactive Workflow &amp; Model Choice">
            <a:extLst>
              <a:ext uri="{FF2B5EF4-FFF2-40B4-BE49-F238E27FC236}">
                <a16:creationId xmlns:a16="http://schemas.microsoft.com/office/drawing/2014/main" id="{91F4ABDD-4E21-453F-A86C-969A276090CA}"/>
              </a:ext>
            </a:extLst>
          </p:cNvPr>
          <p:cNvSpPr>
            <a:spLocks noGrp="1"/>
          </p:cNvSpPr>
          <p:nvPr/>
        </p:nvSpPr>
        <p:spPr>
          <a:xfrm>
            <a:off x="1238250" y="1952625"/>
            <a:ext cx="15668625" cy="838200"/>
          </a:xfrm>
          <a:prstGeom prst="rect">
            <a:avLst/>
          </a:prstGeom>
          <a:noFill/>
          <a:ln w="0">
            <a:noFill/>
          </a:ln>
        </p:spPr>
        <p:txBody>
          <a:bodyPr wrap="square" lIns="0" tIns="0" rIns="0" bIns="0" anchor="t">
            <a:noAutofit/>
          </a:bodyPr>
          <a:lstStyle>
            <a:defPPr algn="l">
              <a:defRPr sz="4425" b="1">
                <a:solidFill>
                  <a:srgbClr val="101B40"/>
                </a:solidFill>
                <a:latin typeface="Montserrat Bold"/>
                <a:ea typeface="Montserrat Bold"/>
                <a:cs typeface="Montserrat Bold"/>
              </a:defRPr>
            </a:defPPr>
          </a:lstStyle>
          <a:p>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Product Concept &amp; Workflow</a:t>
            </a:r>
          </a:p>
        </p:txBody>
      </p:sp>
      <p:sp>
        <p:nvSpPr>
          <p:cNvPr id="18" name="The same workspace supports broad discovery and focused reading with a">
            <a:extLst>
              <a:ext uri="{FF2B5EF4-FFF2-40B4-BE49-F238E27FC236}">
                <a16:creationId xmlns:a16="http://schemas.microsoft.com/office/drawing/2014/main" id="{91175708-E8FB-4991-9B35-5057E78D5F71}"/>
              </a:ext>
            </a:extLst>
          </p:cNvPr>
          <p:cNvSpPr>
            <a:spLocks noGrp="1"/>
          </p:cNvSpPr>
          <p:nvPr/>
        </p:nvSpPr>
        <p:spPr>
          <a:xfrm>
            <a:off x="1257300" y="2905125"/>
            <a:ext cx="15382875" cy="809625"/>
          </a:xfrm>
          <a:prstGeom prst="rect">
            <a:avLst/>
          </a:prstGeom>
          <a:noFill/>
          <a:ln w="0">
            <a:noFill/>
          </a:ln>
        </p:spPr>
        <p:txBody>
          <a:bodyPr wrap="square" lIns="0" tIns="0" rIns="0" bIns="0" anchor="t">
            <a:noAutofit/>
          </a:bodyPr>
          <a:lstStyle>
            <a:defPPr algn="l">
              <a:defRPr sz="2250" b="0">
                <a:solidFill>
                  <a:srgbClr val="536681"/>
                </a:solidFill>
                <a:latin typeface="Montserrat"/>
                <a:ea typeface="Montserrat"/>
                <a:cs typeface="Montserrat"/>
              </a:defRPr>
            </a:defPPr>
          </a:lstStyle>
          <a:p>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selected paper links galaxy exploration, contextual questions and original-source reading.</a:t>
            </a:r>
          </a:p>
        </p:txBody>
      </p:sp>
      <p:sp>
        <p:nvSpPr>
          <p:cNvPr id="19" name="01">
            <a:extLst>
              <a:ext uri="{FF2B5EF4-FFF2-40B4-BE49-F238E27FC236}">
                <a16:creationId xmlns:a16="http://schemas.microsoft.com/office/drawing/2014/main" id="{F5B5BB04-D9C2-479B-9822-B6A2CFC8D90E}"/>
              </a:ext>
            </a:extLst>
          </p:cNvPr>
          <p:cNvSpPr>
            <a:spLocks noGrp="1"/>
          </p:cNvSpPr>
          <p:nvPr/>
        </p:nvSpPr>
        <p:spPr>
          <a:xfrm>
            <a:off x="1238250" y="4000500"/>
            <a:ext cx="857250" cy="571500"/>
          </a:xfrm>
          <a:prstGeom prst="rect">
            <a:avLst/>
          </a:prstGeom>
          <a:noFill/>
          <a:ln w="0">
            <a:noFill/>
          </a:ln>
        </p:spPr>
        <p:txBody>
          <a:bodyPr wrap="square" lIns="0" tIns="0" rIns="0" bIns="0" anchor="t">
            <a:noAutofit/>
          </a:bodyPr>
          <a:lstStyle>
            <a:defPPr algn="l">
              <a:defRPr sz="3225" b="1">
                <a:solidFill>
                  <a:srgbClr val="8FA4C1"/>
                </a:solidFill>
                <a:latin typeface="Montserrat Bold"/>
                <a:ea typeface="Montserrat Bold"/>
                <a:cs typeface="Montserrat Bold"/>
              </a:defRPr>
            </a:defPPr>
          </a:lstStyle>
          <a:p>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01</a:t>
            </a:r>
          </a:p>
        </p:txBody>
      </p:sp>
      <p:sp>
        <p:nvSpPr>
          <p:cNvPr id="20" name="Import">
            <a:extLst>
              <a:ext uri="{FF2B5EF4-FFF2-40B4-BE49-F238E27FC236}">
                <a16:creationId xmlns:a16="http://schemas.microsoft.com/office/drawing/2014/main" id="{61F96455-1EBF-4C91-A1BA-2ABEB50FD2DF}"/>
              </a:ext>
            </a:extLst>
          </p:cNvPr>
          <p:cNvSpPr>
            <a:spLocks noGrp="1"/>
          </p:cNvSpPr>
          <p:nvPr/>
        </p:nvSpPr>
        <p:spPr>
          <a:xfrm>
            <a:off x="2143125" y="4057650"/>
            <a:ext cx="2857500" cy="466725"/>
          </a:xfrm>
          <a:prstGeom prst="rect">
            <a:avLst/>
          </a:prstGeom>
          <a:noFill/>
          <a:ln w="0">
            <a:noFill/>
          </a:ln>
        </p:spPr>
        <p:txBody>
          <a:bodyPr wrap="square" lIns="0" tIns="0" rIns="0" bIns="0" anchor="t">
            <a:noAutofit/>
          </a:bodyPr>
          <a:lstStyle>
            <a:defPPr algn="l">
              <a:defRPr sz="2400" b="1">
                <a:solidFill>
                  <a:srgbClr val="101B40"/>
                </a:solidFill>
                <a:latin typeface="Montserrat Bold"/>
                <a:ea typeface="Montserrat Bold"/>
                <a:cs typeface="Montserrat Bold"/>
              </a:defRPr>
            </a:defPPr>
          </a:lstStyle>
          <a:p>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Import</a:t>
            </a:r>
          </a:p>
        </p:txBody>
      </p:sp>
      <p:sp>
        <p:nvSpPr>
          <p:cNvPr id="21" name="Upload and index papers">
            <a:extLst>
              <a:ext uri="{FF2B5EF4-FFF2-40B4-BE49-F238E27FC236}">
                <a16:creationId xmlns:a16="http://schemas.microsoft.com/office/drawing/2014/main" id="{42B8CBE9-85B6-42B3-A0EC-B65AC2F01963}"/>
              </a:ext>
            </a:extLst>
          </p:cNvPr>
          <p:cNvSpPr>
            <a:spLocks noGrp="1"/>
          </p:cNvSpPr>
          <p:nvPr/>
        </p:nvSpPr>
        <p:spPr>
          <a:xfrm>
            <a:off x="1238250" y="4800600"/>
            <a:ext cx="3619500" cy="742950"/>
          </a:xfrm>
          <a:prstGeom prst="rect">
            <a:avLst/>
          </a:prstGeom>
          <a:noFill/>
          <a:ln w="0">
            <a:noFill/>
          </a:ln>
        </p:spPr>
        <p:txBody>
          <a:bodyPr wrap="square" lIns="0" tIns="0" rIns="0" bIns="0" anchor="t">
            <a:noAutofit/>
          </a:bodyPr>
          <a:lstStyle>
            <a:defPPr algn="l">
              <a:defRPr sz="2025" b="0">
                <a:solidFill>
                  <a:srgbClr val="536681"/>
                </a:solidFill>
                <a:latin typeface="Montserrat"/>
                <a:ea typeface="Montserrat"/>
                <a:cs typeface="Montserrat"/>
              </a:defRPr>
            </a:defPPr>
          </a:lstStyle>
          <a:p>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Upload and index papers</a:t>
            </a:r>
          </a:p>
        </p:txBody>
      </p:sp>
      <p:sp>
        <p:nvSpPr>
          <p:cNvPr id="22" name="02">
            <a:extLst>
              <a:ext uri="{FF2B5EF4-FFF2-40B4-BE49-F238E27FC236}">
                <a16:creationId xmlns:a16="http://schemas.microsoft.com/office/drawing/2014/main" id="{D3813BDD-7DC8-4A09-BD9F-B3790DA352B4}"/>
              </a:ext>
            </a:extLst>
          </p:cNvPr>
          <p:cNvSpPr>
            <a:spLocks noGrp="1"/>
          </p:cNvSpPr>
          <p:nvPr/>
        </p:nvSpPr>
        <p:spPr>
          <a:xfrm>
            <a:off x="5286375" y="4000500"/>
            <a:ext cx="857250" cy="571500"/>
          </a:xfrm>
          <a:prstGeom prst="rect">
            <a:avLst/>
          </a:prstGeom>
          <a:noFill/>
          <a:ln w="0">
            <a:noFill/>
          </a:ln>
        </p:spPr>
        <p:txBody>
          <a:bodyPr wrap="square" lIns="0" tIns="0" rIns="0" bIns="0" anchor="t">
            <a:noAutofit/>
          </a:bodyPr>
          <a:lstStyle>
            <a:defPPr algn="l">
              <a:defRPr sz="3225" b="1">
                <a:solidFill>
                  <a:srgbClr val="8FA4C1"/>
                </a:solidFill>
                <a:latin typeface="Montserrat Bold"/>
                <a:ea typeface="Montserrat Bold"/>
                <a:cs typeface="Montserrat Bold"/>
              </a:defRPr>
            </a:defPPr>
          </a:lstStyle>
          <a:p>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02</a:t>
            </a:r>
          </a:p>
        </p:txBody>
      </p:sp>
      <p:sp>
        <p:nvSpPr>
          <p:cNvPr id="23" name="Explore">
            <a:extLst>
              <a:ext uri="{FF2B5EF4-FFF2-40B4-BE49-F238E27FC236}">
                <a16:creationId xmlns:a16="http://schemas.microsoft.com/office/drawing/2014/main" id="{4A17FA18-6AC2-450D-A513-79EDD643A336}"/>
              </a:ext>
            </a:extLst>
          </p:cNvPr>
          <p:cNvSpPr>
            <a:spLocks noGrp="1"/>
          </p:cNvSpPr>
          <p:nvPr/>
        </p:nvSpPr>
        <p:spPr>
          <a:xfrm>
            <a:off x="6191250" y="4057650"/>
            <a:ext cx="2857500" cy="466725"/>
          </a:xfrm>
          <a:prstGeom prst="rect">
            <a:avLst/>
          </a:prstGeom>
          <a:noFill/>
          <a:ln w="0">
            <a:noFill/>
          </a:ln>
        </p:spPr>
        <p:txBody>
          <a:bodyPr wrap="square" lIns="0" tIns="0" rIns="0" bIns="0" anchor="t">
            <a:noAutofit/>
          </a:bodyPr>
          <a:lstStyle>
            <a:defPPr algn="l">
              <a:defRPr sz="2400" b="1">
                <a:solidFill>
                  <a:srgbClr val="101B40"/>
                </a:solidFill>
                <a:latin typeface="Montserrat Bold"/>
                <a:ea typeface="Montserrat Bold"/>
                <a:cs typeface="Montserrat Bold"/>
              </a:defRPr>
            </a:defPPr>
          </a:lstStyle>
          <a:p>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Explore</a:t>
            </a:r>
          </a:p>
        </p:txBody>
      </p:sp>
      <p:sp>
        <p:nvSpPr>
          <p:cNvPr id="24" name="Select or search a paper">
            <a:extLst>
              <a:ext uri="{FF2B5EF4-FFF2-40B4-BE49-F238E27FC236}">
                <a16:creationId xmlns:a16="http://schemas.microsoft.com/office/drawing/2014/main" id="{5704C074-95A8-4DD2-82F9-402FC11909BF}"/>
              </a:ext>
            </a:extLst>
          </p:cNvPr>
          <p:cNvSpPr>
            <a:spLocks noGrp="1"/>
          </p:cNvSpPr>
          <p:nvPr/>
        </p:nvSpPr>
        <p:spPr>
          <a:xfrm>
            <a:off x="5286375" y="4800600"/>
            <a:ext cx="3619500" cy="742950"/>
          </a:xfrm>
          <a:prstGeom prst="rect">
            <a:avLst/>
          </a:prstGeom>
          <a:noFill/>
          <a:ln w="0">
            <a:noFill/>
          </a:ln>
        </p:spPr>
        <p:txBody>
          <a:bodyPr wrap="square" lIns="0" tIns="0" rIns="0" bIns="0" anchor="t">
            <a:noAutofit/>
          </a:bodyPr>
          <a:lstStyle>
            <a:defPPr algn="l">
              <a:defRPr sz="2025" b="0">
                <a:solidFill>
                  <a:srgbClr val="536681"/>
                </a:solidFill>
                <a:latin typeface="Montserrat"/>
                <a:ea typeface="Montserrat"/>
                <a:cs typeface="Montserrat"/>
              </a:defRPr>
            </a:defPPr>
          </a:lstStyle>
          <a:p>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Select a paper in the galaxy</a:t>
            </a:r>
          </a:p>
        </p:txBody>
      </p:sp>
      <p:sp>
        <p:nvSpPr>
          <p:cNvPr id="25" name="03">
            <a:extLst>
              <a:ext uri="{FF2B5EF4-FFF2-40B4-BE49-F238E27FC236}">
                <a16:creationId xmlns:a16="http://schemas.microsoft.com/office/drawing/2014/main" id="{F9550F7A-ADD1-4F9E-A8AB-D2698B779F8E}"/>
              </a:ext>
            </a:extLst>
          </p:cNvPr>
          <p:cNvSpPr>
            <a:spLocks noGrp="1"/>
          </p:cNvSpPr>
          <p:nvPr/>
        </p:nvSpPr>
        <p:spPr>
          <a:xfrm>
            <a:off x="9334500" y="4000500"/>
            <a:ext cx="857250" cy="571500"/>
          </a:xfrm>
          <a:prstGeom prst="rect">
            <a:avLst/>
          </a:prstGeom>
          <a:noFill/>
          <a:ln w="0">
            <a:noFill/>
          </a:ln>
        </p:spPr>
        <p:txBody>
          <a:bodyPr wrap="square" lIns="0" tIns="0" rIns="0" bIns="0" anchor="t">
            <a:noAutofit/>
          </a:bodyPr>
          <a:lstStyle>
            <a:defPPr algn="l">
              <a:defRPr sz="3225" b="1">
                <a:solidFill>
                  <a:srgbClr val="8FA4C1"/>
                </a:solidFill>
                <a:latin typeface="Montserrat Bold"/>
                <a:ea typeface="Montserrat Bold"/>
                <a:cs typeface="Montserrat Bold"/>
              </a:defRPr>
            </a:defPPr>
          </a:lstStyle>
          <a:p>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03</a:t>
            </a:r>
          </a:p>
        </p:txBody>
      </p:sp>
      <p:sp>
        <p:nvSpPr>
          <p:cNvPr id="26" name="Question">
            <a:extLst>
              <a:ext uri="{FF2B5EF4-FFF2-40B4-BE49-F238E27FC236}">
                <a16:creationId xmlns:a16="http://schemas.microsoft.com/office/drawing/2014/main" id="{BED2ACF7-92A1-4B26-AF4C-27F88111B196}"/>
              </a:ext>
            </a:extLst>
          </p:cNvPr>
          <p:cNvSpPr>
            <a:spLocks noGrp="1"/>
          </p:cNvSpPr>
          <p:nvPr/>
        </p:nvSpPr>
        <p:spPr>
          <a:xfrm>
            <a:off x="10239375" y="4057650"/>
            <a:ext cx="2857500" cy="466725"/>
          </a:xfrm>
          <a:prstGeom prst="rect">
            <a:avLst/>
          </a:prstGeom>
          <a:noFill/>
          <a:ln w="0">
            <a:noFill/>
          </a:ln>
        </p:spPr>
        <p:txBody>
          <a:bodyPr wrap="square" lIns="0" tIns="0" rIns="0" bIns="0" anchor="t">
            <a:noAutofit/>
          </a:bodyPr>
          <a:lstStyle>
            <a:defPPr algn="l">
              <a:defRPr sz="2400" b="1">
                <a:solidFill>
                  <a:srgbClr val="101B40"/>
                </a:solidFill>
                <a:latin typeface="Montserrat Bold"/>
                <a:ea typeface="Montserrat Bold"/>
                <a:cs typeface="Montserrat Bold"/>
              </a:defRPr>
            </a:defPPr>
          </a:lstStyle>
          <a:p>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Question</a:t>
            </a:r>
          </a:p>
        </p:txBody>
      </p:sp>
      <p:sp>
        <p:nvSpPr>
          <p:cNvPr id="27" name="Choose context and mode">
            <a:extLst>
              <a:ext uri="{FF2B5EF4-FFF2-40B4-BE49-F238E27FC236}">
                <a16:creationId xmlns:a16="http://schemas.microsoft.com/office/drawing/2014/main" id="{68BBC3A0-C75F-4D4A-8ABF-A15749B57920}"/>
              </a:ext>
            </a:extLst>
          </p:cNvPr>
          <p:cNvSpPr>
            <a:spLocks noGrp="1"/>
          </p:cNvSpPr>
          <p:nvPr/>
        </p:nvSpPr>
        <p:spPr>
          <a:xfrm>
            <a:off x="9334500" y="4800600"/>
            <a:ext cx="3619500" cy="742950"/>
          </a:xfrm>
          <a:prstGeom prst="rect">
            <a:avLst/>
          </a:prstGeom>
          <a:noFill/>
          <a:ln w="0">
            <a:noFill/>
          </a:ln>
        </p:spPr>
        <p:txBody>
          <a:bodyPr wrap="square" lIns="0" tIns="0" rIns="0" bIns="0" anchor="t">
            <a:noAutofit/>
          </a:bodyPr>
          <a:lstStyle>
            <a:defPPr algn="l">
              <a:defRPr sz="2025" b="0">
                <a:solidFill>
                  <a:srgbClr val="536681"/>
                </a:solidFill>
                <a:latin typeface="Montserrat"/>
                <a:ea typeface="Montserrat"/>
                <a:cs typeface="Montserrat"/>
              </a:defRPr>
            </a:defPPr>
          </a:lstStyle>
          <a:p>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Add a reference and choose a model</a:t>
            </a:r>
          </a:p>
        </p:txBody>
      </p:sp>
      <p:sp>
        <p:nvSpPr>
          <p:cNvPr id="28" name="04">
            <a:extLst>
              <a:ext uri="{FF2B5EF4-FFF2-40B4-BE49-F238E27FC236}">
                <a16:creationId xmlns:a16="http://schemas.microsoft.com/office/drawing/2014/main" id="{A1D755C0-3DC1-4290-BD2E-2F35B072A2CC}"/>
              </a:ext>
            </a:extLst>
          </p:cNvPr>
          <p:cNvSpPr>
            <a:spLocks noGrp="1"/>
          </p:cNvSpPr>
          <p:nvPr/>
        </p:nvSpPr>
        <p:spPr>
          <a:xfrm>
            <a:off x="13382625" y="4000500"/>
            <a:ext cx="857250" cy="571500"/>
          </a:xfrm>
          <a:prstGeom prst="rect">
            <a:avLst/>
          </a:prstGeom>
          <a:noFill/>
          <a:ln w="0">
            <a:noFill/>
          </a:ln>
        </p:spPr>
        <p:txBody>
          <a:bodyPr wrap="square" lIns="0" tIns="0" rIns="0" bIns="0" anchor="t">
            <a:noAutofit/>
          </a:bodyPr>
          <a:lstStyle>
            <a:defPPr algn="l">
              <a:defRPr sz="3225" b="1">
                <a:solidFill>
                  <a:srgbClr val="8FA4C1"/>
                </a:solidFill>
                <a:latin typeface="Montserrat Bold"/>
                <a:ea typeface="Montserrat Bold"/>
                <a:cs typeface="Montserrat Bold"/>
              </a:defRPr>
            </a:defPPr>
          </a:lstStyle>
          <a:p>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04</a:t>
            </a:r>
          </a:p>
        </p:txBody>
      </p:sp>
      <p:sp>
        <p:nvSpPr>
          <p:cNvPr id="29" name="Verify">
            <a:extLst>
              <a:ext uri="{FF2B5EF4-FFF2-40B4-BE49-F238E27FC236}">
                <a16:creationId xmlns:a16="http://schemas.microsoft.com/office/drawing/2014/main" id="{EB93304C-A127-4293-95FB-787DBD633567}"/>
              </a:ext>
            </a:extLst>
          </p:cNvPr>
          <p:cNvSpPr>
            <a:spLocks noGrp="1"/>
          </p:cNvSpPr>
          <p:nvPr/>
        </p:nvSpPr>
        <p:spPr>
          <a:xfrm>
            <a:off x="14287500" y="4057650"/>
            <a:ext cx="2857500" cy="466725"/>
          </a:xfrm>
          <a:prstGeom prst="rect">
            <a:avLst/>
          </a:prstGeom>
          <a:noFill/>
          <a:ln w="0">
            <a:noFill/>
          </a:ln>
        </p:spPr>
        <p:txBody>
          <a:bodyPr wrap="square" lIns="0" tIns="0" rIns="0" bIns="0" anchor="t">
            <a:noAutofit/>
          </a:bodyPr>
          <a:lstStyle>
            <a:defPPr algn="l">
              <a:defRPr sz="2400" b="1">
                <a:solidFill>
                  <a:srgbClr val="101B40"/>
                </a:solidFill>
                <a:latin typeface="Montserrat Bold"/>
                <a:ea typeface="Montserrat Bold"/>
                <a:cs typeface="Montserrat Bold"/>
              </a:defRPr>
            </a:defPPr>
          </a:lstStyle>
          <a:p>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Verify</a:t>
            </a:r>
          </a:p>
        </p:txBody>
      </p:sp>
      <p:sp>
        <p:nvSpPr>
          <p:cNvPr id="30" name="Open cited source text">
            <a:extLst>
              <a:ext uri="{FF2B5EF4-FFF2-40B4-BE49-F238E27FC236}">
                <a16:creationId xmlns:a16="http://schemas.microsoft.com/office/drawing/2014/main" id="{02B161DD-E5A9-4EBE-8723-E63EB761130E}"/>
              </a:ext>
            </a:extLst>
          </p:cNvPr>
          <p:cNvSpPr>
            <a:spLocks noGrp="1"/>
          </p:cNvSpPr>
          <p:nvPr/>
        </p:nvSpPr>
        <p:spPr>
          <a:xfrm>
            <a:off x="13382625" y="4800600"/>
            <a:ext cx="3619500" cy="742950"/>
          </a:xfrm>
          <a:prstGeom prst="rect">
            <a:avLst/>
          </a:prstGeom>
          <a:noFill/>
          <a:ln w="0">
            <a:noFill/>
          </a:ln>
        </p:spPr>
        <p:txBody>
          <a:bodyPr wrap="square" lIns="0" tIns="0" rIns="0" bIns="0" anchor="t">
            <a:noAutofit/>
          </a:bodyPr>
          <a:lstStyle>
            <a:defPPr algn="l">
              <a:defRPr sz="2025" b="0">
                <a:solidFill>
                  <a:srgbClr val="536681"/>
                </a:solidFill>
                <a:latin typeface="Montserrat"/>
                <a:ea typeface="Montserrat"/>
                <a:cs typeface="Montserrat"/>
              </a:defRPr>
            </a:defPPr>
          </a:lstStyle>
          <a:p>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Open the cited page in the reader</a:t>
            </a:r>
          </a:p>
        </p:txBody>
      </p:sp>
      <p:sp>
        <p:nvSpPr>
          <p:cNvPr id="34" name="Screenshot placeholder: 【此处放本地与云端模型切换截图】">
            <a:extLst>
              <a:ext uri="{FF2B5EF4-FFF2-40B4-BE49-F238E27FC236}">
                <a16:creationId xmlns:a16="http://schemas.microsoft.com/office/drawing/2014/main" id="{BAC3724B-902A-48E1-A3A2-1E82A3A867EB}"/>
              </a:ext>
            </a:extLst>
          </p:cNvPr>
          <p:cNvSpPr>
            <a:spLocks noGrp="1"/>
          </p:cNvSpPr>
          <p:nvPr/>
        </p:nvSpPr>
        <p:spPr>
          <a:xfrm>
            <a:off x="11811000" y="5810250"/>
            <a:ext cx="5095875" cy="3524250"/>
          </a:xfrm>
          <a:prstGeom prst="roundRect">
            <a:avLst>
              <a:gd name="adj" fmla="val 6486"/>
            </a:avLst>
          </a:prstGeom>
          <a:solidFill>
            <a:srgbClr val="DCE2EB"/>
          </a:solidFill>
          <a:ln w="16193">
            <a:solidFill>
              <a:srgbClr val="8FA4C1"/>
            </a:solidFill>
          </a:ln>
        </p:spPr>
      </p:sp>
      <p:sp>
        <p:nvSpPr>
          <p:cNvPr id="35" name="【此处放本地与云端模型切换截图】">
            <a:extLst>
              <a:ext uri="{FF2B5EF4-FFF2-40B4-BE49-F238E27FC236}">
                <a16:creationId xmlns:a16="http://schemas.microsoft.com/office/drawing/2014/main" id="{E40A85D0-7AAF-4575-84AE-3582222160A0}"/>
              </a:ext>
            </a:extLst>
          </p:cNvPr>
          <p:cNvSpPr>
            <a:spLocks noGrp="1"/>
          </p:cNvSpPr>
          <p:nvPr/>
        </p:nvSpPr>
        <p:spPr>
          <a:xfrm>
            <a:off x="12020550" y="7286625"/>
            <a:ext cx="4676775" cy="742950"/>
          </a:xfrm>
          <a:prstGeom prst="rect">
            <a:avLst/>
          </a:prstGeom>
          <a:noFill/>
          <a:ln w="0">
            <a:noFill/>
          </a:ln>
        </p:spPr>
        <p:txBody>
          <a:bodyPr wrap="square" lIns="0" tIns="0" rIns="0" bIns="0" anchor="t">
            <a:noAutofit/>
          </a:bodyPr>
          <a:lstStyle>
            <a:defPPr algn="ctr">
              <a:defRPr sz="2250" b="0">
                <a:solidFill>
                  <a:srgbClr val="536681"/>
                </a:solidFill>
                <a:latin typeface="Microsoft YaHei"/>
                <a:ea typeface="Microsoft YaHei"/>
                <a:cs typeface="Microsoft YaHei"/>
              </a:defRPr>
            </a:defPPr>
          </a:lstStyle>
          <a:p>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【此处放本地与云端模型切换截图】</a:t>
            </a:r>
          </a:p>
        </p:txBody>
      </p:sp>
      <p:sp>
        <p:nvSpPr>
          <p:cNvPr id="36" name="Model panel crop">
            <a:extLst>
              <a:ext uri="{FF2B5EF4-FFF2-40B4-BE49-F238E27FC236}">
                <a16:creationId xmlns:a16="http://schemas.microsoft.com/office/drawing/2014/main" id="{FEFD78E0-7D93-49BB-8358-78442BD17F28}"/>
              </a:ext>
            </a:extLst>
          </p:cNvPr>
          <p:cNvSpPr>
            <a:spLocks noGrp="1"/>
          </p:cNvSpPr>
          <p:nvPr/>
        </p:nvSpPr>
        <p:spPr>
          <a:xfrm>
            <a:off x="15525750" y="5981700"/>
            <a:ext cx="1143000" cy="285750"/>
          </a:xfrm>
          <a:prstGeom prst="rect">
            <a:avLst/>
          </a:prstGeom>
          <a:noFill/>
          <a:ln w="0">
            <a:noFill/>
          </a:ln>
        </p:spPr>
        <p:txBody>
          <a:bodyPr wrap="square" lIns="0" tIns="0" rIns="0" bIns="0" anchor="t">
            <a:noAutofit/>
          </a:bodyPr>
          <a:lstStyle>
            <a:defPPr algn="r">
              <a:defRPr sz="1575" b="0">
                <a:solidFill>
                  <a:srgbClr val="536681"/>
                </a:solidFill>
                <a:latin typeface="Montserrat"/>
                <a:ea typeface="Montserrat"/>
                <a:cs typeface="Montserrat"/>
              </a:defRPr>
            </a:defPPr>
          </a:lstStyle>
          <a:p>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Model panel crop</a:t>
            </a:r>
          </a:p>
        </p:txBody>
      </p:sp>
      <p:sp>
        <p:nvSpPr>
          <p:cNvPr id="37" name="Data and interaction flow">
            <a:extLst>
              <a:ext uri="{FF2B5EF4-FFF2-40B4-BE49-F238E27FC236}">
                <a16:creationId xmlns:a16="http://schemas.microsoft.com/office/drawing/2014/main" id="{F3559A32-BF49-4A15-B1E2-704F6B8A35B0}"/>
              </a:ext>
            </a:extLst>
          </p:cNvPr>
          <p:cNvSpPr>
            <a:spLocks noGrp="1"/>
          </p:cNvSpPr>
          <p:nvPr/>
        </p:nvSpPr>
        <p:spPr>
          <a:xfrm>
            <a:off x="1238250" y="5772150"/>
            <a:ext cx="9906000" cy="342900"/>
          </a:xfrm>
          <a:prstGeom prst="rect">
            <a:avLst/>
          </a:prstGeom>
          <a:noFill/>
          <a:ln w="0">
            <a:noFill/>
          </a:ln>
        </p:spPr>
        <p:txBody>
          <a:bodyPr wrap="square" lIns="0" tIns="0" rIns="0" bIns="0" anchor="t">
            <a:noAutofit/>
          </a:bodyPr>
          <a:lstStyle>
            <a:defPPr algn="l">
              <a:defRPr sz="1950" b="1">
                <a:solidFill>
                  <a:srgbClr val="536681"/>
                </a:solidFill>
                <a:latin typeface="Montserrat Bold"/>
                <a:ea typeface="Montserrat Bold"/>
                <a:cs typeface="Montserrat Bold"/>
              </a:defRPr>
            </a:defPPr>
          </a:lstStyle>
          <a:p>
            <a:pPr algn="l">
              <a:buNone/>
              <a:defRPr sz="1950" b="1">
                <a:solidFill>
                  <a:srgbClr val="536681"/>
                </a:solidFill>
                <a:latin typeface="Montserrat Bold"/>
                <a:ea typeface="Montserrat Bold"/>
                <a:cs typeface="Montserrat Bold"/>
              </a:defRPr>
            </a:pPr>
            <a:r>
              <a:rPr sz="1950" b="1">
                <a:solidFill>
                  <a:srgbClr val="536681"/>
                </a:solidFill>
                <a:latin typeface="Montserrat Bold"/>
                <a:ea typeface="Montserrat Bold"/>
                <a:cs typeface="Montserrat Bold"/>
              </a:rPr>
              <a:t>Data and interaction flow</a:t>
            </a:r>
          </a:p>
        </p:txBody>
      </p:sp>
      <p:sp>
        <p:nvSpPr>
          <p:cNvPr id="38" name="Workflow: Upload PDF">
            <a:extLst>
              <a:ext uri="{FF2B5EF4-FFF2-40B4-BE49-F238E27FC236}">
                <a16:creationId xmlns:a16="http://schemas.microsoft.com/office/drawing/2014/main" id="{D6AB4F09-B6E8-4B4F-BC3F-3BFA111C2EF5}"/>
              </a:ext>
            </a:extLst>
          </p:cNvPr>
          <p:cNvSpPr>
            <a:spLocks noGrp="1"/>
          </p:cNvSpPr>
          <p:nvPr/>
        </p:nvSpPr>
        <p:spPr>
          <a:xfrm>
            <a:off x="1238250" y="6238875"/>
            <a:ext cx="2857500" cy="1257300"/>
          </a:xfrm>
          <a:prstGeom prst="roundRect">
            <a:avLst>
              <a:gd name="adj" fmla="val 13636"/>
            </a:avLst>
          </a:prstGeom>
          <a:solidFill>
            <a:srgbClr val="FFFFFF"/>
          </a:solidFill>
          <a:ln w="16193">
            <a:solidFill>
              <a:srgbClr val="8FA4C1"/>
            </a:solidFill>
          </a:ln>
        </p:spPr>
      </p:sp>
      <p:sp>
        <p:nvSpPr>
          <p:cNvPr id="39" name="Upload PDF">
            <a:extLst>
              <a:ext uri="{FF2B5EF4-FFF2-40B4-BE49-F238E27FC236}">
                <a16:creationId xmlns:a16="http://schemas.microsoft.com/office/drawing/2014/main" id="{B4A92C1E-3C9F-4CA2-B887-92BC5FFD5C61}"/>
              </a:ext>
            </a:extLst>
          </p:cNvPr>
          <p:cNvSpPr>
            <a:spLocks noGrp="1"/>
          </p:cNvSpPr>
          <p:nvPr/>
        </p:nvSpPr>
        <p:spPr>
          <a:xfrm>
            <a:off x="1409700" y="6410325"/>
            <a:ext cx="2514600" cy="352425"/>
          </a:xfrm>
          <a:prstGeom prst="rect">
            <a:avLst/>
          </a:prstGeom>
          <a:noFill/>
          <a:ln w="0">
            <a:noFill/>
          </a:ln>
        </p:spPr>
        <p:txBody>
          <a:bodyPr wrap="square" lIns="0" tIns="0" rIns="0" bIns="0" anchor="t">
            <a:noAutofit/>
          </a:bodyPr>
          <a:lstStyle>
            <a:defPPr algn="l">
              <a:defRPr sz="2025" b="1">
                <a:solidFill>
                  <a:srgbClr val="101B40"/>
                </a:solidFill>
                <a:latin typeface="Montserrat Bold"/>
                <a:ea typeface="Montserrat Bold"/>
                <a:cs typeface="Montserrat Bold"/>
              </a:defRPr>
            </a:defPPr>
          </a:lstStyle>
          <a:p>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Upload PDF</a:t>
            </a:r>
          </a:p>
        </p:txBody>
      </p:sp>
      <p:sp>
        <p:nvSpPr>
          <p:cNvPr id="40" name="Save the original&#10;document">
            <a:extLst>
              <a:ext uri="{FF2B5EF4-FFF2-40B4-BE49-F238E27FC236}">
                <a16:creationId xmlns:a16="http://schemas.microsoft.com/office/drawing/2014/main" id="{A472293B-CBFF-4012-AA05-5FE98B43CF65}"/>
              </a:ext>
            </a:extLst>
          </p:cNvPr>
          <p:cNvSpPr>
            <a:spLocks noGrp="1"/>
          </p:cNvSpPr>
          <p:nvPr/>
        </p:nvSpPr>
        <p:spPr>
          <a:xfrm>
            <a:off x="1409700" y="6858000"/>
            <a:ext cx="2514600" cy="552450"/>
          </a:xfrm>
          <a:prstGeom prst="rect">
            <a:avLst/>
          </a:prstGeom>
          <a:noFill/>
          <a:ln w="0">
            <a:noFill/>
          </a:ln>
        </p:spPr>
        <p:txBody>
          <a:bodyPr wrap="square" lIns="0" tIns="0" rIns="0" bIns="0" anchor="t">
            <a:noAutofit/>
          </a:bodyPr>
          <a:lstStyle>
            <a:defPPr algn="l">
              <a:defRPr sz="1800" b="0">
                <a:solidFill>
                  <a:srgbClr val="536681"/>
                </a:solidFill>
                <a:latin typeface="Montserrat"/>
                <a:ea typeface="Montserrat"/>
                <a:cs typeface="Montserrat"/>
              </a:defRPr>
            </a:defPPr>
          </a:lstStyle>
          <a:p>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Save the original</a:t>
            </a:r>
          </a:p>
          <a:p>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document</a:t>
            </a:r>
          </a:p>
        </p:txBody>
      </p:sp>
      <p:sp>
        <p:nvSpPr>
          <p:cNvPr id="41" name="Workflow: Parse &amp; index">
            <a:extLst>
              <a:ext uri="{FF2B5EF4-FFF2-40B4-BE49-F238E27FC236}">
                <a16:creationId xmlns:a16="http://schemas.microsoft.com/office/drawing/2014/main" id="{484EB244-7DDA-42AB-9AA8-B0DD3ECE8C9D}"/>
              </a:ext>
            </a:extLst>
          </p:cNvPr>
          <p:cNvSpPr>
            <a:spLocks noGrp="1"/>
          </p:cNvSpPr>
          <p:nvPr/>
        </p:nvSpPr>
        <p:spPr>
          <a:xfrm>
            <a:off x="4667250" y="6238875"/>
            <a:ext cx="2857500" cy="1257300"/>
          </a:xfrm>
          <a:prstGeom prst="roundRect">
            <a:avLst>
              <a:gd name="adj" fmla="val 13636"/>
            </a:avLst>
          </a:prstGeom>
          <a:solidFill>
            <a:srgbClr val="FFFFFF"/>
          </a:solidFill>
          <a:ln w="16193">
            <a:solidFill>
              <a:srgbClr val="8FA4C1"/>
            </a:solidFill>
          </a:ln>
        </p:spPr>
      </p:sp>
      <p:sp>
        <p:nvSpPr>
          <p:cNvPr id="42" name="Parse &amp; index">
            <a:extLst>
              <a:ext uri="{FF2B5EF4-FFF2-40B4-BE49-F238E27FC236}">
                <a16:creationId xmlns:a16="http://schemas.microsoft.com/office/drawing/2014/main" id="{92143F33-1B38-49A5-AF11-6C4004043EB7}"/>
              </a:ext>
            </a:extLst>
          </p:cNvPr>
          <p:cNvSpPr>
            <a:spLocks noGrp="1"/>
          </p:cNvSpPr>
          <p:nvPr/>
        </p:nvSpPr>
        <p:spPr>
          <a:xfrm>
            <a:off x="4838700" y="6410325"/>
            <a:ext cx="2514600" cy="352425"/>
          </a:xfrm>
          <a:prstGeom prst="rect">
            <a:avLst/>
          </a:prstGeom>
          <a:noFill/>
          <a:ln w="0">
            <a:noFill/>
          </a:ln>
        </p:spPr>
        <p:txBody>
          <a:bodyPr wrap="square" lIns="0" tIns="0" rIns="0" bIns="0" anchor="t">
            <a:noAutofit/>
          </a:bodyPr>
          <a:lstStyle>
            <a:defPPr algn="l">
              <a:defRPr sz="2025" b="1">
                <a:solidFill>
                  <a:srgbClr val="101B40"/>
                </a:solidFill>
                <a:latin typeface="Montserrat Bold"/>
                <a:ea typeface="Montserrat Bold"/>
                <a:cs typeface="Montserrat Bold"/>
              </a:defRPr>
            </a:defPPr>
          </a:lstStyle>
          <a:p>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Parse &amp; index</a:t>
            </a:r>
          </a:p>
        </p:txBody>
      </p:sp>
      <p:sp>
        <p:nvSpPr>
          <p:cNvPr id="43" name="Text extraction&#10;and embeddings">
            <a:extLst>
              <a:ext uri="{FF2B5EF4-FFF2-40B4-BE49-F238E27FC236}">
                <a16:creationId xmlns:a16="http://schemas.microsoft.com/office/drawing/2014/main" id="{52453174-178E-4202-B050-E6651CBF94C0}"/>
              </a:ext>
            </a:extLst>
          </p:cNvPr>
          <p:cNvSpPr>
            <a:spLocks noGrp="1"/>
          </p:cNvSpPr>
          <p:nvPr/>
        </p:nvSpPr>
        <p:spPr>
          <a:xfrm>
            <a:off x="4838700" y="6858000"/>
            <a:ext cx="2514600" cy="552450"/>
          </a:xfrm>
          <a:prstGeom prst="rect">
            <a:avLst/>
          </a:prstGeom>
          <a:noFill/>
          <a:ln w="0">
            <a:noFill/>
          </a:ln>
        </p:spPr>
        <p:txBody>
          <a:bodyPr wrap="square" lIns="0" tIns="0" rIns="0" bIns="0" anchor="t">
            <a:noAutofit/>
          </a:bodyPr>
          <a:lstStyle>
            <a:defPPr algn="l">
              <a:defRPr sz="1800" b="0">
                <a:solidFill>
                  <a:srgbClr val="536681"/>
                </a:solidFill>
                <a:latin typeface="Montserrat"/>
                <a:ea typeface="Montserrat"/>
                <a:cs typeface="Montserrat"/>
              </a:defRPr>
            </a:defPPr>
          </a:lstStyle>
          <a:p>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Text extraction</a:t>
            </a:r>
          </a:p>
          <a:p>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embeddings</a:t>
            </a:r>
          </a:p>
        </p:txBody>
      </p:sp>
      <p:sp>
        <p:nvSpPr>
          <p:cNvPr id="44" name="Workflow: Knowledge galaxy">
            <a:extLst>
              <a:ext uri="{FF2B5EF4-FFF2-40B4-BE49-F238E27FC236}">
                <a16:creationId xmlns:a16="http://schemas.microsoft.com/office/drawing/2014/main" id="{3E53E94C-E6CA-4F50-956A-41BB4B23A77F}"/>
              </a:ext>
            </a:extLst>
          </p:cNvPr>
          <p:cNvSpPr>
            <a:spLocks noGrp="1"/>
          </p:cNvSpPr>
          <p:nvPr/>
        </p:nvSpPr>
        <p:spPr>
          <a:xfrm>
            <a:off x="8096250" y="6238875"/>
            <a:ext cx="2857500" cy="1257300"/>
          </a:xfrm>
          <a:prstGeom prst="roundRect">
            <a:avLst>
              <a:gd name="adj" fmla="val 13636"/>
            </a:avLst>
          </a:prstGeom>
          <a:solidFill>
            <a:srgbClr val="FFFFFF"/>
          </a:solidFill>
          <a:ln w="16193">
            <a:solidFill>
              <a:srgbClr val="8FA4C1"/>
            </a:solidFill>
          </a:ln>
        </p:spPr>
      </p:sp>
      <p:sp>
        <p:nvSpPr>
          <p:cNvPr id="45" name="Knowledge galaxy">
            <a:extLst>
              <a:ext uri="{FF2B5EF4-FFF2-40B4-BE49-F238E27FC236}">
                <a16:creationId xmlns:a16="http://schemas.microsoft.com/office/drawing/2014/main" id="{D25340D2-CE82-4010-AC4F-A6A627ACB4F3}"/>
              </a:ext>
            </a:extLst>
          </p:cNvPr>
          <p:cNvSpPr>
            <a:spLocks noGrp="1"/>
          </p:cNvSpPr>
          <p:nvPr/>
        </p:nvSpPr>
        <p:spPr>
          <a:xfrm>
            <a:off x="8267700" y="6410325"/>
            <a:ext cx="2514600" cy="352425"/>
          </a:xfrm>
          <a:prstGeom prst="rect">
            <a:avLst/>
          </a:prstGeom>
          <a:noFill/>
          <a:ln w="0">
            <a:noFill/>
          </a:ln>
        </p:spPr>
        <p:txBody>
          <a:bodyPr wrap="square" lIns="0" tIns="0" rIns="0" bIns="0" anchor="t">
            <a:noAutofit/>
          </a:bodyPr>
          <a:lstStyle>
            <a:defPPr algn="l">
              <a:defRPr sz="2025" b="1">
                <a:solidFill>
                  <a:srgbClr val="101B40"/>
                </a:solidFill>
                <a:latin typeface="Montserrat Bold"/>
                <a:ea typeface="Montserrat Bold"/>
                <a:cs typeface="Montserrat Bold"/>
              </a:defRPr>
            </a:defPPr>
          </a:lstStyle>
          <a:p>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Knowledge galaxy</a:t>
            </a:r>
          </a:p>
        </p:txBody>
      </p:sp>
      <p:sp>
        <p:nvSpPr>
          <p:cNvPr id="46" name="Topic groups&#10;and paper nodes">
            <a:extLst>
              <a:ext uri="{FF2B5EF4-FFF2-40B4-BE49-F238E27FC236}">
                <a16:creationId xmlns:a16="http://schemas.microsoft.com/office/drawing/2014/main" id="{CE737099-6FEC-4036-AECD-8B00768FE00A}"/>
              </a:ext>
            </a:extLst>
          </p:cNvPr>
          <p:cNvSpPr>
            <a:spLocks noGrp="1"/>
          </p:cNvSpPr>
          <p:nvPr/>
        </p:nvSpPr>
        <p:spPr>
          <a:xfrm>
            <a:off x="8267700" y="6858000"/>
            <a:ext cx="2514600" cy="552450"/>
          </a:xfrm>
          <a:prstGeom prst="rect">
            <a:avLst/>
          </a:prstGeom>
          <a:noFill/>
          <a:ln w="0">
            <a:noFill/>
          </a:ln>
        </p:spPr>
        <p:txBody>
          <a:bodyPr wrap="square" lIns="0" tIns="0" rIns="0" bIns="0" anchor="t">
            <a:noAutofit/>
          </a:bodyPr>
          <a:lstStyle>
            <a:defPPr algn="l">
              <a:defRPr sz="1800" b="0">
                <a:solidFill>
                  <a:srgbClr val="536681"/>
                </a:solidFill>
                <a:latin typeface="Montserrat"/>
                <a:ea typeface="Montserrat"/>
                <a:cs typeface="Montserrat"/>
              </a:defRPr>
            </a:defPPr>
          </a:lstStyle>
          <a:p>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Topic groups</a:t>
            </a:r>
          </a:p>
          <a:p>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paper nodes</a:t>
            </a:r>
          </a:p>
        </p:txBody>
      </p:sp>
      <p:sp>
        <p:nvSpPr>
          <p:cNvPr id="47" name="Workflow: RAG question">
            <a:extLst>
              <a:ext uri="{FF2B5EF4-FFF2-40B4-BE49-F238E27FC236}">
                <a16:creationId xmlns:a16="http://schemas.microsoft.com/office/drawing/2014/main" id="{C1E6A733-1142-4265-BD23-8DEBAC3ADCA8}"/>
              </a:ext>
            </a:extLst>
          </p:cNvPr>
          <p:cNvSpPr>
            <a:spLocks noGrp="1"/>
          </p:cNvSpPr>
          <p:nvPr/>
        </p:nvSpPr>
        <p:spPr>
          <a:xfrm>
            <a:off x="8096250" y="7981950"/>
            <a:ext cx="2857500" cy="1257300"/>
          </a:xfrm>
          <a:prstGeom prst="roundRect">
            <a:avLst>
              <a:gd name="adj" fmla="val 13636"/>
            </a:avLst>
          </a:prstGeom>
          <a:solidFill>
            <a:srgbClr val="FFFFFF"/>
          </a:solidFill>
          <a:ln w="16193">
            <a:solidFill>
              <a:srgbClr val="8FA4C1"/>
            </a:solidFill>
          </a:ln>
        </p:spPr>
      </p:sp>
      <p:sp>
        <p:nvSpPr>
          <p:cNvPr id="48" name="RAG question">
            <a:extLst>
              <a:ext uri="{FF2B5EF4-FFF2-40B4-BE49-F238E27FC236}">
                <a16:creationId xmlns:a16="http://schemas.microsoft.com/office/drawing/2014/main" id="{B8D61870-F603-4C4F-AD4A-E3760BCEBAB7}"/>
              </a:ext>
            </a:extLst>
          </p:cNvPr>
          <p:cNvSpPr>
            <a:spLocks noGrp="1"/>
          </p:cNvSpPr>
          <p:nvPr/>
        </p:nvSpPr>
        <p:spPr>
          <a:xfrm>
            <a:off x="8267700" y="8153400"/>
            <a:ext cx="2514600" cy="352425"/>
          </a:xfrm>
          <a:prstGeom prst="rect">
            <a:avLst/>
          </a:prstGeom>
          <a:noFill/>
          <a:ln w="0">
            <a:noFill/>
          </a:ln>
        </p:spPr>
        <p:txBody>
          <a:bodyPr wrap="square" lIns="0" tIns="0" rIns="0" bIns="0" anchor="t">
            <a:noAutofit/>
          </a:bodyPr>
          <a:lstStyle>
            <a:defPPr algn="l">
              <a:defRPr sz="2025" b="1">
                <a:solidFill>
                  <a:srgbClr val="101B40"/>
                </a:solidFill>
                <a:latin typeface="Montserrat Bold"/>
                <a:ea typeface="Montserrat Bold"/>
                <a:cs typeface="Montserrat Bold"/>
              </a:defRPr>
            </a:defPPr>
          </a:lstStyle>
          <a:p>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RAG question</a:t>
            </a:r>
          </a:p>
        </p:txBody>
      </p:sp>
      <p:sp>
        <p:nvSpPr>
          <p:cNvPr id="49" name="Retrieve passages&#10;and answer">
            <a:extLst>
              <a:ext uri="{FF2B5EF4-FFF2-40B4-BE49-F238E27FC236}">
                <a16:creationId xmlns:a16="http://schemas.microsoft.com/office/drawing/2014/main" id="{A9C4CF48-6CD4-4CAD-B3B0-1E512ED8112D}"/>
              </a:ext>
            </a:extLst>
          </p:cNvPr>
          <p:cNvSpPr>
            <a:spLocks noGrp="1"/>
          </p:cNvSpPr>
          <p:nvPr/>
        </p:nvSpPr>
        <p:spPr>
          <a:xfrm>
            <a:off x="8267700" y="8601075"/>
            <a:ext cx="2514600" cy="552450"/>
          </a:xfrm>
          <a:prstGeom prst="rect">
            <a:avLst/>
          </a:prstGeom>
          <a:noFill/>
          <a:ln w="0">
            <a:noFill/>
          </a:ln>
        </p:spPr>
        <p:txBody>
          <a:bodyPr wrap="square" lIns="0" tIns="0" rIns="0" bIns="0" anchor="t">
            <a:noAutofit/>
          </a:bodyPr>
          <a:lstStyle>
            <a:defPPr algn="l">
              <a:defRPr sz="1800" b="0">
                <a:solidFill>
                  <a:srgbClr val="536681"/>
                </a:solidFill>
                <a:latin typeface="Montserrat"/>
                <a:ea typeface="Montserrat"/>
                <a:cs typeface="Montserrat"/>
              </a:defRPr>
            </a:defPPr>
          </a:lstStyle>
          <a:p>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Retrieve passages</a:t>
            </a:r>
          </a:p>
          <a:p>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answer</a:t>
            </a:r>
          </a:p>
        </p:txBody>
      </p:sp>
      <p:sp>
        <p:nvSpPr>
          <p:cNvPr id="50" name="Workflow: Source references">
            <a:extLst>
              <a:ext uri="{FF2B5EF4-FFF2-40B4-BE49-F238E27FC236}">
                <a16:creationId xmlns:a16="http://schemas.microsoft.com/office/drawing/2014/main" id="{01DE9012-79C5-4725-8B2F-E37081006B11}"/>
              </a:ext>
            </a:extLst>
          </p:cNvPr>
          <p:cNvSpPr>
            <a:spLocks noGrp="1"/>
          </p:cNvSpPr>
          <p:nvPr/>
        </p:nvSpPr>
        <p:spPr>
          <a:xfrm>
            <a:off x="4667250" y="7981950"/>
            <a:ext cx="2857500" cy="1257300"/>
          </a:xfrm>
          <a:prstGeom prst="roundRect">
            <a:avLst>
              <a:gd name="adj" fmla="val 13636"/>
            </a:avLst>
          </a:prstGeom>
          <a:solidFill>
            <a:srgbClr val="FFFFFF"/>
          </a:solidFill>
          <a:ln w="16193">
            <a:solidFill>
              <a:srgbClr val="8FA4C1"/>
            </a:solidFill>
          </a:ln>
        </p:spPr>
      </p:sp>
      <p:sp>
        <p:nvSpPr>
          <p:cNvPr id="51" name="Source references">
            <a:extLst>
              <a:ext uri="{FF2B5EF4-FFF2-40B4-BE49-F238E27FC236}">
                <a16:creationId xmlns:a16="http://schemas.microsoft.com/office/drawing/2014/main" id="{418E9D4C-61FE-42D3-9A50-7AB19DDC7A9E}"/>
              </a:ext>
            </a:extLst>
          </p:cNvPr>
          <p:cNvSpPr>
            <a:spLocks noGrp="1"/>
          </p:cNvSpPr>
          <p:nvPr/>
        </p:nvSpPr>
        <p:spPr>
          <a:xfrm>
            <a:off x="4838700" y="8153400"/>
            <a:ext cx="2514600" cy="352425"/>
          </a:xfrm>
          <a:prstGeom prst="rect">
            <a:avLst/>
          </a:prstGeom>
          <a:noFill/>
          <a:ln w="0">
            <a:noFill/>
          </a:ln>
        </p:spPr>
        <p:txBody>
          <a:bodyPr wrap="square" lIns="0" tIns="0" rIns="0" bIns="0" anchor="t">
            <a:noAutofit/>
          </a:bodyPr>
          <a:lstStyle>
            <a:defPPr algn="l">
              <a:defRPr sz="2025" b="1">
                <a:solidFill>
                  <a:srgbClr val="101B40"/>
                </a:solidFill>
                <a:latin typeface="Montserrat Bold"/>
                <a:ea typeface="Montserrat Bold"/>
                <a:cs typeface="Montserrat Bold"/>
              </a:defRPr>
            </a:defPPr>
          </a:lstStyle>
          <a:p>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Source references</a:t>
            </a:r>
          </a:p>
        </p:txBody>
      </p:sp>
      <p:sp>
        <p:nvSpPr>
          <p:cNvPr id="52" name="Paper, page and&#10;passage context">
            <a:extLst>
              <a:ext uri="{FF2B5EF4-FFF2-40B4-BE49-F238E27FC236}">
                <a16:creationId xmlns:a16="http://schemas.microsoft.com/office/drawing/2014/main" id="{B71E8B62-80A9-4406-A4BE-94D6BF889539}"/>
              </a:ext>
            </a:extLst>
          </p:cNvPr>
          <p:cNvSpPr>
            <a:spLocks noGrp="1"/>
          </p:cNvSpPr>
          <p:nvPr/>
        </p:nvSpPr>
        <p:spPr>
          <a:xfrm>
            <a:off x="4838700" y="8601075"/>
            <a:ext cx="2514600" cy="552450"/>
          </a:xfrm>
          <a:prstGeom prst="rect">
            <a:avLst/>
          </a:prstGeom>
          <a:noFill/>
          <a:ln w="0">
            <a:noFill/>
          </a:ln>
        </p:spPr>
        <p:txBody>
          <a:bodyPr wrap="square" lIns="0" tIns="0" rIns="0" bIns="0" anchor="t">
            <a:noAutofit/>
          </a:bodyPr>
          <a:lstStyle>
            <a:defPPr algn="l">
              <a:defRPr sz="1800" b="0">
                <a:solidFill>
                  <a:srgbClr val="536681"/>
                </a:solidFill>
                <a:latin typeface="Montserrat"/>
                <a:ea typeface="Montserrat"/>
                <a:cs typeface="Montserrat"/>
              </a:defRPr>
            </a:defPPr>
          </a:lstStyle>
          <a:p>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Paper, page and</a:t>
            </a:r>
          </a:p>
          <a:p>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passage context</a:t>
            </a:r>
          </a:p>
        </p:txBody>
      </p:sp>
      <p:sp>
        <p:nvSpPr>
          <p:cNvPr id="53" name="Workflow: PDF reader">
            <a:extLst>
              <a:ext uri="{FF2B5EF4-FFF2-40B4-BE49-F238E27FC236}">
                <a16:creationId xmlns:a16="http://schemas.microsoft.com/office/drawing/2014/main" id="{C8CA5905-B0D8-4B3E-87F6-2E5509A2288D}"/>
              </a:ext>
            </a:extLst>
          </p:cNvPr>
          <p:cNvSpPr>
            <a:spLocks noGrp="1"/>
          </p:cNvSpPr>
          <p:nvPr/>
        </p:nvSpPr>
        <p:spPr>
          <a:xfrm>
            <a:off x="1238250" y="7981950"/>
            <a:ext cx="2857500" cy="1257300"/>
          </a:xfrm>
          <a:prstGeom prst="roundRect">
            <a:avLst>
              <a:gd name="adj" fmla="val 13636"/>
            </a:avLst>
          </a:prstGeom>
          <a:solidFill>
            <a:srgbClr val="FFFFFF"/>
          </a:solidFill>
          <a:ln w="16193">
            <a:solidFill>
              <a:srgbClr val="8FA4C1"/>
            </a:solidFill>
          </a:ln>
        </p:spPr>
      </p:sp>
      <p:sp>
        <p:nvSpPr>
          <p:cNvPr id="54" name="PDF reader">
            <a:extLst>
              <a:ext uri="{FF2B5EF4-FFF2-40B4-BE49-F238E27FC236}">
                <a16:creationId xmlns:a16="http://schemas.microsoft.com/office/drawing/2014/main" id="{E9A3F2C1-338D-4914-86D0-1A8F614FAD24}"/>
              </a:ext>
            </a:extLst>
          </p:cNvPr>
          <p:cNvSpPr>
            <a:spLocks noGrp="1"/>
          </p:cNvSpPr>
          <p:nvPr/>
        </p:nvSpPr>
        <p:spPr>
          <a:xfrm>
            <a:off x="1409700" y="8153400"/>
            <a:ext cx="2514600" cy="352425"/>
          </a:xfrm>
          <a:prstGeom prst="rect">
            <a:avLst/>
          </a:prstGeom>
          <a:noFill/>
          <a:ln w="0">
            <a:noFill/>
          </a:ln>
        </p:spPr>
        <p:txBody>
          <a:bodyPr wrap="square" lIns="0" tIns="0" rIns="0" bIns="0" anchor="t">
            <a:noAutofit/>
          </a:bodyPr>
          <a:lstStyle>
            <a:defPPr algn="l">
              <a:defRPr sz="2025" b="1">
                <a:solidFill>
                  <a:srgbClr val="101B40"/>
                </a:solidFill>
                <a:latin typeface="Montserrat Bold"/>
                <a:ea typeface="Montserrat Bold"/>
                <a:cs typeface="Montserrat Bold"/>
              </a:defRPr>
            </a:defPPr>
          </a:lstStyle>
          <a:p>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PDF reader</a:t>
            </a:r>
          </a:p>
        </p:txBody>
      </p:sp>
      <p:sp>
        <p:nvSpPr>
          <p:cNvPr id="55" name="Locate the source&#10;and highlight terms">
            <a:extLst>
              <a:ext uri="{FF2B5EF4-FFF2-40B4-BE49-F238E27FC236}">
                <a16:creationId xmlns:a16="http://schemas.microsoft.com/office/drawing/2014/main" id="{252F97DD-E1FC-45A9-8B82-DABFABE36EFF}"/>
              </a:ext>
            </a:extLst>
          </p:cNvPr>
          <p:cNvSpPr>
            <a:spLocks noGrp="1"/>
          </p:cNvSpPr>
          <p:nvPr/>
        </p:nvSpPr>
        <p:spPr>
          <a:xfrm>
            <a:off x="1409700" y="8601075"/>
            <a:ext cx="2514600" cy="552450"/>
          </a:xfrm>
          <a:prstGeom prst="rect">
            <a:avLst/>
          </a:prstGeom>
          <a:noFill/>
          <a:ln w="0">
            <a:noFill/>
          </a:ln>
        </p:spPr>
        <p:txBody>
          <a:bodyPr wrap="square" lIns="0" tIns="0" rIns="0" bIns="0" anchor="t">
            <a:noAutofit/>
          </a:bodyPr>
          <a:lstStyle>
            <a:defPPr algn="l">
              <a:defRPr sz="1800" b="0">
                <a:solidFill>
                  <a:srgbClr val="536681"/>
                </a:solidFill>
                <a:latin typeface="Montserrat"/>
                <a:ea typeface="Montserrat"/>
                <a:cs typeface="Montserrat"/>
              </a:defRPr>
            </a:defPPr>
          </a:lstStyle>
          <a:p>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Locate the source</a:t>
            </a:r>
          </a:p>
          <a:p>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highlight terms</a:t>
            </a:r>
          </a:p>
        </p:txBody>
      </p:sp>
      <p:cxnSp>
        <p:nvCxnSpPr>
          <p:cNvPr id="56" name="直接箭头连接符 55">
            <a:extLst>
              <a:ext uri="{FF2B5EF4-FFF2-40B4-BE49-F238E27FC236}">
                <a16:creationId xmlns:a16="http://schemas.microsoft.com/office/drawing/2014/main" id="{40BFE325-CA95-4469-95C5-B5440B6D26B2}"/>
              </a:ext>
            </a:extLst>
          </p:cNvPr>
          <p:cNvCxnSpPr>
            <a:stCxn id="38" idx="3"/>
            <a:endCxn id="41" idx="1"/>
          </p:cNvCxnSpPr>
          <p:nvPr/>
        </p:nvCxnSpPr>
        <p:spPr>
          <a:xfrm>
            <a:off x="4095750" y="6867525"/>
            <a:ext cx="571500" cy="0"/>
          </a:xfrm>
          <a:prstGeom prst="straightConnector1">
            <a:avLst/>
          </a:prstGeom>
          <a:ln w="28575">
            <a:solidFill>
              <a:srgbClr val="8FA4C1"/>
            </a:solidFill>
            <a:tailEnd type="triangle" w="med" len="med"/>
          </a:ln>
        </p:spPr>
      </p:cxnSp>
      <p:cxnSp>
        <p:nvCxnSpPr>
          <p:cNvPr id="57" name="直接箭头连接符 56">
            <a:extLst>
              <a:ext uri="{FF2B5EF4-FFF2-40B4-BE49-F238E27FC236}">
                <a16:creationId xmlns:a16="http://schemas.microsoft.com/office/drawing/2014/main" id="{AA65C0E6-AE3D-490D-967D-B1C92106A215}"/>
              </a:ext>
            </a:extLst>
          </p:cNvPr>
          <p:cNvCxnSpPr>
            <a:stCxn id="41" idx="3"/>
            <a:endCxn id="44" idx="1"/>
          </p:cNvCxnSpPr>
          <p:nvPr/>
        </p:nvCxnSpPr>
        <p:spPr>
          <a:xfrm>
            <a:off x="7524750" y="6867525"/>
            <a:ext cx="571500" cy="0"/>
          </a:xfrm>
          <a:prstGeom prst="straightConnector1">
            <a:avLst/>
          </a:prstGeom>
          <a:ln w="28575">
            <a:solidFill>
              <a:srgbClr val="8FA4C1"/>
            </a:solidFill>
            <a:tailEnd type="triangle" w="med" len="med"/>
          </a:ln>
        </p:spPr>
      </p:cxnSp>
      <p:cxnSp>
        <p:nvCxnSpPr>
          <p:cNvPr id="58" name="直接箭头连接符 57">
            <a:extLst>
              <a:ext uri="{FF2B5EF4-FFF2-40B4-BE49-F238E27FC236}">
                <a16:creationId xmlns:a16="http://schemas.microsoft.com/office/drawing/2014/main" id="{490252A0-A7A5-499F-B6E6-128A6540BD24}"/>
              </a:ext>
            </a:extLst>
          </p:cNvPr>
          <p:cNvCxnSpPr>
            <a:stCxn id="44" idx="2"/>
            <a:endCxn id="47" idx="0"/>
          </p:cNvCxnSpPr>
          <p:nvPr/>
        </p:nvCxnSpPr>
        <p:spPr>
          <a:xfrm>
            <a:off x="9525000" y="7496175"/>
            <a:ext cx="0" cy="485775"/>
          </a:xfrm>
          <a:prstGeom prst="straightConnector1">
            <a:avLst/>
          </a:prstGeom>
          <a:ln w="28575">
            <a:solidFill>
              <a:srgbClr val="8FA4C1"/>
            </a:solidFill>
            <a:tailEnd type="triangle" w="med" len="med"/>
          </a:ln>
        </p:spPr>
      </p:cxnSp>
      <p:cxnSp>
        <p:nvCxnSpPr>
          <p:cNvPr id="59" name="直接箭头连接符 58">
            <a:extLst>
              <a:ext uri="{FF2B5EF4-FFF2-40B4-BE49-F238E27FC236}">
                <a16:creationId xmlns:a16="http://schemas.microsoft.com/office/drawing/2014/main" id="{95A646C1-C122-476C-9413-A893E77FFF9B}"/>
              </a:ext>
            </a:extLst>
          </p:cNvPr>
          <p:cNvCxnSpPr>
            <a:stCxn id="47" idx="1"/>
            <a:endCxn id="50" idx="3"/>
          </p:cNvCxnSpPr>
          <p:nvPr/>
        </p:nvCxnSpPr>
        <p:spPr>
          <a:xfrm flipH="1">
            <a:off x="7524750" y="8610600"/>
            <a:ext cx="571500" cy="0"/>
          </a:xfrm>
          <a:prstGeom prst="straightConnector1">
            <a:avLst/>
          </a:prstGeom>
          <a:ln w="28575">
            <a:solidFill>
              <a:srgbClr val="8FA4C1"/>
            </a:solidFill>
            <a:tailEnd type="triangle" w="med" len="med"/>
          </a:ln>
        </p:spPr>
      </p:cxnSp>
      <p:cxnSp>
        <p:nvCxnSpPr>
          <p:cNvPr id="60" name="直接箭头连接符 59">
            <a:extLst>
              <a:ext uri="{FF2B5EF4-FFF2-40B4-BE49-F238E27FC236}">
                <a16:creationId xmlns:a16="http://schemas.microsoft.com/office/drawing/2014/main" id="{CECB9434-E351-4C01-B052-3D4694F3EA76}"/>
              </a:ext>
            </a:extLst>
          </p:cNvPr>
          <p:cNvCxnSpPr>
            <a:stCxn id="50" idx="1"/>
            <a:endCxn id="53" idx="3"/>
          </p:cNvCxnSpPr>
          <p:nvPr/>
        </p:nvCxnSpPr>
        <p:spPr>
          <a:xfrm flipH="1">
            <a:off x="4095750" y="8610600"/>
            <a:ext cx="571500" cy="0"/>
          </a:xfrm>
          <a:prstGeom prst="straightConnector1">
            <a:avLst/>
          </a:prstGeom>
          <a:ln w="28575">
            <a:solidFill>
              <a:srgbClr val="8FA4C1"/>
            </a:solidFill>
            <a:tailEnd type="triangle" w="med" len="med"/>
          </a:ln>
        </p:spPr>
      </p:cxnSp>
      <p:pic>
        <p:nvPicPr>
          <p:cNvPr id="5" name="图片 4">
            <a:extLst>
              <a:ext uri="{FF2B5EF4-FFF2-40B4-BE49-F238E27FC236}">
                <a16:creationId xmlns:a16="http://schemas.microsoft.com/office/drawing/2014/main" id="{D5394E2C-B87B-D46D-3D12-7018EAAB0ACC}"/>
              </a:ext>
            </a:extLst>
          </p:cNvPr>
          <p:cNvPicPr>
            <a:picLocks noChangeAspect="1"/>
          </p:cNvPicPr>
          <p:nvPr/>
        </p:nvPicPr>
        <p:blipFill rotWithShape="1">
          <a:blip r:embed="rId3"/>
          <a:srcRect t="12594" b="7418"/>
          <a:stretch/>
        </p:blipFill>
        <p:spPr>
          <a:xfrm>
            <a:off x="11794656" y="5480997"/>
            <a:ext cx="5255094" cy="4072577"/>
          </a:xfrm>
          <a:prstGeom prst="roundRect">
            <a:avLst>
              <a:gd name="adj" fmla="val 10266"/>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459637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9AA10A0F-7D88-49E2-8A1B-ECE45ED032C1}"/>
              </a:ext>
            </a:extLst>
          </p:cNvPr>
          <p:cNvSpPr>
            <a:spLocks noGrp="1"/>
          </p:cNvSpPr>
          <p:nvPr/>
        </p:nvSpPr>
        <p:spPr>
          <a:xfrm>
            <a:off x="4410075" y="514350"/>
            <a:ext cx="9467850" cy="819150"/>
          </a:xfrm>
          <a:custGeom>
            <a:avLst/>
            <a:gdLst/>
            <a:ahLst/>
            <a:cxnLst/>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id="4" name="TextBox 4">
            <a:extLst>
              <a:ext uri="{FF2B5EF4-FFF2-40B4-BE49-F238E27FC236}">
                <a16:creationId xmlns:a16="http://schemas.microsoft.com/office/drawing/2014/main" id="{1C2336E7-29B6-4D98-83F7-1FC4BBDFAA01}"/>
              </a:ext>
            </a:extLst>
          </p:cNvPr>
          <p:cNvSpPr>
            <a:spLocks noGrp="1"/>
          </p:cNvSpPr>
          <p:nvPr/>
        </p:nvSpPr>
        <p:spPr>
          <a:xfrm>
            <a:off x="4409081" y="370811"/>
            <a:ext cx="9469839" cy="959252"/>
          </a:xfrm>
          <a:prstGeom prst="rect">
            <a:avLst/>
          </a:prstGeom>
        </p:spPr>
        <p:txBody>
          <a:bodyPr lIns="50800" tIns="50800" rIns="50800" bIns="50800" anchor="ctr"/>
          <a:lstStyle/>
          <a:p>
            <a:pPr algn="ctr">
              <a:lnSpc>
                <a:spcPts val="2871"/>
              </a:lnSpc>
              <a:buNone/>
            </a:pPr>
            <a:endParaRPr/>
          </a:p>
        </p:txBody>
      </p:sp>
      <p:sp>
        <p:nvSpPr>
          <p:cNvPr id="6" name="Freeform 6">
            <a:extLst>
              <a:ext uri="{FF2B5EF4-FFF2-40B4-BE49-F238E27FC236}">
                <a16:creationId xmlns:a16="http://schemas.microsoft.com/office/drawing/2014/main" id="{A630BADD-12B3-4EF4-B753-2CC3D3F2813F}"/>
              </a:ext>
            </a:extLst>
          </p:cNvPr>
          <p:cNvSpPr>
            <a:spLocks noGrp="1"/>
          </p:cNvSpPr>
          <p:nvPr/>
        </p:nvSpPr>
        <p:spPr>
          <a:xfrm>
            <a:off x="7048500" y="628650"/>
            <a:ext cx="1466850" cy="590550"/>
          </a:xfrm>
          <a:custGeom>
            <a:avLst/>
            <a:gdLst/>
            <a:ahLst/>
            <a:cxnLst/>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id="7" name="TextBox 7">
            <a:extLst>
              <a:ext uri="{FF2B5EF4-FFF2-40B4-BE49-F238E27FC236}">
                <a16:creationId xmlns:a16="http://schemas.microsoft.com/office/drawing/2014/main" id="{55CEEA1C-4E62-4A32-98B5-5E5243D81B53}"/>
              </a:ext>
            </a:extLst>
          </p:cNvPr>
          <p:cNvSpPr>
            <a:spLocks noGrp="1"/>
          </p:cNvSpPr>
          <p:nvPr/>
        </p:nvSpPr>
        <p:spPr>
          <a:xfrm>
            <a:off x="9460786" y="483641"/>
            <a:ext cx="1665830" cy="733592"/>
          </a:xfrm>
          <a:prstGeom prst="rect">
            <a:avLst/>
          </a:prstGeom>
        </p:spPr>
        <p:txBody>
          <a:bodyPr lIns="50800" tIns="50800" rIns="50800" bIns="50800" anchor="ctr"/>
          <a:lstStyle/>
          <a:p>
            <a:pPr algn="ctr">
              <a:lnSpc>
                <a:spcPts val="2871"/>
              </a:lnSpc>
              <a:buNone/>
            </a:pPr>
            <a:endParaRPr/>
          </a:p>
        </p:txBody>
      </p:sp>
      <p:sp>
        <p:nvSpPr>
          <p:cNvPr id="10" name="Freeform 10">
            <a:extLst>
              <a:ext uri="{FF2B5EF4-FFF2-40B4-BE49-F238E27FC236}">
                <a16:creationId xmlns:a16="http://schemas.microsoft.com/office/drawing/2014/main" id="{9E2AD183-00CB-4EF9-8F72-AC52313C56A4}"/>
              </a:ext>
            </a:extLst>
          </p:cNvPr>
          <p:cNvSpPr>
            <a:spLocks noGrp="1"/>
          </p:cNvSpPr>
          <p:nvPr/>
        </p:nvSpPr>
        <p:spPr>
          <a:xfrm>
            <a:off x="0" y="0"/>
            <a:ext cx="4264059" cy="10287000"/>
          </a:xfrm>
          <a:custGeom>
            <a:avLst/>
            <a:gdLst/>
            <a:ahLst/>
            <a:cxnLst/>
            <a:rect l="l" t="t" r="r" b="b"/>
            <a:pathLst>
              <a:path w="1123044" h="2709333">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a:srgbClr val="DCE2EB"/>
          </a:solidFill>
        </p:spPr>
      </p:sp>
      <p:sp>
        <p:nvSpPr>
          <p:cNvPr id="21" name="TextBox 21">
            <a:extLst>
              <a:ext uri="{FF2B5EF4-FFF2-40B4-BE49-F238E27FC236}">
                <a16:creationId xmlns:a16="http://schemas.microsoft.com/office/drawing/2014/main" id="{1086C460-7E75-4BC4-9084-A24B08066940}"/>
              </a:ext>
            </a:extLst>
          </p:cNvPr>
          <p:cNvSpPr>
            <a:spLocks noGrp="1"/>
          </p:cNvSpPr>
          <p:nvPr/>
        </p:nvSpPr>
        <p:spPr>
          <a:xfrm>
            <a:off x="4438650" y="733425"/>
            <a:ext cx="16668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22" name="TextBox 22">
            <a:extLst>
              <a:ext uri="{FF2B5EF4-FFF2-40B4-BE49-F238E27FC236}">
                <a16:creationId xmlns:a16="http://schemas.microsoft.com/office/drawing/2014/main" id="{F85F5EF7-8F9F-46C6-8E66-74A638DC90E1}"/>
              </a:ext>
            </a:extLst>
          </p:cNvPr>
          <p:cNvSpPr>
            <a:spLocks noGrp="1"/>
          </p:cNvSpPr>
          <p:nvPr/>
        </p:nvSpPr>
        <p:spPr>
          <a:xfrm>
            <a:off x="6829425" y="733425"/>
            <a:ext cx="1905000" cy="329057"/>
          </a:xfrm>
          <a:prstGeom prst="rect">
            <a:avLst/>
          </a:prstGeom>
        </p:spPr>
        <p:txBody>
          <a:bodyPr lIns="0" tIns="0" rIns="0" bIns="0" anchor="t">
            <a:spAutoFit/>
          </a:bodyPr>
          <a:lstStyle>
            <a:defPPr algn="ctr">
              <a:defRPr sz="1800" b="1">
                <a:solidFill>
                  <a:srgbClr val="FFFFFF"/>
                </a:solidFill>
                <a:latin typeface="Montserrat"/>
                <a:ea typeface="Montserrat"/>
                <a:cs typeface="Montserrat"/>
              </a:defRPr>
            </a:defPPr>
          </a:lstStyle>
          <a:p>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23" name="TextBox 23">
            <a:extLst>
              <a:ext uri="{FF2B5EF4-FFF2-40B4-BE49-F238E27FC236}">
                <a16:creationId xmlns:a16="http://schemas.microsoft.com/office/drawing/2014/main" id="{4B602223-28EE-42A0-8C21-7066C1DCEF18}"/>
              </a:ext>
            </a:extLst>
          </p:cNvPr>
          <p:cNvSpPr>
            <a:spLocks noGrp="1"/>
          </p:cNvSpPr>
          <p:nvPr/>
        </p:nvSpPr>
        <p:spPr>
          <a:xfrm>
            <a:off x="9496425" y="733425"/>
            <a:ext cx="15906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24" name="TextBox 24">
            <a:extLst>
              <a:ext uri="{FF2B5EF4-FFF2-40B4-BE49-F238E27FC236}">
                <a16:creationId xmlns:a16="http://schemas.microsoft.com/office/drawing/2014/main" id="{89390289-E777-4074-A2C3-C861630BF8A2}"/>
              </a:ext>
            </a:extLst>
          </p:cNvPr>
          <p:cNvSpPr>
            <a:spLocks noGrp="1"/>
          </p:cNvSpPr>
          <p:nvPr/>
        </p:nvSpPr>
        <p:spPr>
          <a:xfrm>
            <a:off x="11591925" y="733425"/>
            <a:ext cx="2228850"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25" name="TextBox 25">
            <a:extLst>
              <a:ext uri="{FF2B5EF4-FFF2-40B4-BE49-F238E27FC236}">
                <a16:creationId xmlns:a16="http://schemas.microsoft.com/office/drawing/2014/main" id="{8A8C5C0A-5E34-46D2-B6D7-AE34073906E7}"/>
              </a:ext>
            </a:extLst>
          </p:cNvPr>
          <p:cNvSpPr>
            <a:spLocks noGrp="1"/>
          </p:cNvSpPr>
          <p:nvPr/>
        </p:nvSpPr>
        <p:spPr>
          <a:xfrm>
            <a:off x="800100" y="628650"/>
            <a:ext cx="2381250" cy="567690"/>
          </a:xfrm>
          <a:prstGeom prst="rect">
            <a:avLst/>
          </a:prstGeom>
        </p:spPr>
        <p:txBody>
          <a:bodyPr lIns="0" tIns="0" rIns="0" bIns="0" anchor="t">
            <a:spAutoFit/>
          </a:bodyPr>
          <a:lstStyle>
            <a:defPPr>
              <a:defRPr sz="1800" b="1">
                <a:solidFill>
                  <a:srgbClr val="101B40"/>
                </a:solidFill>
                <a:latin typeface="Montserrat"/>
                <a:ea typeface="Montserrat"/>
                <a:cs typeface="Montserrat"/>
              </a:defRPr>
            </a:defPPr>
          </a:lstStyle>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26" name="04">
            <a:extLst>
              <a:ext uri="{FF2B5EF4-FFF2-40B4-BE49-F238E27FC236}">
                <a16:creationId xmlns:a16="http://schemas.microsoft.com/office/drawing/2014/main" id="{7CABA642-C0BA-4EFF-8216-161817ABD2D5}"/>
              </a:ext>
            </a:extLst>
          </p:cNvPr>
          <p:cNvSpPr>
            <a:spLocks noGrp="1"/>
          </p:cNvSpPr>
          <p:nvPr/>
        </p:nvSpPr>
        <p:spPr>
          <a:xfrm>
            <a:off x="16735425" y="733425"/>
            <a:ext cx="666750" cy="381000"/>
          </a:xfrm>
          <a:prstGeom prst="rect">
            <a:avLst/>
          </a:prstGeom>
          <a:noFill/>
          <a:ln w="0">
            <a:noFill/>
          </a:ln>
        </p:spPr>
        <p:txBody>
          <a:bodyPr wrap="square" lIns="0" tIns="0" rIns="0" bIns="0" anchor="t">
            <a:noAutofit/>
          </a:bodyPr>
          <a:lstStyle>
            <a:defPPr algn="r">
              <a:defRPr sz="1875" b="1">
                <a:solidFill>
                  <a:srgbClr val="101B40"/>
                </a:solidFill>
                <a:latin typeface="Montserrat Bold"/>
                <a:ea typeface="Montserrat Bold"/>
                <a:cs typeface="Montserrat Bold"/>
              </a:defRPr>
            </a:defPPr>
          </a:lstStyle>
          <a:p>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04</a:t>
            </a:r>
          </a:p>
        </p:txBody>
      </p:sp>
      <p:sp>
        <p:nvSpPr>
          <p:cNvPr id="28" name="04 / 12">
            <a:extLst>
              <a:ext uri="{FF2B5EF4-FFF2-40B4-BE49-F238E27FC236}">
                <a16:creationId xmlns:a16="http://schemas.microsoft.com/office/drawing/2014/main" id="{2CD5C878-C2BA-432B-A681-33EE67F6F770}"/>
              </a:ext>
            </a:extLst>
          </p:cNvPr>
          <p:cNvSpPr>
            <a:spLocks noGrp="1"/>
          </p:cNvSpPr>
          <p:nvPr/>
        </p:nvSpPr>
        <p:spPr>
          <a:xfrm>
            <a:off x="15430500" y="9620250"/>
            <a:ext cx="1524000" cy="333375"/>
          </a:xfrm>
          <a:prstGeom prst="rect">
            <a:avLst/>
          </a:prstGeom>
          <a:noFill/>
          <a:ln w="0">
            <a:noFill/>
          </a:ln>
        </p:spPr>
        <p:txBody>
          <a:bodyPr wrap="square" lIns="0" tIns="0" rIns="0" bIns="0" anchor="t">
            <a:noAutofit/>
          </a:bodyPr>
          <a:lstStyle>
            <a:defPPr algn="r">
              <a:defRPr sz="1650" b="0">
                <a:solidFill>
                  <a:srgbClr val="536681"/>
                </a:solidFill>
                <a:latin typeface="Montserrat"/>
                <a:ea typeface="Montserrat"/>
                <a:cs typeface="Montserrat"/>
              </a:defRPr>
            </a:defPPr>
          </a:lstStyle>
          <a:p>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04 / 09</a:t>
            </a:r>
          </a:p>
        </p:txBody>
      </p:sp>
      <p:sp>
        <p:nvSpPr>
          <p:cNvPr id="29" name="3D Semantic Knowledge Visualisation">
            <a:extLst>
              <a:ext uri="{FF2B5EF4-FFF2-40B4-BE49-F238E27FC236}">
                <a16:creationId xmlns:a16="http://schemas.microsoft.com/office/drawing/2014/main" id="{744B5083-AEF0-4EC1-92D8-7E8D7E63417C}"/>
              </a:ext>
            </a:extLst>
          </p:cNvPr>
          <p:cNvSpPr>
            <a:spLocks noGrp="1"/>
          </p:cNvSpPr>
          <p:nvPr/>
        </p:nvSpPr>
        <p:spPr>
          <a:xfrm>
            <a:off x="1238250" y="1952625"/>
            <a:ext cx="15668625" cy="838200"/>
          </a:xfrm>
          <a:prstGeom prst="rect">
            <a:avLst/>
          </a:prstGeom>
          <a:noFill/>
          <a:ln w="0">
            <a:noFill/>
          </a:ln>
        </p:spPr>
        <p:txBody>
          <a:bodyPr wrap="square" lIns="0" tIns="0" rIns="0" bIns="0" anchor="t">
            <a:noAutofit/>
          </a:bodyPr>
          <a:lstStyle>
            <a:defPPr algn="l">
              <a:defRPr sz="4425" b="1">
                <a:solidFill>
                  <a:srgbClr val="101B40"/>
                </a:solidFill>
                <a:latin typeface="Montserrat Bold"/>
                <a:ea typeface="Montserrat Bold"/>
                <a:cs typeface="Montserrat Bold"/>
              </a:defRPr>
            </a:defPPr>
          </a:lstStyle>
          <a:p>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3D Semantic Knowledge Visualisation</a:t>
            </a:r>
          </a:p>
        </p:txBody>
      </p:sp>
      <p:sp>
        <p:nvSpPr>
          <p:cNvPr id="30" name="3D topic groups provide a collection overview with direct access to in">
            <a:extLst>
              <a:ext uri="{FF2B5EF4-FFF2-40B4-BE49-F238E27FC236}">
                <a16:creationId xmlns:a16="http://schemas.microsoft.com/office/drawing/2014/main" id="{230BE1FE-5ADD-4C4E-9216-A61F0BB2176A}"/>
              </a:ext>
            </a:extLst>
          </p:cNvPr>
          <p:cNvSpPr>
            <a:spLocks noGrp="1"/>
          </p:cNvSpPr>
          <p:nvPr/>
        </p:nvSpPr>
        <p:spPr>
          <a:xfrm>
            <a:off x="1257300" y="2905125"/>
            <a:ext cx="15382875" cy="809625"/>
          </a:xfrm>
          <a:prstGeom prst="rect">
            <a:avLst/>
          </a:prstGeom>
          <a:noFill/>
          <a:ln w="0">
            <a:noFill/>
          </a:ln>
        </p:spPr>
        <p:txBody>
          <a:bodyPr wrap="square" lIns="0" tIns="0" rIns="0" bIns="0" anchor="t">
            <a:noAutofit/>
          </a:bodyPr>
          <a:lstStyle>
            <a:defPPr algn="l">
              <a:defRPr sz="2250" b="0">
                <a:solidFill>
                  <a:srgbClr val="536681"/>
                </a:solidFill>
                <a:latin typeface="Montserrat"/>
                <a:ea typeface="Montserrat"/>
                <a:cs typeface="Montserrat"/>
              </a:defRPr>
            </a:defPPr>
          </a:lstStyle>
          <a:p>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3D topic groups provide a collection overview with direct access to individual papers.</a:t>
            </a:r>
          </a:p>
        </p:txBody>
      </p:sp>
      <p:sp>
        <p:nvSpPr>
          <p:cNvPr id="31" name="Screenshot placeholder: 【此处放三维语义知识星云截图】">
            <a:extLst>
              <a:ext uri="{FF2B5EF4-FFF2-40B4-BE49-F238E27FC236}">
                <a16:creationId xmlns:a16="http://schemas.microsoft.com/office/drawing/2014/main" id="{FB82EB11-92C8-4184-BD65-9783655D3A0D}"/>
              </a:ext>
            </a:extLst>
          </p:cNvPr>
          <p:cNvSpPr>
            <a:spLocks noGrp="1"/>
          </p:cNvSpPr>
          <p:nvPr/>
        </p:nvSpPr>
        <p:spPr>
          <a:xfrm>
            <a:off x="1238250" y="4076700"/>
            <a:ext cx="9906000" cy="5572125"/>
          </a:xfrm>
          <a:prstGeom prst="roundRect">
            <a:avLst>
              <a:gd name="adj" fmla="val 4103"/>
            </a:avLst>
          </a:prstGeom>
          <a:solidFill>
            <a:srgbClr val="DCE2EB"/>
          </a:solidFill>
          <a:ln w="16193">
            <a:solidFill>
              <a:srgbClr val="8FA4C1"/>
            </a:solidFill>
          </a:ln>
        </p:spPr>
      </p:sp>
      <p:sp>
        <p:nvSpPr>
          <p:cNvPr id="32" name="【此处放三维语义知识星云截图】">
            <a:extLst>
              <a:ext uri="{FF2B5EF4-FFF2-40B4-BE49-F238E27FC236}">
                <a16:creationId xmlns:a16="http://schemas.microsoft.com/office/drawing/2014/main" id="{7329C4CE-7344-4CB9-A71F-6F6B396FAB4C}"/>
              </a:ext>
            </a:extLst>
          </p:cNvPr>
          <p:cNvSpPr>
            <a:spLocks noGrp="1"/>
          </p:cNvSpPr>
          <p:nvPr/>
        </p:nvSpPr>
        <p:spPr>
          <a:xfrm>
            <a:off x="1447800" y="6577013"/>
            <a:ext cx="9486900" cy="742950"/>
          </a:xfrm>
          <a:prstGeom prst="rect">
            <a:avLst/>
          </a:prstGeom>
          <a:noFill/>
          <a:ln w="0">
            <a:noFill/>
          </a:ln>
        </p:spPr>
        <p:txBody>
          <a:bodyPr wrap="square" lIns="0" tIns="0" rIns="0" bIns="0" anchor="t">
            <a:noAutofit/>
          </a:bodyPr>
          <a:lstStyle>
            <a:defPPr algn="ctr">
              <a:defRPr sz="2250" b="0">
                <a:solidFill>
                  <a:srgbClr val="536681"/>
                </a:solidFill>
                <a:latin typeface="Microsoft YaHei"/>
                <a:ea typeface="Microsoft YaHei"/>
                <a:cs typeface="Microsoft YaHei"/>
              </a:defRPr>
            </a:defPPr>
          </a:lstStyle>
          <a:p>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【此处放三维语义知识星云截图】</a:t>
            </a:r>
          </a:p>
        </p:txBody>
      </p:sp>
      <p:sp>
        <p:nvSpPr>
          <p:cNvPr id="33" name="16:9">
            <a:extLst>
              <a:ext uri="{FF2B5EF4-FFF2-40B4-BE49-F238E27FC236}">
                <a16:creationId xmlns:a16="http://schemas.microsoft.com/office/drawing/2014/main" id="{D58989B8-B243-4285-AD73-93E147948F09}"/>
              </a:ext>
            </a:extLst>
          </p:cNvPr>
          <p:cNvSpPr>
            <a:spLocks noGrp="1"/>
          </p:cNvSpPr>
          <p:nvPr/>
        </p:nvSpPr>
        <p:spPr>
          <a:xfrm>
            <a:off x="9763125" y="4248150"/>
            <a:ext cx="1143000" cy="285750"/>
          </a:xfrm>
          <a:prstGeom prst="rect">
            <a:avLst/>
          </a:prstGeom>
          <a:noFill/>
          <a:ln w="0">
            <a:noFill/>
          </a:ln>
        </p:spPr>
        <p:txBody>
          <a:bodyPr wrap="square" lIns="0" tIns="0" rIns="0" bIns="0" anchor="t">
            <a:noAutofit/>
          </a:bodyPr>
          <a:lstStyle>
            <a:defPPr algn="r">
              <a:defRPr sz="1575" b="0">
                <a:solidFill>
                  <a:srgbClr val="536681"/>
                </a:solidFill>
                <a:latin typeface="Montserrat"/>
                <a:ea typeface="Montserrat"/>
                <a:cs typeface="Montserrat"/>
              </a:defRPr>
            </a:defPPr>
          </a:lstStyle>
          <a:p>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4" name="Colour">
            <a:extLst>
              <a:ext uri="{FF2B5EF4-FFF2-40B4-BE49-F238E27FC236}">
                <a16:creationId xmlns:a16="http://schemas.microsoft.com/office/drawing/2014/main" id="{5AEDAB65-2013-4E9D-AA7A-B8FED2A6381F}"/>
              </a:ext>
            </a:extLst>
          </p:cNvPr>
          <p:cNvSpPr>
            <a:spLocks noGrp="1"/>
          </p:cNvSpPr>
          <p:nvPr/>
        </p:nvSpPr>
        <p:spPr>
          <a:xfrm>
            <a:off x="11811000" y="4067175"/>
            <a:ext cx="5095875" cy="40005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Colour</a:t>
            </a:r>
          </a:p>
        </p:txBody>
      </p:sp>
      <p:sp>
        <p:nvSpPr>
          <p:cNvPr id="35" name="KMeans topic cluster">
            <a:extLst>
              <a:ext uri="{FF2B5EF4-FFF2-40B4-BE49-F238E27FC236}">
                <a16:creationId xmlns:a16="http://schemas.microsoft.com/office/drawing/2014/main" id="{87111CA3-A8B7-4E33-98CB-2C310E5EF977}"/>
              </a:ext>
            </a:extLst>
          </p:cNvPr>
          <p:cNvSpPr>
            <a:spLocks noGrp="1"/>
          </p:cNvSpPr>
          <p:nvPr/>
        </p:nvSpPr>
        <p:spPr>
          <a:xfrm>
            <a:off x="11811000" y="4486275"/>
            <a:ext cx="5095875" cy="6096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KMeans topic cluster</a:t>
            </a:r>
          </a:p>
        </p:txBody>
      </p:sp>
      <p:sp>
        <p:nvSpPr>
          <p:cNvPr id="36" name="Position">
            <a:extLst>
              <a:ext uri="{FF2B5EF4-FFF2-40B4-BE49-F238E27FC236}">
                <a16:creationId xmlns:a16="http://schemas.microsoft.com/office/drawing/2014/main" id="{E8D76CAA-C777-46FA-8C16-4C4D919EDE7B}"/>
              </a:ext>
            </a:extLst>
          </p:cNvPr>
          <p:cNvSpPr>
            <a:spLocks noGrp="1"/>
          </p:cNvSpPr>
          <p:nvPr/>
        </p:nvSpPr>
        <p:spPr>
          <a:xfrm>
            <a:off x="11811000" y="5095875"/>
            <a:ext cx="5095875" cy="40005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Position</a:t>
            </a:r>
          </a:p>
        </p:txBody>
      </p:sp>
      <p:sp>
        <p:nvSpPr>
          <p:cNvPr id="37" name="UMAP/PCA coordinates with additional cluster separation">
            <a:extLst>
              <a:ext uri="{FF2B5EF4-FFF2-40B4-BE49-F238E27FC236}">
                <a16:creationId xmlns:a16="http://schemas.microsoft.com/office/drawing/2014/main" id="{4EC049C2-BE98-4753-8FDF-9EDEF43B30E7}"/>
              </a:ext>
            </a:extLst>
          </p:cNvPr>
          <p:cNvSpPr>
            <a:spLocks noGrp="1"/>
          </p:cNvSpPr>
          <p:nvPr/>
        </p:nvSpPr>
        <p:spPr>
          <a:xfrm>
            <a:off x="11811000" y="5514975"/>
            <a:ext cx="5095875" cy="6096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UMAP/PCA coordinates with additional cluster separation</a:t>
            </a:r>
          </a:p>
        </p:txBody>
      </p:sp>
      <p:sp>
        <p:nvSpPr>
          <p:cNvPr id="38" name="Node size">
            <a:extLst>
              <a:ext uri="{FF2B5EF4-FFF2-40B4-BE49-F238E27FC236}">
                <a16:creationId xmlns:a16="http://schemas.microsoft.com/office/drawing/2014/main" id="{C11D0391-68C1-490A-ADEC-F8E8312FCC71}"/>
              </a:ext>
            </a:extLst>
          </p:cNvPr>
          <p:cNvSpPr>
            <a:spLocks noGrp="1"/>
          </p:cNvSpPr>
          <p:nvPr/>
        </p:nvSpPr>
        <p:spPr>
          <a:xfrm>
            <a:off x="11811000" y="6124575"/>
            <a:ext cx="5095875" cy="40005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Node size</a:t>
            </a:r>
          </a:p>
        </p:txBody>
      </p:sp>
      <p:sp>
        <p:nvSpPr>
          <p:cNvPr id="39" name="Similarity to the assigned cluster centre">
            <a:extLst>
              <a:ext uri="{FF2B5EF4-FFF2-40B4-BE49-F238E27FC236}">
                <a16:creationId xmlns:a16="http://schemas.microsoft.com/office/drawing/2014/main" id="{2E6E4DA3-B91E-442C-82E2-9AFB7F318CA2}"/>
              </a:ext>
            </a:extLst>
          </p:cNvPr>
          <p:cNvSpPr>
            <a:spLocks noGrp="1"/>
          </p:cNvSpPr>
          <p:nvPr/>
        </p:nvSpPr>
        <p:spPr>
          <a:xfrm>
            <a:off x="11811000" y="6543675"/>
            <a:ext cx="5095875" cy="6096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Similarity to the assigned cluster centre</a:t>
            </a:r>
          </a:p>
        </p:txBody>
      </p:sp>
      <p:sp>
        <p:nvSpPr>
          <p:cNvPr id="40" name="Nebula density">
            <a:extLst>
              <a:ext uri="{FF2B5EF4-FFF2-40B4-BE49-F238E27FC236}">
                <a16:creationId xmlns:a16="http://schemas.microsoft.com/office/drawing/2014/main" id="{C17E0C83-D629-4EBE-A60A-C52811D0A6E9}"/>
              </a:ext>
            </a:extLst>
          </p:cNvPr>
          <p:cNvSpPr>
            <a:spLocks noGrp="1"/>
          </p:cNvSpPr>
          <p:nvPr/>
        </p:nvSpPr>
        <p:spPr>
          <a:xfrm>
            <a:off x="11811000" y="7153275"/>
            <a:ext cx="5095875" cy="40005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Nebula density</a:t>
            </a:r>
          </a:p>
        </p:txBody>
      </p:sp>
      <p:sp>
        <p:nvSpPr>
          <p:cNvPr id="41" name="Number of papers in the cluster">
            <a:extLst>
              <a:ext uri="{FF2B5EF4-FFF2-40B4-BE49-F238E27FC236}">
                <a16:creationId xmlns:a16="http://schemas.microsoft.com/office/drawing/2014/main" id="{997F3C1F-6482-4E10-8275-353035900C88}"/>
              </a:ext>
            </a:extLst>
          </p:cNvPr>
          <p:cNvSpPr>
            <a:spLocks noGrp="1"/>
          </p:cNvSpPr>
          <p:nvPr/>
        </p:nvSpPr>
        <p:spPr>
          <a:xfrm>
            <a:off x="11811000" y="7572375"/>
            <a:ext cx="5095875" cy="6096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Number of papers in the cluster</a:t>
            </a:r>
          </a:p>
        </p:txBody>
      </p:sp>
      <p:sp>
        <p:nvSpPr>
          <p:cNvPr id="42" name="Visual emphasis">
            <a:extLst>
              <a:ext uri="{FF2B5EF4-FFF2-40B4-BE49-F238E27FC236}">
                <a16:creationId xmlns:a16="http://schemas.microsoft.com/office/drawing/2014/main" id="{8A6166DE-A0F0-4A34-B73A-AD786A56573F}"/>
              </a:ext>
            </a:extLst>
          </p:cNvPr>
          <p:cNvSpPr>
            <a:spLocks noGrp="1"/>
          </p:cNvSpPr>
          <p:nvPr/>
        </p:nvSpPr>
        <p:spPr>
          <a:xfrm>
            <a:off x="11811000" y="8181975"/>
            <a:ext cx="5095875" cy="40005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Visual emphasis</a:t>
            </a:r>
          </a:p>
        </p:txBody>
      </p:sp>
      <p:sp>
        <p:nvSpPr>
          <p:cNvPr id="43" name="Retrieved papers and selected search results">
            <a:extLst>
              <a:ext uri="{FF2B5EF4-FFF2-40B4-BE49-F238E27FC236}">
                <a16:creationId xmlns:a16="http://schemas.microsoft.com/office/drawing/2014/main" id="{4A353A7B-2720-4F80-BD9A-DD06B577F06B}"/>
              </a:ext>
            </a:extLst>
          </p:cNvPr>
          <p:cNvSpPr>
            <a:spLocks noGrp="1"/>
          </p:cNvSpPr>
          <p:nvPr/>
        </p:nvSpPr>
        <p:spPr>
          <a:xfrm>
            <a:off x="11811000" y="8601075"/>
            <a:ext cx="5095875" cy="6096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Retrieved papers and selected search results</a:t>
            </a:r>
          </a:p>
        </p:txBody>
      </p:sp>
      <p:pic>
        <p:nvPicPr>
          <p:cNvPr id="9" name="图片 8">
            <a:extLst>
              <a:ext uri="{FF2B5EF4-FFF2-40B4-BE49-F238E27FC236}">
                <a16:creationId xmlns:a16="http://schemas.microsoft.com/office/drawing/2014/main" id="{B225ED79-ADC9-8DFF-E12A-074069083C00}"/>
              </a:ext>
            </a:extLst>
          </p:cNvPr>
          <p:cNvPicPr>
            <a:picLocks noChangeAspect="1"/>
          </p:cNvPicPr>
          <p:nvPr/>
        </p:nvPicPr>
        <p:blipFill>
          <a:blip r:embed="rId3"/>
          <a:stretch>
            <a:fillRect/>
          </a:stretch>
        </p:blipFill>
        <p:spPr>
          <a:xfrm>
            <a:off x="1238250" y="3557534"/>
            <a:ext cx="9906000" cy="6338161"/>
          </a:xfrm>
          <a:prstGeom prst="roundRect">
            <a:avLst>
              <a:gd name="adj" fmla="val 544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826168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C920F2C7-7F14-4D60-A417-6274F09C5B61}"/>
              </a:ext>
            </a:extLst>
          </p:cNvPr>
          <p:cNvSpPr>
            <a:spLocks noGrp="1"/>
          </p:cNvSpPr>
          <p:nvPr/>
        </p:nvSpPr>
        <p:spPr>
          <a:xfrm>
            <a:off x="350265" y="341540"/>
            <a:ext cx="17587469" cy="9603920"/>
          </a:xfrm>
          <a:custGeom>
            <a:avLst/>
            <a:gdLst/>
            <a:ahLst/>
            <a:cxnLst/>
            <a:rect l="l" t="t" r="r" b="b"/>
            <a:pathLst>
              <a:path w="4632091" h="2529427">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a:srgbClr val="DCE2EB"/>
          </a:solidFill>
        </p:spPr>
      </p:sp>
      <p:sp>
        <p:nvSpPr>
          <p:cNvPr id="6" name="Freeform 6">
            <a:extLst>
              <a:ext uri="{FF2B5EF4-FFF2-40B4-BE49-F238E27FC236}">
                <a16:creationId xmlns:a16="http://schemas.microsoft.com/office/drawing/2014/main" id="{85EED528-DCB8-4BAD-AACC-47944D2E34DB}"/>
              </a:ext>
            </a:extLst>
          </p:cNvPr>
          <p:cNvSpPr>
            <a:spLocks noGrp="1"/>
          </p:cNvSpPr>
          <p:nvPr/>
        </p:nvSpPr>
        <p:spPr>
          <a:xfrm>
            <a:off x="4410075" y="514350"/>
            <a:ext cx="9467850" cy="819150"/>
          </a:xfrm>
          <a:custGeom>
            <a:avLst/>
            <a:gdLst/>
            <a:ahLst/>
            <a:cxnLst/>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id="7" name="TextBox 7">
            <a:extLst>
              <a:ext uri="{FF2B5EF4-FFF2-40B4-BE49-F238E27FC236}">
                <a16:creationId xmlns:a16="http://schemas.microsoft.com/office/drawing/2014/main" id="{E02053D9-6A79-4A94-B3A0-6B831B814550}"/>
              </a:ext>
            </a:extLst>
          </p:cNvPr>
          <p:cNvSpPr>
            <a:spLocks noGrp="1"/>
          </p:cNvSpPr>
          <p:nvPr/>
        </p:nvSpPr>
        <p:spPr>
          <a:xfrm>
            <a:off x="4409081" y="617340"/>
            <a:ext cx="9469839" cy="959252"/>
          </a:xfrm>
          <a:prstGeom prst="rect">
            <a:avLst/>
          </a:prstGeom>
        </p:spPr>
        <p:txBody>
          <a:bodyPr lIns="50800" tIns="50800" rIns="50800" bIns="50800" anchor="ctr"/>
          <a:lstStyle/>
          <a:p>
            <a:pPr algn="ctr">
              <a:lnSpc>
                <a:spcPts val="2871"/>
              </a:lnSpc>
              <a:buNone/>
            </a:pPr>
            <a:endParaRPr/>
          </a:p>
        </p:txBody>
      </p:sp>
      <p:sp>
        <p:nvSpPr>
          <p:cNvPr id="9" name="Freeform 9">
            <a:extLst>
              <a:ext uri="{FF2B5EF4-FFF2-40B4-BE49-F238E27FC236}">
                <a16:creationId xmlns:a16="http://schemas.microsoft.com/office/drawing/2014/main" id="{3A4DB3B2-6561-42C9-B572-B0BB7C421802}"/>
              </a:ext>
            </a:extLst>
          </p:cNvPr>
          <p:cNvSpPr>
            <a:spLocks noGrp="1"/>
          </p:cNvSpPr>
          <p:nvPr/>
        </p:nvSpPr>
        <p:spPr>
          <a:xfrm>
            <a:off x="9458325" y="628650"/>
            <a:ext cx="1666875" cy="590550"/>
          </a:xfrm>
          <a:custGeom>
            <a:avLst/>
            <a:gdLst/>
            <a:ahLst/>
            <a:cxnLst/>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id="10" name="TextBox 10">
            <a:extLst>
              <a:ext uri="{FF2B5EF4-FFF2-40B4-BE49-F238E27FC236}">
                <a16:creationId xmlns:a16="http://schemas.microsoft.com/office/drawing/2014/main" id="{1E533097-F34B-4477-96E4-06B881A7FEF9}"/>
              </a:ext>
            </a:extLst>
          </p:cNvPr>
          <p:cNvSpPr>
            <a:spLocks noGrp="1"/>
          </p:cNvSpPr>
          <p:nvPr/>
        </p:nvSpPr>
        <p:spPr>
          <a:xfrm>
            <a:off x="9460786" y="730170"/>
            <a:ext cx="1665830" cy="733592"/>
          </a:xfrm>
          <a:prstGeom prst="rect">
            <a:avLst/>
          </a:prstGeom>
        </p:spPr>
        <p:txBody>
          <a:bodyPr lIns="50800" tIns="50800" rIns="50800" bIns="50800" anchor="ctr"/>
          <a:lstStyle/>
          <a:p>
            <a:pPr algn="ctr">
              <a:lnSpc>
                <a:spcPts val="2871"/>
              </a:lnSpc>
              <a:buNone/>
            </a:pPr>
            <a:endParaRPr/>
          </a:p>
        </p:txBody>
      </p:sp>
      <p:sp>
        <p:nvSpPr>
          <p:cNvPr id="50" name="TextBox 50">
            <a:extLst>
              <a:ext uri="{FF2B5EF4-FFF2-40B4-BE49-F238E27FC236}">
                <a16:creationId xmlns:a16="http://schemas.microsoft.com/office/drawing/2014/main" id="{895BCC7A-6881-483E-932F-B61A2679877F}"/>
              </a:ext>
            </a:extLst>
          </p:cNvPr>
          <p:cNvSpPr>
            <a:spLocks noGrp="1"/>
          </p:cNvSpPr>
          <p:nvPr/>
        </p:nvSpPr>
        <p:spPr>
          <a:xfrm>
            <a:off x="4438650" y="733425"/>
            <a:ext cx="16668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51" name="TextBox 51">
            <a:extLst>
              <a:ext uri="{FF2B5EF4-FFF2-40B4-BE49-F238E27FC236}">
                <a16:creationId xmlns:a16="http://schemas.microsoft.com/office/drawing/2014/main" id="{B4F69C6D-2F5E-4E66-BF00-E7FD361766F4}"/>
              </a:ext>
            </a:extLst>
          </p:cNvPr>
          <p:cNvSpPr>
            <a:spLocks noGrp="1"/>
          </p:cNvSpPr>
          <p:nvPr/>
        </p:nvSpPr>
        <p:spPr>
          <a:xfrm>
            <a:off x="6829425" y="733425"/>
            <a:ext cx="1905000"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52" name="TextBox 52">
            <a:extLst>
              <a:ext uri="{FF2B5EF4-FFF2-40B4-BE49-F238E27FC236}">
                <a16:creationId xmlns:a16="http://schemas.microsoft.com/office/drawing/2014/main" id="{ED64CD2A-0B13-4227-A754-AC91C1920263}"/>
              </a:ext>
            </a:extLst>
          </p:cNvPr>
          <p:cNvSpPr>
            <a:spLocks noGrp="1"/>
          </p:cNvSpPr>
          <p:nvPr/>
        </p:nvSpPr>
        <p:spPr>
          <a:xfrm>
            <a:off x="9496425" y="733425"/>
            <a:ext cx="1590675" cy="329057"/>
          </a:xfrm>
          <a:prstGeom prst="rect">
            <a:avLst/>
          </a:prstGeom>
        </p:spPr>
        <p:txBody>
          <a:bodyPr lIns="0" tIns="0" rIns="0" bIns="0" anchor="t">
            <a:spAutoFit/>
          </a:bodyPr>
          <a:lstStyle>
            <a:defPPr algn="ctr">
              <a:defRPr sz="1800" b="1">
                <a:solidFill>
                  <a:srgbClr val="FFFFFF"/>
                </a:solidFill>
                <a:latin typeface="Montserrat"/>
                <a:ea typeface="Montserrat"/>
                <a:cs typeface="Montserrat"/>
              </a:defRPr>
            </a:defPPr>
          </a:lstStyle>
          <a:p>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53" name="TextBox 53">
            <a:extLst>
              <a:ext uri="{FF2B5EF4-FFF2-40B4-BE49-F238E27FC236}">
                <a16:creationId xmlns:a16="http://schemas.microsoft.com/office/drawing/2014/main" id="{6AC844EA-1E85-4885-B17D-075CE187DCAD}"/>
              </a:ext>
            </a:extLst>
          </p:cNvPr>
          <p:cNvSpPr>
            <a:spLocks noGrp="1"/>
          </p:cNvSpPr>
          <p:nvPr/>
        </p:nvSpPr>
        <p:spPr>
          <a:xfrm>
            <a:off x="11591925" y="733425"/>
            <a:ext cx="2228850"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54" name="TextBox 54">
            <a:extLst>
              <a:ext uri="{FF2B5EF4-FFF2-40B4-BE49-F238E27FC236}">
                <a16:creationId xmlns:a16="http://schemas.microsoft.com/office/drawing/2014/main" id="{06C9C5BE-06CD-4F89-8344-682E121917E0}"/>
              </a:ext>
            </a:extLst>
          </p:cNvPr>
          <p:cNvSpPr>
            <a:spLocks noGrp="1"/>
          </p:cNvSpPr>
          <p:nvPr/>
        </p:nvSpPr>
        <p:spPr>
          <a:xfrm>
            <a:off x="800100" y="628650"/>
            <a:ext cx="2381250" cy="567690"/>
          </a:xfrm>
          <a:prstGeom prst="rect">
            <a:avLst/>
          </a:prstGeom>
        </p:spPr>
        <p:txBody>
          <a:bodyPr lIns="0" tIns="0" rIns="0" bIns="0" anchor="t">
            <a:spAutoFit/>
          </a:bodyPr>
          <a:lstStyle>
            <a:defPPr>
              <a:defRPr sz="1800" b="1">
                <a:solidFill>
                  <a:srgbClr val="101B40"/>
                </a:solidFill>
                <a:latin typeface="Montserrat"/>
                <a:ea typeface="Montserrat"/>
                <a:cs typeface="Montserrat"/>
              </a:defRPr>
            </a:defPPr>
          </a:lstStyle>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55" name="06">
            <a:extLst>
              <a:ext uri="{FF2B5EF4-FFF2-40B4-BE49-F238E27FC236}">
                <a16:creationId xmlns:a16="http://schemas.microsoft.com/office/drawing/2014/main" id="{F4E53DA8-7E67-47A6-825F-5B260499B5AB}"/>
              </a:ext>
            </a:extLst>
          </p:cNvPr>
          <p:cNvSpPr>
            <a:spLocks noGrp="1"/>
          </p:cNvSpPr>
          <p:nvPr/>
        </p:nvSpPr>
        <p:spPr>
          <a:xfrm>
            <a:off x="16735425" y="733425"/>
            <a:ext cx="666750" cy="381000"/>
          </a:xfrm>
          <a:prstGeom prst="rect">
            <a:avLst/>
          </a:prstGeom>
          <a:noFill/>
          <a:ln w="0">
            <a:noFill/>
          </a:ln>
        </p:spPr>
        <p:txBody>
          <a:bodyPr wrap="square" lIns="0" tIns="0" rIns="0" bIns="0" anchor="t">
            <a:noAutofit/>
          </a:bodyPr>
          <a:lstStyle>
            <a:defPPr algn="r">
              <a:defRPr sz="1875" b="1">
                <a:solidFill>
                  <a:srgbClr val="101B40"/>
                </a:solidFill>
                <a:latin typeface="Montserrat Bold"/>
                <a:ea typeface="Montserrat Bold"/>
                <a:cs typeface="Montserrat Bold"/>
              </a:defRPr>
            </a:defPPr>
          </a:lstStyle>
          <a:p>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05</a:t>
            </a:r>
          </a:p>
        </p:txBody>
      </p:sp>
      <p:sp>
        <p:nvSpPr>
          <p:cNvPr id="56" name="PDF-GalaxAI">
            <a:extLst>
              <a:ext uri="{FF2B5EF4-FFF2-40B4-BE49-F238E27FC236}">
                <a16:creationId xmlns:a16="http://schemas.microsoft.com/office/drawing/2014/main" id="{A3A53FC7-28E6-4F5A-9190-CA8854917045}"/>
              </a:ext>
            </a:extLst>
          </p:cNvPr>
          <p:cNvSpPr>
            <a:spLocks noGrp="1"/>
          </p:cNvSpPr>
          <p:nvPr/>
        </p:nvSpPr>
        <p:spPr>
          <a:xfrm>
            <a:off x="1238250" y="9620250"/>
            <a:ext cx="4286250" cy="333375"/>
          </a:xfrm>
          <a:prstGeom prst="rect">
            <a:avLst/>
          </a:prstGeom>
          <a:noFill/>
          <a:ln w="0">
            <a:noFill/>
          </a:ln>
        </p:spPr>
        <p:txBody>
          <a:bodyPr wrap="square" lIns="0" tIns="0" rIns="0" bIns="0" anchor="t">
            <a:noAutofit/>
          </a:bodyPr>
          <a:lstStyle>
            <a:defPPr algn="l">
              <a:defRPr sz="1650" b="0">
                <a:solidFill>
                  <a:srgbClr val="536681"/>
                </a:solidFill>
                <a:latin typeface="Montserrat"/>
                <a:ea typeface="Montserrat"/>
                <a:cs typeface="Montserrat"/>
              </a:defRPr>
            </a:defPPr>
          </a:lstStyle>
          <a:p>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57" name="06 / 12">
            <a:extLst>
              <a:ext uri="{FF2B5EF4-FFF2-40B4-BE49-F238E27FC236}">
                <a16:creationId xmlns:a16="http://schemas.microsoft.com/office/drawing/2014/main" id="{8FC43387-89F8-43FA-855A-2E1C59BF306A}"/>
              </a:ext>
            </a:extLst>
          </p:cNvPr>
          <p:cNvSpPr>
            <a:spLocks noGrp="1"/>
          </p:cNvSpPr>
          <p:nvPr/>
        </p:nvSpPr>
        <p:spPr>
          <a:xfrm>
            <a:off x="15430500" y="9620250"/>
            <a:ext cx="1524000" cy="333375"/>
          </a:xfrm>
          <a:prstGeom prst="rect">
            <a:avLst/>
          </a:prstGeom>
          <a:noFill/>
          <a:ln w="0">
            <a:noFill/>
          </a:ln>
        </p:spPr>
        <p:txBody>
          <a:bodyPr wrap="square" lIns="0" tIns="0" rIns="0" bIns="0" anchor="t">
            <a:noAutofit/>
          </a:bodyPr>
          <a:lstStyle>
            <a:defPPr algn="r">
              <a:defRPr sz="1650" b="0">
                <a:solidFill>
                  <a:srgbClr val="536681"/>
                </a:solidFill>
                <a:latin typeface="Montserrat"/>
                <a:ea typeface="Montserrat"/>
                <a:cs typeface="Montserrat"/>
              </a:defRPr>
            </a:defPPr>
          </a:lstStyle>
          <a:p>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05 / 09</a:t>
            </a:r>
          </a:p>
        </p:txBody>
      </p:sp>
      <p:sp>
        <p:nvSpPr>
          <p:cNvPr id="75" name="Screenshot placeholder: 【此处放智能文献问答截图】">
            <a:extLst>
              <a:ext uri="{FF2B5EF4-FFF2-40B4-BE49-F238E27FC236}">
                <a16:creationId xmlns:a16="http://schemas.microsoft.com/office/drawing/2014/main" id="{1D53F1C3-3AD5-439E-BD59-FEA40C627FE5}"/>
              </a:ext>
            </a:extLst>
          </p:cNvPr>
          <p:cNvSpPr>
            <a:spLocks noGrp="1"/>
          </p:cNvSpPr>
          <p:nvPr/>
        </p:nvSpPr>
        <p:spPr>
          <a:xfrm>
            <a:off x="11430000" y="4048125"/>
            <a:ext cx="5476875" cy="5143500"/>
          </a:xfrm>
          <a:prstGeom prst="roundRect">
            <a:avLst>
              <a:gd name="adj" fmla="val 7385"/>
            </a:avLst>
          </a:prstGeom>
          <a:solidFill>
            <a:srgbClr val="DCE2EB"/>
          </a:solidFill>
          <a:ln w="16193">
            <a:solidFill>
              <a:srgbClr val="8FA4C1"/>
            </a:solidFill>
          </a:ln>
        </p:spPr>
      </p:sp>
      <p:sp>
        <p:nvSpPr>
          <p:cNvPr id="76" name="【此处放智能文献问答截图】">
            <a:extLst>
              <a:ext uri="{FF2B5EF4-FFF2-40B4-BE49-F238E27FC236}">
                <a16:creationId xmlns:a16="http://schemas.microsoft.com/office/drawing/2014/main" id="{BDD55CCE-41B4-46BD-ACA5-F3011209AB63}"/>
              </a:ext>
            </a:extLst>
          </p:cNvPr>
          <p:cNvSpPr>
            <a:spLocks noGrp="1"/>
          </p:cNvSpPr>
          <p:nvPr/>
        </p:nvSpPr>
        <p:spPr>
          <a:xfrm>
            <a:off x="11639550" y="6191250"/>
            <a:ext cx="5057775" cy="742950"/>
          </a:xfrm>
          <a:prstGeom prst="rect">
            <a:avLst/>
          </a:prstGeom>
          <a:noFill/>
          <a:ln w="0">
            <a:noFill/>
          </a:ln>
        </p:spPr>
        <p:txBody>
          <a:bodyPr wrap="square" lIns="0" tIns="0" rIns="0" bIns="0" anchor="t">
            <a:noAutofit/>
          </a:bodyPr>
          <a:lstStyle>
            <a:defPPr algn="ctr">
              <a:defRPr sz="2250" b="0">
                <a:solidFill>
                  <a:srgbClr val="536681"/>
                </a:solidFill>
                <a:latin typeface="Microsoft YaHei"/>
                <a:ea typeface="Microsoft YaHei"/>
                <a:cs typeface="Microsoft YaHei"/>
              </a:defRPr>
            </a:defPPr>
          </a:lstStyle>
          <a:p>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【此处放智能文献问答截图】</a:t>
            </a:r>
          </a:p>
        </p:txBody>
      </p:sp>
      <p:sp>
        <p:nvSpPr>
          <p:cNvPr id="77" name="Interface crop">
            <a:extLst>
              <a:ext uri="{FF2B5EF4-FFF2-40B4-BE49-F238E27FC236}">
                <a16:creationId xmlns:a16="http://schemas.microsoft.com/office/drawing/2014/main" id="{E4704FC4-C58B-454D-9155-DFE8DDA7D1D5}"/>
              </a:ext>
            </a:extLst>
          </p:cNvPr>
          <p:cNvSpPr>
            <a:spLocks noGrp="1"/>
          </p:cNvSpPr>
          <p:nvPr/>
        </p:nvSpPr>
        <p:spPr>
          <a:xfrm>
            <a:off x="15192375" y="4219575"/>
            <a:ext cx="1476375" cy="533400"/>
          </a:xfrm>
          <a:prstGeom prst="rect">
            <a:avLst/>
          </a:prstGeom>
          <a:noFill/>
          <a:ln w="0">
            <a:noFill/>
          </a:ln>
        </p:spPr>
        <p:txBody>
          <a:bodyPr wrap="square" lIns="0" tIns="0" rIns="0" bIns="0" anchor="t">
            <a:noAutofit/>
          </a:bodyPr>
          <a:lstStyle>
            <a:defPPr algn="r">
              <a:defRPr sz="1575" b="0">
                <a:solidFill>
                  <a:srgbClr val="536681"/>
                </a:solidFill>
                <a:latin typeface="Montserrat"/>
                <a:ea typeface="Montserrat"/>
                <a:cs typeface="Montserrat"/>
              </a:defRPr>
            </a:defPPr>
          </a:lstStyle>
          <a:p>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Chat panel crop</a:t>
            </a:r>
          </a:p>
        </p:txBody>
      </p:sp>
      <p:sp>
        <p:nvSpPr>
          <p:cNvPr id="78" name="PDF Processing &amp; RAG Engineering">
            <a:extLst>
              <a:ext uri="{FF2B5EF4-FFF2-40B4-BE49-F238E27FC236}">
                <a16:creationId xmlns:a16="http://schemas.microsoft.com/office/drawing/2014/main" id="{82487830-C069-4975-8D00-260A9F724F49}"/>
              </a:ext>
            </a:extLst>
          </p:cNvPr>
          <p:cNvSpPr>
            <a:spLocks noGrp="1"/>
          </p:cNvSpPr>
          <p:nvPr/>
        </p:nvSpPr>
        <p:spPr>
          <a:xfrm>
            <a:off x="1238250" y="1952625"/>
            <a:ext cx="15668625" cy="838200"/>
          </a:xfrm>
          <a:prstGeom prst="rect">
            <a:avLst/>
          </a:prstGeom>
          <a:noFill/>
          <a:ln w="0">
            <a:noFill/>
          </a:ln>
        </p:spPr>
        <p:txBody>
          <a:bodyPr wrap="square" lIns="0" tIns="0" rIns="0" bIns="0" anchor="t">
            <a:noAutofit/>
          </a:bodyPr>
          <a:lstStyle>
            <a:defPPr algn="l">
              <a:defRPr sz="4425" b="1">
                <a:solidFill>
                  <a:srgbClr val="101B40"/>
                </a:solidFill>
                <a:latin typeface="Montserrat Bold"/>
                <a:ea typeface="Montserrat Bold"/>
                <a:cs typeface="Montserrat Bold"/>
              </a:defRPr>
            </a:defPPr>
          </a:lstStyle>
          <a:p>
            <a:pPr algn="l">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PDF Processing &amp; RAG Engineering</a:t>
            </a:r>
          </a:p>
        </p:txBody>
      </p:sp>
      <p:sp>
        <p:nvSpPr>
          <p:cNvPr id="79" name="Paper vectors organise the collection. Passage vectors support context">
            <a:extLst>
              <a:ext uri="{FF2B5EF4-FFF2-40B4-BE49-F238E27FC236}">
                <a16:creationId xmlns:a16="http://schemas.microsoft.com/office/drawing/2014/main" id="{79097B3F-E354-4D84-BA4B-1E90291297A4}"/>
              </a:ext>
            </a:extLst>
          </p:cNvPr>
          <p:cNvSpPr>
            <a:spLocks noGrp="1"/>
          </p:cNvSpPr>
          <p:nvPr/>
        </p:nvSpPr>
        <p:spPr>
          <a:xfrm>
            <a:off x="1257300" y="2905125"/>
            <a:ext cx="15382875" cy="809625"/>
          </a:xfrm>
          <a:prstGeom prst="rect">
            <a:avLst/>
          </a:prstGeom>
          <a:noFill/>
          <a:ln w="0">
            <a:noFill/>
          </a:ln>
        </p:spPr>
        <p:txBody>
          <a:bodyPr wrap="square" lIns="0" tIns="0" rIns="0" bIns="0" anchor="t">
            <a:noAutofit/>
          </a:bodyPr>
          <a:lstStyle>
            <a:defPPr algn="l">
              <a:defRPr sz="2250" b="0">
                <a:solidFill>
                  <a:srgbClr val="536681"/>
                </a:solidFill>
                <a:latin typeface="Montserrat"/>
                <a:ea typeface="Montserrat"/>
                <a:cs typeface="Montserrat"/>
              </a:defRPr>
            </a:defPPr>
          </a:lstStyle>
          <a:p>
            <a:pPr algn="l">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Paper vectors organise the collection. Passage vectors support contextual question answering.</a:t>
            </a:r>
          </a:p>
        </p:txBody>
      </p:sp>
      <p:sp>
        <p:nvSpPr>
          <p:cNvPr id="80" name="Parse PDF">
            <a:extLst>
              <a:ext uri="{FF2B5EF4-FFF2-40B4-BE49-F238E27FC236}">
                <a16:creationId xmlns:a16="http://schemas.microsoft.com/office/drawing/2014/main" id="{9BCF3E73-37C8-4A89-92A4-FF16315AABB3}"/>
              </a:ext>
            </a:extLst>
          </p:cNvPr>
          <p:cNvSpPr>
            <a:spLocks noGrp="1"/>
          </p:cNvSpPr>
          <p:nvPr/>
        </p:nvSpPr>
        <p:spPr>
          <a:xfrm>
            <a:off x="1238250" y="4048125"/>
            <a:ext cx="2857500" cy="1524000"/>
          </a:xfrm>
          <a:prstGeom prst="roundRect">
            <a:avLst>
              <a:gd name="adj" fmla="val 11250"/>
            </a:avLst>
          </a:prstGeom>
          <a:solidFill>
            <a:srgbClr val="FFFFFF"/>
          </a:solidFill>
          <a:ln w="16193">
            <a:solidFill>
              <a:srgbClr val="8FA4C1"/>
            </a:solidFill>
          </a:ln>
        </p:spPr>
      </p:sp>
      <p:sp>
        <p:nvSpPr>
          <p:cNvPr id="81" name="Parse PDF">
            <a:extLst>
              <a:ext uri="{FF2B5EF4-FFF2-40B4-BE49-F238E27FC236}">
                <a16:creationId xmlns:a16="http://schemas.microsoft.com/office/drawing/2014/main" id="{71EDED52-69DF-4106-8F94-ED0FF338E81A}"/>
              </a:ext>
            </a:extLst>
          </p:cNvPr>
          <p:cNvSpPr>
            <a:spLocks noGrp="1"/>
          </p:cNvSpPr>
          <p:nvPr/>
        </p:nvSpPr>
        <p:spPr>
          <a:xfrm>
            <a:off x="1400175" y="4229100"/>
            <a:ext cx="2533650" cy="457200"/>
          </a:xfrm>
          <a:prstGeom prst="rect">
            <a:avLst/>
          </a:prstGeom>
          <a:noFill/>
          <a:ln w="0">
            <a:noFill/>
          </a:ln>
        </p:spPr>
        <p:txBody>
          <a:bodyPr wrap="square" lIns="0" tIns="0" rIns="0" bIns="0" anchor="t">
            <a:noAutofit/>
          </a:bodyPr>
          <a:lstStyle>
            <a:defPPr algn="l">
              <a:defRPr sz="2100" b="1">
                <a:solidFill>
                  <a:srgbClr val="101B40"/>
                </a:solidFill>
                <a:latin typeface="Montserrat Bold"/>
                <a:ea typeface="Montserrat Bold"/>
                <a:cs typeface="Montserrat Bold"/>
              </a:defRPr>
            </a:defPPr>
          </a:lstStyle>
          <a:p>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Parse PDF</a:t>
            </a:r>
          </a:p>
        </p:txBody>
      </p:sp>
      <p:sp>
        <p:nvSpPr>
          <p:cNvPr id="82" name="Native text / OCR&#10;Optional MinerU">
            <a:extLst>
              <a:ext uri="{FF2B5EF4-FFF2-40B4-BE49-F238E27FC236}">
                <a16:creationId xmlns:a16="http://schemas.microsoft.com/office/drawing/2014/main" id="{B8951780-5989-4E42-B20C-46762B69508D}"/>
              </a:ext>
            </a:extLst>
          </p:cNvPr>
          <p:cNvSpPr>
            <a:spLocks noGrp="1"/>
          </p:cNvSpPr>
          <p:nvPr/>
        </p:nvSpPr>
        <p:spPr>
          <a:xfrm>
            <a:off x="1400175" y="4791075"/>
            <a:ext cx="2533650" cy="638175"/>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Native text / OCR</a:t>
            </a:r>
          </a:p>
          <a:p>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Optional MinerU</a:t>
            </a:r>
          </a:p>
        </p:txBody>
      </p:sp>
      <p:sp>
        <p:nvSpPr>
          <p:cNvPr id="83" name="Prepare text">
            <a:extLst>
              <a:ext uri="{FF2B5EF4-FFF2-40B4-BE49-F238E27FC236}">
                <a16:creationId xmlns:a16="http://schemas.microsoft.com/office/drawing/2014/main" id="{461C2BF6-4B8D-416D-83F2-A6A0D95FFB36}"/>
              </a:ext>
            </a:extLst>
          </p:cNvPr>
          <p:cNvSpPr>
            <a:spLocks noGrp="1"/>
          </p:cNvSpPr>
          <p:nvPr/>
        </p:nvSpPr>
        <p:spPr>
          <a:xfrm>
            <a:off x="4667250" y="4048125"/>
            <a:ext cx="2857500" cy="1524000"/>
          </a:xfrm>
          <a:prstGeom prst="roundRect">
            <a:avLst>
              <a:gd name="adj" fmla="val 11250"/>
            </a:avLst>
          </a:prstGeom>
          <a:solidFill>
            <a:srgbClr val="FFFFFF"/>
          </a:solidFill>
          <a:ln w="16193">
            <a:solidFill>
              <a:srgbClr val="8FA4C1"/>
            </a:solidFill>
          </a:ln>
        </p:spPr>
      </p:sp>
      <p:sp>
        <p:nvSpPr>
          <p:cNvPr id="84" name="Prepare text">
            <a:extLst>
              <a:ext uri="{FF2B5EF4-FFF2-40B4-BE49-F238E27FC236}">
                <a16:creationId xmlns:a16="http://schemas.microsoft.com/office/drawing/2014/main" id="{7F6069A5-55C9-46E0-A7DD-0C6C79D6B593}"/>
              </a:ext>
            </a:extLst>
          </p:cNvPr>
          <p:cNvSpPr>
            <a:spLocks noGrp="1"/>
          </p:cNvSpPr>
          <p:nvPr/>
        </p:nvSpPr>
        <p:spPr>
          <a:xfrm>
            <a:off x="4829175" y="4229100"/>
            <a:ext cx="2533650" cy="457200"/>
          </a:xfrm>
          <a:prstGeom prst="rect">
            <a:avLst/>
          </a:prstGeom>
          <a:noFill/>
          <a:ln w="0">
            <a:noFill/>
          </a:ln>
        </p:spPr>
        <p:txBody>
          <a:bodyPr wrap="square" lIns="0" tIns="0" rIns="0" bIns="0" anchor="t">
            <a:noAutofit/>
          </a:bodyPr>
          <a:lstStyle>
            <a:defPPr algn="l">
              <a:defRPr sz="2100" b="1">
                <a:solidFill>
                  <a:srgbClr val="101B40"/>
                </a:solidFill>
                <a:latin typeface="Montserrat Bold"/>
                <a:ea typeface="Montserrat Bold"/>
                <a:cs typeface="Montserrat Bold"/>
              </a:defRPr>
            </a:defPPr>
          </a:lstStyle>
          <a:p>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Prepare text</a:t>
            </a:r>
          </a:p>
        </p:txBody>
      </p:sp>
      <p:sp>
        <p:nvSpPr>
          <p:cNvPr id="85" name="Abstract + keywords&#10;Overlapping chunks">
            <a:extLst>
              <a:ext uri="{FF2B5EF4-FFF2-40B4-BE49-F238E27FC236}">
                <a16:creationId xmlns:a16="http://schemas.microsoft.com/office/drawing/2014/main" id="{35AFAFB9-52E0-4E99-8F68-B3C5E4739FE2}"/>
              </a:ext>
            </a:extLst>
          </p:cNvPr>
          <p:cNvSpPr>
            <a:spLocks noGrp="1"/>
          </p:cNvSpPr>
          <p:nvPr/>
        </p:nvSpPr>
        <p:spPr>
          <a:xfrm>
            <a:off x="4829175" y="4791075"/>
            <a:ext cx="2533650" cy="638175"/>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Abstract + keywords</a:t>
            </a:r>
          </a:p>
          <a:p>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Overlapping chunks</a:t>
            </a:r>
          </a:p>
        </p:txBody>
      </p:sp>
      <p:sp>
        <p:nvSpPr>
          <p:cNvPr id="86" name="BGE-M3 + Chroma">
            <a:extLst>
              <a:ext uri="{FF2B5EF4-FFF2-40B4-BE49-F238E27FC236}">
                <a16:creationId xmlns:a16="http://schemas.microsoft.com/office/drawing/2014/main" id="{DD683E5A-CFFC-4B71-AA0C-48323707A286}"/>
              </a:ext>
            </a:extLst>
          </p:cNvPr>
          <p:cNvSpPr>
            <a:spLocks noGrp="1"/>
          </p:cNvSpPr>
          <p:nvPr/>
        </p:nvSpPr>
        <p:spPr>
          <a:xfrm>
            <a:off x="8096250" y="4048125"/>
            <a:ext cx="2857500" cy="1524000"/>
          </a:xfrm>
          <a:prstGeom prst="roundRect">
            <a:avLst>
              <a:gd name="adj" fmla="val 11250"/>
            </a:avLst>
          </a:prstGeom>
          <a:solidFill>
            <a:srgbClr val="FFFFFF"/>
          </a:solidFill>
          <a:ln w="16193">
            <a:solidFill>
              <a:srgbClr val="8FA4C1"/>
            </a:solidFill>
          </a:ln>
        </p:spPr>
      </p:sp>
      <p:sp>
        <p:nvSpPr>
          <p:cNvPr id="87" name="BGE-M3 + Chroma">
            <a:extLst>
              <a:ext uri="{FF2B5EF4-FFF2-40B4-BE49-F238E27FC236}">
                <a16:creationId xmlns:a16="http://schemas.microsoft.com/office/drawing/2014/main" id="{A89BB907-B0EC-4727-AC8C-AE6B955A229E}"/>
              </a:ext>
            </a:extLst>
          </p:cNvPr>
          <p:cNvSpPr>
            <a:spLocks noGrp="1"/>
          </p:cNvSpPr>
          <p:nvPr/>
        </p:nvSpPr>
        <p:spPr>
          <a:xfrm>
            <a:off x="8258175" y="4229100"/>
            <a:ext cx="2533650" cy="457200"/>
          </a:xfrm>
          <a:prstGeom prst="rect">
            <a:avLst/>
          </a:prstGeom>
          <a:noFill/>
          <a:ln w="0">
            <a:noFill/>
          </a:ln>
        </p:spPr>
        <p:txBody>
          <a:bodyPr wrap="square" lIns="0" tIns="0" rIns="0" bIns="0" anchor="t">
            <a:noAutofit/>
          </a:bodyPr>
          <a:lstStyle>
            <a:defPPr algn="l">
              <a:defRPr sz="2100" b="1">
                <a:solidFill>
                  <a:srgbClr val="101B40"/>
                </a:solidFill>
                <a:latin typeface="Montserrat Bold"/>
                <a:ea typeface="Montserrat Bold"/>
                <a:cs typeface="Montserrat Bold"/>
              </a:defRPr>
            </a:defPPr>
          </a:lstStyle>
          <a:p>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BGE-M3 + Chroma</a:t>
            </a:r>
          </a:p>
        </p:txBody>
      </p:sp>
      <p:sp>
        <p:nvSpPr>
          <p:cNvPr id="88" name="Two vector indexes&#10;Local Chroma store">
            <a:extLst>
              <a:ext uri="{FF2B5EF4-FFF2-40B4-BE49-F238E27FC236}">
                <a16:creationId xmlns:a16="http://schemas.microsoft.com/office/drawing/2014/main" id="{09BF9C2C-25A6-4067-8171-FE2BE1744905}"/>
              </a:ext>
            </a:extLst>
          </p:cNvPr>
          <p:cNvSpPr>
            <a:spLocks noGrp="1"/>
          </p:cNvSpPr>
          <p:nvPr/>
        </p:nvSpPr>
        <p:spPr>
          <a:xfrm>
            <a:off x="8258175" y="4791075"/>
            <a:ext cx="2533650" cy="638175"/>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Two vector indexes</a:t>
            </a:r>
          </a:p>
          <a:p>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Local Chroma store</a:t>
            </a:r>
          </a:p>
        </p:txBody>
      </p:sp>
      <p:sp>
        <p:nvSpPr>
          <p:cNvPr id="89" name="Retrieve passages">
            <a:extLst>
              <a:ext uri="{FF2B5EF4-FFF2-40B4-BE49-F238E27FC236}">
                <a16:creationId xmlns:a16="http://schemas.microsoft.com/office/drawing/2014/main" id="{209A4A1D-7CBB-41DE-8082-9C893E3F3FF3}"/>
              </a:ext>
            </a:extLst>
          </p:cNvPr>
          <p:cNvSpPr>
            <a:spLocks noGrp="1"/>
          </p:cNvSpPr>
          <p:nvPr/>
        </p:nvSpPr>
        <p:spPr>
          <a:xfrm>
            <a:off x="8096250" y="6334125"/>
            <a:ext cx="2857500" cy="1524000"/>
          </a:xfrm>
          <a:prstGeom prst="roundRect">
            <a:avLst>
              <a:gd name="adj" fmla="val 11250"/>
            </a:avLst>
          </a:prstGeom>
          <a:solidFill>
            <a:srgbClr val="FFFFFF"/>
          </a:solidFill>
          <a:ln w="16193">
            <a:solidFill>
              <a:srgbClr val="8FA4C1"/>
            </a:solidFill>
          </a:ln>
        </p:spPr>
      </p:sp>
      <p:sp>
        <p:nvSpPr>
          <p:cNvPr id="90" name="Retrieve passages">
            <a:extLst>
              <a:ext uri="{FF2B5EF4-FFF2-40B4-BE49-F238E27FC236}">
                <a16:creationId xmlns:a16="http://schemas.microsoft.com/office/drawing/2014/main" id="{1D9C70C2-9BE8-4178-A8CE-A695B7F700B4}"/>
              </a:ext>
            </a:extLst>
          </p:cNvPr>
          <p:cNvSpPr>
            <a:spLocks noGrp="1"/>
          </p:cNvSpPr>
          <p:nvPr/>
        </p:nvSpPr>
        <p:spPr>
          <a:xfrm>
            <a:off x="8258175" y="6515100"/>
            <a:ext cx="2533650" cy="457200"/>
          </a:xfrm>
          <a:prstGeom prst="rect">
            <a:avLst/>
          </a:prstGeom>
          <a:noFill/>
          <a:ln w="0">
            <a:noFill/>
          </a:ln>
        </p:spPr>
        <p:txBody>
          <a:bodyPr wrap="square" lIns="0" tIns="0" rIns="0" bIns="0" anchor="t">
            <a:noAutofit/>
          </a:bodyPr>
          <a:lstStyle>
            <a:defPPr algn="l">
              <a:defRPr sz="2100" b="1">
                <a:solidFill>
                  <a:srgbClr val="101B40"/>
                </a:solidFill>
                <a:latin typeface="Montserrat Bold"/>
                <a:ea typeface="Montserrat Bold"/>
                <a:cs typeface="Montserrat Bold"/>
              </a:defRPr>
            </a:defPPr>
          </a:lstStyle>
          <a:p>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Retrieve passages</a:t>
            </a:r>
          </a:p>
        </p:txBody>
      </p:sp>
      <p:sp>
        <p:nvSpPr>
          <p:cNvPr id="91" name="Question vector&#10;Paper context">
            <a:extLst>
              <a:ext uri="{FF2B5EF4-FFF2-40B4-BE49-F238E27FC236}">
                <a16:creationId xmlns:a16="http://schemas.microsoft.com/office/drawing/2014/main" id="{432AEE28-5C14-4D43-AC67-D4DE7CAD521C}"/>
              </a:ext>
            </a:extLst>
          </p:cNvPr>
          <p:cNvSpPr>
            <a:spLocks noGrp="1"/>
          </p:cNvSpPr>
          <p:nvPr/>
        </p:nvSpPr>
        <p:spPr>
          <a:xfrm>
            <a:off x="8258175" y="7077075"/>
            <a:ext cx="2533650" cy="638175"/>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Question vector</a:t>
            </a:r>
          </a:p>
          <a:p>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Paper context</a:t>
            </a:r>
          </a:p>
        </p:txBody>
      </p:sp>
      <p:sp>
        <p:nvSpPr>
          <p:cNvPr id="92" name="Rerank evidence">
            <a:extLst>
              <a:ext uri="{FF2B5EF4-FFF2-40B4-BE49-F238E27FC236}">
                <a16:creationId xmlns:a16="http://schemas.microsoft.com/office/drawing/2014/main" id="{A4310826-63BC-467F-BE60-BA1D9362B01B}"/>
              </a:ext>
            </a:extLst>
          </p:cNvPr>
          <p:cNvSpPr>
            <a:spLocks noGrp="1"/>
          </p:cNvSpPr>
          <p:nvPr/>
        </p:nvSpPr>
        <p:spPr>
          <a:xfrm>
            <a:off x="4667250" y="6334125"/>
            <a:ext cx="2857500" cy="1524000"/>
          </a:xfrm>
          <a:prstGeom prst="roundRect">
            <a:avLst>
              <a:gd name="adj" fmla="val 11250"/>
            </a:avLst>
          </a:prstGeom>
          <a:solidFill>
            <a:srgbClr val="FFFFFF"/>
          </a:solidFill>
          <a:ln w="16193">
            <a:solidFill>
              <a:srgbClr val="8FA4C1"/>
            </a:solidFill>
          </a:ln>
        </p:spPr>
      </p:sp>
      <p:sp>
        <p:nvSpPr>
          <p:cNvPr id="93" name="Rerank evidence">
            <a:extLst>
              <a:ext uri="{FF2B5EF4-FFF2-40B4-BE49-F238E27FC236}">
                <a16:creationId xmlns:a16="http://schemas.microsoft.com/office/drawing/2014/main" id="{F741BA57-5C9B-47F8-8A60-E289A7E6BB9E}"/>
              </a:ext>
            </a:extLst>
          </p:cNvPr>
          <p:cNvSpPr>
            <a:spLocks noGrp="1"/>
          </p:cNvSpPr>
          <p:nvPr/>
        </p:nvSpPr>
        <p:spPr>
          <a:xfrm>
            <a:off x="4829175" y="6515100"/>
            <a:ext cx="2533650" cy="457200"/>
          </a:xfrm>
          <a:prstGeom prst="rect">
            <a:avLst/>
          </a:prstGeom>
          <a:noFill/>
          <a:ln w="0">
            <a:noFill/>
          </a:ln>
        </p:spPr>
        <p:txBody>
          <a:bodyPr wrap="square" lIns="0" tIns="0" rIns="0" bIns="0" anchor="t">
            <a:noAutofit/>
          </a:bodyPr>
          <a:lstStyle>
            <a:defPPr algn="l">
              <a:defRPr sz="2100" b="1">
                <a:solidFill>
                  <a:srgbClr val="101B40"/>
                </a:solidFill>
                <a:latin typeface="Montserrat Bold"/>
                <a:ea typeface="Montserrat Bold"/>
                <a:cs typeface="Montserrat Bold"/>
              </a:defRPr>
            </a:defPPr>
          </a:lstStyle>
          <a:p>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Rerank evidence</a:t>
            </a:r>
          </a:p>
        </p:txBody>
      </p:sp>
      <p:sp>
        <p:nvSpPr>
          <p:cNvPr id="94" name="Semantic + lexical&#10;Text quality">
            <a:extLst>
              <a:ext uri="{FF2B5EF4-FFF2-40B4-BE49-F238E27FC236}">
                <a16:creationId xmlns:a16="http://schemas.microsoft.com/office/drawing/2014/main" id="{D3BE1855-9596-47A1-A57F-6D5F1E6DA805}"/>
              </a:ext>
            </a:extLst>
          </p:cNvPr>
          <p:cNvSpPr>
            <a:spLocks noGrp="1"/>
          </p:cNvSpPr>
          <p:nvPr/>
        </p:nvSpPr>
        <p:spPr>
          <a:xfrm>
            <a:off x="4829175" y="7077075"/>
            <a:ext cx="2533650" cy="638175"/>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Semantic + lexical</a:t>
            </a:r>
          </a:p>
          <a:p>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Text quality</a:t>
            </a:r>
          </a:p>
        </p:txBody>
      </p:sp>
      <p:sp>
        <p:nvSpPr>
          <p:cNvPr id="95" name="Generate answer">
            <a:extLst>
              <a:ext uri="{FF2B5EF4-FFF2-40B4-BE49-F238E27FC236}">
                <a16:creationId xmlns:a16="http://schemas.microsoft.com/office/drawing/2014/main" id="{0FA9AC4E-66C4-495F-B59F-0B091BDFB3C8}"/>
              </a:ext>
            </a:extLst>
          </p:cNvPr>
          <p:cNvSpPr>
            <a:spLocks noGrp="1"/>
          </p:cNvSpPr>
          <p:nvPr/>
        </p:nvSpPr>
        <p:spPr>
          <a:xfrm>
            <a:off x="1238250" y="6334125"/>
            <a:ext cx="2857500" cy="1524000"/>
          </a:xfrm>
          <a:prstGeom prst="roundRect">
            <a:avLst>
              <a:gd name="adj" fmla="val 11250"/>
            </a:avLst>
          </a:prstGeom>
          <a:solidFill>
            <a:srgbClr val="FFFFFF"/>
          </a:solidFill>
          <a:ln w="16193">
            <a:solidFill>
              <a:srgbClr val="8FA4C1"/>
            </a:solidFill>
          </a:ln>
        </p:spPr>
      </p:sp>
      <p:sp>
        <p:nvSpPr>
          <p:cNvPr id="96" name="Generate answer">
            <a:extLst>
              <a:ext uri="{FF2B5EF4-FFF2-40B4-BE49-F238E27FC236}">
                <a16:creationId xmlns:a16="http://schemas.microsoft.com/office/drawing/2014/main" id="{4654490A-1171-40B3-A080-396B28A64DFC}"/>
              </a:ext>
            </a:extLst>
          </p:cNvPr>
          <p:cNvSpPr>
            <a:spLocks noGrp="1"/>
          </p:cNvSpPr>
          <p:nvPr/>
        </p:nvSpPr>
        <p:spPr>
          <a:xfrm>
            <a:off x="1400175" y="6515100"/>
            <a:ext cx="2533650" cy="457200"/>
          </a:xfrm>
          <a:prstGeom prst="rect">
            <a:avLst/>
          </a:prstGeom>
          <a:noFill/>
          <a:ln w="0">
            <a:noFill/>
          </a:ln>
        </p:spPr>
        <p:txBody>
          <a:bodyPr wrap="square" lIns="0" tIns="0" rIns="0" bIns="0" anchor="t">
            <a:noAutofit/>
          </a:bodyPr>
          <a:lstStyle>
            <a:defPPr algn="l">
              <a:defRPr sz="2100" b="1">
                <a:solidFill>
                  <a:srgbClr val="101B40"/>
                </a:solidFill>
                <a:latin typeface="Montserrat Bold"/>
                <a:ea typeface="Montserrat Bold"/>
                <a:cs typeface="Montserrat Bold"/>
              </a:defRPr>
            </a:defPPr>
          </a:lstStyle>
          <a:p>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Generate answer</a:t>
            </a:r>
          </a:p>
        </p:txBody>
      </p:sp>
      <p:sp>
        <p:nvSpPr>
          <p:cNvPr id="97" name="Local / cloud model&#10;Answer + sources">
            <a:extLst>
              <a:ext uri="{FF2B5EF4-FFF2-40B4-BE49-F238E27FC236}">
                <a16:creationId xmlns:a16="http://schemas.microsoft.com/office/drawing/2014/main" id="{A29173DB-C2D5-4C4F-9507-16045FD2F3A6}"/>
              </a:ext>
            </a:extLst>
          </p:cNvPr>
          <p:cNvSpPr>
            <a:spLocks noGrp="1"/>
          </p:cNvSpPr>
          <p:nvPr/>
        </p:nvSpPr>
        <p:spPr>
          <a:xfrm>
            <a:off x="1400175" y="7077075"/>
            <a:ext cx="2533650" cy="638175"/>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Local / cloud model</a:t>
            </a:r>
          </a:p>
          <a:p>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Answer + sources</a:t>
            </a:r>
          </a:p>
        </p:txBody>
      </p:sp>
      <p:cxnSp>
        <p:nvCxnSpPr>
          <p:cNvPr id="98" name="直接箭头连接符 97">
            <a:extLst>
              <a:ext uri="{FF2B5EF4-FFF2-40B4-BE49-F238E27FC236}">
                <a16:creationId xmlns:a16="http://schemas.microsoft.com/office/drawing/2014/main" id="{5C4C6865-95CB-4FEF-B186-739AF3AE28FC}"/>
              </a:ext>
            </a:extLst>
          </p:cNvPr>
          <p:cNvCxnSpPr>
            <a:stCxn id="80" idx="3"/>
            <a:endCxn id="83" idx="1"/>
          </p:cNvCxnSpPr>
          <p:nvPr/>
        </p:nvCxnSpPr>
        <p:spPr>
          <a:xfrm>
            <a:off x="4095750" y="4810125"/>
            <a:ext cx="571500" cy="0"/>
          </a:xfrm>
          <a:prstGeom prst="straightConnector1">
            <a:avLst/>
          </a:prstGeom>
          <a:ln w="28575">
            <a:solidFill>
              <a:srgbClr val="8FA4C1"/>
            </a:solidFill>
            <a:tailEnd type="triangle" w="med" len="med"/>
          </a:ln>
        </p:spPr>
      </p:cxnSp>
      <p:cxnSp>
        <p:nvCxnSpPr>
          <p:cNvPr id="99" name="直接箭头连接符 98">
            <a:extLst>
              <a:ext uri="{FF2B5EF4-FFF2-40B4-BE49-F238E27FC236}">
                <a16:creationId xmlns:a16="http://schemas.microsoft.com/office/drawing/2014/main" id="{ACCFEE32-70E3-4DA9-9659-395CBEDC31D2}"/>
              </a:ext>
            </a:extLst>
          </p:cNvPr>
          <p:cNvCxnSpPr>
            <a:stCxn id="83" idx="3"/>
            <a:endCxn id="86" idx="1"/>
          </p:cNvCxnSpPr>
          <p:nvPr/>
        </p:nvCxnSpPr>
        <p:spPr>
          <a:xfrm>
            <a:off x="7524750" y="4810125"/>
            <a:ext cx="571500" cy="0"/>
          </a:xfrm>
          <a:prstGeom prst="straightConnector1">
            <a:avLst/>
          </a:prstGeom>
          <a:ln w="28575">
            <a:solidFill>
              <a:srgbClr val="8FA4C1"/>
            </a:solidFill>
            <a:tailEnd type="triangle" w="med" len="med"/>
          </a:ln>
        </p:spPr>
      </p:cxnSp>
      <p:cxnSp>
        <p:nvCxnSpPr>
          <p:cNvPr id="100" name="直接箭头连接符 99">
            <a:extLst>
              <a:ext uri="{FF2B5EF4-FFF2-40B4-BE49-F238E27FC236}">
                <a16:creationId xmlns:a16="http://schemas.microsoft.com/office/drawing/2014/main" id="{2A5B89B3-A6A6-418C-866A-B82E21422190}"/>
              </a:ext>
            </a:extLst>
          </p:cNvPr>
          <p:cNvCxnSpPr>
            <a:stCxn id="86" idx="2"/>
            <a:endCxn id="89" idx="0"/>
          </p:cNvCxnSpPr>
          <p:nvPr/>
        </p:nvCxnSpPr>
        <p:spPr>
          <a:xfrm>
            <a:off x="9525000" y="5572125"/>
            <a:ext cx="0" cy="762000"/>
          </a:xfrm>
          <a:prstGeom prst="straightConnector1">
            <a:avLst/>
          </a:prstGeom>
          <a:ln w="28575">
            <a:solidFill>
              <a:srgbClr val="8FA4C1"/>
            </a:solidFill>
            <a:tailEnd type="triangle" w="med" len="med"/>
          </a:ln>
        </p:spPr>
      </p:cxnSp>
      <p:cxnSp>
        <p:nvCxnSpPr>
          <p:cNvPr id="101" name="直接箭头连接符 100">
            <a:extLst>
              <a:ext uri="{FF2B5EF4-FFF2-40B4-BE49-F238E27FC236}">
                <a16:creationId xmlns:a16="http://schemas.microsoft.com/office/drawing/2014/main" id="{F8EA0E28-727E-4797-BC4D-0C6C6E12230D}"/>
              </a:ext>
            </a:extLst>
          </p:cNvPr>
          <p:cNvCxnSpPr>
            <a:stCxn id="89" idx="1"/>
            <a:endCxn id="92" idx="3"/>
          </p:cNvCxnSpPr>
          <p:nvPr/>
        </p:nvCxnSpPr>
        <p:spPr>
          <a:xfrm flipH="1">
            <a:off x="7524750" y="7096125"/>
            <a:ext cx="571500" cy="0"/>
          </a:xfrm>
          <a:prstGeom prst="straightConnector1">
            <a:avLst/>
          </a:prstGeom>
          <a:ln w="28575">
            <a:solidFill>
              <a:srgbClr val="8FA4C1"/>
            </a:solidFill>
            <a:tailEnd type="triangle" w="med" len="med"/>
          </a:ln>
        </p:spPr>
      </p:cxnSp>
      <p:cxnSp>
        <p:nvCxnSpPr>
          <p:cNvPr id="102" name="直接箭头连接符 101">
            <a:extLst>
              <a:ext uri="{FF2B5EF4-FFF2-40B4-BE49-F238E27FC236}">
                <a16:creationId xmlns:a16="http://schemas.microsoft.com/office/drawing/2014/main" id="{D4326CBB-2745-4730-BE87-A44E546242BC}"/>
              </a:ext>
            </a:extLst>
          </p:cNvPr>
          <p:cNvCxnSpPr>
            <a:stCxn id="92" idx="1"/>
            <a:endCxn id="95" idx="3"/>
          </p:cNvCxnSpPr>
          <p:nvPr/>
        </p:nvCxnSpPr>
        <p:spPr>
          <a:xfrm flipH="1">
            <a:off x="4095750" y="7096125"/>
            <a:ext cx="571500" cy="0"/>
          </a:xfrm>
          <a:prstGeom prst="straightConnector1">
            <a:avLst/>
          </a:prstGeom>
          <a:ln w="28575">
            <a:solidFill>
              <a:srgbClr val="8FA4C1"/>
            </a:solidFill>
            <a:tailEnd type="triangle" w="med" len="med"/>
          </a:ln>
        </p:spPr>
      </p:cxnSp>
      <p:sp>
        <p:nvSpPr>
          <p:cNvPr id="103" name="Two indexes, two tasks">
            <a:extLst>
              <a:ext uri="{FF2B5EF4-FFF2-40B4-BE49-F238E27FC236}">
                <a16:creationId xmlns:a16="http://schemas.microsoft.com/office/drawing/2014/main" id="{262E29AD-F0BF-4B98-9CF2-403B69FF39CC}"/>
              </a:ext>
            </a:extLst>
          </p:cNvPr>
          <p:cNvSpPr>
            <a:spLocks noGrp="1"/>
          </p:cNvSpPr>
          <p:nvPr/>
        </p:nvSpPr>
        <p:spPr>
          <a:xfrm>
            <a:off x="1238250" y="8220075"/>
            <a:ext cx="9572625" cy="400050"/>
          </a:xfrm>
          <a:prstGeom prst="rect">
            <a:avLst/>
          </a:prstGeom>
          <a:noFill/>
          <a:ln w="0">
            <a:noFill/>
          </a:ln>
        </p:spPr>
        <p:txBody>
          <a:bodyPr wrap="square" lIns="0" tIns="0" rIns="0" bIns="0" anchor="t">
            <a:noAutofit/>
          </a:bodyPr>
          <a:lstStyle>
            <a:defPPr algn="l">
              <a:defRPr sz="2325" b="1">
                <a:solidFill>
                  <a:srgbClr val="101B40"/>
                </a:solidFill>
                <a:latin typeface="Montserrat Bold"/>
                <a:ea typeface="Montserrat Bold"/>
                <a:cs typeface="Montserrat Bold"/>
              </a:defRPr>
            </a:defPPr>
          </a:lstStyle>
          <a:p>
            <a:pPr algn="l">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Two indexes, two tasks</a:t>
            </a:r>
          </a:p>
        </p:txBody>
      </p:sp>
      <p:sp>
        <p:nvSpPr>
          <p:cNvPr id="104" name="Paper vectors map topics. Passage vectors support RAG.">
            <a:extLst>
              <a:ext uri="{FF2B5EF4-FFF2-40B4-BE49-F238E27FC236}">
                <a16:creationId xmlns:a16="http://schemas.microsoft.com/office/drawing/2014/main" id="{5EDB0EFC-D1C6-4151-8156-A1A802D7ECA8}"/>
              </a:ext>
            </a:extLst>
          </p:cNvPr>
          <p:cNvSpPr>
            <a:spLocks noGrp="1"/>
          </p:cNvSpPr>
          <p:nvPr/>
        </p:nvSpPr>
        <p:spPr>
          <a:xfrm>
            <a:off x="1238250" y="8705850"/>
            <a:ext cx="9572625" cy="419100"/>
          </a:xfrm>
          <a:prstGeom prst="rect">
            <a:avLst/>
          </a:prstGeom>
          <a:noFill/>
          <a:ln w="0">
            <a:noFill/>
          </a:ln>
        </p:spPr>
        <p:txBody>
          <a:bodyPr wrap="square" lIns="0" tIns="0" rIns="0" bIns="0" anchor="t">
            <a:noAutofit/>
          </a:bodyPr>
          <a:lstStyle>
            <a:defPPr algn="l">
              <a:defRPr sz="1950" b="0">
                <a:solidFill>
                  <a:srgbClr val="536681"/>
                </a:solidFill>
                <a:latin typeface="Montserrat"/>
                <a:ea typeface="Montserrat"/>
                <a:cs typeface="Montserrat"/>
              </a:defRPr>
            </a:defPPr>
          </a:lstStyle>
          <a:p>
            <a:pPr algn="l">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Paper vectors map topics. Passage vectors support RAG.</a:t>
            </a:r>
          </a:p>
        </p:txBody>
      </p:sp>
      <p:sp>
        <p:nvSpPr>
          <p:cNvPr id="105" name="Auto / RAG / Chat modes make retrieval behaviour explicit.">
            <a:extLst>
              <a:ext uri="{FF2B5EF4-FFF2-40B4-BE49-F238E27FC236}">
                <a16:creationId xmlns:a16="http://schemas.microsoft.com/office/drawing/2014/main" id="{F82BE41C-4F91-4D1F-967D-C577193141E4}"/>
              </a:ext>
            </a:extLst>
          </p:cNvPr>
          <p:cNvSpPr>
            <a:spLocks noGrp="1"/>
          </p:cNvSpPr>
          <p:nvPr/>
        </p:nvSpPr>
        <p:spPr>
          <a:xfrm>
            <a:off x="1238250" y="9124950"/>
            <a:ext cx="9572625" cy="361950"/>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Auto / RAG / Chat modes make retrieval behaviour explicit.</a:t>
            </a:r>
          </a:p>
        </p:txBody>
      </p:sp>
      <p:sp>
        <p:nvSpPr>
          <p:cNvPr id="106" name="Source evidence needs human review.">
            <a:extLst>
              <a:ext uri="{FF2B5EF4-FFF2-40B4-BE49-F238E27FC236}">
                <a16:creationId xmlns:a16="http://schemas.microsoft.com/office/drawing/2014/main" id="{277EB5A1-D014-4FCF-861C-BCE7834D6E20}"/>
              </a:ext>
            </a:extLst>
          </p:cNvPr>
          <p:cNvSpPr>
            <a:spLocks noGrp="1"/>
          </p:cNvSpPr>
          <p:nvPr/>
        </p:nvSpPr>
        <p:spPr>
          <a:xfrm>
            <a:off x="11430000" y="9315450"/>
            <a:ext cx="5476875" cy="304800"/>
          </a:xfrm>
          <a:prstGeom prst="rect">
            <a:avLst/>
          </a:prstGeom>
          <a:noFill/>
          <a:ln w="0">
            <a:noFill/>
          </a:ln>
        </p:spPr>
        <p:txBody>
          <a:bodyPr wrap="square" lIns="0" tIns="0" rIns="0" bIns="0" anchor="t">
            <a:noAutofit/>
          </a:bodyPr>
          <a:lstStyle>
            <a:defPPr algn="l">
              <a:defRPr sz="1725" b="1">
                <a:solidFill>
                  <a:srgbClr val="101B40"/>
                </a:solidFill>
                <a:latin typeface="Montserrat Bold"/>
                <a:ea typeface="Montserrat Bold"/>
                <a:cs typeface="Montserrat Bold"/>
              </a:defRPr>
            </a:defPPr>
          </a:lstStyle>
          <a:p>
            <a:pPr algn="l">
              <a:defRPr sz="1725" b="1">
                <a:solidFill>
                  <a:srgbClr val="101B40"/>
                </a:solidFill>
                <a:latin typeface="Montserrat Bold"/>
                <a:ea typeface="Montserrat Bold"/>
                <a:cs typeface="Montserrat Bold"/>
              </a:defRPr>
            </a:pPr>
            <a:r>
              <a:rPr sz="1725" b="1">
                <a:solidFill>
                  <a:srgbClr val="101B40"/>
                </a:solidFill>
                <a:latin typeface="Montserrat Bold"/>
                <a:ea typeface="Montserrat Bold"/>
                <a:cs typeface="Montserrat Bold"/>
              </a:rPr>
              <a:t>Source evidence needs human review.</a:t>
            </a:r>
          </a:p>
        </p:txBody>
      </p:sp>
      <p:pic>
        <p:nvPicPr>
          <p:cNvPr id="4" name="图片 3">
            <a:extLst>
              <a:ext uri="{FF2B5EF4-FFF2-40B4-BE49-F238E27FC236}">
                <a16:creationId xmlns:a16="http://schemas.microsoft.com/office/drawing/2014/main" id="{50ABD0A3-9322-82BE-C032-C9967AAB42CB}"/>
              </a:ext>
            </a:extLst>
          </p:cNvPr>
          <p:cNvPicPr>
            <a:picLocks noChangeAspect="1"/>
          </p:cNvPicPr>
          <p:nvPr/>
        </p:nvPicPr>
        <p:blipFill rotWithShape="1">
          <a:blip r:embed="rId3"/>
          <a:srcRect l="30012"/>
          <a:stretch/>
        </p:blipFill>
        <p:spPr>
          <a:xfrm>
            <a:off x="11285909" y="3629026"/>
            <a:ext cx="5668591" cy="5620754"/>
          </a:xfrm>
          <a:prstGeom prst="roundRect">
            <a:avLst>
              <a:gd name="adj" fmla="val 5659"/>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47674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1EF1386A-B871-434E-B9E0-ADB51A83F63B}"/>
              </a:ext>
            </a:extLst>
          </p:cNvPr>
          <p:cNvSpPr>
            <a:spLocks noGrp="1"/>
          </p:cNvSpPr>
          <p:nvPr/>
        </p:nvSpPr>
        <p:spPr>
          <a:xfrm>
            <a:off x="4410075" y="514350"/>
            <a:ext cx="9467850" cy="819150"/>
          </a:xfrm>
          <a:custGeom>
            <a:avLst/>
            <a:gdLst/>
            <a:ahLst/>
            <a:cxnLst/>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id="4" name="TextBox 4">
            <a:extLst>
              <a:ext uri="{FF2B5EF4-FFF2-40B4-BE49-F238E27FC236}">
                <a16:creationId xmlns:a16="http://schemas.microsoft.com/office/drawing/2014/main" id="{8FA2FF8A-FF93-4AB4-BF87-6CA549027389}"/>
              </a:ext>
            </a:extLst>
          </p:cNvPr>
          <p:cNvSpPr>
            <a:spLocks noGrp="1"/>
          </p:cNvSpPr>
          <p:nvPr/>
        </p:nvSpPr>
        <p:spPr>
          <a:xfrm>
            <a:off x="4409081" y="370811"/>
            <a:ext cx="9469839" cy="959252"/>
          </a:xfrm>
          <a:prstGeom prst="rect">
            <a:avLst/>
          </a:prstGeom>
        </p:spPr>
        <p:txBody>
          <a:bodyPr lIns="50800" tIns="50800" rIns="50800" bIns="50800" anchor="ctr"/>
          <a:lstStyle/>
          <a:p>
            <a:pPr algn="ctr">
              <a:lnSpc>
                <a:spcPts val="2871"/>
              </a:lnSpc>
              <a:buNone/>
            </a:pPr>
            <a:endParaRPr/>
          </a:p>
        </p:txBody>
      </p:sp>
      <p:sp>
        <p:nvSpPr>
          <p:cNvPr id="6" name="Freeform 6">
            <a:extLst>
              <a:ext uri="{FF2B5EF4-FFF2-40B4-BE49-F238E27FC236}">
                <a16:creationId xmlns:a16="http://schemas.microsoft.com/office/drawing/2014/main" id="{E3F06451-2542-4216-B6E6-4F3E7FB559C2}"/>
              </a:ext>
            </a:extLst>
          </p:cNvPr>
          <p:cNvSpPr>
            <a:spLocks noGrp="1"/>
          </p:cNvSpPr>
          <p:nvPr/>
        </p:nvSpPr>
        <p:spPr>
          <a:xfrm>
            <a:off x="9458325" y="628650"/>
            <a:ext cx="1666875" cy="590550"/>
          </a:xfrm>
          <a:custGeom>
            <a:avLst/>
            <a:gdLst/>
            <a:ahLst/>
            <a:cxnLst/>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id="7" name="TextBox 7">
            <a:extLst>
              <a:ext uri="{FF2B5EF4-FFF2-40B4-BE49-F238E27FC236}">
                <a16:creationId xmlns:a16="http://schemas.microsoft.com/office/drawing/2014/main" id="{B31EC481-B235-4631-837D-DF2DADFF8880}"/>
              </a:ext>
            </a:extLst>
          </p:cNvPr>
          <p:cNvSpPr>
            <a:spLocks noGrp="1"/>
          </p:cNvSpPr>
          <p:nvPr/>
        </p:nvSpPr>
        <p:spPr>
          <a:xfrm>
            <a:off x="9460786" y="483641"/>
            <a:ext cx="1665830" cy="733592"/>
          </a:xfrm>
          <a:prstGeom prst="rect">
            <a:avLst/>
          </a:prstGeom>
        </p:spPr>
        <p:txBody>
          <a:bodyPr lIns="50800" tIns="50800" rIns="50800" bIns="50800" anchor="ctr"/>
          <a:lstStyle/>
          <a:p>
            <a:pPr algn="ctr">
              <a:lnSpc>
                <a:spcPts val="2871"/>
              </a:lnSpc>
              <a:buNone/>
            </a:pPr>
            <a:endParaRPr/>
          </a:p>
        </p:txBody>
      </p:sp>
      <p:sp>
        <p:nvSpPr>
          <p:cNvPr id="21" name="TextBox 21">
            <a:extLst>
              <a:ext uri="{FF2B5EF4-FFF2-40B4-BE49-F238E27FC236}">
                <a16:creationId xmlns:a16="http://schemas.microsoft.com/office/drawing/2014/main" id="{98029099-95C8-456E-A7D8-AECE49B0F095}"/>
              </a:ext>
            </a:extLst>
          </p:cNvPr>
          <p:cNvSpPr>
            <a:spLocks noGrp="1"/>
          </p:cNvSpPr>
          <p:nvPr/>
        </p:nvSpPr>
        <p:spPr>
          <a:xfrm>
            <a:off x="4438650" y="733425"/>
            <a:ext cx="16668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22" name="TextBox 22">
            <a:extLst>
              <a:ext uri="{FF2B5EF4-FFF2-40B4-BE49-F238E27FC236}">
                <a16:creationId xmlns:a16="http://schemas.microsoft.com/office/drawing/2014/main" id="{F8AEB1B3-DD3F-4DDD-A65F-BB886F103FC2}"/>
              </a:ext>
            </a:extLst>
          </p:cNvPr>
          <p:cNvSpPr>
            <a:spLocks noGrp="1"/>
          </p:cNvSpPr>
          <p:nvPr/>
        </p:nvSpPr>
        <p:spPr>
          <a:xfrm>
            <a:off x="6829425" y="733425"/>
            <a:ext cx="1905000"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23" name="TextBox 23">
            <a:extLst>
              <a:ext uri="{FF2B5EF4-FFF2-40B4-BE49-F238E27FC236}">
                <a16:creationId xmlns:a16="http://schemas.microsoft.com/office/drawing/2014/main" id="{05E98AB3-52C2-4C5A-8936-D94021A951FD}"/>
              </a:ext>
            </a:extLst>
          </p:cNvPr>
          <p:cNvSpPr>
            <a:spLocks noGrp="1"/>
          </p:cNvSpPr>
          <p:nvPr/>
        </p:nvSpPr>
        <p:spPr>
          <a:xfrm>
            <a:off x="9496425" y="733425"/>
            <a:ext cx="1590675" cy="329057"/>
          </a:xfrm>
          <a:prstGeom prst="rect">
            <a:avLst/>
          </a:prstGeom>
        </p:spPr>
        <p:txBody>
          <a:bodyPr lIns="0" tIns="0" rIns="0" bIns="0" anchor="t">
            <a:spAutoFit/>
          </a:bodyPr>
          <a:lstStyle>
            <a:defPPr algn="ctr">
              <a:defRPr sz="1800" b="1">
                <a:solidFill>
                  <a:srgbClr val="FFFFFF"/>
                </a:solidFill>
                <a:latin typeface="Montserrat"/>
                <a:ea typeface="Montserrat"/>
                <a:cs typeface="Montserrat"/>
              </a:defRPr>
            </a:defPPr>
          </a:lstStyle>
          <a:p>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24" name="TextBox 24">
            <a:extLst>
              <a:ext uri="{FF2B5EF4-FFF2-40B4-BE49-F238E27FC236}">
                <a16:creationId xmlns:a16="http://schemas.microsoft.com/office/drawing/2014/main" id="{4DDB76A6-3927-4E47-B512-52465BBF5101}"/>
              </a:ext>
            </a:extLst>
          </p:cNvPr>
          <p:cNvSpPr>
            <a:spLocks noGrp="1"/>
          </p:cNvSpPr>
          <p:nvPr/>
        </p:nvSpPr>
        <p:spPr>
          <a:xfrm>
            <a:off x="11591925" y="733425"/>
            <a:ext cx="2228850"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25" name="TextBox 25">
            <a:extLst>
              <a:ext uri="{FF2B5EF4-FFF2-40B4-BE49-F238E27FC236}">
                <a16:creationId xmlns:a16="http://schemas.microsoft.com/office/drawing/2014/main" id="{8394B56D-3A17-4FE1-81B1-45C5E9ADA1D5}"/>
              </a:ext>
            </a:extLst>
          </p:cNvPr>
          <p:cNvSpPr>
            <a:spLocks noGrp="1"/>
          </p:cNvSpPr>
          <p:nvPr/>
        </p:nvSpPr>
        <p:spPr>
          <a:xfrm>
            <a:off x="800100" y="628650"/>
            <a:ext cx="2381250" cy="567690"/>
          </a:xfrm>
          <a:prstGeom prst="rect">
            <a:avLst/>
          </a:prstGeom>
        </p:spPr>
        <p:txBody>
          <a:bodyPr lIns="0" tIns="0" rIns="0" bIns="0" anchor="t">
            <a:spAutoFit/>
          </a:bodyPr>
          <a:lstStyle>
            <a:defPPr>
              <a:defRPr sz="1800" b="1">
                <a:solidFill>
                  <a:srgbClr val="101B40"/>
                </a:solidFill>
                <a:latin typeface="Montserrat"/>
                <a:ea typeface="Montserrat"/>
                <a:cs typeface="Montserrat"/>
              </a:defRPr>
            </a:defPPr>
          </a:lstStyle>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26" name="07">
            <a:extLst>
              <a:ext uri="{FF2B5EF4-FFF2-40B4-BE49-F238E27FC236}">
                <a16:creationId xmlns:a16="http://schemas.microsoft.com/office/drawing/2014/main" id="{7BF2860D-C4D2-4253-AD6D-E99B0B9F59D9}"/>
              </a:ext>
            </a:extLst>
          </p:cNvPr>
          <p:cNvSpPr>
            <a:spLocks noGrp="1"/>
          </p:cNvSpPr>
          <p:nvPr/>
        </p:nvSpPr>
        <p:spPr>
          <a:xfrm>
            <a:off x="16735425" y="733425"/>
            <a:ext cx="666750" cy="381000"/>
          </a:xfrm>
          <a:prstGeom prst="rect">
            <a:avLst/>
          </a:prstGeom>
          <a:noFill/>
          <a:ln w="0">
            <a:noFill/>
          </a:ln>
        </p:spPr>
        <p:txBody>
          <a:bodyPr wrap="square" lIns="0" tIns="0" rIns="0" bIns="0" anchor="t">
            <a:noAutofit/>
          </a:bodyPr>
          <a:lstStyle>
            <a:defPPr algn="r">
              <a:defRPr sz="1875" b="1">
                <a:solidFill>
                  <a:srgbClr val="101B40"/>
                </a:solidFill>
                <a:latin typeface="Montserrat Bold"/>
                <a:ea typeface="Montserrat Bold"/>
                <a:cs typeface="Montserrat Bold"/>
              </a:defRPr>
            </a:defPPr>
          </a:lstStyle>
          <a:p>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06</a:t>
            </a:r>
          </a:p>
        </p:txBody>
      </p:sp>
      <p:sp>
        <p:nvSpPr>
          <p:cNvPr id="27" name="PDF-GalaxAI">
            <a:extLst>
              <a:ext uri="{FF2B5EF4-FFF2-40B4-BE49-F238E27FC236}">
                <a16:creationId xmlns:a16="http://schemas.microsoft.com/office/drawing/2014/main" id="{43F2856C-D0D1-41F9-9820-2FF10101F8B9}"/>
              </a:ext>
            </a:extLst>
          </p:cNvPr>
          <p:cNvSpPr>
            <a:spLocks noGrp="1"/>
          </p:cNvSpPr>
          <p:nvPr/>
        </p:nvSpPr>
        <p:spPr>
          <a:xfrm>
            <a:off x="1238250" y="9620250"/>
            <a:ext cx="4286250" cy="333375"/>
          </a:xfrm>
          <a:prstGeom prst="rect">
            <a:avLst/>
          </a:prstGeom>
          <a:noFill/>
          <a:ln w="0">
            <a:noFill/>
          </a:ln>
        </p:spPr>
        <p:txBody>
          <a:bodyPr wrap="square" lIns="0" tIns="0" rIns="0" bIns="0" anchor="t">
            <a:noAutofit/>
          </a:bodyPr>
          <a:lstStyle>
            <a:defPPr algn="l">
              <a:defRPr sz="1650" b="0">
                <a:solidFill>
                  <a:srgbClr val="536681"/>
                </a:solidFill>
                <a:latin typeface="Montserrat"/>
                <a:ea typeface="Montserrat"/>
                <a:cs typeface="Montserrat"/>
              </a:defRPr>
            </a:defPPr>
          </a:lstStyle>
          <a:p>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28" name="07 / 12">
            <a:extLst>
              <a:ext uri="{FF2B5EF4-FFF2-40B4-BE49-F238E27FC236}">
                <a16:creationId xmlns:a16="http://schemas.microsoft.com/office/drawing/2014/main" id="{36572C1D-11A9-4322-BE05-3DD85918A547}"/>
              </a:ext>
            </a:extLst>
          </p:cNvPr>
          <p:cNvSpPr>
            <a:spLocks noGrp="1"/>
          </p:cNvSpPr>
          <p:nvPr/>
        </p:nvSpPr>
        <p:spPr>
          <a:xfrm>
            <a:off x="15430500" y="9620250"/>
            <a:ext cx="1524000" cy="333375"/>
          </a:xfrm>
          <a:prstGeom prst="rect">
            <a:avLst/>
          </a:prstGeom>
          <a:noFill/>
          <a:ln w="0">
            <a:noFill/>
          </a:ln>
        </p:spPr>
        <p:txBody>
          <a:bodyPr wrap="square" lIns="0" tIns="0" rIns="0" bIns="0" anchor="t">
            <a:noAutofit/>
          </a:bodyPr>
          <a:lstStyle>
            <a:defPPr algn="r">
              <a:defRPr sz="1650" b="0">
                <a:solidFill>
                  <a:srgbClr val="536681"/>
                </a:solidFill>
                <a:latin typeface="Montserrat"/>
                <a:ea typeface="Montserrat"/>
                <a:cs typeface="Montserrat"/>
              </a:defRPr>
            </a:defPPr>
          </a:lstStyle>
          <a:p>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06 / 09</a:t>
            </a:r>
          </a:p>
        </p:txBody>
      </p:sp>
      <p:sp>
        <p:nvSpPr>
          <p:cNvPr id="29" name="Evidence Tracing &amp; Source Reading">
            <a:extLst>
              <a:ext uri="{FF2B5EF4-FFF2-40B4-BE49-F238E27FC236}">
                <a16:creationId xmlns:a16="http://schemas.microsoft.com/office/drawing/2014/main" id="{0C578D84-E687-43BE-AB8A-06627D9793C8}"/>
              </a:ext>
            </a:extLst>
          </p:cNvPr>
          <p:cNvSpPr>
            <a:spLocks noGrp="1"/>
          </p:cNvSpPr>
          <p:nvPr/>
        </p:nvSpPr>
        <p:spPr>
          <a:xfrm>
            <a:off x="1238250" y="1952625"/>
            <a:ext cx="15668625" cy="838200"/>
          </a:xfrm>
          <a:prstGeom prst="rect">
            <a:avLst/>
          </a:prstGeom>
          <a:noFill/>
          <a:ln w="0">
            <a:noFill/>
          </a:ln>
        </p:spPr>
        <p:txBody>
          <a:bodyPr wrap="square" lIns="0" tIns="0" rIns="0" bIns="0" anchor="t">
            <a:noAutofit/>
          </a:bodyPr>
          <a:lstStyle>
            <a:defPPr algn="l">
              <a:defRPr sz="4425" b="1">
                <a:solidFill>
                  <a:srgbClr val="101B40"/>
                </a:solidFill>
                <a:latin typeface="Montserrat Bold"/>
                <a:ea typeface="Montserrat Bold"/>
                <a:cs typeface="Montserrat Bold"/>
              </a:defRPr>
            </a:defPPr>
          </a:lstStyle>
          <a:p>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Evidence Tracing &amp; Source Reading</a:t>
            </a:r>
          </a:p>
        </p:txBody>
      </p:sp>
      <p:sp>
        <p:nvSpPr>
          <p:cNvPr id="30" name="A citation opens the original document and directs attention to candid">
            <a:extLst>
              <a:ext uri="{FF2B5EF4-FFF2-40B4-BE49-F238E27FC236}">
                <a16:creationId xmlns:a16="http://schemas.microsoft.com/office/drawing/2014/main" id="{AD3A90E9-6F17-49A0-A1E6-C225E11BC8FE}"/>
              </a:ext>
            </a:extLst>
          </p:cNvPr>
          <p:cNvSpPr>
            <a:spLocks noGrp="1"/>
          </p:cNvSpPr>
          <p:nvPr/>
        </p:nvSpPr>
        <p:spPr>
          <a:xfrm>
            <a:off x="1257300" y="2905125"/>
            <a:ext cx="15382875" cy="809625"/>
          </a:xfrm>
          <a:prstGeom prst="rect">
            <a:avLst/>
          </a:prstGeom>
          <a:noFill/>
          <a:ln w="0">
            <a:noFill/>
          </a:ln>
        </p:spPr>
        <p:txBody>
          <a:bodyPr wrap="square" lIns="0" tIns="0" rIns="0" bIns="0" anchor="t">
            <a:noAutofit/>
          </a:bodyPr>
          <a:lstStyle>
            <a:defPPr algn="l">
              <a:defRPr sz="2250" b="0">
                <a:solidFill>
                  <a:srgbClr val="536681"/>
                </a:solidFill>
                <a:latin typeface="Montserrat"/>
                <a:ea typeface="Montserrat"/>
                <a:cs typeface="Montserrat"/>
              </a:defRPr>
            </a:defPPr>
          </a:lstStyle>
          <a:p>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citation opens the original document and directs attention to candidate supporting text.</a:t>
            </a:r>
          </a:p>
        </p:txBody>
      </p:sp>
      <p:sp>
        <p:nvSpPr>
          <p:cNvPr id="31" name="Screenshot placeholder: 【此处放回答引用原文跳转截图】">
            <a:extLst>
              <a:ext uri="{FF2B5EF4-FFF2-40B4-BE49-F238E27FC236}">
                <a16:creationId xmlns:a16="http://schemas.microsoft.com/office/drawing/2014/main" id="{4BD579BF-DBE7-4A56-ABE6-DA04ADFF1D62}"/>
              </a:ext>
            </a:extLst>
          </p:cNvPr>
          <p:cNvSpPr>
            <a:spLocks noGrp="1"/>
          </p:cNvSpPr>
          <p:nvPr/>
        </p:nvSpPr>
        <p:spPr>
          <a:xfrm>
            <a:off x="1238250" y="4048125"/>
            <a:ext cx="7429500" cy="4181475"/>
          </a:xfrm>
          <a:prstGeom prst="roundRect">
            <a:avLst>
              <a:gd name="adj" fmla="val 5467"/>
            </a:avLst>
          </a:prstGeom>
          <a:solidFill>
            <a:srgbClr val="DCE2EB"/>
          </a:solidFill>
          <a:ln w="16193">
            <a:solidFill>
              <a:srgbClr val="8FA4C1"/>
            </a:solidFill>
          </a:ln>
        </p:spPr>
      </p:sp>
      <p:sp>
        <p:nvSpPr>
          <p:cNvPr id="32" name="【此处放回答引用原文跳转截图】">
            <a:extLst>
              <a:ext uri="{FF2B5EF4-FFF2-40B4-BE49-F238E27FC236}">
                <a16:creationId xmlns:a16="http://schemas.microsoft.com/office/drawing/2014/main" id="{D57FCC91-C34F-4AEA-A794-4697B54BEB0B}"/>
              </a:ext>
            </a:extLst>
          </p:cNvPr>
          <p:cNvSpPr>
            <a:spLocks noGrp="1"/>
          </p:cNvSpPr>
          <p:nvPr/>
        </p:nvSpPr>
        <p:spPr>
          <a:xfrm>
            <a:off x="1447800" y="5853113"/>
            <a:ext cx="7010400" cy="742950"/>
          </a:xfrm>
          <a:prstGeom prst="rect">
            <a:avLst/>
          </a:prstGeom>
          <a:noFill/>
          <a:ln w="0">
            <a:noFill/>
          </a:ln>
        </p:spPr>
        <p:txBody>
          <a:bodyPr wrap="square" lIns="0" tIns="0" rIns="0" bIns="0" anchor="t">
            <a:noAutofit/>
          </a:bodyPr>
          <a:lstStyle>
            <a:defPPr algn="ctr">
              <a:defRPr sz="2250" b="0">
                <a:solidFill>
                  <a:srgbClr val="536681"/>
                </a:solidFill>
                <a:latin typeface="Microsoft YaHei"/>
                <a:ea typeface="Microsoft YaHei"/>
                <a:cs typeface="Microsoft YaHei"/>
              </a:defRPr>
            </a:defPPr>
          </a:lstStyle>
          <a:p>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【此处放回答引用原文跳转截图】</a:t>
            </a:r>
          </a:p>
        </p:txBody>
      </p:sp>
      <p:sp>
        <p:nvSpPr>
          <p:cNvPr id="33" name="16:9">
            <a:extLst>
              <a:ext uri="{FF2B5EF4-FFF2-40B4-BE49-F238E27FC236}">
                <a16:creationId xmlns:a16="http://schemas.microsoft.com/office/drawing/2014/main" id="{060AE422-DE78-4638-968D-04A8EA9EE059}"/>
              </a:ext>
            </a:extLst>
          </p:cNvPr>
          <p:cNvSpPr>
            <a:spLocks noGrp="1"/>
          </p:cNvSpPr>
          <p:nvPr/>
        </p:nvSpPr>
        <p:spPr>
          <a:xfrm>
            <a:off x="7286625" y="4219575"/>
            <a:ext cx="1143000" cy="285750"/>
          </a:xfrm>
          <a:prstGeom prst="rect">
            <a:avLst/>
          </a:prstGeom>
          <a:noFill/>
          <a:ln w="0">
            <a:noFill/>
          </a:ln>
        </p:spPr>
        <p:txBody>
          <a:bodyPr wrap="square" lIns="0" tIns="0" rIns="0" bIns="0" anchor="t">
            <a:noAutofit/>
          </a:bodyPr>
          <a:lstStyle>
            <a:defPPr algn="r">
              <a:defRPr sz="1575" b="0">
                <a:solidFill>
                  <a:srgbClr val="536681"/>
                </a:solidFill>
                <a:latin typeface="Montserrat"/>
                <a:ea typeface="Montserrat"/>
                <a:cs typeface="Montserrat"/>
              </a:defRPr>
            </a:defPPr>
          </a:lstStyle>
          <a:p>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4" name="Screenshot placeholder: 【此处放文献阅读与高亮联动截图】">
            <a:extLst>
              <a:ext uri="{FF2B5EF4-FFF2-40B4-BE49-F238E27FC236}">
                <a16:creationId xmlns:a16="http://schemas.microsoft.com/office/drawing/2014/main" id="{11C3B11D-14AE-4501-AC81-35741EA37688}"/>
              </a:ext>
            </a:extLst>
          </p:cNvPr>
          <p:cNvSpPr>
            <a:spLocks noGrp="1"/>
          </p:cNvSpPr>
          <p:nvPr/>
        </p:nvSpPr>
        <p:spPr>
          <a:xfrm>
            <a:off x="9477375" y="4048125"/>
            <a:ext cx="7429500" cy="4181475"/>
          </a:xfrm>
          <a:prstGeom prst="roundRect">
            <a:avLst>
              <a:gd name="adj" fmla="val 5467"/>
            </a:avLst>
          </a:prstGeom>
          <a:solidFill>
            <a:srgbClr val="DCE2EB"/>
          </a:solidFill>
          <a:ln w="16193">
            <a:solidFill>
              <a:srgbClr val="8FA4C1"/>
            </a:solidFill>
          </a:ln>
        </p:spPr>
      </p:sp>
      <p:sp>
        <p:nvSpPr>
          <p:cNvPr id="35" name="【此处放文献阅读与高亮联动截图】">
            <a:extLst>
              <a:ext uri="{FF2B5EF4-FFF2-40B4-BE49-F238E27FC236}">
                <a16:creationId xmlns:a16="http://schemas.microsoft.com/office/drawing/2014/main" id="{18BBA2F6-0643-4D68-9298-9F0FD40180CC}"/>
              </a:ext>
            </a:extLst>
          </p:cNvPr>
          <p:cNvSpPr>
            <a:spLocks noGrp="1"/>
          </p:cNvSpPr>
          <p:nvPr/>
        </p:nvSpPr>
        <p:spPr>
          <a:xfrm>
            <a:off x="9686925" y="5853113"/>
            <a:ext cx="7010400" cy="742950"/>
          </a:xfrm>
          <a:prstGeom prst="rect">
            <a:avLst/>
          </a:prstGeom>
          <a:noFill/>
          <a:ln w="0">
            <a:noFill/>
          </a:ln>
        </p:spPr>
        <p:txBody>
          <a:bodyPr wrap="square" lIns="0" tIns="0" rIns="0" bIns="0" anchor="t">
            <a:noAutofit/>
          </a:bodyPr>
          <a:lstStyle>
            <a:defPPr algn="ctr">
              <a:defRPr sz="2250" b="0">
                <a:solidFill>
                  <a:srgbClr val="536681"/>
                </a:solidFill>
                <a:latin typeface="Microsoft YaHei"/>
                <a:ea typeface="Microsoft YaHei"/>
                <a:cs typeface="Microsoft YaHei"/>
              </a:defRPr>
            </a:defPPr>
          </a:lstStyle>
          <a:p>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【此处放文献阅读与高亮联动截图】</a:t>
            </a:r>
          </a:p>
        </p:txBody>
      </p:sp>
      <p:sp>
        <p:nvSpPr>
          <p:cNvPr id="36" name="16:9">
            <a:extLst>
              <a:ext uri="{FF2B5EF4-FFF2-40B4-BE49-F238E27FC236}">
                <a16:creationId xmlns:a16="http://schemas.microsoft.com/office/drawing/2014/main" id="{C9AA21A0-9632-4E95-93AD-53B6DD6E461C}"/>
              </a:ext>
            </a:extLst>
          </p:cNvPr>
          <p:cNvSpPr>
            <a:spLocks noGrp="1"/>
          </p:cNvSpPr>
          <p:nvPr/>
        </p:nvSpPr>
        <p:spPr>
          <a:xfrm>
            <a:off x="15525750" y="4219575"/>
            <a:ext cx="1143000" cy="285750"/>
          </a:xfrm>
          <a:prstGeom prst="rect">
            <a:avLst/>
          </a:prstGeom>
          <a:noFill/>
          <a:ln w="0">
            <a:noFill/>
          </a:ln>
        </p:spPr>
        <p:txBody>
          <a:bodyPr wrap="square" lIns="0" tIns="0" rIns="0" bIns="0" anchor="t">
            <a:noAutofit/>
          </a:bodyPr>
          <a:lstStyle>
            <a:defPPr algn="r">
              <a:defRPr sz="1575" b="0">
                <a:solidFill>
                  <a:srgbClr val="536681"/>
                </a:solidFill>
                <a:latin typeface="Montserrat"/>
                <a:ea typeface="Montserrat"/>
                <a:cs typeface="Montserrat"/>
              </a:defRPr>
            </a:defPPr>
          </a:lstStyle>
          <a:p>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7" name="1  Retrieved passage">
            <a:extLst>
              <a:ext uri="{FF2B5EF4-FFF2-40B4-BE49-F238E27FC236}">
                <a16:creationId xmlns:a16="http://schemas.microsoft.com/office/drawing/2014/main" id="{CF0D299F-CDD6-4AB9-980A-950582FC0A4C}"/>
              </a:ext>
            </a:extLst>
          </p:cNvPr>
          <p:cNvSpPr>
            <a:spLocks noGrp="1"/>
          </p:cNvSpPr>
          <p:nvPr/>
        </p:nvSpPr>
        <p:spPr>
          <a:xfrm>
            <a:off x="1238250" y="8639175"/>
            <a:ext cx="5095875" cy="41910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1  Retrieved passage</a:t>
            </a:r>
          </a:p>
        </p:txBody>
      </p:sp>
      <p:sp>
        <p:nvSpPr>
          <p:cNvPr id="38" name="paper_id, chunk_id and snippet">
            <a:extLst>
              <a:ext uri="{FF2B5EF4-FFF2-40B4-BE49-F238E27FC236}">
                <a16:creationId xmlns:a16="http://schemas.microsoft.com/office/drawing/2014/main" id="{90229FAA-448B-4007-A698-BD860F089711}"/>
              </a:ext>
            </a:extLst>
          </p:cNvPr>
          <p:cNvSpPr>
            <a:spLocks noGrp="1"/>
          </p:cNvSpPr>
          <p:nvPr/>
        </p:nvSpPr>
        <p:spPr>
          <a:xfrm>
            <a:off x="1238250" y="9124950"/>
            <a:ext cx="5095875" cy="571500"/>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paper_id, chunk_id and snippet</a:t>
            </a:r>
          </a:p>
        </p:txBody>
      </p:sp>
      <p:sp>
        <p:nvSpPr>
          <p:cNvPr id="39" name="2  Page location">
            <a:extLst>
              <a:ext uri="{FF2B5EF4-FFF2-40B4-BE49-F238E27FC236}">
                <a16:creationId xmlns:a16="http://schemas.microsoft.com/office/drawing/2014/main" id="{05138EA6-BC7D-4697-893C-BC724600E99B}"/>
              </a:ext>
            </a:extLst>
          </p:cNvPr>
          <p:cNvSpPr>
            <a:spLocks noGrp="1"/>
          </p:cNvSpPr>
          <p:nvPr/>
        </p:nvSpPr>
        <p:spPr>
          <a:xfrm>
            <a:off x="6667500" y="8639175"/>
            <a:ext cx="5095875" cy="41910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2  Page location</a:t>
            </a:r>
          </a:p>
        </p:txBody>
      </p:sp>
      <p:sp>
        <p:nvSpPr>
          <p:cNvPr id="40" name="Normalised text and keyword matching">
            <a:extLst>
              <a:ext uri="{FF2B5EF4-FFF2-40B4-BE49-F238E27FC236}">
                <a16:creationId xmlns:a16="http://schemas.microsoft.com/office/drawing/2014/main" id="{AD3524AB-A7AD-4C21-AC95-B7E555DD0384}"/>
              </a:ext>
            </a:extLst>
          </p:cNvPr>
          <p:cNvSpPr>
            <a:spLocks noGrp="1"/>
          </p:cNvSpPr>
          <p:nvPr/>
        </p:nvSpPr>
        <p:spPr>
          <a:xfrm>
            <a:off x="6667500" y="9124950"/>
            <a:ext cx="5095875" cy="571500"/>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Normalised text and keyword matching</a:t>
            </a:r>
          </a:p>
        </p:txBody>
      </p:sp>
      <p:sp>
        <p:nvSpPr>
          <p:cNvPr id="41" name="3  Reader response">
            <a:extLst>
              <a:ext uri="{FF2B5EF4-FFF2-40B4-BE49-F238E27FC236}">
                <a16:creationId xmlns:a16="http://schemas.microsoft.com/office/drawing/2014/main" id="{5CEDB522-FECF-4269-8C82-0BB20F71C96F}"/>
              </a:ext>
            </a:extLst>
          </p:cNvPr>
          <p:cNvSpPr>
            <a:spLocks noGrp="1"/>
          </p:cNvSpPr>
          <p:nvPr/>
        </p:nvSpPr>
        <p:spPr>
          <a:xfrm>
            <a:off x="12096750" y="8639175"/>
            <a:ext cx="5095875" cy="41910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3  Reader response</a:t>
            </a:r>
          </a:p>
        </p:txBody>
      </p:sp>
      <p:sp>
        <p:nvSpPr>
          <p:cNvPr id="42" name="Open the PDF page and highlight terms">
            <a:extLst>
              <a:ext uri="{FF2B5EF4-FFF2-40B4-BE49-F238E27FC236}">
                <a16:creationId xmlns:a16="http://schemas.microsoft.com/office/drawing/2014/main" id="{E97E6B30-8DF7-4EFD-8F90-B4C83AE5F849}"/>
              </a:ext>
            </a:extLst>
          </p:cNvPr>
          <p:cNvSpPr>
            <a:spLocks noGrp="1"/>
          </p:cNvSpPr>
          <p:nvPr/>
        </p:nvSpPr>
        <p:spPr>
          <a:xfrm>
            <a:off x="12096750" y="9124950"/>
            <a:ext cx="5095875" cy="571500"/>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Open the PDF page and highlight terms</a:t>
            </a:r>
          </a:p>
        </p:txBody>
      </p:sp>
      <p:pic>
        <p:nvPicPr>
          <p:cNvPr id="5" name="图片 4">
            <a:extLst>
              <a:ext uri="{FF2B5EF4-FFF2-40B4-BE49-F238E27FC236}">
                <a16:creationId xmlns:a16="http://schemas.microsoft.com/office/drawing/2014/main" id="{B6830F8A-F312-C1F6-22A7-E5A36F5D5D1C}"/>
              </a:ext>
            </a:extLst>
          </p:cNvPr>
          <p:cNvPicPr>
            <a:picLocks noChangeAspect="1"/>
          </p:cNvPicPr>
          <p:nvPr/>
        </p:nvPicPr>
        <p:blipFill rotWithShape="1">
          <a:blip r:embed="rId3"/>
          <a:srcRect r="22283"/>
          <a:stretch/>
        </p:blipFill>
        <p:spPr>
          <a:xfrm>
            <a:off x="9434156" y="3714750"/>
            <a:ext cx="7472720" cy="4667250"/>
          </a:xfrm>
          <a:prstGeom prst="roundRect">
            <a:avLst>
              <a:gd name="adj" fmla="val 6725"/>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1" name="图片 10">
            <a:extLst>
              <a:ext uri="{FF2B5EF4-FFF2-40B4-BE49-F238E27FC236}">
                <a16:creationId xmlns:a16="http://schemas.microsoft.com/office/drawing/2014/main" id="{629F8000-A0A1-72E4-39FB-EDFCA143D77D}"/>
              </a:ext>
            </a:extLst>
          </p:cNvPr>
          <p:cNvPicPr>
            <a:picLocks noChangeAspect="1"/>
          </p:cNvPicPr>
          <p:nvPr/>
        </p:nvPicPr>
        <p:blipFill rotWithShape="1">
          <a:blip r:embed="rId4"/>
          <a:srcRect l="18454" r="2032"/>
          <a:stretch/>
        </p:blipFill>
        <p:spPr>
          <a:xfrm>
            <a:off x="1238248" y="3714750"/>
            <a:ext cx="7615597" cy="4630230"/>
          </a:xfrm>
          <a:prstGeom prst="roundRect">
            <a:avLst>
              <a:gd name="adj" fmla="val 6225"/>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130362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00EBB5D1-BA68-47DE-BFF8-8E2FD2785477}"/>
              </a:ext>
            </a:extLst>
          </p:cNvPr>
          <p:cNvSpPr>
            <a:spLocks noGrp="1"/>
          </p:cNvSpPr>
          <p:nvPr/>
        </p:nvSpPr>
        <p:spPr>
          <a:xfrm>
            <a:off x="4410075" y="514350"/>
            <a:ext cx="9467850" cy="819150"/>
          </a:xfrm>
          <a:custGeom>
            <a:avLst/>
            <a:gdLst/>
            <a:ahLst/>
            <a:cxnLst/>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id="4" name="TextBox 4">
            <a:extLst>
              <a:ext uri="{FF2B5EF4-FFF2-40B4-BE49-F238E27FC236}">
                <a16:creationId xmlns:a16="http://schemas.microsoft.com/office/drawing/2014/main" id="{3BE45BEB-BEFB-48A4-BDEB-CC342A0FEDA6}"/>
              </a:ext>
            </a:extLst>
          </p:cNvPr>
          <p:cNvSpPr>
            <a:spLocks noGrp="1"/>
          </p:cNvSpPr>
          <p:nvPr/>
        </p:nvSpPr>
        <p:spPr>
          <a:xfrm>
            <a:off x="4409081" y="370811"/>
            <a:ext cx="9469839" cy="959252"/>
          </a:xfrm>
          <a:prstGeom prst="rect">
            <a:avLst/>
          </a:prstGeom>
        </p:spPr>
        <p:txBody>
          <a:bodyPr lIns="50800" tIns="50800" rIns="50800" bIns="50800" anchor="ctr"/>
          <a:lstStyle/>
          <a:p>
            <a:pPr algn="ctr">
              <a:lnSpc>
                <a:spcPts val="2871"/>
              </a:lnSpc>
              <a:buNone/>
            </a:pPr>
            <a:endParaRPr/>
          </a:p>
        </p:txBody>
      </p:sp>
      <p:sp>
        <p:nvSpPr>
          <p:cNvPr id="6" name="Freeform 6">
            <a:extLst>
              <a:ext uri="{FF2B5EF4-FFF2-40B4-BE49-F238E27FC236}">
                <a16:creationId xmlns:a16="http://schemas.microsoft.com/office/drawing/2014/main" id="{4BA2262B-652D-4E9D-9011-CC8F9ADEFEED}"/>
              </a:ext>
            </a:extLst>
          </p:cNvPr>
          <p:cNvSpPr>
            <a:spLocks noGrp="1"/>
          </p:cNvSpPr>
          <p:nvPr/>
        </p:nvSpPr>
        <p:spPr>
          <a:xfrm>
            <a:off x="9458325" y="628650"/>
            <a:ext cx="1666875" cy="590550"/>
          </a:xfrm>
          <a:custGeom>
            <a:avLst/>
            <a:gdLst/>
            <a:ahLst/>
            <a:cxnLst/>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id="7" name="TextBox 7">
            <a:extLst>
              <a:ext uri="{FF2B5EF4-FFF2-40B4-BE49-F238E27FC236}">
                <a16:creationId xmlns:a16="http://schemas.microsoft.com/office/drawing/2014/main" id="{84EA0E48-D85F-42AC-AF4E-3D56CDB188B9}"/>
              </a:ext>
            </a:extLst>
          </p:cNvPr>
          <p:cNvSpPr>
            <a:spLocks noGrp="1"/>
          </p:cNvSpPr>
          <p:nvPr/>
        </p:nvSpPr>
        <p:spPr>
          <a:xfrm>
            <a:off x="9460786" y="483641"/>
            <a:ext cx="1665830" cy="733592"/>
          </a:xfrm>
          <a:prstGeom prst="rect">
            <a:avLst/>
          </a:prstGeom>
        </p:spPr>
        <p:txBody>
          <a:bodyPr lIns="50800" tIns="50800" rIns="50800" bIns="50800" anchor="ctr"/>
          <a:lstStyle/>
          <a:p>
            <a:pPr algn="ctr">
              <a:lnSpc>
                <a:spcPts val="2871"/>
              </a:lnSpc>
              <a:buNone/>
            </a:pPr>
            <a:endParaRPr/>
          </a:p>
        </p:txBody>
      </p:sp>
      <p:sp>
        <p:nvSpPr>
          <p:cNvPr id="9" name="TextBox 9">
            <a:extLst>
              <a:ext uri="{FF2B5EF4-FFF2-40B4-BE49-F238E27FC236}">
                <a16:creationId xmlns:a16="http://schemas.microsoft.com/office/drawing/2014/main" id="{4DFA61FF-071D-48A7-81D5-04E81BE0130C}"/>
              </a:ext>
            </a:extLst>
          </p:cNvPr>
          <p:cNvSpPr>
            <a:spLocks noGrp="1"/>
          </p:cNvSpPr>
          <p:nvPr/>
        </p:nvSpPr>
        <p:spPr>
          <a:xfrm>
            <a:off x="4438650" y="733425"/>
            <a:ext cx="16668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a:ext uri="{FF2B5EF4-FFF2-40B4-BE49-F238E27FC236}">
                <a16:creationId xmlns:a16="http://schemas.microsoft.com/office/drawing/2014/main" id="{60EF4159-831A-4F7F-B20D-8BE9A7360C87}"/>
              </a:ext>
            </a:extLst>
          </p:cNvPr>
          <p:cNvSpPr>
            <a:spLocks noGrp="1"/>
          </p:cNvSpPr>
          <p:nvPr/>
        </p:nvSpPr>
        <p:spPr>
          <a:xfrm>
            <a:off x="6829425" y="733425"/>
            <a:ext cx="1905000"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11" name="TextBox 11">
            <a:extLst>
              <a:ext uri="{FF2B5EF4-FFF2-40B4-BE49-F238E27FC236}">
                <a16:creationId xmlns:a16="http://schemas.microsoft.com/office/drawing/2014/main" id="{D1563E6A-E1D7-4A37-A1F6-AAD90F9B9F8E}"/>
              </a:ext>
            </a:extLst>
          </p:cNvPr>
          <p:cNvSpPr>
            <a:spLocks noGrp="1"/>
          </p:cNvSpPr>
          <p:nvPr/>
        </p:nvSpPr>
        <p:spPr>
          <a:xfrm>
            <a:off x="9496425" y="733425"/>
            <a:ext cx="1590675" cy="329057"/>
          </a:xfrm>
          <a:prstGeom prst="rect">
            <a:avLst/>
          </a:prstGeom>
        </p:spPr>
        <p:txBody>
          <a:bodyPr lIns="0" tIns="0" rIns="0" bIns="0" anchor="t">
            <a:spAutoFit/>
          </a:bodyPr>
          <a:lstStyle>
            <a:defPPr algn="ctr">
              <a:defRPr sz="1800" b="1">
                <a:solidFill>
                  <a:srgbClr val="FFFFFF"/>
                </a:solidFill>
                <a:latin typeface="Montserrat"/>
                <a:ea typeface="Montserrat"/>
                <a:cs typeface="Montserrat"/>
              </a:defRPr>
            </a:defPPr>
          </a:lstStyle>
          <a:p>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12" name="TextBox 12">
            <a:extLst>
              <a:ext uri="{FF2B5EF4-FFF2-40B4-BE49-F238E27FC236}">
                <a16:creationId xmlns:a16="http://schemas.microsoft.com/office/drawing/2014/main" id="{CE8FF437-9BCF-4CBD-86E8-60360A4031B6}"/>
              </a:ext>
            </a:extLst>
          </p:cNvPr>
          <p:cNvSpPr>
            <a:spLocks noGrp="1"/>
          </p:cNvSpPr>
          <p:nvPr/>
        </p:nvSpPr>
        <p:spPr>
          <a:xfrm>
            <a:off x="11591925" y="733425"/>
            <a:ext cx="2228850"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13" name="TextBox 13">
            <a:extLst>
              <a:ext uri="{FF2B5EF4-FFF2-40B4-BE49-F238E27FC236}">
                <a16:creationId xmlns:a16="http://schemas.microsoft.com/office/drawing/2014/main" id="{5A5EDE88-64C1-4D0F-B7A6-EC2B8400AE8F}"/>
              </a:ext>
            </a:extLst>
          </p:cNvPr>
          <p:cNvSpPr>
            <a:spLocks noGrp="1"/>
          </p:cNvSpPr>
          <p:nvPr/>
        </p:nvSpPr>
        <p:spPr>
          <a:xfrm>
            <a:off x="800100" y="628650"/>
            <a:ext cx="2381250" cy="567690"/>
          </a:xfrm>
          <a:prstGeom prst="rect">
            <a:avLst/>
          </a:prstGeom>
        </p:spPr>
        <p:txBody>
          <a:bodyPr lIns="0" tIns="0" rIns="0" bIns="0" anchor="t">
            <a:spAutoFit/>
          </a:bodyPr>
          <a:lstStyle>
            <a:defPPr>
              <a:defRPr sz="1800" b="1">
                <a:solidFill>
                  <a:srgbClr val="101B40"/>
                </a:solidFill>
                <a:latin typeface="Montserrat"/>
                <a:ea typeface="Montserrat"/>
                <a:cs typeface="Montserrat"/>
              </a:defRPr>
            </a:defPPr>
          </a:lstStyle>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08">
            <a:extLst>
              <a:ext uri="{FF2B5EF4-FFF2-40B4-BE49-F238E27FC236}">
                <a16:creationId xmlns:a16="http://schemas.microsoft.com/office/drawing/2014/main" id="{0728AA14-BDD9-4206-AB7E-380FA547C687}"/>
              </a:ext>
            </a:extLst>
          </p:cNvPr>
          <p:cNvSpPr>
            <a:spLocks noGrp="1"/>
          </p:cNvSpPr>
          <p:nvPr/>
        </p:nvSpPr>
        <p:spPr>
          <a:xfrm>
            <a:off x="16735425" y="733425"/>
            <a:ext cx="666750" cy="381000"/>
          </a:xfrm>
          <a:prstGeom prst="rect">
            <a:avLst/>
          </a:prstGeom>
          <a:noFill/>
          <a:ln w="0">
            <a:noFill/>
          </a:ln>
        </p:spPr>
        <p:txBody>
          <a:bodyPr wrap="square" lIns="0" tIns="0" rIns="0" bIns="0" anchor="t">
            <a:noAutofit/>
          </a:bodyPr>
          <a:lstStyle>
            <a:defPPr algn="r">
              <a:defRPr sz="1875" b="1">
                <a:solidFill>
                  <a:srgbClr val="101B40"/>
                </a:solidFill>
                <a:latin typeface="Montserrat Bold"/>
                <a:ea typeface="Montserrat Bold"/>
                <a:cs typeface="Montserrat Bold"/>
              </a:defRPr>
            </a:defPPr>
          </a:lstStyle>
          <a:p>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07</a:t>
            </a:r>
          </a:p>
        </p:txBody>
      </p:sp>
      <p:sp>
        <p:nvSpPr>
          <p:cNvPr id="15" name="PDF-GalaxAI">
            <a:extLst>
              <a:ext uri="{FF2B5EF4-FFF2-40B4-BE49-F238E27FC236}">
                <a16:creationId xmlns:a16="http://schemas.microsoft.com/office/drawing/2014/main" id="{9D01298A-BF2B-48DD-9414-882660E3F5ED}"/>
              </a:ext>
            </a:extLst>
          </p:cNvPr>
          <p:cNvSpPr>
            <a:spLocks noGrp="1"/>
          </p:cNvSpPr>
          <p:nvPr/>
        </p:nvSpPr>
        <p:spPr>
          <a:xfrm>
            <a:off x="1238250" y="9620250"/>
            <a:ext cx="4286250" cy="333375"/>
          </a:xfrm>
          <a:prstGeom prst="rect">
            <a:avLst/>
          </a:prstGeom>
          <a:noFill/>
          <a:ln w="0">
            <a:noFill/>
          </a:ln>
        </p:spPr>
        <p:txBody>
          <a:bodyPr wrap="square" lIns="0" tIns="0" rIns="0" bIns="0" anchor="t">
            <a:noAutofit/>
          </a:bodyPr>
          <a:lstStyle>
            <a:defPPr algn="l">
              <a:defRPr sz="1650" b="0">
                <a:solidFill>
                  <a:srgbClr val="536681"/>
                </a:solidFill>
                <a:latin typeface="Montserrat"/>
                <a:ea typeface="Montserrat"/>
                <a:cs typeface="Montserrat"/>
              </a:defRPr>
            </a:defPPr>
          </a:lstStyle>
          <a:p>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08 / 12">
            <a:extLst>
              <a:ext uri="{FF2B5EF4-FFF2-40B4-BE49-F238E27FC236}">
                <a16:creationId xmlns:a16="http://schemas.microsoft.com/office/drawing/2014/main" id="{CA9CB935-052F-4E2D-82A9-914A1760FC95}"/>
              </a:ext>
            </a:extLst>
          </p:cNvPr>
          <p:cNvSpPr>
            <a:spLocks noGrp="1"/>
          </p:cNvSpPr>
          <p:nvPr/>
        </p:nvSpPr>
        <p:spPr>
          <a:xfrm>
            <a:off x="15430500" y="9620250"/>
            <a:ext cx="1524000" cy="333375"/>
          </a:xfrm>
          <a:prstGeom prst="rect">
            <a:avLst/>
          </a:prstGeom>
          <a:noFill/>
          <a:ln w="0">
            <a:noFill/>
          </a:ln>
        </p:spPr>
        <p:txBody>
          <a:bodyPr wrap="square" lIns="0" tIns="0" rIns="0" bIns="0" anchor="t">
            <a:noAutofit/>
          </a:bodyPr>
          <a:lstStyle>
            <a:defPPr algn="r">
              <a:defRPr sz="1650" b="0">
                <a:solidFill>
                  <a:srgbClr val="536681"/>
                </a:solidFill>
                <a:latin typeface="Montserrat"/>
                <a:ea typeface="Montserrat"/>
                <a:cs typeface="Montserrat"/>
              </a:defRPr>
            </a:defPPr>
          </a:lstStyle>
          <a:p>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07 / 09</a:t>
            </a:r>
          </a:p>
        </p:txBody>
      </p:sp>
      <p:sp>
        <p:nvSpPr>
          <p:cNvPr id="17" name="Full-Stack System Architecture">
            <a:extLst>
              <a:ext uri="{FF2B5EF4-FFF2-40B4-BE49-F238E27FC236}">
                <a16:creationId xmlns:a16="http://schemas.microsoft.com/office/drawing/2014/main" id="{C7AA5BB8-7626-4EC6-A846-BD73398F9B41}"/>
              </a:ext>
            </a:extLst>
          </p:cNvPr>
          <p:cNvSpPr>
            <a:spLocks noGrp="1"/>
          </p:cNvSpPr>
          <p:nvPr/>
        </p:nvSpPr>
        <p:spPr>
          <a:xfrm>
            <a:off x="1238250" y="1952625"/>
            <a:ext cx="15668625" cy="838200"/>
          </a:xfrm>
          <a:prstGeom prst="rect">
            <a:avLst/>
          </a:prstGeom>
          <a:noFill/>
          <a:ln w="0">
            <a:noFill/>
          </a:ln>
        </p:spPr>
        <p:txBody>
          <a:bodyPr wrap="square" lIns="0" tIns="0" rIns="0" bIns="0" anchor="t">
            <a:noAutofit/>
          </a:bodyPr>
          <a:lstStyle>
            <a:defPPr algn="l">
              <a:defRPr sz="4425" b="1">
                <a:solidFill>
                  <a:srgbClr val="101B40"/>
                </a:solidFill>
                <a:latin typeface="Montserrat Bold"/>
                <a:ea typeface="Montserrat Bold"/>
                <a:cs typeface="Montserrat Bold"/>
              </a:defRPr>
            </a:defPPr>
          </a:lstStyle>
          <a:p>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Full-Stack System Architecture</a:t>
            </a:r>
          </a:p>
        </p:txBody>
      </p:sp>
      <p:sp>
        <p:nvSpPr>
          <p:cNvPr id="18" name="A shared paper identity connects semantic processing, WebGL exploratio">
            <a:extLst>
              <a:ext uri="{FF2B5EF4-FFF2-40B4-BE49-F238E27FC236}">
                <a16:creationId xmlns:a16="http://schemas.microsoft.com/office/drawing/2014/main" id="{C3F24517-4257-4A83-9579-13D4D632515E}"/>
              </a:ext>
            </a:extLst>
          </p:cNvPr>
          <p:cNvSpPr>
            <a:spLocks noGrp="1"/>
          </p:cNvSpPr>
          <p:nvPr/>
        </p:nvSpPr>
        <p:spPr>
          <a:xfrm>
            <a:off x="1257300" y="2905125"/>
            <a:ext cx="15382875" cy="809625"/>
          </a:xfrm>
          <a:prstGeom prst="rect">
            <a:avLst/>
          </a:prstGeom>
          <a:noFill/>
          <a:ln w="0">
            <a:noFill/>
          </a:ln>
        </p:spPr>
        <p:txBody>
          <a:bodyPr wrap="square" lIns="0" tIns="0" rIns="0" bIns="0" anchor="t">
            <a:noAutofit/>
          </a:bodyPr>
          <a:lstStyle>
            <a:defPPr algn="l">
              <a:defRPr sz="2250" b="0">
                <a:solidFill>
                  <a:srgbClr val="536681"/>
                </a:solidFill>
                <a:latin typeface="Montserrat"/>
                <a:ea typeface="Montserrat"/>
                <a:cs typeface="Montserrat"/>
              </a:defRPr>
            </a:defPPr>
          </a:lstStyle>
          <a:p>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shared paper identity connects semantic processing, WebGL exploration and evidence-based reading.</a:t>
            </a:r>
          </a:p>
        </p:txBody>
      </p:sp>
      <p:sp>
        <p:nvSpPr>
          <p:cNvPr id="19" name="矩形: 圆角 18">
            <a:extLst>
              <a:ext uri="{FF2B5EF4-FFF2-40B4-BE49-F238E27FC236}">
                <a16:creationId xmlns:a16="http://schemas.microsoft.com/office/drawing/2014/main" id="{C087AC62-8009-4A7F-881F-14DD7BB9D264}"/>
              </a:ext>
            </a:extLst>
          </p:cNvPr>
          <p:cNvSpPr>
            <a:spLocks noGrp="1"/>
          </p:cNvSpPr>
          <p:nvPr/>
        </p:nvSpPr>
        <p:spPr>
          <a:xfrm>
            <a:off x="1238250" y="4048125"/>
            <a:ext cx="4667250" cy="1857375"/>
          </a:xfrm>
          <a:prstGeom prst="roundRect">
            <a:avLst>
              <a:gd name="adj" fmla="val 9231"/>
            </a:avLst>
          </a:prstGeom>
          <a:solidFill>
            <a:srgbClr val="FFFFFF"/>
          </a:solidFill>
          <a:ln w="16193">
            <a:solidFill>
              <a:srgbClr val="8FA4C1"/>
            </a:solidFill>
          </a:ln>
        </p:spPr>
      </p:sp>
      <p:sp>
        <p:nvSpPr>
          <p:cNvPr id="20" name="React web application">
            <a:extLst>
              <a:ext uri="{FF2B5EF4-FFF2-40B4-BE49-F238E27FC236}">
                <a16:creationId xmlns:a16="http://schemas.microsoft.com/office/drawing/2014/main" id="{3D1AE0AF-C17E-4BED-A9B5-9A82690EE897}"/>
              </a:ext>
            </a:extLst>
          </p:cNvPr>
          <p:cNvSpPr>
            <a:spLocks noGrp="1"/>
          </p:cNvSpPr>
          <p:nvPr/>
        </p:nvSpPr>
        <p:spPr>
          <a:xfrm>
            <a:off x="1447800" y="4238625"/>
            <a:ext cx="4248150" cy="47625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React web application</a:t>
            </a:r>
          </a:p>
        </p:txBody>
      </p:sp>
      <p:sp>
        <p:nvSpPr>
          <p:cNvPr id="21" name="Vite + TypeScript&#10;Shared paper and interaction state">
            <a:extLst>
              <a:ext uri="{FF2B5EF4-FFF2-40B4-BE49-F238E27FC236}">
                <a16:creationId xmlns:a16="http://schemas.microsoft.com/office/drawing/2014/main" id="{F7C78A0E-CC49-48E2-A88D-BBA7764785BD}"/>
              </a:ext>
            </a:extLst>
          </p:cNvPr>
          <p:cNvSpPr>
            <a:spLocks noGrp="1"/>
          </p:cNvSpPr>
          <p:nvPr/>
        </p:nvSpPr>
        <p:spPr>
          <a:xfrm>
            <a:off x="1447800" y="4781550"/>
            <a:ext cx="4248150" cy="962025"/>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Vite + TypeScript</a:t>
            </a:r>
          </a:p>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Shared paper and interaction state</a:t>
            </a:r>
          </a:p>
        </p:txBody>
      </p:sp>
      <p:sp>
        <p:nvSpPr>
          <p:cNvPr id="22" name="矩形: 圆角 21">
            <a:extLst>
              <a:ext uri="{FF2B5EF4-FFF2-40B4-BE49-F238E27FC236}">
                <a16:creationId xmlns:a16="http://schemas.microsoft.com/office/drawing/2014/main" id="{1EA9CC8D-3EBE-4B30-84B2-C5E7232E026A}"/>
              </a:ext>
            </a:extLst>
          </p:cNvPr>
          <p:cNvSpPr>
            <a:spLocks noGrp="1"/>
          </p:cNvSpPr>
          <p:nvPr/>
        </p:nvSpPr>
        <p:spPr>
          <a:xfrm>
            <a:off x="7000875" y="4048125"/>
            <a:ext cx="5000625" cy="1857375"/>
          </a:xfrm>
          <a:prstGeom prst="roundRect">
            <a:avLst>
              <a:gd name="adj" fmla="val 9231"/>
            </a:avLst>
          </a:prstGeom>
          <a:solidFill>
            <a:srgbClr val="FFFFFF"/>
          </a:solidFill>
          <a:ln w="16193">
            <a:solidFill>
              <a:srgbClr val="8FA4C1"/>
            </a:solidFill>
          </a:ln>
        </p:spPr>
      </p:sp>
      <p:sp>
        <p:nvSpPr>
          <p:cNvPr id="23" name="FastAPI service">
            <a:extLst>
              <a:ext uri="{FF2B5EF4-FFF2-40B4-BE49-F238E27FC236}">
                <a16:creationId xmlns:a16="http://schemas.microsoft.com/office/drawing/2014/main" id="{308F2386-41FB-4001-8BA6-AA43B4D3AF2A}"/>
              </a:ext>
            </a:extLst>
          </p:cNvPr>
          <p:cNvSpPr>
            <a:spLocks noGrp="1"/>
          </p:cNvSpPr>
          <p:nvPr/>
        </p:nvSpPr>
        <p:spPr>
          <a:xfrm>
            <a:off x="7210425" y="4238625"/>
            <a:ext cx="4581525" cy="47625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FastAPI service</a:t>
            </a:r>
          </a:p>
        </p:txBody>
      </p:sp>
      <p:sp>
        <p:nvSpPr>
          <p:cNvPr id="24" name="Upload, graph, query and file APIs&#10;Provider resolution and error state">
            <a:extLst>
              <a:ext uri="{FF2B5EF4-FFF2-40B4-BE49-F238E27FC236}">
                <a16:creationId xmlns:a16="http://schemas.microsoft.com/office/drawing/2014/main" id="{E12DA4F2-FDCE-4701-B845-B8BFCBEDA3D1}"/>
              </a:ext>
            </a:extLst>
          </p:cNvPr>
          <p:cNvSpPr>
            <a:spLocks noGrp="1"/>
          </p:cNvSpPr>
          <p:nvPr/>
        </p:nvSpPr>
        <p:spPr>
          <a:xfrm>
            <a:off x="7210425" y="4781550"/>
            <a:ext cx="4581525" cy="962025"/>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Upload, graph, query and file APIs</a:t>
            </a:r>
          </a:p>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Provider resolution and error states</a:t>
            </a:r>
          </a:p>
        </p:txBody>
      </p:sp>
      <p:sp>
        <p:nvSpPr>
          <p:cNvPr id="25" name="矩形: 圆角 24">
            <a:extLst>
              <a:ext uri="{FF2B5EF4-FFF2-40B4-BE49-F238E27FC236}">
                <a16:creationId xmlns:a16="http://schemas.microsoft.com/office/drawing/2014/main" id="{5A86C9EF-1AD7-4538-B94D-4A7FEB25BAE6}"/>
              </a:ext>
            </a:extLst>
          </p:cNvPr>
          <p:cNvSpPr>
            <a:spLocks noGrp="1"/>
          </p:cNvSpPr>
          <p:nvPr/>
        </p:nvSpPr>
        <p:spPr>
          <a:xfrm>
            <a:off x="13096875" y="4048125"/>
            <a:ext cx="3810000" cy="1857375"/>
          </a:xfrm>
          <a:prstGeom prst="roundRect">
            <a:avLst>
              <a:gd name="adj" fmla="val 9231"/>
            </a:avLst>
          </a:prstGeom>
          <a:solidFill>
            <a:srgbClr val="FFFFFF"/>
          </a:solidFill>
          <a:ln w="16193">
            <a:solidFill>
              <a:srgbClr val="8FA4C1"/>
            </a:solidFill>
          </a:ln>
        </p:spPr>
      </p:sp>
      <p:sp>
        <p:nvSpPr>
          <p:cNvPr id="26" name="Inference providers">
            <a:extLst>
              <a:ext uri="{FF2B5EF4-FFF2-40B4-BE49-F238E27FC236}">
                <a16:creationId xmlns:a16="http://schemas.microsoft.com/office/drawing/2014/main" id="{604766E5-9E22-4F57-855B-47741AE7FB98}"/>
              </a:ext>
            </a:extLst>
          </p:cNvPr>
          <p:cNvSpPr>
            <a:spLocks noGrp="1"/>
          </p:cNvSpPr>
          <p:nvPr/>
        </p:nvSpPr>
        <p:spPr>
          <a:xfrm>
            <a:off x="13306425" y="4238625"/>
            <a:ext cx="3390900" cy="47625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Inference providers</a:t>
            </a:r>
          </a:p>
        </p:txBody>
      </p:sp>
      <p:sp>
        <p:nvSpPr>
          <p:cNvPr id="27" name="Local Ollama&#10;Gemini / OpenAI-compatible APIs">
            <a:extLst>
              <a:ext uri="{FF2B5EF4-FFF2-40B4-BE49-F238E27FC236}">
                <a16:creationId xmlns:a16="http://schemas.microsoft.com/office/drawing/2014/main" id="{7D813D14-A417-4E71-8417-B8746C3486F1}"/>
              </a:ext>
            </a:extLst>
          </p:cNvPr>
          <p:cNvSpPr>
            <a:spLocks noGrp="1"/>
          </p:cNvSpPr>
          <p:nvPr/>
        </p:nvSpPr>
        <p:spPr>
          <a:xfrm>
            <a:off x="13306425" y="4781550"/>
            <a:ext cx="3390900" cy="962025"/>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Local Ollama</a:t>
            </a:r>
          </a:p>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Gemini / OpenAI-compatible APIs</a:t>
            </a:r>
          </a:p>
        </p:txBody>
      </p:sp>
      <p:cxnSp>
        <p:nvCxnSpPr>
          <p:cNvPr id="28" name="直接箭头连接符 27">
            <a:extLst>
              <a:ext uri="{FF2B5EF4-FFF2-40B4-BE49-F238E27FC236}">
                <a16:creationId xmlns:a16="http://schemas.microsoft.com/office/drawing/2014/main" id="{EB86B12D-EF7E-4BC5-A64C-378447CF628F}"/>
              </a:ext>
            </a:extLst>
          </p:cNvPr>
          <p:cNvCxnSpPr>
            <a:stCxn id="19" idx="3"/>
            <a:endCxn id="22" idx="1"/>
          </p:cNvCxnSpPr>
          <p:nvPr/>
        </p:nvCxnSpPr>
        <p:spPr>
          <a:xfrm>
            <a:off x="5905500" y="4976813"/>
            <a:ext cx="1095375" cy="0"/>
          </a:xfrm>
          <a:prstGeom prst="straightConnector1">
            <a:avLst/>
          </a:prstGeom>
          <a:ln w="28575">
            <a:solidFill>
              <a:srgbClr val="8FA4C1"/>
            </a:solidFill>
            <a:tailEnd type="triangle" w="med" len="med"/>
          </a:ln>
        </p:spPr>
      </p:cxnSp>
      <p:cxnSp>
        <p:nvCxnSpPr>
          <p:cNvPr id="29" name="直接箭头连接符 28">
            <a:extLst>
              <a:ext uri="{FF2B5EF4-FFF2-40B4-BE49-F238E27FC236}">
                <a16:creationId xmlns:a16="http://schemas.microsoft.com/office/drawing/2014/main" id="{5E861A8C-F276-4923-94C7-2E9CFFE834A7}"/>
              </a:ext>
            </a:extLst>
          </p:cNvPr>
          <p:cNvCxnSpPr>
            <a:stCxn id="22" idx="3"/>
            <a:endCxn id="25" idx="1"/>
          </p:cNvCxnSpPr>
          <p:nvPr/>
        </p:nvCxnSpPr>
        <p:spPr>
          <a:xfrm>
            <a:off x="12001500" y="4976813"/>
            <a:ext cx="1095375" cy="0"/>
          </a:xfrm>
          <a:prstGeom prst="straightConnector1">
            <a:avLst/>
          </a:prstGeom>
          <a:ln w="28575">
            <a:solidFill>
              <a:srgbClr val="8FA4C1"/>
            </a:solidFill>
            <a:tailEnd type="triangle" w="med" len="med"/>
          </a:ln>
        </p:spPr>
      </p:cxnSp>
      <p:sp>
        <p:nvSpPr>
          <p:cNvPr id="30" name="矩形: 圆角 29">
            <a:extLst>
              <a:ext uri="{FF2B5EF4-FFF2-40B4-BE49-F238E27FC236}">
                <a16:creationId xmlns:a16="http://schemas.microsoft.com/office/drawing/2014/main" id="{0A7B49F7-2DE6-46F4-A0B7-F14262BD32B7}"/>
              </a:ext>
            </a:extLst>
          </p:cNvPr>
          <p:cNvSpPr>
            <a:spLocks noGrp="1"/>
          </p:cNvSpPr>
          <p:nvPr/>
        </p:nvSpPr>
        <p:spPr>
          <a:xfrm>
            <a:off x="1238250" y="7096125"/>
            <a:ext cx="4667250" cy="1666875"/>
          </a:xfrm>
          <a:prstGeom prst="roundRect">
            <a:avLst>
              <a:gd name="adj" fmla="val 10286"/>
            </a:avLst>
          </a:prstGeom>
          <a:solidFill>
            <a:srgbClr val="FFFFFF"/>
          </a:solidFill>
          <a:ln w="16193">
            <a:solidFill>
              <a:srgbClr val="8FA4C1"/>
            </a:solidFill>
          </a:ln>
        </p:spPr>
      </p:sp>
      <p:sp>
        <p:nvSpPr>
          <p:cNvPr id="31" name="Interaction modules">
            <a:extLst>
              <a:ext uri="{FF2B5EF4-FFF2-40B4-BE49-F238E27FC236}">
                <a16:creationId xmlns:a16="http://schemas.microsoft.com/office/drawing/2014/main" id="{6047C89B-0B38-4B8E-8AFC-6DA863D186C8}"/>
              </a:ext>
            </a:extLst>
          </p:cNvPr>
          <p:cNvSpPr>
            <a:spLocks noGrp="1"/>
          </p:cNvSpPr>
          <p:nvPr/>
        </p:nvSpPr>
        <p:spPr>
          <a:xfrm>
            <a:off x="1447800" y="7286625"/>
            <a:ext cx="4248150" cy="47625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Interaction modules</a:t>
            </a:r>
          </a:p>
        </p:txBody>
      </p:sp>
      <p:sp>
        <p:nvSpPr>
          <p:cNvPr id="32" name="Three.js / GLSL galaxy&#10;PDF.js reader and chat">
            <a:extLst>
              <a:ext uri="{FF2B5EF4-FFF2-40B4-BE49-F238E27FC236}">
                <a16:creationId xmlns:a16="http://schemas.microsoft.com/office/drawing/2014/main" id="{DDA02AC3-8376-4578-BE05-744281A15584}"/>
              </a:ext>
            </a:extLst>
          </p:cNvPr>
          <p:cNvSpPr>
            <a:spLocks noGrp="1"/>
          </p:cNvSpPr>
          <p:nvPr/>
        </p:nvSpPr>
        <p:spPr>
          <a:xfrm>
            <a:off x="1447800" y="7829550"/>
            <a:ext cx="4248150" cy="771525"/>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Three.js / GLSL galaxy</a:t>
            </a:r>
          </a:p>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PDF.js reader and chat</a:t>
            </a:r>
          </a:p>
        </p:txBody>
      </p:sp>
      <p:sp>
        <p:nvSpPr>
          <p:cNvPr id="33" name="矩形: 圆角 32">
            <a:extLst>
              <a:ext uri="{FF2B5EF4-FFF2-40B4-BE49-F238E27FC236}">
                <a16:creationId xmlns:a16="http://schemas.microsoft.com/office/drawing/2014/main" id="{F32B54B6-332E-41F5-8B0D-6D0D702CB6BB}"/>
              </a:ext>
            </a:extLst>
          </p:cNvPr>
          <p:cNvSpPr>
            <a:spLocks noGrp="1"/>
          </p:cNvSpPr>
          <p:nvPr/>
        </p:nvSpPr>
        <p:spPr>
          <a:xfrm>
            <a:off x="7000875" y="7096125"/>
            <a:ext cx="5000625" cy="1666875"/>
          </a:xfrm>
          <a:prstGeom prst="roundRect">
            <a:avLst>
              <a:gd name="adj" fmla="val 10286"/>
            </a:avLst>
          </a:prstGeom>
          <a:solidFill>
            <a:srgbClr val="FFFFFF"/>
          </a:solidFill>
          <a:ln w="16193">
            <a:solidFill>
              <a:srgbClr val="8FA4C1"/>
            </a:solidFill>
          </a:ln>
        </p:spPr>
      </p:sp>
      <p:sp>
        <p:nvSpPr>
          <p:cNvPr id="34" name="Processing modules">
            <a:extLst>
              <a:ext uri="{FF2B5EF4-FFF2-40B4-BE49-F238E27FC236}">
                <a16:creationId xmlns:a16="http://schemas.microsoft.com/office/drawing/2014/main" id="{86C2039B-79DE-4088-B97D-749115D5AAE0}"/>
              </a:ext>
            </a:extLst>
          </p:cNvPr>
          <p:cNvSpPr>
            <a:spLocks noGrp="1"/>
          </p:cNvSpPr>
          <p:nvPr/>
        </p:nvSpPr>
        <p:spPr>
          <a:xfrm>
            <a:off x="7210425" y="7286625"/>
            <a:ext cx="4581525" cy="47625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Processing modules</a:t>
            </a:r>
          </a:p>
        </p:txBody>
      </p:sp>
      <p:sp>
        <p:nvSpPr>
          <p:cNvPr id="35" name="Parsing, chunking, embeddings&#10;KMeans, UMAP/PCA, retrieval">
            <a:extLst>
              <a:ext uri="{FF2B5EF4-FFF2-40B4-BE49-F238E27FC236}">
                <a16:creationId xmlns:a16="http://schemas.microsoft.com/office/drawing/2014/main" id="{74DDB047-DCBC-49E3-B7E1-048481F2FCAF}"/>
              </a:ext>
            </a:extLst>
          </p:cNvPr>
          <p:cNvSpPr>
            <a:spLocks noGrp="1"/>
          </p:cNvSpPr>
          <p:nvPr/>
        </p:nvSpPr>
        <p:spPr>
          <a:xfrm>
            <a:off x="7210425" y="7829550"/>
            <a:ext cx="4581525" cy="771525"/>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Parsing, chunking, embeddings</a:t>
            </a:r>
          </a:p>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KMeans, UMAP/PCA, retrieval</a:t>
            </a:r>
          </a:p>
        </p:txBody>
      </p:sp>
      <p:sp>
        <p:nvSpPr>
          <p:cNvPr id="36" name="矩形: 圆角 35">
            <a:extLst>
              <a:ext uri="{FF2B5EF4-FFF2-40B4-BE49-F238E27FC236}">
                <a16:creationId xmlns:a16="http://schemas.microsoft.com/office/drawing/2014/main" id="{D34BAA49-3564-46C4-B1E2-1F96083D2DB7}"/>
              </a:ext>
            </a:extLst>
          </p:cNvPr>
          <p:cNvSpPr>
            <a:spLocks noGrp="1"/>
          </p:cNvSpPr>
          <p:nvPr/>
        </p:nvSpPr>
        <p:spPr>
          <a:xfrm>
            <a:off x="13096875" y="7096125"/>
            <a:ext cx="3810000" cy="1666875"/>
          </a:xfrm>
          <a:prstGeom prst="roundRect">
            <a:avLst>
              <a:gd name="adj" fmla="val 10286"/>
            </a:avLst>
          </a:prstGeom>
          <a:solidFill>
            <a:srgbClr val="FFFFFF"/>
          </a:solidFill>
          <a:ln w="16193">
            <a:solidFill>
              <a:srgbClr val="8FA4C1"/>
            </a:solidFill>
          </a:ln>
        </p:spPr>
      </p:sp>
      <p:sp>
        <p:nvSpPr>
          <p:cNvPr id="37" name="Local persistence">
            <a:extLst>
              <a:ext uri="{FF2B5EF4-FFF2-40B4-BE49-F238E27FC236}">
                <a16:creationId xmlns:a16="http://schemas.microsoft.com/office/drawing/2014/main" id="{D3AE9CD7-3673-454C-BECD-EB999E1A9A52}"/>
              </a:ext>
            </a:extLst>
          </p:cNvPr>
          <p:cNvSpPr>
            <a:spLocks noGrp="1"/>
          </p:cNvSpPr>
          <p:nvPr/>
        </p:nvSpPr>
        <p:spPr>
          <a:xfrm>
            <a:off x="13306425" y="7286625"/>
            <a:ext cx="3390900" cy="476250"/>
          </a:xfrm>
          <a:prstGeom prst="rect">
            <a:avLst/>
          </a:prstGeom>
          <a:noFill/>
          <a:ln w="0">
            <a:noFill/>
          </a:ln>
        </p:spPr>
        <p:txBody>
          <a:bodyPr wrap="square" lIns="0" tIns="0" rIns="0" bIns="0" anchor="t">
            <a:noAutofit/>
          </a:bodyPr>
          <a:lstStyle>
            <a:defPPr algn="l">
              <a:defRPr sz="2175" b="1">
                <a:solidFill>
                  <a:srgbClr val="101B40"/>
                </a:solidFill>
                <a:latin typeface="Montserrat Bold"/>
                <a:ea typeface="Montserrat Bold"/>
                <a:cs typeface="Montserrat Bold"/>
              </a:defRPr>
            </a:defPPr>
          </a:lstStyle>
          <a:p>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Local persistence</a:t>
            </a:r>
          </a:p>
        </p:txBody>
      </p:sp>
      <p:sp>
        <p:nvSpPr>
          <p:cNvPr id="38" name="PDF files + JSON metadata&#10;Chroma paper and chunk vectors">
            <a:extLst>
              <a:ext uri="{FF2B5EF4-FFF2-40B4-BE49-F238E27FC236}">
                <a16:creationId xmlns:a16="http://schemas.microsoft.com/office/drawing/2014/main" id="{4C25BEB1-CC2B-4A41-9117-78D0EE4409BE}"/>
              </a:ext>
            </a:extLst>
          </p:cNvPr>
          <p:cNvSpPr>
            <a:spLocks noGrp="1"/>
          </p:cNvSpPr>
          <p:nvPr/>
        </p:nvSpPr>
        <p:spPr>
          <a:xfrm>
            <a:off x="13306425" y="7829550"/>
            <a:ext cx="3390900" cy="771525"/>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PDF files + JSON metadata</a:t>
            </a:r>
          </a:p>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Chroma paper and chunk vectors</a:t>
            </a:r>
          </a:p>
        </p:txBody>
      </p:sp>
      <p:cxnSp>
        <p:nvCxnSpPr>
          <p:cNvPr id="39" name="直接箭头连接符 38">
            <a:extLst>
              <a:ext uri="{FF2B5EF4-FFF2-40B4-BE49-F238E27FC236}">
                <a16:creationId xmlns:a16="http://schemas.microsoft.com/office/drawing/2014/main" id="{D65577EB-B0FC-4456-BC0B-962EB4DDF25D}"/>
              </a:ext>
            </a:extLst>
          </p:cNvPr>
          <p:cNvCxnSpPr>
            <a:stCxn id="19" idx="2"/>
            <a:endCxn id="30" idx="0"/>
          </p:cNvCxnSpPr>
          <p:nvPr/>
        </p:nvCxnSpPr>
        <p:spPr>
          <a:xfrm>
            <a:off x="3571875" y="5905500"/>
            <a:ext cx="0" cy="1190625"/>
          </a:xfrm>
          <a:prstGeom prst="straightConnector1">
            <a:avLst/>
          </a:prstGeom>
          <a:ln w="28575">
            <a:solidFill>
              <a:srgbClr val="8FA4C1"/>
            </a:solidFill>
            <a:tailEnd type="triangle" w="med" len="med"/>
          </a:ln>
        </p:spPr>
      </p:cxnSp>
      <p:cxnSp>
        <p:nvCxnSpPr>
          <p:cNvPr id="40" name="直接箭头连接符 39">
            <a:extLst>
              <a:ext uri="{FF2B5EF4-FFF2-40B4-BE49-F238E27FC236}">
                <a16:creationId xmlns:a16="http://schemas.microsoft.com/office/drawing/2014/main" id="{2A593859-76C3-4F7E-91CD-15FB4BF36D71}"/>
              </a:ext>
            </a:extLst>
          </p:cNvPr>
          <p:cNvCxnSpPr>
            <a:stCxn id="22" idx="2"/>
            <a:endCxn id="33" idx="0"/>
          </p:cNvCxnSpPr>
          <p:nvPr/>
        </p:nvCxnSpPr>
        <p:spPr>
          <a:xfrm>
            <a:off x="9501188" y="5905500"/>
            <a:ext cx="0" cy="1190625"/>
          </a:xfrm>
          <a:prstGeom prst="straightConnector1">
            <a:avLst/>
          </a:prstGeom>
          <a:ln w="28575">
            <a:solidFill>
              <a:srgbClr val="8FA4C1"/>
            </a:solidFill>
            <a:tailEnd type="triangle" w="med" len="med"/>
          </a:ln>
        </p:spPr>
      </p:cxnSp>
      <p:cxnSp>
        <p:nvCxnSpPr>
          <p:cNvPr id="41" name="直接箭头连接符 40">
            <a:extLst>
              <a:ext uri="{FF2B5EF4-FFF2-40B4-BE49-F238E27FC236}">
                <a16:creationId xmlns:a16="http://schemas.microsoft.com/office/drawing/2014/main" id="{A63B4E8B-FF7F-44D1-93C0-CC0A3C924AE4}"/>
              </a:ext>
            </a:extLst>
          </p:cNvPr>
          <p:cNvCxnSpPr>
            <a:stCxn id="33" idx="3"/>
            <a:endCxn id="36" idx="1"/>
          </p:cNvCxnSpPr>
          <p:nvPr/>
        </p:nvCxnSpPr>
        <p:spPr>
          <a:xfrm>
            <a:off x="12001500" y="7929563"/>
            <a:ext cx="1095375" cy="0"/>
          </a:xfrm>
          <a:prstGeom prst="straightConnector1">
            <a:avLst/>
          </a:prstGeom>
          <a:ln w="28575">
            <a:solidFill>
              <a:srgbClr val="8FA4C1"/>
            </a:solidFill>
            <a:tailEnd type="triangle" w="med" len="med"/>
          </a:ln>
        </p:spPr>
      </p:cxnSp>
      <p:sp>
        <p:nvSpPr>
          <p:cNvPr id="42" name="Privacy decision: files and vectors stay local. Cloud inference receiv">
            <a:extLst>
              <a:ext uri="{FF2B5EF4-FFF2-40B4-BE49-F238E27FC236}">
                <a16:creationId xmlns:a16="http://schemas.microsoft.com/office/drawing/2014/main" id="{048A55AE-D868-43D9-A4CD-0BDAAE3D5827}"/>
              </a:ext>
            </a:extLst>
          </p:cNvPr>
          <p:cNvSpPr>
            <a:spLocks noGrp="1"/>
          </p:cNvSpPr>
          <p:nvPr/>
        </p:nvSpPr>
        <p:spPr>
          <a:xfrm>
            <a:off x="1238250" y="9086850"/>
            <a:ext cx="15668625" cy="523875"/>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Privacy decision: files and vectors stay local. Cloud inference receives the selected context and any submitted image.</a:t>
            </a:r>
          </a:p>
        </p:txBody>
      </p:sp>
    </p:spTree>
    <p:extLst>
      <p:ext uri="{BB962C8B-B14F-4D97-AF65-F5344CB8AC3E}">
        <p14:creationId xmlns:p14="http://schemas.microsoft.com/office/powerpoint/2010/main" val="1977874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C920F2C7-7F14-4D60-A417-6274F09C5B61}"/>
              </a:ext>
            </a:extLst>
          </p:cNvPr>
          <p:cNvSpPr>
            <a:spLocks noGrp="1"/>
          </p:cNvSpPr>
          <p:nvPr/>
        </p:nvSpPr>
        <p:spPr>
          <a:xfrm>
            <a:off x="350265" y="341540"/>
            <a:ext cx="17587469" cy="9603920"/>
          </a:xfrm>
          <a:custGeom>
            <a:avLst/>
            <a:gdLst/>
            <a:ahLst/>
            <a:cxnLst/>
            <a:rect l="l" t="t" r="r" b="b"/>
            <a:pathLst>
              <a:path w="4632091" h="2529427">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a:srgbClr val="DCE2EB"/>
          </a:solidFill>
        </p:spPr>
      </p:sp>
      <p:sp>
        <p:nvSpPr>
          <p:cNvPr id="6" name="Freeform 6">
            <a:extLst>
              <a:ext uri="{FF2B5EF4-FFF2-40B4-BE49-F238E27FC236}">
                <a16:creationId xmlns:a16="http://schemas.microsoft.com/office/drawing/2014/main" id="{85EED528-DCB8-4BAD-AACC-47944D2E34DB}"/>
              </a:ext>
            </a:extLst>
          </p:cNvPr>
          <p:cNvSpPr>
            <a:spLocks noGrp="1"/>
          </p:cNvSpPr>
          <p:nvPr/>
        </p:nvSpPr>
        <p:spPr>
          <a:xfrm>
            <a:off x="4410075" y="514350"/>
            <a:ext cx="9467850" cy="819150"/>
          </a:xfrm>
          <a:custGeom>
            <a:avLst/>
            <a:gdLst/>
            <a:ahLst/>
            <a:cxnLst/>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id="7" name="TextBox 7">
            <a:extLst>
              <a:ext uri="{FF2B5EF4-FFF2-40B4-BE49-F238E27FC236}">
                <a16:creationId xmlns:a16="http://schemas.microsoft.com/office/drawing/2014/main" id="{E02053D9-6A79-4A94-B3A0-6B831B814550}"/>
              </a:ext>
            </a:extLst>
          </p:cNvPr>
          <p:cNvSpPr>
            <a:spLocks noGrp="1"/>
          </p:cNvSpPr>
          <p:nvPr/>
        </p:nvSpPr>
        <p:spPr>
          <a:xfrm>
            <a:off x="4409081" y="617340"/>
            <a:ext cx="9469839" cy="959252"/>
          </a:xfrm>
          <a:prstGeom prst="rect">
            <a:avLst/>
          </a:prstGeom>
        </p:spPr>
        <p:txBody>
          <a:bodyPr lIns="50800" tIns="50800" rIns="50800" bIns="50800" anchor="ctr"/>
          <a:lstStyle/>
          <a:p>
            <a:pPr algn="ctr">
              <a:lnSpc>
                <a:spcPts val="2871"/>
              </a:lnSpc>
              <a:buNone/>
            </a:pPr>
            <a:endParaRPr/>
          </a:p>
        </p:txBody>
      </p:sp>
      <p:sp>
        <p:nvSpPr>
          <p:cNvPr id="9" name="Freeform 9">
            <a:extLst>
              <a:ext uri="{FF2B5EF4-FFF2-40B4-BE49-F238E27FC236}">
                <a16:creationId xmlns:a16="http://schemas.microsoft.com/office/drawing/2014/main" id="{3A4DB3B2-6561-42C9-B572-B0BB7C421802}"/>
              </a:ext>
            </a:extLst>
          </p:cNvPr>
          <p:cNvSpPr>
            <a:spLocks noGrp="1"/>
          </p:cNvSpPr>
          <p:nvPr/>
        </p:nvSpPr>
        <p:spPr>
          <a:xfrm>
            <a:off x="11849100" y="628650"/>
            <a:ext cx="1704975" cy="590550"/>
          </a:xfrm>
          <a:custGeom>
            <a:avLst/>
            <a:gdLst/>
            <a:ahLst/>
            <a:cxnLst/>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id="10" name="TextBox 10">
            <a:extLst>
              <a:ext uri="{FF2B5EF4-FFF2-40B4-BE49-F238E27FC236}">
                <a16:creationId xmlns:a16="http://schemas.microsoft.com/office/drawing/2014/main" id="{1E533097-F34B-4477-96E4-06B881A7FEF9}"/>
              </a:ext>
            </a:extLst>
          </p:cNvPr>
          <p:cNvSpPr>
            <a:spLocks noGrp="1"/>
          </p:cNvSpPr>
          <p:nvPr/>
        </p:nvSpPr>
        <p:spPr>
          <a:xfrm>
            <a:off x="9460786" y="730170"/>
            <a:ext cx="1665830" cy="733592"/>
          </a:xfrm>
          <a:prstGeom prst="rect">
            <a:avLst/>
          </a:prstGeom>
        </p:spPr>
        <p:txBody>
          <a:bodyPr lIns="50800" tIns="50800" rIns="50800" bIns="50800" anchor="ctr"/>
          <a:lstStyle/>
          <a:p>
            <a:pPr algn="ctr">
              <a:lnSpc>
                <a:spcPts val="2871"/>
              </a:lnSpc>
              <a:buNone/>
            </a:pPr>
            <a:endParaRPr/>
          </a:p>
        </p:txBody>
      </p:sp>
      <p:sp>
        <p:nvSpPr>
          <p:cNvPr id="50" name="TextBox 50">
            <a:extLst>
              <a:ext uri="{FF2B5EF4-FFF2-40B4-BE49-F238E27FC236}">
                <a16:creationId xmlns:a16="http://schemas.microsoft.com/office/drawing/2014/main" id="{895BCC7A-6881-483E-932F-B61A2679877F}"/>
              </a:ext>
            </a:extLst>
          </p:cNvPr>
          <p:cNvSpPr>
            <a:spLocks noGrp="1"/>
          </p:cNvSpPr>
          <p:nvPr/>
        </p:nvSpPr>
        <p:spPr>
          <a:xfrm>
            <a:off x="4438650" y="733425"/>
            <a:ext cx="16668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51" name="TextBox 51">
            <a:extLst>
              <a:ext uri="{FF2B5EF4-FFF2-40B4-BE49-F238E27FC236}">
                <a16:creationId xmlns:a16="http://schemas.microsoft.com/office/drawing/2014/main" id="{B4F69C6D-2F5E-4E66-BF00-E7FD361766F4}"/>
              </a:ext>
            </a:extLst>
          </p:cNvPr>
          <p:cNvSpPr>
            <a:spLocks noGrp="1"/>
          </p:cNvSpPr>
          <p:nvPr/>
        </p:nvSpPr>
        <p:spPr>
          <a:xfrm>
            <a:off x="6829425" y="733425"/>
            <a:ext cx="1905000"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52" name="TextBox 52">
            <a:extLst>
              <a:ext uri="{FF2B5EF4-FFF2-40B4-BE49-F238E27FC236}">
                <a16:creationId xmlns:a16="http://schemas.microsoft.com/office/drawing/2014/main" id="{ED64CD2A-0B13-4227-A754-AC91C1920263}"/>
              </a:ext>
            </a:extLst>
          </p:cNvPr>
          <p:cNvSpPr>
            <a:spLocks noGrp="1"/>
          </p:cNvSpPr>
          <p:nvPr/>
        </p:nvSpPr>
        <p:spPr>
          <a:xfrm>
            <a:off x="9496425" y="733425"/>
            <a:ext cx="15906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53" name="TextBox 53">
            <a:extLst>
              <a:ext uri="{FF2B5EF4-FFF2-40B4-BE49-F238E27FC236}">
                <a16:creationId xmlns:a16="http://schemas.microsoft.com/office/drawing/2014/main" id="{6AC844EA-1E85-4885-B17D-075CE187DCAD}"/>
              </a:ext>
            </a:extLst>
          </p:cNvPr>
          <p:cNvSpPr>
            <a:spLocks noGrp="1"/>
          </p:cNvSpPr>
          <p:nvPr/>
        </p:nvSpPr>
        <p:spPr>
          <a:xfrm>
            <a:off x="11591925" y="733425"/>
            <a:ext cx="2228850" cy="329057"/>
          </a:xfrm>
          <a:prstGeom prst="rect">
            <a:avLst/>
          </a:prstGeom>
        </p:spPr>
        <p:txBody>
          <a:bodyPr lIns="0" tIns="0" rIns="0" bIns="0" anchor="t">
            <a:spAutoFit/>
          </a:bodyPr>
          <a:lstStyle>
            <a:defPPr algn="ctr">
              <a:defRPr sz="1800" b="1">
                <a:solidFill>
                  <a:srgbClr val="FFFFFF"/>
                </a:solidFill>
                <a:latin typeface="Montserrat"/>
                <a:ea typeface="Montserrat"/>
                <a:cs typeface="Montserrat"/>
              </a:defRPr>
            </a:defPPr>
          </a:lstStyle>
          <a:p>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REVIEW</a:t>
            </a:r>
          </a:p>
        </p:txBody>
      </p:sp>
      <p:sp>
        <p:nvSpPr>
          <p:cNvPr id="54" name="TextBox 54">
            <a:extLst>
              <a:ext uri="{FF2B5EF4-FFF2-40B4-BE49-F238E27FC236}">
                <a16:creationId xmlns:a16="http://schemas.microsoft.com/office/drawing/2014/main" id="{06C9C5BE-06CD-4F89-8344-682E121917E0}"/>
              </a:ext>
            </a:extLst>
          </p:cNvPr>
          <p:cNvSpPr>
            <a:spLocks noGrp="1"/>
          </p:cNvSpPr>
          <p:nvPr/>
        </p:nvSpPr>
        <p:spPr>
          <a:xfrm>
            <a:off x="800100" y="628650"/>
            <a:ext cx="2381250" cy="567690"/>
          </a:xfrm>
          <a:prstGeom prst="rect">
            <a:avLst/>
          </a:prstGeom>
        </p:spPr>
        <p:txBody>
          <a:bodyPr lIns="0" tIns="0" rIns="0" bIns="0" anchor="t">
            <a:spAutoFit/>
          </a:bodyPr>
          <a:lstStyle>
            <a:defPPr>
              <a:defRPr sz="1800" b="1">
                <a:solidFill>
                  <a:srgbClr val="101B40"/>
                </a:solidFill>
                <a:latin typeface="Montserrat"/>
                <a:ea typeface="Montserrat"/>
                <a:cs typeface="Montserrat"/>
              </a:defRPr>
            </a:defPPr>
          </a:lstStyle>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55" name="10">
            <a:extLst>
              <a:ext uri="{FF2B5EF4-FFF2-40B4-BE49-F238E27FC236}">
                <a16:creationId xmlns:a16="http://schemas.microsoft.com/office/drawing/2014/main" id="{A72DA1A9-5C12-4349-9104-22DC0E71FDE8}"/>
              </a:ext>
            </a:extLst>
          </p:cNvPr>
          <p:cNvSpPr>
            <a:spLocks noGrp="1"/>
          </p:cNvSpPr>
          <p:nvPr/>
        </p:nvSpPr>
        <p:spPr>
          <a:xfrm>
            <a:off x="16735425" y="733425"/>
            <a:ext cx="666750" cy="381000"/>
          </a:xfrm>
          <a:prstGeom prst="rect">
            <a:avLst/>
          </a:prstGeom>
          <a:noFill/>
          <a:ln w="0">
            <a:noFill/>
          </a:ln>
        </p:spPr>
        <p:txBody>
          <a:bodyPr wrap="square" lIns="0" tIns="0" rIns="0" bIns="0" anchor="t">
            <a:noAutofit/>
          </a:bodyPr>
          <a:lstStyle>
            <a:defPPr algn="r">
              <a:defRPr sz="1875" b="1">
                <a:solidFill>
                  <a:srgbClr val="101B40"/>
                </a:solidFill>
                <a:latin typeface="Montserrat Bold"/>
                <a:ea typeface="Montserrat Bold"/>
                <a:cs typeface="Montserrat Bold"/>
              </a:defRPr>
            </a:defPPr>
          </a:lstStyle>
          <a:p>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08</a:t>
            </a:r>
          </a:p>
        </p:txBody>
      </p:sp>
      <p:sp>
        <p:nvSpPr>
          <p:cNvPr id="56" name="PDF-GalaxAI">
            <a:extLst>
              <a:ext uri="{FF2B5EF4-FFF2-40B4-BE49-F238E27FC236}">
                <a16:creationId xmlns:a16="http://schemas.microsoft.com/office/drawing/2014/main" id="{022E15D2-4591-4EC2-AA14-655E8FBEFCD4}"/>
              </a:ext>
            </a:extLst>
          </p:cNvPr>
          <p:cNvSpPr>
            <a:spLocks noGrp="1"/>
          </p:cNvSpPr>
          <p:nvPr/>
        </p:nvSpPr>
        <p:spPr>
          <a:xfrm>
            <a:off x="1238250" y="9620250"/>
            <a:ext cx="4286250" cy="333375"/>
          </a:xfrm>
          <a:prstGeom prst="rect">
            <a:avLst/>
          </a:prstGeom>
          <a:noFill/>
          <a:ln w="0">
            <a:noFill/>
          </a:ln>
        </p:spPr>
        <p:txBody>
          <a:bodyPr wrap="square" lIns="0" tIns="0" rIns="0" bIns="0" anchor="t">
            <a:noAutofit/>
          </a:bodyPr>
          <a:lstStyle>
            <a:defPPr algn="l">
              <a:defRPr sz="1650" b="0">
                <a:solidFill>
                  <a:srgbClr val="536681"/>
                </a:solidFill>
                <a:latin typeface="Montserrat"/>
                <a:ea typeface="Montserrat"/>
                <a:cs typeface="Montserrat"/>
              </a:defRPr>
            </a:defPPr>
          </a:lstStyle>
          <a:p>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57" name="10 / 12">
            <a:extLst>
              <a:ext uri="{FF2B5EF4-FFF2-40B4-BE49-F238E27FC236}">
                <a16:creationId xmlns:a16="http://schemas.microsoft.com/office/drawing/2014/main" id="{10394BA7-D5FA-41D9-B1B0-0D9A03CCA644}"/>
              </a:ext>
            </a:extLst>
          </p:cNvPr>
          <p:cNvSpPr>
            <a:spLocks noGrp="1"/>
          </p:cNvSpPr>
          <p:nvPr/>
        </p:nvSpPr>
        <p:spPr>
          <a:xfrm>
            <a:off x="15430500" y="9620250"/>
            <a:ext cx="1524000" cy="333375"/>
          </a:xfrm>
          <a:prstGeom prst="rect">
            <a:avLst/>
          </a:prstGeom>
          <a:noFill/>
          <a:ln w="0">
            <a:noFill/>
          </a:ln>
        </p:spPr>
        <p:txBody>
          <a:bodyPr wrap="square" lIns="0" tIns="0" rIns="0" bIns="0" anchor="t">
            <a:noAutofit/>
          </a:bodyPr>
          <a:lstStyle>
            <a:defPPr algn="r">
              <a:defRPr sz="1650" b="0">
                <a:solidFill>
                  <a:srgbClr val="536681"/>
                </a:solidFill>
                <a:latin typeface="Montserrat"/>
                <a:ea typeface="Montserrat"/>
                <a:cs typeface="Montserrat"/>
              </a:defRPr>
            </a:defPPr>
          </a:lstStyle>
          <a:p>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08 / 09</a:t>
            </a:r>
          </a:p>
        </p:txBody>
      </p:sp>
      <p:sp>
        <p:nvSpPr>
          <p:cNvPr id="58" name="Engineering Challenges &amp; Design Decisions">
            <a:extLst>
              <a:ext uri="{FF2B5EF4-FFF2-40B4-BE49-F238E27FC236}">
                <a16:creationId xmlns:a16="http://schemas.microsoft.com/office/drawing/2014/main" id="{D6F190E9-E6FE-4E3C-A366-0368C86689F5}"/>
              </a:ext>
            </a:extLst>
          </p:cNvPr>
          <p:cNvSpPr>
            <a:spLocks noGrp="1"/>
          </p:cNvSpPr>
          <p:nvPr/>
        </p:nvSpPr>
        <p:spPr>
          <a:xfrm>
            <a:off x="1238250" y="1952625"/>
            <a:ext cx="15668625" cy="838200"/>
          </a:xfrm>
          <a:prstGeom prst="rect">
            <a:avLst/>
          </a:prstGeom>
          <a:noFill/>
          <a:ln w="0">
            <a:noFill/>
          </a:ln>
        </p:spPr>
        <p:txBody>
          <a:bodyPr wrap="square" lIns="0" tIns="0" rIns="0" bIns="0" anchor="t">
            <a:noAutofit/>
          </a:bodyPr>
          <a:lstStyle>
            <a:defPPr algn="l">
              <a:defRPr sz="4425" b="1">
                <a:solidFill>
                  <a:srgbClr val="101B40"/>
                </a:solidFill>
                <a:latin typeface="Montserrat Bold"/>
                <a:ea typeface="Montserrat Bold"/>
                <a:cs typeface="Montserrat Bold"/>
              </a:defRPr>
            </a:defPPr>
          </a:lstStyle>
          <a:p>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Engineering Decisions &amp; Evaluation</a:t>
            </a:r>
          </a:p>
        </p:txBody>
      </p:sp>
      <p:sp>
        <p:nvSpPr>
          <p:cNvPr id="59" name="I translated interaction failures into explicit rendering, retrieval a">
            <a:extLst>
              <a:ext uri="{FF2B5EF4-FFF2-40B4-BE49-F238E27FC236}">
                <a16:creationId xmlns:a16="http://schemas.microsoft.com/office/drawing/2014/main" id="{31D8B20D-8B14-4305-A36C-C876CD6606AD}"/>
              </a:ext>
            </a:extLst>
          </p:cNvPr>
          <p:cNvSpPr>
            <a:spLocks noGrp="1"/>
          </p:cNvSpPr>
          <p:nvPr/>
        </p:nvSpPr>
        <p:spPr>
          <a:xfrm>
            <a:off x="1257300" y="2905125"/>
            <a:ext cx="15382875" cy="809625"/>
          </a:xfrm>
          <a:prstGeom prst="rect">
            <a:avLst/>
          </a:prstGeom>
          <a:noFill/>
          <a:ln w="0">
            <a:noFill/>
          </a:ln>
        </p:spPr>
        <p:txBody>
          <a:bodyPr wrap="square" lIns="0" tIns="0" rIns="0" bIns="0" anchor="t">
            <a:noAutofit/>
          </a:bodyPr>
          <a:lstStyle>
            <a:defPPr algn="l">
              <a:defRPr sz="2250" b="0">
                <a:solidFill>
                  <a:srgbClr val="536681"/>
                </a:solidFill>
                <a:latin typeface="Montserrat"/>
                <a:ea typeface="Montserrat"/>
                <a:cs typeface="Montserrat"/>
              </a:defRPr>
            </a:defPPr>
          </a:lstStyle>
          <a:p>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Implementation choices and test evidence show what works and what still needs evaluation.</a:t>
            </a:r>
          </a:p>
        </p:txBody>
      </p:sp>
      <p:sp>
        <p:nvSpPr>
          <p:cNvPr id="60" name="OBSERVED PROBLEM">
            <a:extLst>
              <a:ext uri="{FF2B5EF4-FFF2-40B4-BE49-F238E27FC236}">
                <a16:creationId xmlns:a16="http://schemas.microsoft.com/office/drawing/2014/main" id="{C625A27F-A625-420D-98E4-E37F415C995B}"/>
              </a:ext>
            </a:extLst>
          </p:cNvPr>
          <p:cNvSpPr>
            <a:spLocks noGrp="1"/>
          </p:cNvSpPr>
          <p:nvPr/>
        </p:nvSpPr>
        <p:spPr>
          <a:xfrm>
            <a:off x="1238250" y="3990975"/>
            <a:ext cx="4191000" cy="381000"/>
          </a:xfrm>
          <a:prstGeom prst="rect">
            <a:avLst/>
          </a:prstGeom>
          <a:noFill/>
          <a:ln w="0">
            <a:noFill/>
          </a:ln>
        </p:spPr>
        <p:txBody>
          <a:bodyPr wrap="square" lIns="0" tIns="0" rIns="0" bIns="0" anchor="t">
            <a:noAutofit/>
          </a:bodyPr>
          <a:lstStyle>
            <a:defPPr algn="l">
              <a:defRPr sz="1800" b="1">
                <a:solidFill>
                  <a:srgbClr val="536681"/>
                </a:solidFill>
                <a:latin typeface="Montserrat Bold"/>
                <a:ea typeface="Montserrat Bold"/>
                <a:cs typeface="Montserrat Bold"/>
              </a:defRPr>
            </a:defPPr>
          </a:lstStyle>
          <a:p>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OBSERVED PROBLEM</a:t>
            </a:r>
          </a:p>
        </p:txBody>
      </p:sp>
      <p:sp>
        <p:nvSpPr>
          <p:cNvPr id="61" name="IMPLEMENTATION DECISION">
            <a:extLst>
              <a:ext uri="{FF2B5EF4-FFF2-40B4-BE49-F238E27FC236}">
                <a16:creationId xmlns:a16="http://schemas.microsoft.com/office/drawing/2014/main" id="{E9B55179-C145-4207-95D4-7D4A320F34D3}"/>
              </a:ext>
            </a:extLst>
          </p:cNvPr>
          <p:cNvSpPr>
            <a:spLocks noGrp="1"/>
          </p:cNvSpPr>
          <p:nvPr/>
        </p:nvSpPr>
        <p:spPr>
          <a:xfrm>
            <a:off x="6000750" y="3990975"/>
            <a:ext cx="6572250" cy="381000"/>
          </a:xfrm>
          <a:prstGeom prst="rect">
            <a:avLst/>
          </a:prstGeom>
          <a:noFill/>
          <a:ln w="0">
            <a:noFill/>
          </a:ln>
        </p:spPr>
        <p:txBody>
          <a:bodyPr wrap="square" lIns="0" tIns="0" rIns="0" bIns="0" anchor="t">
            <a:noAutofit/>
          </a:bodyPr>
          <a:lstStyle>
            <a:defPPr algn="l">
              <a:defRPr sz="1800" b="1">
                <a:solidFill>
                  <a:srgbClr val="536681"/>
                </a:solidFill>
                <a:latin typeface="Montserrat Bold"/>
                <a:ea typeface="Montserrat Bold"/>
                <a:cs typeface="Montserrat Bold"/>
              </a:defRPr>
            </a:defPPr>
          </a:lstStyle>
          <a:p>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IMPLEMENTATION DECISION</a:t>
            </a:r>
          </a:p>
        </p:txBody>
      </p:sp>
      <p:sp>
        <p:nvSpPr>
          <p:cNvPr id="62" name="EVIDENCE / LIMIT">
            <a:extLst>
              <a:ext uri="{FF2B5EF4-FFF2-40B4-BE49-F238E27FC236}">
                <a16:creationId xmlns:a16="http://schemas.microsoft.com/office/drawing/2014/main" id="{EF411080-1670-4F3D-91DF-34C899C75596}"/>
              </a:ext>
            </a:extLst>
          </p:cNvPr>
          <p:cNvSpPr>
            <a:spLocks noGrp="1"/>
          </p:cNvSpPr>
          <p:nvPr/>
        </p:nvSpPr>
        <p:spPr>
          <a:xfrm>
            <a:off x="13144500" y="3990975"/>
            <a:ext cx="4095750" cy="381000"/>
          </a:xfrm>
          <a:prstGeom prst="rect">
            <a:avLst/>
          </a:prstGeom>
          <a:noFill/>
          <a:ln w="0">
            <a:noFill/>
          </a:ln>
        </p:spPr>
        <p:txBody>
          <a:bodyPr wrap="square" lIns="0" tIns="0" rIns="0" bIns="0" anchor="t">
            <a:noAutofit/>
          </a:bodyPr>
          <a:lstStyle>
            <a:defPPr algn="l">
              <a:defRPr sz="1800" b="1">
                <a:solidFill>
                  <a:srgbClr val="536681"/>
                </a:solidFill>
                <a:latin typeface="Montserrat Bold"/>
                <a:ea typeface="Montserrat Bold"/>
                <a:cs typeface="Montserrat Bold"/>
              </a:defRPr>
            </a:defPPr>
          </a:lstStyle>
          <a:p>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EVIDENCE / LIMIT</a:t>
            </a:r>
          </a:p>
        </p:txBody>
      </p:sp>
      <p:sp>
        <p:nvSpPr>
          <p:cNvPr id="63" name="Occlusion and&#10;navigation friction">
            <a:extLst>
              <a:ext uri="{FF2B5EF4-FFF2-40B4-BE49-F238E27FC236}">
                <a16:creationId xmlns:a16="http://schemas.microsoft.com/office/drawing/2014/main" id="{2C522306-A15F-452E-92E8-34C170354711}"/>
              </a:ext>
            </a:extLst>
          </p:cNvPr>
          <p:cNvSpPr>
            <a:spLocks noGrp="1"/>
          </p:cNvSpPr>
          <p:nvPr/>
        </p:nvSpPr>
        <p:spPr>
          <a:xfrm>
            <a:off x="1238250" y="4695825"/>
            <a:ext cx="4191000" cy="1085850"/>
          </a:xfrm>
          <a:prstGeom prst="rect">
            <a:avLst/>
          </a:prstGeom>
          <a:noFill/>
          <a:ln w="0">
            <a:noFill/>
          </a:ln>
        </p:spPr>
        <p:txBody>
          <a:bodyPr wrap="square" lIns="0" tIns="0" rIns="0" bIns="0" anchor="t">
            <a:noAutofit/>
          </a:bodyPr>
          <a:lstStyle>
            <a:defPPr algn="l">
              <a:defRPr sz="2325" b="1">
                <a:solidFill>
                  <a:srgbClr val="101B40"/>
                </a:solidFill>
                <a:latin typeface="Montserrat Bold"/>
                <a:ea typeface="Montserrat Bold"/>
                <a:cs typeface="Montserrat Bold"/>
              </a:defRPr>
            </a:defPPr>
          </a:lstStyle>
          <a:p>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Occlusion and</a:t>
            </a:r>
          </a:p>
          <a:p>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navigation friction</a:t>
            </a:r>
          </a:p>
        </p:txBody>
      </p:sp>
      <p:sp>
        <p:nvSpPr>
          <p:cNvPr id="64" name="Quality presets adjust volume samples, particle count and DPR. OrbitCo">
            <a:extLst>
              <a:ext uri="{FF2B5EF4-FFF2-40B4-BE49-F238E27FC236}">
                <a16:creationId xmlns:a16="http://schemas.microsoft.com/office/drawing/2014/main" id="{5F61D5F1-B29D-4C86-A002-0873EF1D1128}"/>
              </a:ext>
            </a:extLst>
          </p:cNvPr>
          <p:cNvSpPr>
            <a:spLocks noGrp="1"/>
          </p:cNvSpPr>
          <p:nvPr/>
        </p:nvSpPr>
        <p:spPr>
          <a:xfrm>
            <a:off x="6000750" y="4695825"/>
            <a:ext cx="6572250" cy="1200150"/>
          </a:xfrm>
          <a:prstGeom prst="rect">
            <a:avLst/>
          </a:prstGeom>
          <a:noFill/>
          <a:ln w="0">
            <a:noFill/>
          </a:ln>
        </p:spPr>
        <p:txBody>
          <a:bodyPr wrap="square" lIns="0" tIns="0" rIns="0" bIns="0" anchor="t">
            <a:noAutofit/>
          </a:bodyPr>
          <a:lstStyle>
            <a:defPPr algn="l">
              <a:defRPr sz="2100" b="0">
                <a:solidFill>
                  <a:srgbClr val="536681"/>
                </a:solidFill>
                <a:latin typeface="Montserrat"/>
                <a:ea typeface="Montserrat"/>
                <a:cs typeface="Montserrat"/>
              </a:defRPr>
            </a:defPPr>
          </a:lstStyle>
          <a:p>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Quality presets adjust volume samples, particle count and DPR. OrbitControls bounds zoom.</a:t>
            </a:r>
          </a:p>
        </p:txBody>
      </p:sp>
      <p:sp>
        <p:nvSpPr>
          <p:cNvPr id="65" name="Earlier manual report records improved occlusion. Large-scale FPS rema">
            <a:extLst>
              <a:ext uri="{FF2B5EF4-FFF2-40B4-BE49-F238E27FC236}">
                <a16:creationId xmlns:a16="http://schemas.microsoft.com/office/drawing/2014/main" id="{6E5FC667-10BD-4960-9929-8DCC1886CDAF}"/>
              </a:ext>
            </a:extLst>
          </p:cNvPr>
          <p:cNvSpPr>
            <a:spLocks noGrp="1"/>
          </p:cNvSpPr>
          <p:nvPr/>
        </p:nvSpPr>
        <p:spPr>
          <a:xfrm>
            <a:off x="13144500" y="4695825"/>
            <a:ext cx="4095750" cy="1257300"/>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Earlier manual report records improved occlusion. Large-scale FPS remains unmeasured.</a:t>
            </a:r>
          </a:p>
        </p:txBody>
      </p:sp>
      <p:sp>
        <p:nvSpPr>
          <p:cNvPr id="66" name="直接连接符 65">
            <a:extLst>
              <a:ext uri="{FF2B5EF4-FFF2-40B4-BE49-F238E27FC236}">
                <a16:creationId xmlns:a16="http://schemas.microsoft.com/office/drawing/2014/main" id="{E545C968-BD8D-452F-9126-56D90BF442AB}"/>
              </a:ext>
            </a:extLst>
          </p:cNvPr>
          <p:cNvSpPr>
            <a:spLocks noGrp="1"/>
          </p:cNvSpPr>
          <p:nvPr/>
        </p:nvSpPr>
        <p:spPr>
          <a:xfrm>
            <a:off x="1238250" y="6029325"/>
            <a:ext cx="15668625" cy="0"/>
          </a:xfrm>
          <a:prstGeom prst="line">
            <a:avLst/>
          </a:prstGeom>
          <a:noFill/>
          <a:ln w="13335">
            <a:solidFill>
              <a:srgbClr val="8FA4C1"/>
            </a:solidFill>
          </a:ln>
        </p:spPr>
      </p:sp>
      <p:sp>
        <p:nvSpPr>
          <p:cNvPr id="67" name="Weak keywords and&#10;unreadable PDF text">
            <a:extLst>
              <a:ext uri="{FF2B5EF4-FFF2-40B4-BE49-F238E27FC236}">
                <a16:creationId xmlns:a16="http://schemas.microsoft.com/office/drawing/2014/main" id="{EE38C130-B76F-43BF-BD5A-E5FACCA678CD}"/>
              </a:ext>
            </a:extLst>
          </p:cNvPr>
          <p:cNvSpPr>
            <a:spLocks noGrp="1"/>
          </p:cNvSpPr>
          <p:nvPr/>
        </p:nvSpPr>
        <p:spPr>
          <a:xfrm>
            <a:off x="1238250" y="6191250"/>
            <a:ext cx="4191000" cy="1085850"/>
          </a:xfrm>
          <a:prstGeom prst="rect">
            <a:avLst/>
          </a:prstGeom>
          <a:noFill/>
          <a:ln w="0">
            <a:noFill/>
          </a:ln>
        </p:spPr>
        <p:txBody>
          <a:bodyPr wrap="square" lIns="0" tIns="0" rIns="0" bIns="0" anchor="t">
            <a:noAutofit/>
          </a:bodyPr>
          <a:lstStyle>
            <a:defPPr algn="l">
              <a:defRPr sz="2325" b="1">
                <a:solidFill>
                  <a:srgbClr val="101B40"/>
                </a:solidFill>
                <a:latin typeface="Montserrat Bold"/>
                <a:ea typeface="Montserrat Bold"/>
                <a:cs typeface="Montserrat Bold"/>
              </a:defRPr>
            </a:defPPr>
          </a:lstStyle>
          <a:p>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Weak keywords and</a:t>
            </a:r>
          </a:p>
          <a:p>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unreadable PDF text</a:t>
            </a:r>
          </a:p>
        </p:txBody>
      </p:sp>
      <p:sp>
        <p:nvSpPr>
          <p:cNvPr id="68" name="Preserve declared keywords. Apply stop-word filtering, corpus TF-IDF a">
            <a:extLst>
              <a:ext uri="{FF2B5EF4-FFF2-40B4-BE49-F238E27FC236}">
                <a16:creationId xmlns:a16="http://schemas.microsoft.com/office/drawing/2014/main" id="{5EB7E966-C78E-443E-B3A9-D8D8378166E6}"/>
              </a:ext>
            </a:extLst>
          </p:cNvPr>
          <p:cNvSpPr>
            <a:spLocks noGrp="1"/>
          </p:cNvSpPr>
          <p:nvPr/>
        </p:nvSpPr>
        <p:spPr>
          <a:xfrm>
            <a:off x="6000750" y="6191250"/>
            <a:ext cx="6572250" cy="1200150"/>
          </a:xfrm>
          <a:prstGeom prst="rect">
            <a:avLst/>
          </a:prstGeom>
          <a:noFill/>
          <a:ln w="0">
            <a:noFill/>
          </a:ln>
        </p:spPr>
        <p:txBody>
          <a:bodyPr wrap="square" lIns="0" tIns="0" rIns="0" bIns="0" anchor="t">
            <a:noAutofit/>
          </a:bodyPr>
          <a:lstStyle>
            <a:defPPr algn="l">
              <a:defRPr sz="2100" b="0">
                <a:solidFill>
                  <a:srgbClr val="536681"/>
                </a:solidFill>
                <a:latin typeface="Montserrat"/>
                <a:ea typeface="Montserrat"/>
                <a:cs typeface="Montserrat"/>
              </a:defRPr>
            </a:defPPr>
          </a:lstStyle>
          <a:p>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Preserve declared keywords. Apply stop-word filtering, corpus TF-IDF and diverse selection. Use OCR when needed.</a:t>
            </a:r>
          </a:p>
        </p:txBody>
      </p:sp>
      <p:sp>
        <p:nvSpPr>
          <p:cNvPr id="69" name="Code implements the pipeline. OCR and layout quality vary across docum">
            <a:extLst>
              <a:ext uri="{FF2B5EF4-FFF2-40B4-BE49-F238E27FC236}">
                <a16:creationId xmlns:a16="http://schemas.microsoft.com/office/drawing/2014/main" id="{7285340C-FF37-4289-A5B4-F17C69178FC6}"/>
              </a:ext>
            </a:extLst>
          </p:cNvPr>
          <p:cNvSpPr>
            <a:spLocks noGrp="1"/>
          </p:cNvSpPr>
          <p:nvPr/>
        </p:nvSpPr>
        <p:spPr>
          <a:xfrm>
            <a:off x="13144500" y="6191250"/>
            <a:ext cx="4095750" cy="1257300"/>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Code implements the pipeline. OCR and layout quality vary across documents.</a:t>
            </a:r>
          </a:p>
        </p:txBody>
      </p:sp>
      <p:sp>
        <p:nvSpPr>
          <p:cNvPr id="70" name="直接连接符 69">
            <a:extLst>
              <a:ext uri="{FF2B5EF4-FFF2-40B4-BE49-F238E27FC236}">
                <a16:creationId xmlns:a16="http://schemas.microsoft.com/office/drawing/2014/main" id="{1E3DC9E0-4FB1-4939-8BF4-6E2154D020FF}"/>
              </a:ext>
            </a:extLst>
          </p:cNvPr>
          <p:cNvSpPr>
            <a:spLocks noGrp="1"/>
          </p:cNvSpPr>
          <p:nvPr/>
        </p:nvSpPr>
        <p:spPr>
          <a:xfrm>
            <a:off x="1238250" y="7524750"/>
            <a:ext cx="15668625" cy="0"/>
          </a:xfrm>
          <a:prstGeom prst="line">
            <a:avLst/>
          </a:prstGeom>
          <a:noFill/>
          <a:ln w="13335">
            <a:solidFill>
              <a:srgbClr val="8FA4C1"/>
            </a:solidFill>
          </a:ln>
        </p:spPr>
      </p:sp>
      <p:sp>
        <p:nvSpPr>
          <p:cNvPr id="71" name="Unverifiable answers&#10;and disconnected views">
            <a:extLst>
              <a:ext uri="{FF2B5EF4-FFF2-40B4-BE49-F238E27FC236}">
                <a16:creationId xmlns:a16="http://schemas.microsoft.com/office/drawing/2014/main" id="{628DCCDA-4A66-4EBE-A824-92472737096D}"/>
              </a:ext>
            </a:extLst>
          </p:cNvPr>
          <p:cNvSpPr>
            <a:spLocks noGrp="1"/>
          </p:cNvSpPr>
          <p:nvPr/>
        </p:nvSpPr>
        <p:spPr>
          <a:xfrm>
            <a:off x="1238250" y="7686675"/>
            <a:ext cx="4191000" cy="1085850"/>
          </a:xfrm>
          <a:prstGeom prst="rect">
            <a:avLst/>
          </a:prstGeom>
          <a:noFill/>
          <a:ln w="0">
            <a:noFill/>
          </a:ln>
        </p:spPr>
        <p:txBody>
          <a:bodyPr wrap="square" lIns="0" tIns="0" rIns="0" bIns="0" anchor="t">
            <a:noAutofit/>
          </a:bodyPr>
          <a:lstStyle>
            <a:defPPr algn="l">
              <a:defRPr sz="2325" b="1">
                <a:solidFill>
                  <a:srgbClr val="101B40"/>
                </a:solidFill>
                <a:latin typeface="Montserrat Bold"/>
                <a:ea typeface="Montserrat Bold"/>
                <a:cs typeface="Montserrat Bold"/>
              </a:defRPr>
            </a:defPPr>
          </a:lstStyle>
          <a:p>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Unverifiable answers</a:t>
            </a:r>
          </a:p>
          <a:p>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and disconnected views</a:t>
            </a:r>
          </a:p>
        </p:txBody>
      </p:sp>
      <p:sp>
        <p:nvSpPr>
          <p:cNvPr id="72" name="Return source snippets and candidate pages. Propagate paper identity i">
            <a:extLst>
              <a:ext uri="{FF2B5EF4-FFF2-40B4-BE49-F238E27FC236}">
                <a16:creationId xmlns:a16="http://schemas.microsoft.com/office/drawing/2014/main" id="{E4BDE8CF-001F-470C-BDCD-E335389FCB5A}"/>
              </a:ext>
            </a:extLst>
          </p:cNvPr>
          <p:cNvSpPr>
            <a:spLocks noGrp="1"/>
          </p:cNvSpPr>
          <p:nvPr/>
        </p:nvSpPr>
        <p:spPr>
          <a:xfrm>
            <a:off x="6000750" y="7686675"/>
            <a:ext cx="6572250" cy="1200150"/>
          </a:xfrm>
          <a:prstGeom prst="rect">
            <a:avLst/>
          </a:prstGeom>
          <a:noFill/>
          <a:ln w="0">
            <a:noFill/>
          </a:ln>
        </p:spPr>
        <p:txBody>
          <a:bodyPr wrap="square" lIns="0" tIns="0" rIns="0" bIns="0" anchor="t">
            <a:noAutofit/>
          </a:bodyPr>
          <a:lstStyle>
            <a:defPPr algn="l">
              <a:defRPr sz="2100" b="0">
                <a:solidFill>
                  <a:srgbClr val="536681"/>
                </a:solidFill>
                <a:latin typeface="Montserrat"/>
                <a:ea typeface="Montserrat"/>
                <a:cs typeface="Montserrat"/>
              </a:defRPr>
            </a:defPPr>
          </a:lstStyle>
          <a:p>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Return source snippets and candidate pages. Propagate paper identity into galaxy highlights and the PDF reader.</a:t>
            </a:r>
          </a:p>
        </p:txBody>
      </p:sp>
      <p:sp>
        <p:nvSpPr>
          <p:cNvPr id="73" name="Source linking exists in code. Matching is heuristic and needs end-to-">
            <a:extLst>
              <a:ext uri="{FF2B5EF4-FFF2-40B4-BE49-F238E27FC236}">
                <a16:creationId xmlns:a16="http://schemas.microsoft.com/office/drawing/2014/main" id="{C3AC312C-0726-4707-A3EF-D110F3BC1D6C}"/>
              </a:ext>
            </a:extLst>
          </p:cNvPr>
          <p:cNvSpPr>
            <a:spLocks noGrp="1"/>
          </p:cNvSpPr>
          <p:nvPr/>
        </p:nvSpPr>
        <p:spPr>
          <a:xfrm>
            <a:off x="13144500" y="7686675"/>
            <a:ext cx="4095750" cy="1257300"/>
          </a:xfrm>
          <a:prstGeom prst="rect">
            <a:avLst/>
          </a:prstGeom>
          <a:noFill/>
          <a:ln w="0">
            <a:noFill/>
          </a:ln>
        </p:spPr>
        <p:txBody>
          <a:bodyPr wrap="square" lIns="0" tIns="0" rIns="0" bIns="0" anchor="t">
            <a:noAutofit/>
          </a:bodyPr>
          <a:lstStyle>
            <a:defPPr algn="l">
              <a:defRPr sz="1875" b="0">
                <a:solidFill>
                  <a:srgbClr val="536681"/>
                </a:solidFill>
                <a:latin typeface="Montserrat"/>
                <a:ea typeface="Montserrat"/>
                <a:cs typeface="Montserrat"/>
              </a:defRPr>
            </a:defPPr>
          </a:lstStyle>
          <a:p>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Source linking exists in code. Matching is heuristic and needs end-to-end validation.</a:t>
            </a:r>
          </a:p>
        </p:txBody>
      </p:sp>
      <p:sp>
        <p:nvSpPr>
          <p:cNvPr id="74" name="直接连接符 73">
            <a:extLst>
              <a:ext uri="{FF2B5EF4-FFF2-40B4-BE49-F238E27FC236}">
                <a16:creationId xmlns:a16="http://schemas.microsoft.com/office/drawing/2014/main" id="{63F5F11D-E4A8-430A-824D-A6F3C1BE543C}"/>
              </a:ext>
            </a:extLst>
          </p:cNvPr>
          <p:cNvSpPr>
            <a:spLocks noGrp="1"/>
          </p:cNvSpPr>
          <p:nvPr/>
        </p:nvSpPr>
        <p:spPr>
          <a:xfrm>
            <a:off x="1238250" y="9020175"/>
            <a:ext cx="15668625" cy="0"/>
          </a:xfrm>
          <a:prstGeom prst="line">
            <a:avLst/>
          </a:prstGeom>
          <a:noFill/>
          <a:ln w="13335">
            <a:solidFill>
              <a:srgbClr val="8FA4C1"/>
            </a:solidFill>
          </a:ln>
        </p:spPr>
      </p:sp>
      <p:sp>
        <p:nvSpPr>
          <p:cNvPr id="75" name="Reliability: connection checks, index warnings, parser fallback and gr">
            <a:extLst>
              <a:ext uri="{FF2B5EF4-FFF2-40B4-BE49-F238E27FC236}">
                <a16:creationId xmlns:a16="http://schemas.microsoft.com/office/drawing/2014/main" id="{0DBA5FC5-AE29-4002-83E7-0BB8FFD39B23}"/>
              </a:ext>
            </a:extLst>
          </p:cNvPr>
          <p:cNvSpPr>
            <a:spLocks noGrp="1"/>
          </p:cNvSpPr>
          <p:nvPr/>
        </p:nvSpPr>
        <p:spPr>
          <a:xfrm>
            <a:off x="1238250" y="9324975"/>
            <a:ext cx="15668625" cy="361950"/>
          </a:xfrm>
          <a:prstGeom prst="rect">
            <a:avLst/>
          </a:prstGeom>
          <a:noFill/>
          <a:ln w="0">
            <a:noFill/>
          </a:ln>
        </p:spPr>
        <p:txBody>
          <a:bodyPr wrap="square" lIns="0" tIns="0" rIns="0" bIns="0" anchor="t">
            <a:noAutofit/>
          </a:bodyPr>
          <a:lstStyle>
            <a:defPPr algn="l">
              <a:defRPr sz="1800" b="0">
                <a:solidFill>
                  <a:srgbClr val="536681"/>
                </a:solidFill>
                <a:latin typeface="Montserrat"/>
                <a:ea typeface="Montserrat"/>
                <a:cs typeface="Montserrat"/>
              </a:defRPr>
            </a:defPPr>
          </a:lstStyle>
          <a:p>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Validation: frontend build passes. Earlier manual tests cover previews, tooltips and nebula visibility.</a:t>
            </a:r>
          </a:p>
        </p:txBody>
      </p:sp>
    </p:spTree>
    <p:extLst>
      <p:ext uri="{BB962C8B-B14F-4D97-AF65-F5344CB8AC3E}">
        <p14:creationId xmlns:p14="http://schemas.microsoft.com/office/powerpoint/2010/main" val="447674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02340FA1-B602-4140-92CC-CC8F1112AF1D}"/>
              </a:ext>
            </a:extLst>
          </p:cNvPr>
          <p:cNvSpPr>
            <a:spLocks noGrp="1"/>
          </p:cNvSpPr>
          <p:nvPr/>
        </p:nvSpPr>
        <p:spPr>
          <a:xfrm>
            <a:off x="4410075" y="514350"/>
            <a:ext cx="9467850" cy="819150"/>
          </a:xfrm>
          <a:custGeom>
            <a:avLst/>
            <a:gdLst/>
            <a:ahLst/>
            <a:cxnLst/>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id="4" name="TextBox 4">
            <a:extLst>
              <a:ext uri="{FF2B5EF4-FFF2-40B4-BE49-F238E27FC236}">
                <a16:creationId xmlns:a16="http://schemas.microsoft.com/office/drawing/2014/main" id="{2DD7587C-D23A-46D4-979F-CCBCC38F1D8E}"/>
              </a:ext>
            </a:extLst>
          </p:cNvPr>
          <p:cNvSpPr>
            <a:spLocks noGrp="1"/>
          </p:cNvSpPr>
          <p:nvPr/>
        </p:nvSpPr>
        <p:spPr>
          <a:xfrm>
            <a:off x="4409081" y="370811"/>
            <a:ext cx="9469839" cy="959252"/>
          </a:xfrm>
          <a:prstGeom prst="rect">
            <a:avLst/>
          </a:prstGeom>
        </p:spPr>
        <p:txBody>
          <a:bodyPr lIns="50800" tIns="50800" rIns="50800" bIns="50800" anchor="ctr"/>
          <a:lstStyle/>
          <a:p>
            <a:pPr algn="ctr">
              <a:lnSpc>
                <a:spcPts val="2871"/>
              </a:lnSpc>
              <a:buNone/>
            </a:pPr>
            <a:endParaRPr/>
          </a:p>
        </p:txBody>
      </p:sp>
      <p:sp>
        <p:nvSpPr>
          <p:cNvPr id="6" name="Freeform 6">
            <a:extLst>
              <a:ext uri="{FF2B5EF4-FFF2-40B4-BE49-F238E27FC236}">
                <a16:creationId xmlns:a16="http://schemas.microsoft.com/office/drawing/2014/main" id="{A962661A-69B5-4DFE-95A3-B92E796C603E}"/>
              </a:ext>
            </a:extLst>
          </p:cNvPr>
          <p:cNvSpPr>
            <a:spLocks noGrp="1"/>
          </p:cNvSpPr>
          <p:nvPr/>
        </p:nvSpPr>
        <p:spPr>
          <a:xfrm>
            <a:off x="11849100" y="628650"/>
            <a:ext cx="1704975" cy="590550"/>
          </a:xfrm>
          <a:custGeom>
            <a:avLst/>
            <a:gdLst/>
            <a:ahLst/>
            <a:cxnLst/>
            <a:rect l="l" t="t" r="r" b="b"/>
            <a:pathLst>
              <a:path w="449944" h="155110">
                <a:moveTo>
                  <a:pt x="77555" y="0"/>
                </a:moveTo>
                <a:lnTo>
                  <a:pt x="372389" y="0"/>
                </a:lnTo>
                <a:cubicBezTo>
                  <a:pt x="415221" y="0"/>
                  <a:pt x="449944" y="34722"/>
                  <a:pt x="449944" y="77555"/>
                </a:cubicBezTo>
                <a:lnTo>
                  <a:pt x="449944" y="77555"/>
                </a:lnTo>
                <a:cubicBezTo>
                  <a:pt x="449944" y="120387"/>
                  <a:pt x="415221" y="155110"/>
                  <a:pt x="372389"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id="7" name="TextBox 7">
            <a:extLst>
              <a:ext uri="{FF2B5EF4-FFF2-40B4-BE49-F238E27FC236}">
                <a16:creationId xmlns:a16="http://schemas.microsoft.com/office/drawing/2014/main" id="{059905A8-3B2D-487C-BBCC-02A2D92F5CAA}"/>
              </a:ext>
            </a:extLst>
          </p:cNvPr>
          <p:cNvSpPr>
            <a:spLocks noGrp="1"/>
          </p:cNvSpPr>
          <p:nvPr/>
        </p:nvSpPr>
        <p:spPr>
          <a:xfrm>
            <a:off x="11850296" y="483641"/>
            <a:ext cx="1708381" cy="733592"/>
          </a:xfrm>
          <a:prstGeom prst="rect">
            <a:avLst/>
          </a:prstGeom>
        </p:spPr>
        <p:txBody>
          <a:bodyPr lIns="50800" tIns="50800" rIns="50800" bIns="50800" anchor="ctr"/>
          <a:lstStyle/>
          <a:p>
            <a:pPr algn="ctr">
              <a:lnSpc>
                <a:spcPts val="2871"/>
              </a:lnSpc>
              <a:buNone/>
            </a:pPr>
            <a:endParaRPr/>
          </a:p>
        </p:txBody>
      </p:sp>
      <p:sp>
        <p:nvSpPr>
          <p:cNvPr id="9" name="TextBox 9">
            <a:extLst>
              <a:ext uri="{FF2B5EF4-FFF2-40B4-BE49-F238E27FC236}">
                <a16:creationId xmlns:a16="http://schemas.microsoft.com/office/drawing/2014/main" id="{754B61C2-9EE6-472D-A6A2-DC523688500E}"/>
              </a:ext>
            </a:extLst>
          </p:cNvPr>
          <p:cNvSpPr>
            <a:spLocks noGrp="1"/>
          </p:cNvSpPr>
          <p:nvPr/>
        </p:nvSpPr>
        <p:spPr>
          <a:xfrm>
            <a:off x="4438650" y="733425"/>
            <a:ext cx="16668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a:ext uri="{FF2B5EF4-FFF2-40B4-BE49-F238E27FC236}">
                <a16:creationId xmlns:a16="http://schemas.microsoft.com/office/drawing/2014/main" id="{FD31696D-529F-4B60-B0C4-94E426CF172B}"/>
              </a:ext>
            </a:extLst>
          </p:cNvPr>
          <p:cNvSpPr>
            <a:spLocks noGrp="1"/>
          </p:cNvSpPr>
          <p:nvPr/>
        </p:nvSpPr>
        <p:spPr>
          <a:xfrm>
            <a:off x="6829425" y="733425"/>
            <a:ext cx="1905000"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11" name="TextBox 11">
            <a:extLst>
              <a:ext uri="{FF2B5EF4-FFF2-40B4-BE49-F238E27FC236}">
                <a16:creationId xmlns:a16="http://schemas.microsoft.com/office/drawing/2014/main" id="{99F32776-C8E6-42A5-BC85-E42AFE028ED4}"/>
              </a:ext>
            </a:extLst>
          </p:cNvPr>
          <p:cNvSpPr>
            <a:spLocks noGrp="1"/>
          </p:cNvSpPr>
          <p:nvPr/>
        </p:nvSpPr>
        <p:spPr>
          <a:xfrm>
            <a:off x="9496425" y="733425"/>
            <a:ext cx="1590675" cy="329057"/>
          </a:xfrm>
          <a:prstGeom prst="rect">
            <a:avLst/>
          </a:prstGeom>
        </p:spPr>
        <p:txBody>
          <a:bodyPr lIns="0" tIns="0" rIns="0" bIns="0" anchor="t">
            <a:spAutoFit/>
          </a:bodyPr>
          <a:lstStyle>
            <a:defPPr algn="ctr">
              <a:defRPr sz="1800" b="0">
                <a:solidFill>
                  <a:srgbClr val="101B40"/>
                </a:solidFill>
                <a:latin typeface="Montserrat"/>
                <a:ea typeface="Montserrat"/>
                <a:cs typeface="Montserrat"/>
              </a:defRPr>
            </a:defPPr>
          </a:lstStyle>
          <a:p>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12" name="TextBox 12">
            <a:extLst>
              <a:ext uri="{FF2B5EF4-FFF2-40B4-BE49-F238E27FC236}">
                <a16:creationId xmlns:a16="http://schemas.microsoft.com/office/drawing/2014/main" id="{3EA2CD63-30F7-47C9-A14F-CAEB0CFCEAA1}"/>
              </a:ext>
            </a:extLst>
          </p:cNvPr>
          <p:cNvSpPr>
            <a:spLocks noGrp="1"/>
          </p:cNvSpPr>
          <p:nvPr/>
        </p:nvSpPr>
        <p:spPr>
          <a:xfrm>
            <a:off x="11591925" y="733425"/>
            <a:ext cx="2228850" cy="329057"/>
          </a:xfrm>
          <a:prstGeom prst="rect">
            <a:avLst/>
          </a:prstGeom>
        </p:spPr>
        <p:txBody>
          <a:bodyPr lIns="0" tIns="0" rIns="0" bIns="0" anchor="t">
            <a:spAutoFit/>
          </a:bodyPr>
          <a:lstStyle>
            <a:defPPr algn="ctr">
              <a:defRPr sz="1800" b="1">
                <a:solidFill>
                  <a:srgbClr val="FFFFFF"/>
                </a:solidFill>
                <a:latin typeface="Montserrat"/>
                <a:ea typeface="Montserrat"/>
                <a:cs typeface="Montserrat"/>
              </a:defRPr>
            </a:defPPr>
          </a:lstStyle>
          <a:p>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REVIEW</a:t>
            </a:r>
          </a:p>
        </p:txBody>
      </p:sp>
      <p:sp>
        <p:nvSpPr>
          <p:cNvPr id="13" name="TextBox 13">
            <a:extLst>
              <a:ext uri="{FF2B5EF4-FFF2-40B4-BE49-F238E27FC236}">
                <a16:creationId xmlns:a16="http://schemas.microsoft.com/office/drawing/2014/main" id="{10D73892-C280-469A-8FEB-18F5EC370843}"/>
              </a:ext>
            </a:extLst>
          </p:cNvPr>
          <p:cNvSpPr>
            <a:spLocks noGrp="1"/>
          </p:cNvSpPr>
          <p:nvPr/>
        </p:nvSpPr>
        <p:spPr>
          <a:xfrm>
            <a:off x="800100" y="628650"/>
            <a:ext cx="2381250" cy="567690"/>
          </a:xfrm>
          <a:prstGeom prst="rect">
            <a:avLst/>
          </a:prstGeom>
        </p:spPr>
        <p:txBody>
          <a:bodyPr lIns="0" tIns="0" rIns="0" bIns="0" anchor="t">
            <a:spAutoFit/>
          </a:bodyPr>
          <a:lstStyle>
            <a:defPPr>
              <a:defRPr sz="1800" b="1">
                <a:solidFill>
                  <a:srgbClr val="101B40"/>
                </a:solidFill>
                <a:latin typeface="Montserrat"/>
                <a:ea typeface="Montserrat"/>
                <a:cs typeface="Montserrat"/>
              </a:defRPr>
            </a:defPPr>
          </a:lstStyle>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12">
            <a:extLst>
              <a:ext uri="{FF2B5EF4-FFF2-40B4-BE49-F238E27FC236}">
                <a16:creationId xmlns:a16="http://schemas.microsoft.com/office/drawing/2014/main" id="{86C60EE0-126D-48F0-B0E3-EF0E2BD10E51}"/>
              </a:ext>
            </a:extLst>
          </p:cNvPr>
          <p:cNvSpPr>
            <a:spLocks noGrp="1"/>
          </p:cNvSpPr>
          <p:nvPr/>
        </p:nvSpPr>
        <p:spPr>
          <a:xfrm>
            <a:off x="16735425" y="733425"/>
            <a:ext cx="666750" cy="381000"/>
          </a:xfrm>
          <a:prstGeom prst="rect">
            <a:avLst/>
          </a:prstGeom>
          <a:noFill/>
          <a:ln w="0">
            <a:noFill/>
          </a:ln>
        </p:spPr>
        <p:txBody>
          <a:bodyPr wrap="square" lIns="0" tIns="0" rIns="0" bIns="0" anchor="t">
            <a:noAutofit/>
          </a:bodyPr>
          <a:lstStyle>
            <a:defPPr algn="r">
              <a:defRPr sz="1875" b="1">
                <a:solidFill>
                  <a:srgbClr val="101B40"/>
                </a:solidFill>
                <a:latin typeface="Montserrat Bold"/>
                <a:ea typeface="Montserrat Bold"/>
                <a:cs typeface="Montserrat Bold"/>
              </a:defRPr>
            </a:defPPr>
          </a:lstStyle>
          <a:p>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09</a:t>
            </a:r>
          </a:p>
        </p:txBody>
      </p:sp>
      <p:sp>
        <p:nvSpPr>
          <p:cNvPr id="15" name="PDF-GalaxAI">
            <a:extLst>
              <a:ext uri="{FF2B5EF4-FFF2-40B4-BE49-F238E27FC236}">
                <a16:creationId xmlns:a16="http://schemas.microsoft.com/office/drawing/2014/main" id="{6C288DDE-6802-40FE-BD25-FBDE6B7290C4}"/>
              </a:ext>
            </a:extLst>
          </p:cNvPr>
          <p:cNvSpPr>
            <a:spLocks noGrp="1"/>
          </p:cNvSpPr>
          <p:nvPr/>
        </p:nvSpPr>
        <p:spPr>
          <a:xfrm>
            <a:off x="1238250" y="9620250"/>
            <a:ext cx="4286250" cy="333375"/>
          </a:xfrm>
          <a:prstGeom prst="rect">
            <a:avLst/>
          </a:prstGeom>
          <a:noFill/>
          <a:ln w="0">
            <a:noFill/>
          </a:ln>
        </p:spPr>
        <p:txBody>
          <a:bodyPr wrap="square" lIns="0" tIns="0" rIns="0" bIns="0" anchor="t">
            <a:noAutofit/>
          </a:bodyPr>
          <a:lstStyle>
            <a:defPPr algn="l">
              <a:defRPr sz="1650" b="0">
                <a:solidFill>
                  <a:srgbClr val="536681"/>
                </a:solidFill>
                <a:latin typeface="Montserrat"/>
                <a:ea typeface="Montserrat"/>
                <a:cs typeface="Montserrat"/>
              </a:defRPr>
            </a:defPPr>
          </a:lstStyle>
          <a:p>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12 / 12">
            <a:extLst>
              <a:ext uri="{FF2B5EF4-FFF2-40B4-BE49-F238E27FC236}">
                <a16:creationId xmlns:a16="http://schemas.microsoft.com/office/drawing/2014/main" id="{7AA5E54A-3585-4D2A-BF1A-1B9799A0517D}"/>
              </a:ext>
            </a:extLst>
          </p:cNvPr>
          <p:cNvSpPr>
            <a:spLocks noGrp="1"/>
          </p:cNvSpPr>
          <p:nvPr/>
        </p:nvSpPr>
        <p:spPr>
          <a:xfrm>
            <a:off x="15430500" y="9620250"/>
            <a:ext cx="1524000" cy="333375"/>
          </a:xfrm>
          <a:prstGeom prst="rect">
            <a:avLst/>
          </a:prstGeom>
          <a:noFill/>
          <a:ln w="0">
            <a:noFill/>
          </a:ln>
        </p:spPr>
        <p:txBody>
          <a:bodyPr wrap="square" lIns="0" tIns="0" rIns="0" bIns="0" anchor="t">
            <a:noAutofit/>
          </a:bodyPr>
          <a:lstStyle>
            <a:defPPr algn="r">
              <a:defRPr sz="1650" b="0">
                <a:solidFill>
                  <a:srgbClr val="536681"/>
                </a:solidFill>
                <a:latin typeface="Montserrat"/>
                <a:ea typeface="Montserrat"/>
                <a:cs typeface="Montserrat"/>
              </a:defRPr>
            </a:defPPr>
          </a:lstStyle>
          <a:p>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09 / 09</a:t>
            </a:r>
          </a:p>
        </p:txBody>
      </p:sp>
      <p:sp>
        <p:nvSpPr>
          <p:cNvPr id="17" name="Design-Driven&#10;Technological Innovation">
            <a:extLst>
              <a:ext uri="{FF2B5EF4-FFF2-40B4-BE49-F238E27FC236}">
                <a16:creationId xmlns:a16="http://schemas.microsoft.com/office/drawing/2014/main" id="{A662C3D7-58B7-4124-974E-E1F3ADBAA015}"/>
              </a:ext>
            </a:extLst>
          </p:cNvPr>
          <p:cNvSpPr>
            <a:spLocks noGrp="1"/>
          </p:cNvSpPr>
          <p:nvPr/>
        </p:nvSpPr>
        <p:spPr>
          <a:xfrm>
            <a:off x="2190750" y="2305050"/>
            <a:ext cx="13906500" cy="1666875"/>
          </a:xfrm>
          <a:prstGeom prst="rect">
            <a:avLst/>
          </a:prstGeom>
          <a:noFill/>
          <a:ln w="0">
            <a:noFill/>
          </a:ln>
        </p:spPr>
        <p:txBody>
          <a:bodyPr wrap="square" lIns="0" tIns="0" rIns="0" bIns="0" anchor="t">
            <a:noAutofit/>
          </a:bodyPr>
          <a:lstStyle>
            <a:defPPr algn="ctr">
              <a:defRPr sz="5400" b="1">
                <a:solidFill>
                  <a:srgbClr val="101B40"/>
                </a:solidFill>
                <a:latin typeface="Montserrat Bold"/>
                <a:ea typeface="Montserrat Bold"/>
                <a:cs typeface="Montserrat Bold"/>
              </a:defRPr>
            </a:defPPr>
          </a:lstStyle>
          <a:p>
            <a:pPr algn="ctr">
              <a:buNone/>
              <a:defRPr sz="5400" b="1">
                <a:solidFill>
                  <a:srgbClr val="101B40"/>
                </a:solidFill>
                <a:latin typeface="Montserrat Bold"/>
                <a:ea typeface="Montserrat Bold"/>
                <a:cs typeface="Montserrat Bold"/>
              </a:defRPr>
            </a:pPr>
            <a:r>
              <a:rPr sz="5400" b="1">
                <a:solidFill>
                  <a:srgbClr val="101B40"/>
                </a:solidFill>
                <a:latin typeface="Montserrat Bold"/>
                <a:ea typeface="Montserrat Bold"/>
                <a:cs typeface="Montserrat Bold"/>
              </a:rPr>
              <a:t>Design-Driven</a:t>
            </a:r>
          </a:p>
          <a:p>
            <a:pPr algn="ctr">
              <a:buNone/>
              <a:defRPr sz="5400" b="1">
                <a:solidFill>
                  <a:srgbClr val="101B40"/>
                </a:solidFill>
                <a:latin typeface="Montserrat Bold"/>
                <a:ea typeface="Montserrat Bold"/>
                <a:cs typeface="Montserrat Bold"/>
              </a:defRPr>
            </a:pPr>
            <a:r>
              <a:rPr sz="5400" b="1">
                <a:solidFill>
                  <a:srgbClr val="101B40"/>
                </a:solidFill>
                <a:latin typeface="Montserrat Bold"/>
                <a:ea typeface="Montserrat Bold"/>
                <a:cs typeface="Montserrat Bold"/>
              </a:rPr>
              <a:t>Technological Innovation</a:t>
            </a:r>
          </a:p>
        </p:txBody>
      </p:sp>
      <p:sp>
        <p:nvSpPr>
          <p:cNvPr id="18" name="I independently designed and developed an application that makes&#10;seman">
            <a:extLst>
              <a:ext uri="{FF2B5EF4-FFF2-40B4-BE49-F238E27FC236}">
                <a16:creationId xmlns:a16="http://schemas.microsoft.com/office/drawing/2014/main" id="{FE6458D2-377A-4050-96BE-C46C0124D829}"/>
              </a:ext>
            </a:extLst>
          </p:cNvPr>
          <p:cNvSpPr>
            <a:spLocks noGrp="1"/>
          </p:cNvSpPr>
          <p:nvPr/>
        </p:nvSpPr>
        <p:spPr>
          <a:xfrm>
            <a:off x="2571750" y="4457700"/>
            <a:ext cx="13144500" cy="952500"/>
          </a:xfrm>
          <a:prstGeom prst="rect">
            <a:avLst/>
          </a:prstGeom>
          <a:noFill/>
          <a:ln w="0">
            <a:noFill/>
          </a:ln>
        </p:spPr>
        <p:txBody>
          <a:bodyPr wrap="square" lIns="0" tIns="0" rIns="0" bIns="0" anchor="t">
            <a:noAutofit/>
          </a:bodyPr>
          <a:lstStyle>
            <a:defPPr algn="ctr">
              <a:defRPr sz="2625" b="0">
                <a:solidFill>
                  <a:srgbClr val="101B40"/>
                </a:solidFill>
                <a:latin typeface="Montserrat"/>
                <a:ea typeface="Montserrat"/>
                <a:cs typeface="Montserrat"/>
              </a:defRPr>
            </a:defPPr>
          </a:lstStyle>
          <a:p>
            <a:pPr algn="ctr">
              <a:buNone/>
              <a:defRPr sz="2625" b="0">
                <a:solidFill>
                  <a:srgbClr val="101B40"/>
                </a:solidFill>
                <a:latin typeface="Montserrat"/>
                <a:ea typeface="Montserrat"/>
                <a:cs typeface="Montserrat"/>
              </a:defRPr>
            </a:pPr>
            <a:r>
              <a:rPr sz="2625" b="0">
                <a:solidFill>
                  <a:srgbClr val="101B40"/>
                </a:solidFill>
                <a:latin typeface="Montserrat"/>
                <a:ea typeface="Montserrat"/>
                <a:cs typeface="Montserrat"/>
              </a:rPr>
              <a:t>I independently designed and developed an application that makes</a:t>
            </a:r>
          </a:p>
          <a:p>
            <a:pPr algn="ctr">
              <a:buNone/>
              <a:defRPr sz="2625" b="0">
                <a:solidFill>
                  <a:srgbClr val="101B40"/>
                </a:solidFill>
                <a:latin typeface="Montserrat"/>
                <a:ea typeface="Montserrat"/>
                <a:cs typeface="Montserrat"/>
              </a:defRPr>
            </a:pPr>
            <a:r>
              <a:rPr sz="2625" b="0">
                <a:solidFill>
                  <a:srgbClr val="101B40"/>
                </a:solidFill>
                <a:latin typeface="Montserrat"/>
                <a:ea typeface="Montserrat"/>
                <a:cs typeface="Montserrat"/>
              </a:rPr>
              <a:t>semantic relationships explorable and original evidence accessible.</a:t>
            </a:r>
          </a:p>
        </p:txBody>
      </p:sp>
      <p:sp>
        <p:nvSpPr>
          <p:cNvPr id="19" name="Next evaluation">
            <a:extLst>
              <a:ext uri="{FF2B5EF4-FFF2-40B4-BE49-F238E27FC236}">
                <a16:creationId xmlns:a16="http://schemas.microsoft.com/office/drawing/2014/main" id="{029CE2F1-CA54-422D-BC28-4B05706A785E}"/>
              </a:ext>
            </a:extLst>
          </p:cNvPr>
          <p:cNvSpPr>
            <a:spLocks noGrp="1"/>
          </p:cNvSpPr>
          <p:nvPr/>
        </p:nvSpPr>
        <p:spPr>
          <a:xfrm>
            <a:off x="2667000" y="6153150"/>
            <a:ext cx="6286500" cy="476250"/>
          </a:xfrm>
          <a:prstGeom prst="rect">
            <a:avLst/>
          </a:prstGeom>
          <a:noFill/>
          <a:ln w="0">
            <a:noFill/>
          </a:ln>
        </p:spPr>
        <p:txBody>
          <a:bodyPr wrap="square" lIns="0" tIns="0" rIns="0" bIns="0" anchor="t">
            <a:noAutofit/>
          </a:bodyPr>
          <a:lstStyle>
            <a:defPPr algn="l">
              <a:defRPr sz="2550" b="1">
                <a:solidFill>
                  <a:srgbClr val="101B40"/>
                </a:solidFill>
                <a:latin typeface="Montserrat Bold"/>
                <a:ea typeface="Montserrat Bold"/>
                <a:cs typeface="Montserrat Bold"/>
              </a:defRPr>
            </a:defPPr>
          </a:lstStyle>
          <a:p>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Next evaluation</a:t>
            </a:r>
          </a:p>
        </p:txBody>
      </p:sp>
      <p:sp>
        <p:nvSpPr>
          <p:cNvPr id="20" name="Compare 3D exploration with lists and 2D graphs. Measure task completi">
            <a:extLst>
              <a:ext uri="{FF2B5EF4-FFF2-40B4-BE49-F238E27FC236}">
                <a16:creationId xmlns:a16="http://schemas.microsoft.com/office/drawing/2014/main" id="{90231FC2-F8BA-41B0-810D-5B87E467F932}"/>
              </a:ext>
            </a:extLst>
          </p:cNvPr>
          <p:cNvSpPr>
            <a:spLocks noGrp="1"/>
          </p:cNvSpPr>
          <p:nvPr/>
        </p:nvSpPr>
        <p:spPr>
          <a:xfrm>
            <a:off x="2667000" y="6791325"/>
            <a:ext cx="6286500" cy="1123950"/>
          </a:xfrm>
          <a:prstGeom prst="rect">
            <a:avLst/>
          </a:prstGeom>
          <a:noFill/>
          <a:ln w="0">
            <a:noFill/>
          </a:ln>
        </p:spPr>
        <p:txBody>
          <a:bodyPr wrap="square" lIns="0" tIns="0" rIns="0" bIns="0" anchor="t">
            <a:noAutofit/>
          </a:bodyPr>
          <a:lstStyle>
            <a:defPPr algn="l">
              <a:defRPr sz="2175" b="0">
                <a:solidFill>
                  <a:srgbClr val="536681"/>
                </a:solidFill>
                <a:latin typeface="Montserrat"/>
                <a:ea typeface="Montserrat"/>
                <a:cs typeface="Montserrat"/>
              </a:defRPr>
            </a:defPPr>
          </a:lstStyle>
          <a:p>
            <a:pPr algn="l">
              <a:buNone/>
              <a:defRPr sz="2175" b="0">
                <a:solidFill>
                  <a:srgbClr val="536681"/>
                </a:solidFill>
                <a:latin typeface="Montserrat"/>
                <a:ea typeface="Montserrat"/>
                <a:cs typeface="Montserrat"/>
              </a:defRPr>
            </a:pPr>
            <a:r>
              <a:rPr sz="2175" b="0">
                <a:solidFill>
                  <a:srgbClr val="536681"/>
                </a:solidFill>
                <a:latin typeface="Montserrat"/>
                <a:ea typeface="Montserrat"/>
                <a:cs typeface="Montserrat"/>
              </a:rPr>
              <a:t>Compare 3D exploration with lists and 2D graphs. Measure task completion time and usability.</a:t>
            </a:r>
          </a:p>
        </p:txBody>
      </p:sp>
      <p:sp>
        <p:nvSpPr>
          <p:cNvPr id="21" name="Next engineering step">
            <a:extLst>
              <a:ext uri="{FF2B5EF4-FFF2-40B4-BE49-F238E27FC236}">
                <a16:creationId xmlns:a16="http://schemas.microsoft.com/office/drawing/2014/main" id="{4A65BCB0-1D9A-416C-90A1-0100E7845DE9}"/>
              </a:ext>
            </a:extLst>
          </p:cNvPr>
          <p:cNvSpPr>
            <a:spLocks noGrp="1"/>
          </p:cNvSpPr>
          <p:nvPr/>
        </p:nvSpPr>
        <p:spPr>
          <a:xfrm>
            <a:off x="10001250" y="6153150"/>
            <a:ext cx="5905500" cy="476250"/>
          </a:xfrm>
          <a:prstGeom prst="rect">
            <a:avLst/>
          </a:prstGeom>
          <a:noFill/>
          <a:ln w="0">
            <a:noFill/>
          </a:ln>
        </p:spPr>
        <p:txBody>
          <a:bodyPr wrap="square" lIns="0" tIns="0" rIns="0" bIns="0" anchor="t">
            <a:noAutofit/>
          </a:bodyPr>
          <a:lstStyle>
            <a:defPPr algn="l">
              <a:defRPr sz="2550" b="1">
                <a:solidFill>
                  <a:srgbClr val="101B40"/>
                </a:solidFill>
                <a:latin typeface="Montserrat Bold"/>
                <a:ea typeface="Montserrat Bold"/>
                <a:cs typeface="Montserrat Bold"/>
              </a:defRPr>
            </a:defPPr>
          </a:lstStyle>
          <a:p>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Next engineering step</a:t>
            </a:r>
          </a:p>
        </p:txBody>
      </p:sp>
      <p:sp>
        <p:nvSpPr>
          <p:cNvPr id="22" name="Improve source alignment, test retrieval quality and profile rendering">
            <a:extLst>
              <a:ext uri="{FF2B5EF4-FFF2-40B4-BE49-F238E27FC236}">
                <a16:creationId xmlns:a16="http://schemas.microsoft.com/office/drawing/2014/main" id="{981170D5-B5C7-455B-A47B-D78B0A0D3BFC}"/>
              </a:ext>
            </a:extLst>
          </p:cNvPr>
          <p:cNvSpPr>
            <a:spLocks noGrp="1"/>
          </p:cNvSpPr>
          <p:nvPr/>
        </p:nvSpPr>
        <p:spPr>
          <a:xfrm>
            <a:off x="10001250" y="6791325"/>
            <a:ext cx="5905500" cy="1123950"/>
          </a:xfrm>
          <a:prstGeom prst="rect">
            <a:avLst/>
          </a:prstGeom>
          <a:noFill/>
          <a:ln w="0">
            <a:noFill/>
          </a:ln>
        </p:spPr>
        <p:txBody>
          <a:bodyPr wrap="square" lIns="0" tIns="0" rIns="0" bIns="0" anchor="t">
            <a:noAutofit/>
          </a:bodyPr>
          <a:lstStyle>
            <a:defPPr algn="l">
              <a:defRPr sz="2175" b="0">
                <a:solidFill>
                  <a:srgbClr val="536681"/>
                </a:solidFill>
                <a:latin typeface="Montserrat"/>
                <a:ea typeface="Montserrat"/>
                <a:cs typeface="Montserrat"/>
              </a:defRPr>
            </a:defPPr>
          </a:lstStyle>
          <a:p>
            <a:pPr algn="l">
              <a:buNone/>
              <a:defRPr sz="2175" b="0">
                <a:solidFill>
                  <a:srgbClr val="536681"/>
                </a:solidFill>
                <a:latin typeface="Montserrat"/>
                <a:ea typeface="Montserrat"/>
                <a:cs typeface="Montserrat"/>
              </a:defRPr>
            </a:pPr>
            <a:r>
              <a:rPr sz="2175" b="0">
                <a:solidFill>
                  <a:srgbClr val="536681"/>
                </a:solidFill>
                <a:latin typeface="Montserrat"/>
                <a:ea typeface="Montserrat"/>
                <a:cs typeface="Montserrat"/>
              </a:rPr>
              <a:t>Improve source alignment, test retrieval quality and profile rendering with larger libraries.</a:t>
            </a:r>
          </a:p>
        </p:txBody>
      </p:sp>
      <p:sp>
        <p:nvSpPr>
          <p:cNvPr id="23" name="直接连接符 22">
            <a:extLst>
              <a:ext uri="{FF2B5EF4-FFF2-40B4-BE49-F238E27FC236}">
                <a16:creationId xmlns:a16="http://schemas.microsoft.com/office/drawing/2014/main" id="{26C7F01A-4667-4FFC-8B58-77C90C72BD10}"/>
              </a:ext>
            </a:extLst>
          </p:cNvPr>
          <p:cNvSpPr>
            <a:spLocks noGrp="1"/>
          </p:cNvSpPr>
          <p:nvPr/>
        </p:nvSpPr>
        <p:spPr>
          <a:xfrm>
            <a:off x="2667000" y="8267700"/>
            <a:ext cx="13144500" cy="0"/>
          </a:xfrm>
          <a:prstGeom prst="line">
            <a:avLst/>
          </a:prstGeom>
          <a:noFill/>
          <a:ln w="13335">
            <a:solidFill>
              <a:srgbClr val="8FA4C1"/>
            </a:solidFill>
          </a:ln>
        </p:spPr>
      </p:sp>
      <p:sp>
        <p:nvSpPr>
          <p:cNvPr id="24" name="[Your Name]">
            <a:extLst>
              <a:ext uri="{FF2B5EF4-FFF2-40B4-BE49-F238E27FC236}">
                <a16:creationId xmlns:a16="http://schemas.microsoft.com/office/drawing/2014/main" id="{3F751FEA-7CB6-49FC-8521-63D3411C2FC4}"/>
              </a:ext>
            </a:extLst>
          </p:cNvPr>
          <p:cNvSpPr>
            <a:spLocks noGrp="1"/>
          </p:cNvSpPr>
          <p:nvPr/>
        </p:nvSpPr>
        <p:spPr>
          <a:xfrm>
            <a:off x="2667000" y="8591550"/>
            <a:ext cx="6477000" cy="476250"/>
          </a:xfrm>
          <a:prstGeom prst="rect">
            <a:avLst/>
          </a:prstGeom>
          <a:noFill/>
          <a:ln w="0">
            <a:noFill/>
          </a:ln>
        </p:spPr>
        <p:txBody>
          <a:bodyPr wrap="square" lIns="0" tIns="0" rIns="0" bIns="0" anchor="t">
            <a:noAutofit/>
          </a:bodyPr>
          <a:lstStyle>
            <a:defPPr algn="l">
              <a:defRPr sz="2550" b="1">
                <a:solidFill>
                  <a:srgbClr val="101B40"/>
                </a:solidFill>
                <a:latin typeface="Montserrat Bold"/>
                <a:ea typeface="Montserrat Bold"/>
                <a:cs typeface="Montserrat Bold"/>
              </a:defRPr>
            </a:defPPr>
          </a:lstStyle>
          <a:p>
            <a:pPr algn="l">
              <a:buNone/>
              <a:defRPr sz="2550" b="1">
                <a:solidFill>
                  <a:srgbClr val="101B40"/>
                </a:solidFill>
                <a:latin typeface="Montserrat Bold"/>
                <a:ea typeface="Montserrat Bold"/>
                <a:cs typeface="Montserrat Bold"/>
              </a:defRPr>
            </a:pPr>
            <a:r>
              <a:rPr sz="2550" b="1" dirty="0">
                <a:solidFill>
                  <a:srgbClr val="101B40"/>
                </a:solidFill>
                <a:latin typeface="Montserrat Bold"/>
                <a:ea typeface="Montserrat Bold"/>
                <a:cs typeface="Montserrat Bold"/>
              </a:rPr>
              <a:t>[</a:t>
            </a:r>
            <a:r>
              <a:rPr lang="en-US" sz="2550" b="1" dirty="0">
                <a:solidFill>
                  <a:srgbClr val="101B40"/>
                </a:solidFill>
                <a:latin typeface="Montserrat Bold"/>
                <a:ea typeface="Montserrat Bold"/>
                <a:cs typeface="Montserrat Bold"/>
              </a:rPr>
              <a:t>Li </a:t>
            </a:r>
            <a:r>
              <a:rPr lang="en-US" sz="2550" b="1" dirty="0" err="1">
                <a:solidFill>
                  <a:srgbClr val="101B40"/>
                </a:solidFill>
                <a:latin typeface="Montserrat Bold"/>
                <a:ea typeface="Montserrat Bold"/>
                <a:cs typeface="Montserrat Bold"/>
              </a:rPr>
              <a:t>Shouchuan</a:t>
            </a:r>
            <a:r>
              <a:rPr sz="2550" b="1" dirty="0">
                <a:solidFill>
                  <a:srgbClr val="101B40"/>
                </a:solidFill>
                <a:latin typeface="Montserrat Bold"/>
                <a:ea typeface="Montserrat Bold"/>
                <a:cs typeface="Montserrat Bold"/>
              </a:rPr>
              <a:t>]</a:t>
            </a:r>
          </a:p>
        </p:txBody>
      </p:sp>
      <p:sp>
        <p:nvSpPr>
          <p:cNvPr id="25" name="GitHub">
            <a:extLst>
              <a:ext uri="{FF2B5EF4-FFF2-40B4-BE49-F238E27FC236}">
                <a16:creationId xmlns:a16="http://schemas.microsoft.com/office/drawing/2014/main" id="{1154105B-6A4F-450B-97EE-54067C03DF22}"/>
              </a:ext>
            </a:extLst>
          </p:cNvPr>
          <p:cNvSpPr>
            <a:spLocks noGrp="1"/>
          </p:cNvSpPr>
          <p:nvPr/>
        </p:nvSpPr>
        <p:spPr>
          <a:xfrm>
            <a:off x="10001250" y="8505825"/>
            <a:ext cx="5905500" cy="323850"/>
          </a:xfrm>
          <a:prstGeom prst="rect">
            <a:avLst/>
          </a:prstGeom>
          <a:noFill/>
          <a:ln w="0">
            <a:noFill/>
          </a:ln>
        </p:spPr>
        <p:txBody>
          <a:bodyPr wrap="square" lIns="0" tIns="0" rIns="0" bIns="0" anchor="t">
            <a:noAutofit/>
          </a:bodyPr>
          <a:lstStyle>
            <a:defPPr algn="l">
              <a:defRPr sz="1800" b="1">
                <a:solidFill>
                  <a:srgbClr val="536681"/>
                </a:solidFill>
                <a:latin typeface="Montserrat Bold"/>
                <a:ea typeface="Montserrat Bold"/>
                <a:cs typeface="Montserrat Bold"/>
              </a:defRPr>
            </a:defPPr>
          </a:lstStyle>
          <a:p>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GitHub</a:t>
            </a:r>
          </a:p>
        </p:txBody>
      </p:sp>
      <p:sp>
        <p:nvSpPr>
          <p:cNvPr id="26" name="[Add your GitHub URL]">
            <a:extLst>
              <a:ext uri="{FF2B5EF4-FFF2-40B4-BE49-F238E27FC236}">
                <a16:creationId xmlns:a16="http://schemas.microsoft.com/office/drawing/2014/main" id="{C68A934F-CBBF-4E0C-8922-4E0FE36F8670}"/>
              </a:ext>
            </a:extLst>
          </p:cNvPr>
          <p:cNvSpPr>
            <a:spLocks noGrp="1"/>
          </p:cNvSpPr>
          <p:nvPr/>
        </p:nvSpPr>
        <p:spPr>
          <a:xfrm>
            <a:off x="10001250" y="8915400"/>
            <a:ext cx="5905500" cy="438150"/>
          </a:xfrm>
          <a:prstGeom prst="rect">
            <a:avLst/>
          </a:prstGeom>
          <a:noFill/>
          <a:ln w="0">
            <a:noFill/>
          </a:ln>
        </p:spPr>
        <p:txBody>
          <a:bodyPr wrap="square" lIns="0" tIns="0" rIns="0" bIns="0" anchor="t">
            <a:noAutofit/>
          </a:bodyPr>
          <a:lstStyle>
            <a:defPPr algn="l">
              <a:defRPr sz="2100" b="0">
                <a:solidFill>
                  <a:srgbClr val="101B40"/>
                </a:solidFill>
                <a:latin typeface="Montserrat"/>
                <a:ea typeface="Montserrat"/>
                <a:cs typeface="Montserrat"/>
              </a:defRPr>
            </a:defPPr>
          </a:lstStyle>
          <a:p>
            <a:pPr algn="l">
              <a:buNone/>
              <a:defRPr sz="2100" b="0">
                <a:solidFill>
                  <a:srgbClr val="101B40"/>
                </a:solidFill>
                <a:latin typeface="Montserrat"/>
                <a:ea typeface="Montserrat"/>
                <a:cs typeface="Montserrat"/>
              </a:defRPr>
            </a:pPr>
            <a:r>
              <a:rPr sz="2100" b="0">
                <a:solidFill>
                  <a:srgbClr val="101B40"/>
                </a:solidFill>
                <a:latin typeface="Montserrat"/>
                <a:ea typeface="Montserrat"/>
                <a:cs typeface="Montserrat"/>
              </a:rPr>
              <a:t>[Add your GitHub URL]</a:t>
            </a:r>
          </a:p>
        </p:txBody>
      </p:sp>
    </p:spTree>
    <p:extLst>
      <p:ext uri="{BB962C8B-B14F-4D97-AF65-F5344CB8AC3E}">
        <p14:creationId xmlns:p14="http://schemas.microsoft.com/office/powerpoint/2010/main" val="16661914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3144</Words>
  <Application>Microsoft Office PowerPoint</Application>
  <DocSecurity>0</DocSecurity>
  <PresentationFormat>自定义</PresentationFormat>
  <Paragraphs>345</Paragraphs>
  <Slides>9</Slides>
  <Notes>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vt:i4>
      </vt:variant>
    </vt:vector>
  </HeadingPairs>
  <TitlesOfParts>
    <vt:vector size="16" baseType="lpstr">
      <vt:lpstr>Proxima Nova Light</vt:lpstr>
      <vt:lpstr>Arial</vt:lpstr>
      <vt:lpstr>Microsoft YaHei</vt:lpstr>
      <vt:lpstr>Calibri</vt:lpstr>
      <vt:lpstr>Montserrat Bold</vt:lpstr>
      <vt:lpstr>Montserrat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m30974@365mso.com</cp:lastModifiedBy>
  <cp:revision>1</cp:revision>
  <dcterms:created xsi:type="dcterms:W3CDTF">2026-10-11T18:50:16Z</dcterms:created>
  <dcterms:modified xsi:type="dcterms:W3CDTF">2026-10-11T19:58:55Z</dcterms:modified>
</cp:coreProperties>
</file>