
<file path=[Content_Types].xml><?xml version="1.0" encoding="utf-8"?>
<Types xmlns="http://schemas.openxmlformats.org/package/2006/content-types">
  <Default Extension="xml" ContentType="application/vnd.openxmlformats-package.core-properties+xml"/>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e85bb41ce18474a" /><Relationship Type="http://schemas.openxmlformats.org/officeDocument/2006/relationships/extended-properties" Target="/docProps/app.xml" Id="R7d57b767db1c425a" /><Relationship Type="http://schemas.openxmlformats.org/officeDocument/2006/relationships/officeDocument" Target="/ppt/presentation.xml" Id="Rae8783d2de344def"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803cbd65c6544476"/>
  </p:sldMasterIdLst>
  <p:notesMasterIdLst>
    <p:notesMasterId xmlns:r="http://schemas.openxmlformats.org/officeDocument/2006/relationships" r:id="R44dd28b8ea504b73"/>
  </p:notesMasterIdLst>
  <p:sldIdLst>
    <p:sldId xmlns:r="http://schemas.openxmlformats.org/officeDocument/2006/relationships" id="256" r:id="Rf3d5be23c0ac43a3"/>
    <p:sldId xmlns:r="http://schemas.openxmlformats.org/officeDocument/2006/relationships" id="257" r:id="R0a07fdb778174cef"/>
    <p:sldId xmlns:r="http://schemas.openxmlformats.org/officeDocument/2006/relationships" id="258" r:id="Rc7c5c5430d4e460f"/>
    <p:sldId xmlns:r="http://schemas.openxmlformats.org/officeDocument/2006/relationships" id="259" r:id="Rc14faf7ec38f4ac2"/>
    <p:sldId xmlns:r="http://schemas.openxmlformats.org/officeDocument/2006/relationships" id="260" r:id="Rca19e294eead48dd"/>
    <p:sldId xmlns:r="http://schemas.openxmlformats.org/officeDocument/2006/relationships" id="261" r:id="R2104b8187b3147a0"/>
    <p:sldId xmlns:r="http://schemas.openxmlformats.org/officeDocument/2006/relationships" id="262" r:id="R3457835504524cc5"/>
    <p:sldId xmlns:r="http://schemas.openxmlformats.org/officeDocument/2006/relationships" id="263" r:id="R2a8f0d29487747a9"/>
    <p:sldId xmlns:r="http://schemas.openxmlformats.org/officeDocument/2006/relationships" id="264" r:id="Rb1db88f638a54f5a"/>
    <p:sldId xmlns:r="http://schemas.openxmlformats.org/officeDocument/2006/relationships" id="265" r:id="R6732f55a893e4870"/>
    <p:sldId xmlns:r="http://schemas.openxmlformats.org/officeDocument/2006/relationships" id="266" r:id="R5cfda533807d46a6"/>
    <p:sldId xmlns:r="http://schemas.openxmlformats.org/officeDocument/2006/relationships" id="267" r:id="Rd71170cd7de64a42"/>
  </p:sldIdLst>
  <p:sldSz cx="18288000" cy="10287000"/>
  <p:notesSz cx="6858000" cy="9144000"/>
  <p:embeddedFontLst>
    <p:embeddedFont>
      <p:font typeface="Montserrat"/>
      <p:regular xmlns:r="http://schemas.openxmlformats.org/officeDocument/2006/relationships" r:id="R0d24fa46a72a429a"/>
    </p:embeddedFont>
    <p:embeddedFont>
      <p:font typeface="Montserrat Bold"/>
      <p:regular xmlns:r="http://schemas.openxmlformats.org/officeDocument/2006/relationships" r:id="R05d2964c38d84ff2"/>
    </p:embeddedFont>
    <p:embeddedFont>
      <p:font typeface="Montserrat Semi-Bold"/>
      <p:regular xmlns:r="http://schemas.openxmlformats.org/officeDocument/2006/relationships" r:id="R1e4733058e2240c6"/>
    </p:embeddedFont>
    <p:embeddedFont>
      <p:font typeface="Montserrat Semi-Bold Italics"/>
      <p:regular xmlns:r="http://schemas.openxmlformats.org/officeDocument/2006/relationships" r:id="Ra38bd8b85aed4f3d"/>
    </p:embeddedFont>
  </p:embeddedFontLst>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7cfe3359be84432b" /><Relationship Type="http://schemas.openxmlformats.org/officeDocument/2006/relationships/slideMaster" Target="/ppt/slideMasters/slideMaster1.xml" Id="R803cbd65c6544476" /><Relationship Type="http://schemas.openxmlformats.org/officeDocument/2006/relationships/notesMaster" Target="/ppt/notesMasters/notesMaster1.xml" Id="R44dd28b8ea504b73" /><Relationship Type="http://schemas.openxmlformats.org/officeDocument/2006/relationships/presProps" Target="/ppt/presProps.xml" Id="R0bab0720b4b04752" /><Relationship Type="http://schemas.openxmlformats.org/officeDocument/2006/relationships/viewProps" Target="/ppt/viewProps.xml" Id="R06147d67f278477d" /><Relationship Type="http://schemas.openxmlformats.org/officeDocument/2006/relationships/tableStyles" Target="/ppt/tableStyles.xml" Id="R00be9e89e09742c3" /><Relationship Type="http://schemas.openxmlformats.org/officeDocument/2006/relationships/font" Target="/ppt/fonts/font.dat" Id="R0d24fa46a72a429a" /><Relationship Type="http://schemas.openxmlformats.org/officeDocument/2006/relationships/font" Target="/ppt/fonts/font2.dat" Id="R05d2964c38d84ff2" /><Relationship Type="http://schemas.openxmlformats.org/officeDocument/2006/relationships/font" Target="/ppt/fonts/font3.dat" Id="R1e4733058e2240c6" /><Relationship Type="http://schemas.openxmlformats.org/officeDocument/2006/relationships/font" Target="/ppt/fonts/font4.dat" Id="Ra38bd8b85aed4f3d" /><Relationship Type="http://schemas.openxmlformats.org/officeDocument/2006/relationships/slide" Target="/ppt/slides/slide1.xml" Id="Rf3d5be23c0ac43a3" /><Relationship Type="http://schemas.openxmlformats.org/officeDocument/2006/relationships/slide" Target="/ppt/slides/slide2.xml" Id="R0a07fdb778174cef" /><Relationship Type="http://schemas.openxmlformats.org/officeDocument/2006/relationships/slide" Target="/ppt/slides/slide3.xml" Id="Rc7c5c5430d4e460f" /><Relationship Type="http://schemas.openxmlformats.org/officeDocument/2006/relationships/slide" Target="/ppt/slides/slide4.xml" Id="Rc14faf7ec38f4ac2" /><Relationship Type="http://schemas.openxmlformats.org/officeDocument/2006/relationships/slide" Target="/ppt/slides/slide5.xml" Id="Rca19e294eead48dd" /><Relationship Type="http://schemas.openxmlformats.org/officeDocument/2006/relationships/slide" Target="/ppt/slides/slide6.xml" Id="R2104b8187b3147a0" /><Relationship Type="http://schemas.openxmlformats.org/officeDocument/2006/relationships/slide" Target="/ppt/slides/slide7.xml" Id="R3457835504524cc5" /><Relationship Type="http://schemas.openxmlformats.org/officeDocument/2006/relationships/slide" Target="/ppt/slides/slide8.xml" Id="R2a8f0d29487747a9" /><Relationship Type="http://schemas.openxmlformats.org/officeDocument/2006/relationships/slide" Target="/ppt/slides/slide9.xml" Id="Rb1db88f638a54f5a" /><Relationship Type="http://schemas.openxmlformats.org/officeDocument/2006/relationships/slide" Target="/ppt/slides/slide10.xml" Id="R6732f55a893e4870" /><Relationship Type="http://schemas.openxmlformats.org/officeDocument/2006/relationships/slide" Target="/ppt/slides/slide11.xml" Id="R5cfda533807d46a6" /><Relationship Type="http://schemas.openxmlformats.org/officeDocument/2006/relationships/slide" Target="/ppt/slides/slide12.xml" Id="Rd71170cd7de64a4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77ac8dd095845f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9a202772e0c424e" /><Relationship Type="http://schemas.openxmlformats.org/officeDocument/2006/relationships/notesMaster" Target="/ppt/notesMasters/notesMaster1.xml" Id="R89a181024a0c4ff7" /></Relationships>
</file>

<file path=ppt/notesSlides/_rels/notesSlide2.xml.rels>&#65279;<?xml version="1.0" encoding="utf-8"?><Relationships xmlns="http://schemas.openxmlformats.org/package/2006/relationships"><Relationship Type="http://schemas.openxmlformats.org/officeDocument/2006/relationships/slide" Target="/ppt/slides/slide2.xml" Id="Rd93f8803d7824d90" /><Relationship Type="http://schemas.openxmlformats.org/officeDocument/2006/relationships/notesMaster" Target="/ppt/notesMasters/notesMaster1.xml" Id="R0d71dfe4486e46f7" /></Relationships>
</file>

<file path=ppt/notesSlides/_rels/notesSlide3.xml.rels>&#65279;<?xml version="1.0" encoding="utf-8"?><Relationships xmlns="http://schemas.openxmlformats.org/package/2006/relationships"><Relationship Type="http://schemas.openxmlformats.org/officeDocument/2006/relationships/slide" Target="/ppt/slides/slide3.xml" Id="R698b16a2bdd0429a" /><Relationship Type="http://schemas.openxmlformats.org/officeDocument/2006/relationships/notesMaster" Target="/ppt/notesMasters/notesMaster1.xml" Id="Raee9b6dd66b240a3" /></Relationships>
</file>

<file path=ppt/notesSlides/_rels/notesSlide4.xml.rels>&#65279;<?xml version="1.0" encoding="utf-8"?><Relationships xmlns="http://schemas.openxmlformats.org/package/2006/relationships"><Relationship Type="http://schemas.openxmlformats.org/officeDocument/2006/relationships/slide" Target="/ppt/slides/slide4.xml" Id="Rc087938b5eb84900" /><Relationship Type="http://schemas.openxmlformats.org/officeDocument/2006/relationships/notesMaster" Target="/ppt/notesMasters/notesMaster1.xml" Id="R8fc0f2fff22742ec" /></Relationships>
</file>

<file path=ppt/notesSlides/_rels/notesSlide5.xml.rels>&#65279;<?xml version="1.0" encoding="utf-8"?><Relationships xmlns="http://schemas.openxmlformats.org/package/2006/relationships"><Relationship Type="http://schemas.openxmlformats.org/officeDocument/2006/relationships/slide" Target="/ppt/slides/slide5.xml" Id="R44b85053dc724773" /><Relationship Type="http://schemas.openxmlformats.org/officeDocument/2006/relationships/notesMaster" Target="/ppt/notesMasters/notesMaster1.xml" Id="R77fc5d3c905d41a7" /></Relationships>
</file>

<file path=ppt/notesSlides/_rels/notesSlide6.xml.rels>&#65279;<?xml version="1.0" encoding="utf-8"?><Relationships xmlns="http://schemas.openxmlformats.org/package/2006/relationships"><Relationship Type="http://schemas.openxmlformats.org/officeDocument/2006/relationships/slide" Target="/ppt/slides/slide6.xml" Id="Rfc83c4ab131a40a7" /><Relationship Type="http://schemas.openxmlformats.org/officeDocument/2006/relationships/notesMaster" Target="/ppt/notesMasters/notesMaster1.xml" Id="R1c604a6f32454aa8" /></Relationships>
</file>

<file path=ppt/notesSlides/_rels/notesSlide7.xml.rels>&#65279;<?xml version="1.0" encoding="utf-8"?><Relationships xmlns="http://schemas.openxmlformats.org/package/2006/relationships"><Relationship Type="http://schemas.openxmlformats.org/officeDocument/2006/relationships/slide" Target="/ppt/slides/slide7.xml" Id="R4c91d68835a7497d" /><Relationship Type="http://schemas.openxmlformats.org/officeDocument/2006/relationships/notesMaster" Target="/ppt/notesMasters/notesMaster1.xml" Id="R763f1ab06dbe4633" /></Relationships>
</file>

<file path=ppt/notesSlides/_rels/notesSlide8.xml.rels>&#65279;<?xml version="1.0" encoding="utf-8"?><Relationships xmlns="http://schemas.openxmlformats.org/package/2006/relationships"><Relationship Type="http://schemas.openxmlformats.org/officeDocument/2006/relationships/slide" Target="/ppt/slides/slide8.xml" Id="Rf0a4ffe4f7a34906" /><Relationship Type="http://schemas.openxmlformats.org/officeDocument/2006/relationships/notesMaster" Target="/ppt/notesMasters/notesMaster1.xml" Id="R5d28c1ffa3694266" /></Relationships>
</file>

<file path=ppt/notesSlides/_rels/notesSlide9.xml.rels>&#65279;<?xml version="1.0" encoding="utf-8"?><Relationships xmlns="http://schemas.openxmlformats.org/package/2006/relationships"><Relationship Type="http://schemas.openxmlformats.org/officeDocument/2006/relationships/slide" Target="/ppt/slides/slide9.xml" Id="Reefec7aba8ce42c9" /><Relationship Type="http://schemas.openxmlformats.org/officeDocument/2006/relationships/notesMaster" Target="/ppt/notesMasters/notesMaster1.xml" Id="Rc5469cf760b1482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02085ab571e48cc" /><Relationship Type="http://schemas.openxmlformats.org/officeDocument/2006/relationships/notesMaster" Target="/ppt/notesMasters/notesMaster1.xml" Id="Rcfdbf5c91ec24c4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e56af33527e41d0" /><Relationship Type="http://schemas.openxmlformats.org/officeDocument/2006/relationships/notesMaster" Target="/ppt/notesMasters/notesMaster1.xml" Id="Re598cd30bcac484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57dc106767044cc" /><Relationship Type="http://schemas.openxmlformats.org/officeDocument/2006/relationships/notesMaster" Target="/ppt/notesMasters/notesMaster1.xml" Id="Rf4be37776f0d412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independently designed and developed the application, integrating document processing, semantic retrieval, real-time 3D graphics and reading interactions. My application uses third-party frameworks and pretrained models. The independent ownership statement reflects the applicant’s explicit account of their development role.</a:t>
            </a:r>
          </a:p>
          <a:p xmlns:a="http://schemas.openxmlformats.org/drawingml/2006/main">
            <a:r>
              <a:t/>
            </a:r>
          </a:p>
          <a:p xmlns:a="http://schemas.openxmlformats.org/drawingml/2006/main">
            <a:r>
              <a:t>Project sources:</a:t>
            </a:r>
          </a:p>
          <a:p xmlns:a="http://schemas.openxmlformats.org/drawingml/2006/main">
            <a:r>
              <a:t>C:/Users/Asus/Desktop/PDF_GalaxAI/README.md</a:t>
            </a:r>
          </a:p>
          <a:p xmlns:a="http://schemas.openxmlformats.org/drawingml/2006/main">
            <a:r>
              <a:t>C:/Users/Asus/Desktop/PDF_GalaxAI/package.json</a:t>
            </a:r>
          </a:p>
          <a:p xmlns:a="http://schemas.openxmlformats.org/drawingml/2006/main">
            <a:r>
              <a:t>C:/Users/Asus/Desktop/PDF_GalaxAI/backend/store.py</a:t>
            </a:r>
          </a:p>
          <a:p xmlns:a="http://schemas.openxmlformats.org/drawingml/2006/main">
            <a:r>
              <a:t>C:/Users/Asus/Desktop/PDF_GalaxAI/frontend/src/ui/App.tsx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objectives express the product’s design rationale for research workflows. They are design hypotheses, not findings from a completed user interview study. The project materials do not document a formal user research sample.</a:t>
            </a:r>
          </a:p>
          <a:p xmlns:a="http://schemas.openxmlformats.org/drawingml/2006/main">
            <a:r>
              <a:t/>
            </a:r>
          </a:p>
          <a:p xmlns:a="http://schemas.openxmlformats.org/drawingml/2006/main">
            <a:r>
              <a:t>Project sources:</a:t>
            </a:r>
          </a:p>
          <a:p xmlns:a="http://schemas.openxmlformats.org/drawingml/2006/main">
            <a:r>
              <a:t>C:/Users/Asus/Desktop/PDF_GalaxAI/README.md</a:t>
            </a:r>
          </a:p>
          <a:p xmlns:a="http://schemas.openxmlformats.org/drawingml/2006/main">
            <a:r>
              <a:t>C:/Users/Asus/Desktop/PDF_GalaxAI/frontend/src/ui/App.tsx</a:t>
            </a:r>
          </a:p>
          <a:p xmlns:a="http://schemas.openxmlformats.org/drawingml/2006/main">
            <a:r>
              <a:t>C:/Users/Asus/Desktop/PDF_GalaxAI/frontend/src/ui/ReaderModal.tsx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App component owns selectedPaper, readerPaper, attachedPapers and activeHighlights. Search performs case-insensitive substring matching on titles, display titles, filenames and keywords. Node selection and right-click add-to-chat connect the galaxy to reading and questioning. The UI search is not a vector search.</a:t>
            </a:r>
          </a:p>
          <a:p xmlns:a="http://schemas.openxmlformats.org/drawingml/2006/main">
            <a:r>
              <a:t/>
            </a:r>
          </a:p>
          <a:p xmlns:a="http://schemas.openxmlformats.org/drawingml/2006/main">
            <a:r>
              <a:t>Project sources:</a:t>
            </a:r>
          </a:p>
          <a:p xmlns:a="http://schemas.openxmlformats.org/drawingml/2006/main">
            <a:r>
              <a:t>C:/Users/Asus/Desktop/PDF_GalaxAI/frontend/src/ui/App.tsx</a:t>
            </a:r>
          </a:p>
          <a:p xmlns:a="http://schemas.openxmlformats.org/drawingml/2006/main">
            <a:r>
              <a:t>C:/Users/Asus/Desktop/PDF_GalaxAI/frontend/src/ui/GalaxyArea.tsx</a:t>
            </a:r>
          </a:p>
          <a:p xmlns:a="http://schemas.openxmlformats.org/drawingml/2006/main">
            <a:r>
              <a:t>C:/Users/Asus/Desktop/PDF_GalaxAI/frontend/src/rendering/GalaxyRenderer.tsx</a:t>
            </a:r>
          </a:p>
          <a:p xmlns:a="http://schemas.openxmlformats.org/drawingml/2006/main">
            <a:r>
              <a:t>C:/Users/Asus/Desktop/PDF_GalaxAI/frontend/src/ui/PaperDetail.tsx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Paper-level embeddings use the abstract and keywords. KMeans selects a cluster count using cosine silhouette scores where possible. UMAP/PCA produces three-dimensional coordinates, then store.py tightens and offsets clusters for separation. One to three papers use fixed positions. Position is an exploratory projection and not an exact semantic distance. Similarity edges use cosine top-4 neighbours and a 0.20 cutoff. The renderer currently draws edges with a common visual style, so it should not be described as encoding edge weight by line intensity. Nebula shading uses a sampled density field and a GPU particle system. 3D benefits remain a usability hypothesis pending comparison with list and 2D layouts.</a:t>
            </a:r>
          </a:p>
          <a:p xmlns:a="http://schemas.openxmlformats.org/drawingml/2006/main">
            <a:r>
              <a:t/>
            </a:r>
          </a:p>
          <a:p xmlns:a="http://schemas.openxmlformats.org/drawingml/2006/main">
            <a:r>
              <a:t>Project sources:</a:t>
            </a:r>
          </a:p>
          <a:p xmlns:a="http://schemas.openxmlformats.org/drawingml/2006/main">
            <a:r>
              <a:t>C:/Users/Asus/Desktop/PDF_GalaxAI/backend/store.py</a:t>
            </a:r>
          </a:p>
          <a:p xmlns:a="http://schemas.openxmlformats.org/drawingml/2006/main">
            <a:r>
              <a:t>C:/Users/Asus/Desktop/PDF_GalaxAI/backend/clustering.py</a:t>
            </a:r>
          </a:p>
          <a:p xmlns:a="http://schemas.openxmlformats.org/drawingml/2006/main">
            <a:r>
              <a:t>C:/Users/Asus/Desktop/PDF_GalaxAI/backend/api.py</a:t>
            </a:r>
          </a:p>
          <a:p xmlns:a="http://schemas.openxmlformats.org/drawingml/2006/main">
            <a:r>
              <a:t>C:/Users/Asus/Desktop/PDF_GalaxAI/frontend/src/rendering/GalaxyRenderer.tsx</a:t>
            </a:r>
          </a:p>
          <a:p xmlns:a="http://schemas.openxmlformats.org/drawingml/2006/main">
            <a:r>
              <a:t>C:/Users/Asus/Desktop/PDF_GalaxAI/frontend/src/rendering/SemanticNebula.tsx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default embedding model is BAAI/bge-m3, configurable through SCHOLAR_ST_MODEL. Paper embeddings use abstract and keyword text. chunk_text uses a 500-character window and 100-character overlap, preferring sentence boundaries. Indexing filters very short or poor-quality chunks. The vector store has separate scholar_papers and scholar_chunks collections with cosine distance. OCR is optional and falls back to native extraction when Tesseract is unavailable. MinerU requires a separate CLI installation. Auto keywords use corpus TF-IDF, mixed-language tokenisation and MMR diversity; declared keywords remain preserved.</a:t>
            </a:r>
          </a:p>
          <a:p xmlns:a="http://schemas.openxmlformats.org/drawingml/2006/main">
            <a:r>
              <a:t/>
            </a:r>
          </a:p>
          <a:p xmlns:a="http://schemas.openxmlformats.org/drawingml/2006/main">
            <a:r>
              <a:t>Project sources:</a:t>
            </a:r>
          </a:p>
          <a:p xmlns:a="http://schemas.openxmlformats.org/drawingml/2006/main">
            <a:r>
              <a:t>C:/Users/Asus/Desktop/PDF_GalaxAI/backend/text_processing.py</a:t>
            </a:r>
          </a:p>
          <a:p xmlns:a="http://schemas.openxmlformats.org/drawingml/2006/main">
            <a:r>
              <a:t>C:/Users/Asus/Desktop/PDF_GalaxAI/backend/chunker.py</a:t>
            </a:r>
          </a:p>
          <a:p xmlns:a="http://schemas.openxmlformats.org/drawingml/2006/main">
            <a:r>
              <a:t>C:/Users/Asus/Desktop/PDF_GalaxAI/backend/store.py</a:t>
            </a:r>
          </a:p>
          <a:p xmlns:a="http://schemas.openxmlformats.org/drawingml/2006/main">
            <a:r>
              <a:t>C:/Users/Asus/Desktop/PDF_GalaxAI/backend/vector_store.py</a:t>
            </a:r>
          </a:p>
          <a:p xmlns:a="http://schemas.openxmlformats.org/drawingml/2006/main">
            <a:r>
              <a:t>C:/Users/Asus/Desktop/PDF_GalaxAI/backend/keyword_extractor.py</a:t>
            </a:r>
          </a:p>
          <a:p xmlns:a="http://schemas.openxmlformats.org/drawingml/2006/main">
            <a:r>
              <a:t>C:/Users/Asus/Desktop/PDF_GalaxAI/backend/mineru_parser.py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search_chunks fetches max(top_k*5,20) candidate chunks, then applies a weighted reranking score: 0.72 semantic similarity, 0.18 lexical overlap and 0.10 text quality. The main query endpoint generally selects five chunks, or six in a named-paper search. Auto routing uses retrieval quality and raw semantic scores to choose rag, rag_soft or chat. Forced RAG without chunks can use rag_soft, so the product does not implement a universal strict refusal policy. The backend sends context and recent dialogue to the chosen provider and returns answer, cite_details, provider_used and mode. RAG improves access to evidence but does not eliminate hallucination.</a:t>
            </a:r>
          </a:p>
          <a:p xmlns:a="http://schemas.openxmlformats.org/drawingml/2006/main">
            <a:r>
              <a:t/>
            </a:r>
          </a:p>
          <a:p xmlns:a="http://schemas.openxmlformats.org/drawingml/2006/main">
            <a:r>
              <a:t>Project sources:</a:t>
            </a:r>
          </a:p>
          <a:p xmlns:a="http://schemas.openxmlformats.org/drawingml/2006/main">
            <a:r>
              <a:t>C:/Users/Asus/Desktop/PDF_GalaxAI/backend/store.py</a:t>
            </a:r>
          </a:p>
          <a:p xmlns:a="http://schemas.openxmlformats.org/drawingml/2006/main">
            <a:r>
              <a:t>C:/Users/Asus/Desktop/PDF_GalaxAI/backend/api.py</a:t>
            </a:r>
          </a:p>
          <a:p xmlns:a="http://schemas.openxmlformats.org/drawingml/2006/main">
            <a:r>
              <a:t>C:/Users/Asus/Desktop/PDF_GalaxAI/backend/llm_client.py</a:t>
            </a:r>
          </a:p>
          <a:p xmlns:a="http://schemas.openxmlformats.org/drawingml/2006/main">
            <a:r>
              <a:t>C:/Users/Asus/Desktop/PDF_GalaxAI/frontend/src/api/client.ts</a:t>
            </a:r>
          </a:p>
          <a:p xmlns:a="http://schemas.openxmlformats.org/drawingml/2006/main">
            <a:r>
              <a:t>C:/Users/Asus/Desktop/PDF_GalaxAI/frontend/src/ui/App.tsx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backend attaches references for the retrieved passages, then locate_snippet_page searches native PDF page text using normalised snippets and a keyword fallback. The main and reader chats render citation chips and source cards. Paragraph-to-source associations use lexical matching with a fallback, not semantic entailment verification. PdfReaderPane highlights matching PDF text-layer items and scrolls to the first hit. OCR-only pages, layout differences, or ambiguous keywords may prevent precise location. Citations expose possible supporting material; they do not prove every generated claim.</a:t>
            </a:r>
          </a:p>
          <a:p xmlns:a="http://schemas.openxmlformats.org/drawingml/2006/main">
            <a:r>
              <a:t/>
            </a:r>
          </a:p>
          <a:p xmlns:a="http://schemas.openxmlformats.org/drawingml/2006/main">
            <a:r>
              <a:t>Project sources:</a:t>
            </a:r>
          </a:p>
          <a:p xmlns:a="http://schemas.openxmlformats.org/drawingml/2006/main">
            <a:r>
              <a:t>C:/Users/Asus/Desktop/PDF_GalaxAI/backend/store.py</a:t>
            </a:r>
          </a:p>
          <a:p xmlns:a="http://schemas.openxmlformats.org/drawingml/2006/main">
            <a:r>
              <a:t>C:/Users/Asus/Desktop/PDF_GalaxAI/backend/api.py</a:t>
            </a:r>
          </a:p>
          <a:p xmlns:a="http://schemas.openxmlformats.org/drawingml/2006/main">
            <a:r>
              <a:t>C:/Users/Asus/Desktop/PDF_GalaxAI/frontend/src/ui/App.tsx</a:t>
            </a:r>
          </a:p>
          <a:p xmlns:a="http://schemas.openxmlformats.org/drawingml/2006/main">
            <a:r>
              <a:t>C:/Users/Asus/Desktop/PDF_GalaxAI/frontend/src/ui/ReaderChat.tsx</a:t>
            </a:r>
          </a:p>
          <a:p xmlns:a="http://schemas.openxmlformats.org/drawingml/2006/main">
            <a:r>
              <a:t>C:/Users/Asus/Desktop/PDF_GalaxAI/frontend/src/ui/ReaderModal.tsx</a:t>
            </a:r>
          </a:p>
          <a:p xmlns:a="http://schemas.openxmlformats.org/drawingml/2006/main">
            <a:r>
              <a:t>C:/Users/Asus/Desktop/PDF_GalaxAI/frontend/src/ui/PdfReaderPane.tsx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frontend uses REST fetch calls, not a streaming websocket RAG channel. Vite development proxies /api and /files to 127.0.0.1:8000. Backend startup imports inbox PDFs and restores/checks indexes. Files and metadata use local directories and JSON. Chroma telemetry is disabled in VectorStore. Local Ollama is a built-in OpenAI-compatible provider; Gemini and custom providers share the model registry and HTTP client. Cloud inference receives prompt context and vision images when used. Embedding model acquisition may require network access initially. The project is a local research application and does not document production authentication or deployment hardening.</a:t>
            </a:r>
          </a:p>
          <a:p xmlns:a="http://schemas.openxmlformats.org/drawingml/2006/main">
            <a:r>
              <a:t/>
            </a:r>
          </a:p>
          <a:p xmlns:a="http://schemas.openxmlformats.org/drawingml/2006/main">
            <a:r>
              <a:t>Project sources:</a:t>
            </a:r>
          </a:p>
          <a:p xmlns:a="http://schemas.openxmlformats.org/drawingml/2006/main">
            <a:r>
              <a:t>C:/Users/Asus/Desktop/PDF_GalaxAI/vite.config.ts</a:t>
            </a:r>
          </a:p>
          <a:p xmlns:a="http://schemas.openxmlformats.org/drawingml/2006/main">
            <a:r>
              <a:t>C:/Users/Asus/Desktop/PDF_GalaxAI/backend/main.py</a:t>
            </a:r>
          </a:p>
          <a:p xmlns:a="http://schemas.openxmlformats.org/drawingml/2006/main">
            <a:r>
              <a:t>C:/Users/Asus/Desktop/PDF_GalaxAI/backend/api.py</a:t>
            </a:r>
          </a:p>
          <a:p xmlns:a="http://schemas.openxmlformats.org/drawingml/2006/main">
            <a:r>
              <a:t>C:/Users/Asus/Desktop/PDF_GalaxAI/backend/store.py</a:t>
            </a:r>
          </a:p>
          <a:p xmlns:a="http://schemas.openxmlformats.org/drawingml/2006/main">
            <a:r>
              <a:t>C:/Users/Asus/Desktop/PDF_GalaxAI/backend/vector_store.py</a:t>
            </a:r>
          </a:p>
          <a:p xmlns:a="http://schemas.openxmlformats.org/drawingml/2006/main">
            <a:r>
              <a:t>C:/Users/Asus/Desktop/PDF_GalaxAI/backend/models_registry.py</a:t>
            </a:r>
          </a:p>
          <a:p xmlns:a="http://schemas.openxmlformats.org/drawingml/2006/main">
            <a:r>
              <a:t>C:/Users/Asus/Desktop/PDF_GalaxAI/backend/llm_client.py</a:t>
            </a:r>
          </a:p>
          <a:p xmlns:a="http://schemas.openxmlformats.org/drawingml/2006/main">
            <a:r>
              <a:t>C:/Users/Asus/Desktop/PDF_GalaxAI/frontend/src/ui/App.tsx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normal workflow is upload, graph exploration, paper context attachment, model/mode selection, question, citation and PDF reading. ModelPicker exposes built-in local/cloud and custom configurations. ModelManager offers protocol, endpoint, credentials, proxy selection and test connection. An index status warning indicates an embedding-model mismatch and offers a rebuild. Provider switching changes generation, not the local embedding representation. Vision questions require a compatible model and can use an uploaded or pasted screenshot in ReaderChat.</a:t>
            </a:r>
          </a:p>
          <a:p xmlns:a="http://schemas.openxmlformats.org/drawingml/2006/main">
            <a:r>
              <a:t/>
            </a:r>
          </a:p>
          <a:p xmlns:a="http://schemas.openxmlformats.org/drawingml/2006/main">
            <a:r>
              <a:t>Project sources:</a:t>
            </a:r>
          </a:p>
          <a:p xmlns:a="http://schemas.openxmlformats.org/drawingml/2006/main">
            <a:r>
              <a:t>C:/Users/Asus/Desktop/PDF_GalaxAI/frontend/src/ui/ModelPicker.tsx</a:t>
            </a:r>
          </a:p>
          <a:p xmlns:a="http://schemas.openxmlformats.org/drawingml/2006/main">
            <a:r>
              <a:t>C:/Users/Asus/Desktop/PDF_GalaxAI/frontend/src/ui/ModelManager.tsx</a:t>
            </a:r>
          </a:p>
          <a:p xmlns:a="http://schemas.openxmlformats.org/drawingml/2006/main">
            <a:r>
              <a:t>C:/Users/Asus/Desktop/PDF_GalaxAI/frontend/src/ui/IndexAdmin.tsx</a:t>
            </a:r>
          </a:p>
          <a:p xmlns:a="http://schemas.openxmlformats.org/drawingml/2006/main">
            <a:r>
              <a:t>C:/Users/Asus/Desktop/PDF_GalaxAI/frontend/src/ui/ReaderChat.tsx</a:t>
            </a:r>
          </a:p>
          <a:p xmlns:a="http://schemas.openxmlformats.org/drawingml/2006/main">
            <a:r>
              <a:t>C:/Users/Asus/Desktop/PDF_GalaxAI/backend/models_registry.py</a:t>
            </a:r>
          </a:p>
          <a:p xmlns:a="http://schemas.openxmlformats.org/drawingml/2006/main">
            <a:r>
              <a:t>C:/Users/Asus/Desktop/PDF_GalaxAI/backend/llm_client.py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Historic reports: DEMO records occlusion, responsiveness and directory sync issues; v1.1.1 records a pass for filename hover, nebula occlusion improvement and preview. The v1.2 folder report labels itself v1.1.1 and records keyboard/preview layout issues without a final resolution table. The current code includes bounded OrbitControls, adaptive rendering presets, quality-aware chunk reranking, keyword filtering, OCR/parser fallbacks, PDF viewer fallback, index warnings, model tests and graph refresh retries. Do not equate code presence with a completed regression pass. No benchmark supports a speed improvement percentage.</a:t>
            </a:r>
          </a:p>
          <a:p xmlns:a="http://schemas.openxmlformats.org/drawingml/2006/main">
            <a:r>
              <a:t/>
            </a:r>
          </a:p>
          <a:p xmlns:a="http://schemas.openxmlformats.org/drawingml/2006/main">
            <a:r>
              <a:t>Project sources:</a:t>
            </a:r>
          </a:p>
          <a:p xmlns:a="http://schemas.openxmlformats.org/drawingml/2006/main">
            <a:r>
              <a:t>C:/Users/Asus/Desktop/PDF_GalaxAI/tests/test_v1/Test_report_v1.md</a:t>
            </a:r>
          </a:p>
          <a:p xmlns:a="http://schemas.openxmlformats.org/drawingml/2006/main">
            <a:r>
              <a:t>C:/Users/Asus/Desktop/PDF_GalaxAI/tests/test_v1.1.1/Test_report_v1.1.1.md</a:t>
            </a:r>
          </a:p>
          <a:p xmlns:a="http://schemas.openxmlformats.org/drawingml/2006/main">
            <a:r>
              <a:t>C:/Users/Asus/Desktop/PDF_GalaxAI/tests/test_v1.2/Test_report_v1.2.md</a:t>
            </a:r>
          </a:p>
          <a:p xmlns:a="http://schemas.openxmlformats.org/drawingml/2006/main">
            <a:r>
              <a:t>C:/Users/Asus/Desktop/PDF_GalaxAI/frontend/src/rendering/GalaxyRenderer.tsx</a:t>
            </a:r>
          </a:p>
          <a:p xmlns:a="http://schemas.openxmlformats.org/drawingml/2006/main">
            <a:r>
              <a:t>C:/Users/Asus/Desktop/PDF_GalaxAI/frontend/src/rendering/SemanticNebula.tsx</a:t>
            </a:r>
          </a:p>
          <a:p xmlns:a="http://schemas.openxmlformats.org/drawingml/2006/main">
            <a:r>
              <a:t>C:/Users/Asus/Desktop/PDF_GalaxAI/frontend/src/ui/App.tsx</a:t>
            </a:r>
          </a:p>
          <a:p xmlns:a="http://schemas.openxmlformats.org/drawingml/2006/main">
            <a:r>
              <a:t>C:/Users/Asus/Desktop/PDF_GalaxAI/backend/keyword_extractor.py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frontend production build completes and emits a large-bundle warning. The project’s manual test reports cover earlier versions, including preview, tooltip and nebula occlusion checks. A working end-to-end RAG setup requires Chroma, the embedding model and a configured inference provider. Build success does not establish retrieval accuracy or user-efficiency gains. Formal user studies and rendering performance benchmarks remain future evaluation work.</a:t>
            </a:r>
          </a:p>
          <a:p xmlns:a="http://schemas.openxmlformats.org/drawingml/2006/main">
            <a:r>
              <a:t/>
            </a:r>
          </a:p>
          <a:p xmlns:a="http://schemas.openxmlformats.org/drawingml/2006/main">
            <a:r>
              <a:t>Project sources:</a:t>
            </a:r>
          </a:p>
          <a:p xmlns:a="http://schemas.openxmlformats.org/drawingml/2006/main">
            <a:r>
              <a:t>C:/Users/Asus/Desktop/PDF_GalaxAI/package.json</a:t>
            </a:r>
          </a:p>
          <a:p xmlns:a="http://schemas.openxmlformats.org/drawingml/2006/main">
            <a:r>
              <a:t>C:/Users/Asus/Desktop/PDF_GalaxAI/backend/requirements.txt</a:t>
            </a:r>
          </a:p>
          <a:p xmlns:a="http://schemas.openxmlformats.org/drawingml/2006/main">
            <a:r>
              <a:t>C:/Users/Asus/Desktop/PDF_GalaxAI/tests/test_v1.1.1/Test_report_v1.1.1.md</a:t>
            </a:r>
          </a:p>
          <a:p xmlns:a="http://schemas.openxmlformats.org/drawingml/2006/main">
            <a:r>
              <a:t>C:/Users/Asus/Desktop/PDF_GalaxAI/GRAPHICS_RESEARCH.md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Personal contribution: independent application-level product design and development, according to the applicant’s explicit statement. Third-party foundations include React, Vite, Three.js, FastAPI, Chroma, PDF.js, BGE-M3 and selected inference models. Proposed evaluations are future work: list/2D/3D comparisons, task completion and usability, retrieval precision and source-alignment accuracy, and graphics performance. No planned metric appears as a completed result.</a:t>
            </a:r>
          </a:p>
          <a:p xmlns:a="http://schemas.openxmlformats.org/drawingml/2006/main">
            <a:r>
              <a:t/>
            </a:r>
          </a:p>
          <a:p xmlns:a="http://schemas.openxmlformats.org/drawingml/2006/main">
            <a:r>
              <a:t>Project sources:</a:t>
            </a:r>
          </a:p>
          <a:p xmlns:a="http://schemas.openxmlformats.org/drawingml/2006/main">
            <a:r>
              <a:t>C:/Users/Asus/Desktop/PDF_GalaxAI/README.md</a:t>
            </a:r>
          </a:p>
          <a:p xmlns:a="http://schemas.openxmlformats.org/drawingml/2006/main">
            <a:r>
              <a:t>C:/Users/Asus/Desktop/PDF_GalaxAI/package.json</a:t>
            </a:r>
          </a:p>
          <a:p xmlns:a="http://schemas.openxmlformats.org/drawingml/2006/main">
            <a:r>
              <a:t>C:/Users/Asus/Desktop/PDF_GalaxAI/backend/requirements.txt</a:t>
            </a:r>
          </a:p>
          <a:p xmlns:a="http://schemas.openxmlformats.org/drawingml/2006/main">
            <a:r>
              <a:t>C:/Users/Asus/Desktop/PDF_GalaxAI/GRAPHICS_RESEARCH.md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b10efd047f84f5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da64a9f8975479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418eb68996349d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155a2bcfbc4439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8e11b1fa6eb4b7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6e384873cca4538"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2879bf5226e54427"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27ce8fe5d0b749b1"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12c8b1ee2f004152"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810ce2f0d1b44ddb"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8014a71b11624c16"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AE6BE68-7E6C-48BA-BC89-38892C1B582D}"/>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6672D54D-174B-4FC9-B282-1C9BAFF0B721}"/>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9E112ADC-F8B3-497F-AC0D-665C39ACE82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7E15E4D2-9F45-4653-85C2-54C55EB0831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BC7BBE7-F96C-4B01-8157-5A179C2ECD5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E97B283-9DB8-46B3-B075-3A0F5BC45E0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331B51F9-4D5C-41F8-A344-D53AAFEFBE41}"/>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C3ACDA34-0620-4447-B567-94A912730E0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A10948F3-B3B0-43F9-ADDE-9950155E454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77D04C7-4FAC-4747-BDA7-6F3976321BE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D8F26CA-3948-4244-8000-29FB4BC50E60}"/>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191F7F1E-A79E-454C-AF41-1A2B16E9B001}"/>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A673E446-07E0-4CD7-9751-3A644F54B8A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BB89834F-8E6D-46A0-B820-66703DC4603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BE54659-CE98-4158-A615-29326691E38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375CFAF-7219-4C09-8AA3-2023086540D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D7CAF852-7459-4966-8461-619B8C81C063}"/>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1CE88E3B-C13C-440C-B90A-A07F4E031D07}"/>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71AF3322-0354-4A60-BA03-FC7C86DA0E4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F8CA2BA9-3096-441D-9B97-0C6461128DE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1A65A5CF-AEB2-48E4-8C25-8AF3A833E5F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2AA5819-A2B5-4530-9679-1A824D41A10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74FBA993-212D-4877-AAB5-BF31DA0E3FFC}"/>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8F34BA19-0321-4149-89D5-EDC70F80EBCB}"/>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1A6D9253-7587-47B5-BA0A-E32231AF4633}"/>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CE0C06EE-D744-4D7C-AB41-FED43C588873}"/>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5E48E741-5DBF-4CF9-AA02-D620E79DD5D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8" name="Footer Placeholder 7">
            <a:extLst xmlns:a="http://schemas.openxmlformats.org/drawingml/2006/main">
              <a:ext uri="{FF2B5EF4-FFF2-40B4-BE49-F238E27FC236}">
                <a16:creationId xmlns:a16="http://schemas.microsoft.com/office/drawing/2014/main" id="{08B2EDD8-068A-4E78-AC92-FA368AA69C4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CCFFBEA6-31BB-46BB-80B3-FC79F11C8C3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04829E3-08B7-4056-A4B9-364D4913BE5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11247904-AD95-447D-8515-4DEB461A32A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4" name="Footer Placeholder 3">
            <a:extLst xmlns:a="http://schemas.openxmlformats.org/drawingml/2006/main">
              <a:ext uri="{FF2B5EF4-FFF2-40B4-BE49-F238E27FC236}">
                <a16:creationId xmlns:a16="http://schemas.microsoft.com/office/drawing/2014/main" id="{E5FFD0FF-5FC8-4924-80BA-5E5A9F2984B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EEA5A70C-9FA0-4668-AF6A-05F8C23DB7C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59C35B9C-C82F-4ECF-AB68-879C63F6639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3" name="Footer Placeholder 2">
            <a:extLst xmlns:a="http://schemas.openxmlformats.org/drawingml/2006/main">
              <a:ext uri="{FF2B5EF4-FFF2-40B4-BE49-F238E27FC236}">
                <a16:creationId xmlns:a16="http://schemas.microsoft.com/office/drawing/2014/main" id="{241F768A-E66D-4D87-ACFB-FF50E018558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5E945404-B6AF-4396-8EDC-E7C283E1EEE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DA4E40-E22A-49F3-8BA0-EF33A7BDB22E}"/>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D7508BE4-212D-4FA7-9A0E-390A9A20FB2B}"/>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1AFDA61B-A59E-4449-81AB-6767A8DC6A3C}"/>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4969CBD7-1792-49CC-BE28-AC5EDE78649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220C8C85-FF69-428E-A25E-EBF4E7DC68F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3A229C0-D6EA-4979-A9DF-ECA7834521F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269666D-8398-40D3-B4A4-7762EE95F204}"/>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93AE2A39-93EF-4891-8133-5E15AE338FC8}"/>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887378E3-2D86-4FCF-A33A-631F00A3F4FE}"/>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FEB1E882-9457-4398-86B0-B955E0A721E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871D3594-FA5F-4CE6-B298-FC48391D536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F51E2E28-A206-418F-90C8-BA69FF54887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8F0B75E-50D2-421D-8007-393877B66BF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69DD224C-A671-43E8-8508-7ED6C7D578CA}"/>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C8B7573F-2216-4D7C-A115-C82E659AFD4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BE26CD74-E36A-4FB6-B0B9-ED3D76E46CE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110655C-41C4-4B32-BBA8-FE4ED09C193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87230D47-830C-456F-AF54-B7AA8354E951}"/>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D92DE7C6-CE2B-4866-9612-CABE7545A101}"/>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F79F1420-A8D4-4070-B6B1-F7F9BB9291A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184DAD47-C95D-43B8-A112-84F22FE232B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7E49F8F-4552-40D1-8842-E29CDF74689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209ac7674c744b9" /><Relationship Type="http://schemas.openxmlformats.org/officeDocument/2006/relationships/slideLayout" Target="/ppt/slideLayouts/slideLayout1.xml" Id="R66dbdbbce4334fcf" /><Relationship Type="http://schemas.openxmlformats.org/officeDocument/2006/relationships/slideLayout" Target="/ppt/slideLayouts/slideLayout2.xml" Id="R373db496c63644e3" /><Relationship Type="http://schemas.openxmlformats.org/officeDocument/2006/relationships/slideLayout" Target="/ppt/slideLayouts/slideLayout3.xml" Id="R314616d1b73b4c21" /><Relationship Type="http://schemas.openxmlformats.org/officeDocument/2006/relationships/slideLayout" Target="/ppt/slideLayouts/slideLayout4.xml" Id="Ree61e5d247dc4d81" /><Relationship Type="http://schemas.openxmlformats.org/officeDocument/2006/relationships/slideLayout" Target="/ppt/slideLayouts/slideLayout5.xml" Id="R6792859db8a5476e" /><Relationship Type="http://schemas.openxmlformats.org/officeDocument/2006/relationships/slideLayout" Target="/ppt/slideLayouts/slideLayout6.xml" Id="R061400fbd9e54ac0" /><Relationship Type="http://schemas.openxmlformats.org/officeDocument/2006/relationships/slideLayout" Target="/ppt/slideLayouts/slideLayout7.xml" Id="Rdc907f95273a42ef" /><Relationship Type="http://schemas.openxmlformats.org/officeDocument/2006/relationships/slideLayout" Target="/ppt/slideLayouts/slideLayout8.xml" Id="Re422dbbbaaa545f7" /><Relationship Type="http://schemas.openxmlformats.org/officeDocument/2006/relationships/slideLayout" Target="/ppt/slideLayouts/slideLayout9.xml" Id="R9acc3d4590f94bc3" /><Relationship Type="http://schemas.openxmlformats.org/officeDocument/2006/relationships/slideLayout" Target="/ppt/slideLayouts/slideLayout10.xml" Id="R8672ecf30531448c" /><Relationship Type="http://schemas.openxmlformats.org/officeDocument/2006/relationships/slideLayout" Target="/ppt/slideLayouts/slideLayout11.xml" Id="Rd44479570b5c4e3d"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6D0AE11C-D2C6-41A1-8D62-1883AA0766CF}"/>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CCBF994F-C8A5-4668-B117-969FE9A232FC}"/>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FCC7E13-2971-4DA7-A300-AEB9006D70EE}"/>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782F2C6A-631B-4A9F-922B-122608EC32CF}"/>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FD5AF99-D4C5-4BE0-B985-CE6664E7F556}"/>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6dbdbbce4334fcf"/>
    <p:sldLayoutId xmlns:r="http://schemas.openxmlformats.org/officeDocument/2006/relationships" id="2147483650" r:id="R373db496c63644e3"/>
    <p:sldLayoutId xmlns:r="http://schemas.openxmlformats.org/officeDocument/2006/relationships" id="2147483651" r:id="R314616d1b73b4c21"/>
    <p:sldLayoutId xmlns:r="http://schemas.openxmlformats.org/officeDocument/2006/relationships" id="2147483652" r:id="Ree61e5d247dc4d81"/>
    <p:sldLayoutId xmlns:r="http://schemas.openxmlformats.org/officeDocument/2006/relationships" id="2147483653" r:id="R6792859db8a5476e"/>
    <p:sldLayoutId xmlns:r="http://schemas.openxmlformats.org/officeDocument/2006/relationships" id="2147483654" r:id="R061400fbd9e54ac0"/>
    <p:sldLayoutId xmlns:r="http://schemas.openxmlformats.org/officeDocument/2006/relationships" id="2147483655" r:id="Rdc907f95273a42ef"/>
    <p:sldLayoutId xmlns:r="http://schemas.openxmlformats.org/officeDocument/2006/relationships" id="2147483656" r:id="Re422dbbbaaa545f7"/>
    <p:sldLayoutId xmlns:r="http://schemas.openxmlformats.org/officeDocument/2006/relationships" id="2147483657" r:id="R9acc3d4590f94bc3"/>
    <p:sldLayoutId xmlns:r="http://schemas.openxmlformats.org/officeDocument/2006/relationships" id="2147483658" r:id="R8672ecf30531448c"/>
    <p:sldLayoutId xmlns:r="http://schemas.openxmlformats.org/officeDocument/2006/relationships" id="2147483659" r:id="Rd44479570b5c4e3d"/>
  </p:sldLayoutIdLst>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98fcf2f39c504f04" /><Relationship Type="http://schemas.openxmlformats.org/officeDocument/2006/relationships/notesSlide" Target="/ppt/notesSlides/notesSlide1.xml" Id="R1dc1302bf4a04d7b"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4234ad0d87d541aa" /><Relationship Type="http://schemas.openxmlformats.org/officeDocument/2006/relationships/notesSlide" Target="/ppt/notesSlides/notesSlide2.xml" Id="R6117b15223714974"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641660a4acaa4ca5" /><Relationship Type="http://schemas.openxmlformats.org/officeDocument/2006/relationships/notesSlide" Target="/ppt/notesSlides/notesSlide3.xml" Id="R559a16f51154434c"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b0e462712a6a4238" /><Relationship Type="http://schemas.openxmlformats.org/officeDocument/2006/relationships/notesSlide" Target="/ppt/notesSlides/notesSlide4.xml" Id="R008fdc2fe19f4c58"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7cc65f60315c43c4" /><Relationship Type="http://schemas.openxmlformats.org/officeDocument/2006/relationships/notesSlide" Target="/ppt/notesSlides/notesSlide5.xml" Id="R5d9aa0c328724e9e"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aa87d9b882df44ed" /><Relationship Type="http://schemas.openxmlformats.org/officeDocument/2006/relationships/notesSlide" Target="/ppt/notesSlides/notesSlide6.xml" Id="R374515dd94b24f54"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801223f945fc4cf8" /><Relationship Type="http://schemas.openxmlformats.org/officeDocument/2006/relationships/notesSlide" Target="/ppt/notesSlides/notesSlide7.xml" Id="Rc17b2ec20d8d478f"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33a7bcbb75364967" /><Relationship Type="http://schemas.openxmlformats.org/officeDocument/2006/relationships/notesSlide" Target="/ppt/notesSlides/notesSlide8.xml" Id="Reca6aff4716f47c5"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db3681de09454967" /><Relationship Type="http://schemas.openxmlformats.org/officeDocument/2006/relationships/notesSlide" Target="/ppt/notesSlides/notesSlide9.xml" Id="R53b90f71e3da460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992bd9f0b7c245e2" /><Relationship Type="http://schemas.openxmlformats.org/officeDocument/2006/relationships/notesSlide" Target="/ppt/notesSlides/notesSlide10.xml" Id="Ra73c3a8102674c0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cf95401839ba4840" /><Relationship Type="http://schemas.openxmlformats.org/officeDocument/2006/relationships/notesSlide" Target="/ppt/notesSlides/notesSlide11.xml" Id="R526d5c95c5dd412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735ccee055464e1f" /><Relationship Type="http://schemas.openxmlformats.org/officeDocument/2006/relationships/notesSlide" Target="/ppt/notesSlides/notesSlide12.xml" Id="R0300419d44e8430c" /></Relationships>
</file>

<file path=ppt/slides/slide1.xml><?xml version="1.0" encoding="utf-8"?>
<p:sld xmlns:p="http://schemas.openxmlformats.org/presentationml/2006/main">
  <p:cSld>
    <p:bg>
      <p:bgPr>
        <a:solidFill xmlns:a="http://schemas.openxmlformats.org/drawingml/2006/main">
          <a:srgbClr val="F1F1F1"/>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69563D75-79FA-46ED-AD79-ADD757CDE894}"/>
              </a:ext>
            </a:extLst>
          </p:cNvPr>
          <p:cNvSpPr>
            <a:spLocks xmlns:a="http://schemas.openxmlformats.org/drawingml/2006/main" noGrp="1"/>
          </p:cNvSpPr>
          <p:nvPr/>
        </p:nvSpPr>
        <p:spPr>
          <a:xfrm xmlns:a="http://schemas.openxmlformats.org/drawingml/2006/main" rot="0" flipH="0" flipV="0">
            <a:off x="4410075" y="514350"/>
            <a:ext cx="9467850" cy="819150"/>
          </a:xfrm>
          <a:custGeom xmlns:a="http://schemas.openxmlformats.org/drawingml/2006/main">
            <a:rect l="l" t="t" r="r" b="b"/>
            <a:pathLst>
              <a:path w="2494114" h="214543">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xmlns:a="http://schemas.openxmlformats.org/drawingml/2006/main" w="38100" cap="rnd">
            <a:solidFill>
              <a:srgbClr val="101B40"/>
            </a:solidFill>
            <a:prstDash val="solid"/>
            <a:round/>
          </a:ln>
        </p:spPr>
      </p:sp>
      <p:sp>
        <p:nvSpPr>
          <p:cNvPr id="4" name="TextBox 4">
            <a:extLst xmlns:a="http://schemas.openxmlformats.org/drawingml/2006/main">
              <a:ext uri="{FF2B5EF4-FFF2-40B4-BE49-F238E27FC236}">
                <a16:creationId xmlns:a16="http://schemas.microsoft.com/office/drawing/2014/main" id="{867E9453-733C-48DE-B217-7CB68E2EA1D6}"/>
              </a:ext>
            </a:extLst>
          </p:cNvPr>
          <p:cNvSpPr>
            <a:spLocks xmlns:a="http://schemas.openxmlformats.org/drawingml/2006/main" noGrp="1"/>
          </p:cNvSpPr>
          <p:nvPr/>
        </p:nvSpPr>
        <p:spPr>
          <a:xfrm xmlns:a="http://schemas.openxmlformats.org/drawingml/2006/main" rot="0" flipH="0" flipV="0">
            <a:off x="4409081" y="370811"/>
            <a:ext cx="9469839" cy="95925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p>
        </p:txBody>
      </p:sp>
      <p:sp>
        <p:nvSpPr>
          <p:cNvPr id="6" name="Freeform 6">
            <a:extLst xmlns:a="http://schemas.openxmlformats.org/drawingml/2006/main">
              <a:ext uri="{FF2B5EF4-FFF2-40B4-BE49-F238E27FC236}">
                <a16:creationId xmlns:a16="http://schemas.microsoft.com/office/drawing/2014/main" id="{FB3A289C-6478-4D0C-8E17-6569A6767E63}"/>
              </a:ext>
            </a:extLst>
          </p:cNvPr>
          <p:cNvSpPr>
            <a:spLocks xmlns:a="http://schemas.openxmlformats.org/drawingml/2006/main" noGrp="1"/>
          </p:cNvSpPr>
          <p:nvPr/>
        </p:nvSpPr>
        <p:spPr>
          <a:xfrm xmlns:a="http://schemas.openxmlformats.org/drawingml/2006/main" rot="0" flipH="0" flipV="0">
            <a:off x="4543425" y="628650"/>
            <a:ext cx="1466850" cy="590550"/>
          </a:xfrm>
          <a:custGeom xmlns:a="http://schemas.openxmlformats.org/drawingml/2006/main">
            <a:rect l="l" t="t" r="r" b="b"/>
            <a:pathLst>
              <a:path w="385586" h="155110">
                <a:moveTo>
                  <a:pt x="77555" y="0"/>
                </a:moveTo>
                <a:lnTo>
                  <a:pt x="308031" y="0"/>
                </a:lnTo>
                <a:cubicBezTo>
                  <a:pt x="350864" y="0"/>
                  <a:pt x="385586" y="34722"/>
                  <a:pt x="385586" y="77555"/>
                </a:cubicBezTo>
                <a:lnTo>
                  <a:pt x="385586" y="77555"/>
                </a:lnTo>
                <a:cubicBezTo>
                  <a:pt x="385586" y="120387"/>
                  <a:pt x="350864" y="155110"/>
                  <a:pt x="308031" y="155110"/>
                </a:cubicBezTo>
                <a:lnTo>
                  <a:pt x="77555" y="155110"/>
                </a:lnTo>
                <a:cubicBezTo>
                  <a:pt x="34722" y="155110"/>
                  <a:pt x="0" y="120387"/>
                  <a:pt x="0" y="77555"/>
                </a:cubicBezTo>
                <a:lnTo>
                  <a:pt x="0" y="77555"/>
                </a:lnTo>
                <a:cubicBezTo>
                  <a:pt x="0" y="34722"/>
                  <a:pt x="34722" y="0"/>
                  <a:pt x="77555" y="0"/>
                </a:cubicBezTo>
                <a:close/>
              </a:path>
            </a:pathLst>
          </a:custGeom>
          <a:solidFill xmlns:a="http://schemas.openxmlformats.org/drawingml/2006/main">
            <a:srgbClr val="101B40"/>
          </a:solidFill>
          <a:ln xmlns:a="http://schemas.openxmlformats.org/drawingml/2006/main" cap="rnd">
            <a:noFill/>
            <a:prstDash val="solid"/>
            <a:round/>
          </a:ln>
        </p:spPr>
      </p:sp>
      <p:sp>
        <p:nvSpPr>
          <p:cNvPr id="7" name="TextBox 7">
            <a:extLst xmlns:a="http://schemas.openxmlformats.org/drawingml/2006/main">
              <a:ext uri="{FF2B5EF4-FFF2-40B4-BE49-F238E27FC236}">
                <a16:creationId xmlns:a16="http://schemas.microsoft.com/office/drawing/2014/main" id="{DC43F693-9031-4555-99A5-99E46EC97DDF}"/>
              </a:ext>
            </a:extLst>
          </p:cNvPr>
          <p:cNvSpPr>
            <a:spLocks xmlns:a="http://schemas.openxmlformats.org/drawingml/2006/main" noGrp="1"/>
          </p:cNvSpPr>
          <p:nvPr/>
        </p:nvSpPr>
        <p:spPr>
          <a:xfrm xmlns:a="http://schemas.openxmlformats.org/drawingml/2006/main" rot="0" flipH="0" flipV="0">
            <a:off x="4541120" y="485855"/>
            <a:ext cx="1464022" cy="73359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p>
        </p:txBody>
      </p:sp>
      <p:sp>
        <p:nvSpPr>
          <p:cNvPr id="9" name="Freeform 9">
            <a:extLst xmlns:a="http://schemas.openxmlformats.org/drawingml/2006/main">
              <a:ext uri="{FF2B5EF4-FFF2-40B4-BE49-F238E27FC236}">
                <a16:creationId xmlns:a16="http://schemas.microsoft.com/office/drawing/2014/main" id="{9AB6C1C3-395E-4E7E-8E50-44AD8E3E51AE}"/>
              </a:ext>
            </a:extLst>
          </p:cNvPr>
          <p:cNvSpPr>
            <a:spLocks xmlns:a="http://schemas.openxmlformats.org/drawingml/2006/main" noGrp="1"/>
          </p:cNvSpPr>
          <p:nvPr/>
        </p:nvSpPr>
        <p:spPr>
          <a:xfrm xmlns:a="http://schemas.openxmlformats.org/drawingml/2006/main" rot="0" flipH="0" flipV="0">
            <a:off x="14679019" y="0"/>
            <a:ext cx="3608981" cy="10287000"/>
          </a:xfrm>
          <a:custGeom xmlns:a="http://schemas.openxmlformats.org/drawingml/2006/main">
            <a:rect l="l" t="t" r="r" b="b"/>
            <a:pathLst>
              <a:path w="1123044" h="2709333">
                <a:moveTo>
                  <a:pt x="92597" y="0"/>
                </a:moveTo>
                <a:lnTo>
                  <a:pt x="1030448" y="0"/>
                </a:lnTo>
                <a:cubicBezTo>
                  <a:pt x="1081587" y="0"/>
                  <a:pt x="1123044" y="41457"/>
                  <a:pt x="1123044" y="92597"/>
                </a:cubicBezTo>
                <a:lnTo>
                  <a:pt x="1123044" y="2616737"/>
                </a:lnTo>
                <a:cubicBezTo>
                  <a:pt x="1123044" y="2667876"/>
                  <a:pt x="1081587" y="2709333"/>
                  <a:pt x="1030448" y="2709333"/>
                </a:cubicBezTo>
                <a:lnTo>
                  <a:pt x="92597" y="2709333"/>
                </a:lnTo>
                <a:cubicBezTo>
                  <a:pt x="41457" y="2709333"/>
                  <a:pt x="0" y="2667876"/>
                  <a:pt x="0" y="2616737"/>
                </a:cubicBezTo>
                <a:lnTo>
                  <a:pt x="0" y="92597"/>
                </a:lnTo>
                <a:cubicBezTo>
                  <a:pt x="0" y="41457"/>
                  <a:pt x="41457" y="0"/>
                  <a:pt x="92597" y="0"/>
                </a:cubicBezTo>
                <a:close/>
              </a:path>
            </a:pathLst>
          </a:custGeom>
          <a:solidFill xmlns:a="http://schemas.openxmlformats.org/drawingml/2006/main">
            <a:srgbClr val="DCE2EB"/>
          </a:solidFill>
        </p:spPr>
      </p:sp>
      <p:sp>
        <p:nvSpPr>
          <p:cNvPr id="26" name="TextBox 26">
            <a:extLst xmlns:a="http://schemas.openxmlformats.org/drawingml/2006/main">
              <a:ext uri="{FF2B5EF4-FFF2-40B4-BE49-F238E27FC236}">
                <a16:creationId xmlns:a16="http://schemas.microsoft.com/office/drawing/2014/main" id="{B2368DAF-F960-4F2F-A83E-7C3DA4114C24}"/>
              </a:ext>
            </a:extLst>
          </p:cNvPr>
          <p:cNvSpPr>
            <a:spLocks xmlns:a="http://schemas.openxmlformats.org/drawingml/2006/main" noGrp="1"/>
          </p:cNvSpPr>
          <p:nvPr/>
        </p:nvSpPr>
        <p:spPr>
          <a:xfrm xmlns:a="http://schemas.openxmlformats.org/drawingml/2006/main" rot="0">
            <a:off x="4438650" y="733425"/>
            <a:ext cx="16668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1">
                <a:solidFill>
                  <a:srgbClr val="FFFFFF"/>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1">
                <a:solidFill>
                  <a:srgbClr val="FFFFFF"/>
                </a:solidFill>
                <a:latin typeface="Montserrat"/>
                <a:ea typeface="Montserrat"/>
                <a:cs typeface="Montserrat"/>
              </a:defRPr>
            </a:pPr>
            <a:r>
              <a:rPr sz="1800" b="1" spc="3">
                <a:solidFill>
                  <a:srgbClr val="FFFFFF"/>
                </a:solidFill>
                <a:latin typeface="Montserrat"/>
                <a:ea typeface="Montserrat"/>
                <a:cs typeface="Montserrat"/>
              </a:rPr>
              <a:t>VISION</a:t>
            </a:r>
          </a:p>
        </p:txBody>
      </p:sp>
      <p:sp>
        <p:nvSpPr>
          <p:cNvPr id="27" name="TextBox 27">
            <a:extLst xmlns:a="http://schemas.openxmlformats.org/drawingml/2006/main">
              <a:ext uri="{FF2B5EF4-FFF2-40B4-BE49-F238E27FC236}">
                <a16:creationId xmlns:a16="http://schemas.microsoft.com/office/drawing/2014/main" id="{9B24F0BA-9F4C-4710-9D53-DD68996F339D}"/>
              </a:ext>
            </a:extLst>
          </p:cNvPr>
          <p:cNvSpPr>
            <a:spLocks xmlns:a="http://schemas.openxmlformats.org/drawingml/2006/main" noGrp="1"/>
          </p:cNvSpPr>
          <p:nvPr/>
        </p:nvSpPr>
        <p:spPr>
          <a:xfrm xmlns:a="http://schemas.openxmlformats.org/drawingml/2006/main" rot="0">
            <a:off x="6829425" y="733425"/>
            <a:ext cx="190500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DESIGN</a:t>
            </a:r>
          </a:p>
        </p:txBody>
      </p:sp>
      <p:sp>
        <p:nvSpPr>
          <p:cNvPr id="28" name="TextBox 28">
            <a:extLst xmlns:a="http://schemas.openxmlformats.org/drawingml/2006/main">
              <a:ext uri="{FF2B5EF4-FFF2-40B4-BE49-F238E27FC236}">
                <a16:creationId xmlns:a16="http://schemas.microsoft.com/office/drawing/2014/main" id="{2594C8F0-63EF-433D-ADDD-BFDD867EC47B}"/>
              </a:ext>
            </a:extLst>
          </p:cNvPr>
          <p:cNvSpPr>
            <a:spLocks xmlns:a="http://schemas.openxmlformats.org/drawingml/2006/main" noGrp="1"/>
          </p:cNvSpPr>
          <p:nvPr/>
        </p:nvSpPr>
        <p:spPr>
          <a:xfrm xmlns:a="http://schemas.openxmlformats.org/drawingml/2006/main" rot="0">
            <a:off x="9496425" y="733425"/>
            <a:ext cx="15906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SYSTEM</a:t>
            </a:r>
          </a:p>
        </p:txBody>
      </p:sp>
      <p:sp>
        <p:nvSpPr>
          <p:cNvPr id="29" name="TextBox 29">
            <a:extLst xmlns:a="http://schemas.openxmlformats.org/drawingml/2006/main">
              <a:ext uri="{FF2B5EF4-FFF2-40B4-BE49-F238E27FC236}">
                <a16:creationId xmlns:a16="http://schemas.microsoft.com/office/drawing/2014/main" id="{FC4200B8-F07A-4ECA-9DB8-BD51CE664499}"/>
              </a:ext>
            </a:extLst>
          </p:cNvPr>
          <p:cNvSpPr>
            <a:spLocks xmlns:a="http://schemas.openxmlformats.org/drawingml/2006/main" noGrp="1"/>
          </p:cNvSpPr>
          <p:nvPr/>
        </p:nvSpPr>
        <p:spPr>
          <a:xfrm xmlns:a="http://schemas.openxmlformats.org/drawingml/2006/main" rot="0">
            <a:off x="11591925" y="733425"/>
            <a:ext cx="222885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REVIEW</a:t>
            </a:r>
          </a:p>
        </p:txBody>
      </p:sp>
      <p:sp>
        <p:nvSpPr>
          <p:cNvPr id="30" name="TextBox 30">
            <a:extLst xmlns:a="http://schemas.openxmlformats.org/drawingml/2006/main">
              <a:ext uri="{FF2B5EF4-FFF2-40B4-BE49-F238E27FC236}">
                <a16:creationId xmlns:a16="http://schemas.microsoft.com/office/drawing/2014/main" id="{94B29ADB-453E-4E9F-A846-135519A6AAF0}"/>
              </a:ext>
            </a:extLst>
          </p:cNvPr>
          <p:cNvSpPr>
            <a:spLocks xmlns:a="http://schemas.openxmlformats.org/drawingml/2006/main" noGrp="1"/>
          </p:cNvSpPr>
          <p:nvPr/>
        </p:nvSpPr>
        <p:spPr>
          <a:xfrm xmlns:a="http://schemas.openxmlformats.org/drawingml/2006/main" rot="0">
            <a:off x="800100" y="628650"/>
            <a:ext cx="2381250" cy="56769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defRPr sz="1800" b="1">
                <a:solidFill>
                  <a:srgbClr val="101B40"/>
                </a:solidFill>
                <a:latin typeface="Montserrat"/>
                <a:ea typeface="Montserrat"/>
                <a:cs typeface="Montserrat"/>
              </a:defRPr>
            </a:defPPr>
          </a:lstStyle>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PDF</a:t>
            </a:r>
          </a:p>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GALAXAI</a:t>
            </a:r>
          </a:p>
        </p:txBody>
      </p:sp>
      <p:sp>
        <p:nvSpPr>
          <p:cNvPr id="31" name="01">
            <a:extLst xmlns:a="http://schemas.openxmlformats.org/drawingml/2006/main">
              <a:ext uri="{FF2B5EF4-FFF2-40B4-BE49-F238E27FC236}">
                <a16:creationId xmlns:a16="http://schemas.microsoft.com/office/drawing/2014/main" id="{BEBA0D98-3A98-4613-ACE6-AA0CA1EBCA8D}"/>
              </a:ext>
            </a:extLst>
          </p:cNvPr>
          <p:cNvSpPr>
            <a:spLocks xmlns:a="http://schemas.openxmlformats.org/drawingml/2006/main" noGrp="1"/>
          </p:cNvSpPr>
          <p:nvPr/>
        </p:nvSpPr>
        <p:spPr>
          <a:xfrm xmlns:a="http://schemas.openxmlformats.org/drawingml/2006/main">
            <a:off x="16735425" y="73342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1">
                <a:solidFill>
                  <a:srgbClr val="101B40"/>
                </a:solidFill>
                <a:latin typeface="Montserrat Bold"/>
                <a:ea typeface="Montserrat Bold"/>
                <a:cs typeface="Montserrat Bold"/>
              </a:defRPr>
            </a:defPPr>
          </a:lstStyle>
          <a:p xmlns:a="http://schemas.openxmlformats.org/drawingml/2006/main">
            <a:pPr algn="r">
              <a:buNone/>
              <a:defRPr sz="1875" b="1">
                <a:solidFill>
                  <a:srgbClr val="101B40"/>
                </a:solidFill>
                <a:latin typeface="Montserrat Bold"/>
                <a:ea typeface="Montserrat Bold"/>
                <a:cs typeface="Montserrat Bold"/>
              </a:defRPr>
            </a:pPr>
            <a:r>
              <a:rPr sz="1875" b="1">
                <a:solidFill>
                  <a:srgbClr val="101B40"/>
                </a:solidFill>
                <a:latin typeface="Montserrat Bold"/>
                <a:ea typeface="Montserrat Bold"/>
                <a:cs typeface="Montserrat Bold"/>
              </a:rPr>
              <a:t>01</a:t>
            </a:r>
          </a:p>
        </p:txBody>
      </p:sp>
      <p:sp>
        <p:nvSpPr>
          <p:cNvPr id="32" name="PDF-GalaxAI">
            <a:extLst xmlns:a="http://schemas.openxmlformats.org/drawingml/2006/main">
              <a:ext uri="{FF2B5EF4-FFF2-40B4-BE49-F238E27FC236}">
                <a16:creationId xmlns:a16="http://schemas.microsoft.com/office/drawing/2014/main" id="{9C476DF5-CD7C-4CC3-8947-66BFD6074685}"/>
              </a:ext>
            </a:extLst>
          </p:cNvPr>
          <p:cNvSpPr>
            <a:spLocks xmlns:a="http://schemas.openxmlformats.org/drawingml/2006/main" noGrp="1"/>
          </p:cNvSpPr>
          <p:nvPr/>
        </p:nvSpPr>
        <p:spPr>
          <a:xfrm xmlns:a="http://schemas.openxmlformats.org/drawingml/2006/main">
            <a:off x="1238250" y="96202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681"/>
                </a:solidFill>
                <a:latin typeface="Montserrat"/>
                <a:ea typeface="Montserrat"/>
                <a:cs typeface="Montserrat"/>
              </a:defRPr>
            </a:defPPr>
          </a:lstStyle>
          <a:p xmlns:a="http://schemas.openxmlformats.org/drawingml/2006/main">
            <a:pPr algn="l">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PDF-GalaxAI</a:t>
            </a:r>
          </a:p>
        </p:txBody>
      </p:sp>
      <p:sp>
        <p:nvSpPr>
          <p:cNvPr id="33" name="01 / 12">
            <a:extLst xmlns:a="http://schemas.openxmlformats.org/drawingml/2006/main">
              <a:ext uri="{FF2B5EF4-FFF2-40B4-BE49-F238E27FC236}">
                <a16:creationId xmlns:a16="http://schemas.microsoft.com/office/drawing/2014/main" id="{9C6C5FC8-21F0-4214-9726-65B5AD063879}"/>
              </a:ext>
            </a:extLst>
          </p:cNvPr>
          <p:cNvSpPr>
            <a:spLocks xmlns:a="http://schemas.openxmlformats.org/drawingml/2006/main" noGrp="1"/>
          </p:cNvSpPr>
          <p:nvPr/>
        </p:nvSpPr>
        <p:spPr>
          <a:xfrm xmlns:a="http://schemas.openxmlformats.org/drawingml/2006/main">
            <a:off x="15430500" y="9620250"/>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536681"/>
                </a:solidFill>
                <a:latin typeface="Montserrat"/>
                <a:ea typeface="Montserrat"/>
                <a:cs typeface="Montserrat"/>
              </a:defRPr>
            </a:defPPr>
          </a:lstStyle>
          <a:p xmlns:a="http://schemas.openxmlformats.org/drawingml/2006/main">
            <a:pPr algn="r">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01 / 12</a:t>
            </a:r>
          </a:p>
        </p:txBody>
      </p:sp>
      <p:sp>
        <p:nvSpPr>
          <p:cNvPr id="34" name="PDF-GalaxAI">
            <a:extLst xmlns:a="http://schemas.openxmlformats.org/drawingml/2006/main">
              <a:ext uri="{FF2B5EF4-FFF2-40B4-BE49-F238E27FC236}">
                <a16:creationId xmlns:a16="http://schemas.microsoft.com/office/drawing/2014/main" id="{93499F55-0FFA-4A04-9BCC-E484B5A34BED}"/>
              </a:ext>
            </a:extLst>
          </p:cNvPr>
          <p:cNvSpPr>
            <a:spLocks xmlns:a="http://schemas.openxmlformats.org/drawingml/2006/main" noGrp="1"/>
          </p:cNvSpPr>
          <p:nvPr/>
        </p:nvSpPr>
        <p:spPr>
          <a:xfrm xmlns:a="http://schemas.openxmlformats.org/drawingml/2006/main">
            <a:off x="1238250" y="2324100"/>
            <a:ext cx="15335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500" b="1">
                <a:solidFill>
                  <a:srgbClr val="101B40"/>
                </a:solidFill>
                <a:latin typeface="Montserrat Bold"/>
                <a:ea typeface="Montserrat Bold"/>
                <a:cs typeface="Montserrat Bold"/>
              </a:defRPr>
            </a:defPPr>
          </a:lstStyle>
          <a:p xmlns:a="http://schemas.openxmlformats.org/drawingml/2006/main">
            <a:pPr algn="l">
              <a:buNone/>
              <a:defRPr sz="7500" b="1">
                <a:solidFill>
                  <a:srgbClr val="101B40"/>
                </a:solidFill>
                <a:latin typeface="Montserrat Bold"/>
                <a:ea typeface="Montserrat Bold"/>
                <a:cs typeface="Montserrat Bold"/>
              </a:defRPr>
            </a:pPr>
            <a:r>
              <a:rPr sz="7500" b="1">
                <a:solidFill>
                  <a:srgbClr val="101B40"/>
                </a:solidFill>
                <a:latin typeface="Montserrat Bold"/>
                <a:ea typeface="Montserrat Bold"/>
                <a:cs typeface="Montserrat Bold"/>
              </a:rPr>
              <a:t>PDF-GalaxAI</a:t>
            </a:r>
          </a:p>
        </p:txBody>
      </p:sp>
      <p:sp>
        <p:nvSpPr>
          <p:cNvPr id="35" name="An AI-Driven Interactive&#10;Knowledge Exploration Platform">
            <a:extLst xmlns:a="http://schemas.openxmlformats.org/drawingml/2006/main">
              <a:ext uri="{FF2B5EF4-FFF2-40B4-BE49-F238E27FC236}">
                <a16:creationId xmlns:a16="http://schemas.microsoft.com/office/drawing/2014/main" id="{453D3808-6C95-4C7D-8572-835D67D25883}"/>
              </a:ext>
            </a:extLst>
          </p:cNvPr>
          <p:cNvSpPr>
            <a:spLocks xmlns:a="http://schemas.openxmlformats.org/drawingml/2006/main" noGrp="1"/>
          </p:cNvSpPr>
          <p:nvPr/>
        </p:nvSpPr>
        <p:spPr>
          <a:xfrm xmlns:a="http://schemas.openxmlformats.org/drawingml/2006/main">
            <a:off x="1276350" y="3714750"/>
            <a:ext cx="714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0">
                <a:solidFill>
                  <a:srgbClr val="101B40"/>
                </a:solidFill>
                <a:latin typeface="Montserrat"/>
                <a:ea typeface="Montserrat"/>
                <a:cs typeface="Montserrat"/>
              </a:defRPr>
            </a:defPPr>
          </a:lstStyle>
          <a:p xmlns:a="http://schemas.openxmlformats.org/drawingml/2006/main">
            <a:pPr algn="l">
              <a:buNone/>
              <a:defRPr sz="3450" b="0">
                <a:solidFill>
                  <a:srgbClr val="101B40"/>
                </a:solidFill>
                <a:latin typeface="Montserrat"/>
                <a:ea typeface="Montserrat"/>
                <a:cs typeface="Montserrat"/>
              </a:defRPr>
            </a:pPr>
            <a:r>
              <a:rPr sz="3450" b="0">
                <a:solidFill>
                  <a:srgbClr val="101B40"/>
                </a:solidFill>
                <a:latin typeface="Montserrat"/>
                <a:ea typeface="Montserrat"/>
                <a:cs typeface="Montserrat"/>
              </a:rPr>
              <a:t>An AI-Driven Interactive</a:t>
            </a:r>
          </a:p>
          <a:p xmlns:a="http://schemas.openxmlformats.org/drawingml/2006/main">
            <a:pPr algn="l">
              <a:buNone/>
              <a:defRPr sz="3450" b="0">
                <a:solidFill>
                  <a:srgbClr val="101B40"/>
                </a:solidFill>
                <a:latin typeface="Montserrat"/>
                <a:ea typeface="Montserrat"/>
                <a:cs typeface="Montserrat"/>
              </a:defRPr>
            </a:pPr>
            <a:r>
              <a:rPr sz="3450" b="0">
                <a:solidFill>
                  <a:srgbClr val="101B40"/>
                </a:solidFill>
                <a:latin typeface="Montserrat"/>
                <a:ea typeface="Montserrat"/>
                <a:cs typeface="Montserrat"/>
              </a:rPr>
              <a:t>Knowledge Exploration Platform</a:t>
            </a:r>
          </a:p>
        </p:txBody>
      </p:sp>
      <p:sp>
        <p:nvSpPr>
          <p:cNvPr id="36" name="Independently Designed and Developed">
            <a:extLst xmlns:a="http://schemas.openxmlformats.org/drawingml/2006/main">
              <a:ext uri="{FF2B5EF4-FFF2-40B4-BE49-F238E27FC236}">
                <a16:creationId xmlns:a16="http://schemas.microsoft.com/office/drawing/2014/main" id="{4D53854F-A02D-47B2-AA8D-1633C734A23D}"/>
              </a:ext>
            </a:extLst>
          </p:cNvPr>
          <p:cNvSpPr>
            <a:spLocks xmlns:a="http://schemas.openxmlformats.org/drawingml/2006/main" noGrp="1"/>
          </p:cNvSpPr>
          <p:nvPr/>
        </p:nvSpPr>
        <p:spPr>
          <a:xfrm xmlns:a="http://schemas.openxmlformats.org/drawingml/2006/main">
            <a:off x="1276350" y="5524500"/>
            <a:ext cx="6905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01B40"/>
                </a:solidFill>
                <a:latin typeface="Montserrat Bold"/>
                <a:ea typeface="Montserrat Bold"/>
                <a:cs typeface="Montserrat Bold"/>
              </a:defRPr>
            </a:defPPr>
          </a:lstStyle>
          <a:p xmlns:a="http://schemas.openxmlformats.org/drawingml/2006/main">
            <a:pPr algn="l">
              <a:buNone/>
              <a:defRPr sz="2250" b="1">
                <a:solidFill>
                  <a:srgbClr val="101B40"/>
                </a:solidFill>
                <a:latin typeface="Montserrat Bold"/>
                <a:ea typeface="Montserrat Bold"/>
                <a:cs typeface="Montserrat Bold"/>
              </a:defRPr>
            </a:pPr>
            <a:r>
              <a:rPr sz="2250" b="1">
                <a:solidFill>
                  <a:srgbClr val="101B40"/>
                </a:solidFill>
                <a:latin typeface="Montserrat Bold"/>
                <a:ea typeface="Montserrat Bold"/>
                <a:cs typeface="Montserrat Bold"/>
              </a:rPr>
              <a:t>Independently Designed and Developed</a:t>
            </a:r>
          </a:p>
        </p:txBody>
      </p:sp>
      <p:sp>
        <p:nvSpPr>
          <p:cNvPr id="37" name="[Your Name]">
            <a:extLst xmlns:a="http://schemas.openxmlformats.org/drawingml/2006/main">
              <a:ext uri="{FF2B5EF4-FFF2-40B4-BE49-F238E27FC236}">
                <a16:creationId xmlns:a16="http://schemas.microsoft.com/office/drawing/2014/main" id="{8FE629DA-ADFB-45D1-BD0D-0D0DCCF7EBF9}"/>
              </a:ext>
            </a:extLst>
          </p:cNvPr>
          <p:cNvSpPr>
            <a:spLocks xmlns:a="http://schemas.openxmlformats.org/drawingml/2006/main" noGrp="1"/>
          </p:cNvSpPr>
          <p:nvPr/>
        </p:nvSpPr>
        <p:spPr>
          <a:xfrm xmlns:a="http://schemas.openxmlformats.org/drawingml/2006/main">
            <a:off x="1276350" y="6457950"/>
            <a:ext cx="6905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01B40"/>
                </a:solidFill>
                <a:latin typeface="Montserrat Bold"/>
                <a:ea typeface="Montserrat Bold"/>
                <a:cs typeface="Montserrat Bold"/>
              </a:defRPr>
            </a:defPPr>
          </a:lstStyle>
          <a:p xmlns:a="http://schemas.openxmlformats.org/drawingml/2006/main">
            <a:pPr algn="l">
              <a:buNone/>
              <a:defRPr sz="3150" b="1">
                <a:solidFill>
                  <a:srgbClr val="101B40"/>
                </a:solidFill>
                <a:latin typeface="Montserrat Bold"/>
                <a:ea typeface="Montserrat Bold"/>
                <a:cs typeface="Montserrat Bold"/>
              </a:defRPr>
            </a:pPr>
            <a:r>
              <a:rPr sz="3150" b="1">
                <a:solidFill>
                  <a:srgbClr val="101B40"/>
                </a:solidFill>
                <a:latin typeface="Montserrat Bold"/>
                <a:ea typeface="Montserrat Bold"/>
                <a:cs typeface="Montserrat Bold"/>
              </a:rPr>
              <a:t>[Your Name]</a:t>
            </a:r>
          </a:p>
        </p:txBody>
      </p:sp>
      <p:sp>
        <p:nvSpPr>
          <p:cNvPr id="38" name="Application Portfolio&#10;HKU MSc(Eng) Innovative Design and Technology">
            <a:extLst xmlns:a="http://schemas.openxmlformats.org/drawingml/2006/main">
              <a:ext uri="{FF2B5EF4-FFF2-40B4-BE49-F238E27FC236}">
                <a16:creationId xmlns:a16="http://schemas.microsoft.com/office/drawing/2014/main" id="{F5782908-C960-4DD7-B1B3-B1A4F2213A1F}"/>
              </a:ext>
            </a:extLst>
          </p:cNvPr>
          <p:cNvSpPr>
            <a:spLocks xmlns:a="http://schemas.openxmlformats.org/drawingml/2006/main" noGrp="1"/>
          </p:cNvSpPr>
          <p:nvPr/>
        </p:nvSpPr>
        <p:spPr>
          <a:xfrm xmlns:a="http://schemas.openxmlformats.org/drawingml/2006/main">
            <a:off x="1276350" y="7467600"/>
            <a:ext cx="695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36681"/>
                </a:solidFill>
                <a:latin typeface="Montserrat"/>
                <a:ea typeface="Montserrat"/>
                <a:cs typeface="Montserrat"/>
              </a:defRPr>
            </a:defPPr>
          </a:lstStyle>
          <a:p xmlns:a="http://schemas.openxmlformats.org/drawingml/2006/main">
            <a:pPr algn="l">
              <a:buNone/>
              <a:defRPr sz="2100" b="0">
                <a:solidFill>
                  <a:srgbClr val="536681"/>
                </a:solidFill>
                <a:latin typeface="Montserrat"/>
                <a:ea typeface="Montserrat"/>
                <a:cs typeface="Montserrat"/>
              </a:defRPr>
            </a:pPr>
            <a:r>
              <a:rPr sz="2100" b="0">
                <a:solidFill>
                  <a:srgbClr val="536681"/>
                </a:solidFill>
                <a:latin typeface="Montserrat"/>
                <a:ea typeface="Montserrat"/>
                <a:cs typeface="Montserrat"/>
              </a:rPr>
              <a:t>Application Portfolio</a:t>
            </a:r>
          </a:p>
          <a:p xmlns:a="http://schemas.openxmlformats.org/drawingml/2006/main">
            <a:pPr algn="l">
              <a:buNone/>
              <a:defRPr sz="2100" b="0">
                <a:solidFill>
                  <a:srgbClr val="536681"/>
                </a:solidFill>
                <a:latin typeface="Montserrat"/>
                <a:ea typeface="Montserrat"/>
                <a:cs typeface="Montserrat"/>
              </a:defRPr>
            </a:pPr>
            <a:r>
              <a:rPr sz="2100" b="0">
                <a:solidFill>
                  <a:srgbClr val="536681"/>
                </a:solidFill>
                <a:latin typeface="Montserrat"/>
                <a:ea typeface="Montserrat"/>
                <a:cs typeface="Montserrat"/>
              </a:rPr>
              <a:t>HKU MSc(Eng) Innovative Design and Technology</a:t>
            </a:r>
          </a:p>
        </p:txBody>
      </p:sp>
      <p:sp>
        <p:nvSpPr>
          <p:cNvPr id="39" name="Screenshot placeholder: 【此处放网页平台首页截图】">
            <a:extLst xmlns:a="http://schemas.openxmlformats.org/drawingml/2006/main">
              <a:ext uri="{FF2B5EF4-FFF2-40B4-BE49-F238E27FC236}">
                <a16:creationId xmlns:a16="http://schemas.microsoft.com/office/drawing/2014/main" id="{14402313-CC8F-44E2-9123-AE3FDD6C331E}"/>
              </a:ext>
            </a:extLst>
          </p:cNvPr>
          <p:cNvSpPr>
            <a:spLocks xmlns:a="http://schemas.openxmlformats.org/drawingml/2006/main" noGrp="1"/>
          </p:cNvSpPr>
          <p:nvPr/>
        </p:nvSpPr>
        <p:spPr>
          <a:xfrm xmlns:a="http://schemas.openxmlformats.org/drawingml/2006/main">
            <a:off x="9001125" y="3762375"/>
            <a:ext cx="7924800" cy="4457700"/>
          </a:xfrm>
          <a:prstGeom xmlns:a="http://schemas.openxmlformats.org/drawingml/2006/main" prst="roundRect">
            <a:avLst>
              <a:gd name="adj" fmla="val 5128"/>
            </a:avLst>
          </a:prstGeom>
          <a:solidFill xmlns:a="http://schemas.openxmlformats.org/drawingml/2006/main">
            <a:srgbClr val="DCE2EB"/>
          </a:solidFill>
          <a:ln xmlns:a="http://schemas.openxmlformats.org/drawingml/2006/main" w="16193">
            <a:solidFill>
              <a:srgbClr val="8FA4C1"/>
            </a:solidFill>
          </a:ln>
        </p:spPr>
      </p:sp>
      <p:sp>
        <p:nvSpPr>
          <p:cNvPr id="40" name="【此处放网页平台首页截图】">
            <a:extLst xmlns:a="http://schemas.openxmlformats.org/drawingml/2006/main">
              <a:ext uri="{FF2B5EF4-FFF2-40B4-BE49-F238E27FC236}">
                <a16:creationId xmlns:a16="http://schemas.microsoft.com/office/drawing/2014/main" id="{4B9C6F9D-D8D8-4453-9885-F513CF4691D6}"/>
              </a:ext>
            </a:extLst>
          </p:cNvPr>
          <p:cNvSpPr>
            <a:spLocks xmlns:a="http://schemas.openxmlformats.org/drawingml/2006/main" noGrp="1"/>
          </p:cNvSpPr>
          <p:nvPr/>
        </p:nvSpPr>
        <p:spPr>
          <a:xfrm xmlns:a="http://schemas.openxmlformats.org/drawingml/2006/main">
            <a:off x="9210675" y="5705475"/>
            <a:ext cx="7505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250" b="0">
                <a:solidFill>
                  <a:srgbClr val="536681"/>
                </a:solidFill>
                <a:latin typeface="Microsoft YaHei"/>
                <a:ea typeface="Microsoft YaHei"/>
                <a:cs typeface="Microsoft YaHei"/>
              </a:defRPr>
            </a:defPPr>
          </a:lstStyle>
          <a:p xmlns:a="http://schemas.openxmlformats.org/drawingml/2006/main">
            <a:pPr algn="ctr">
              <a:buNone/>
              <a:defRPr sz="2250" b="0">
                <a:solidFill>
                  <a:srgbClr val="536681"/>
                </a:solidFill>
                <a:latin typeface="Microsoft YaHei"/>
                <a:ea typeface="Microsoft YaHei"/>
                <a:cs typeface="Microsoft YaHei"/>
              </a:defRPr>
            </a:pPr>
            <a:r>
              <a:rPr sz="2250" b="0">
                <a:solidFill>
                  <a:srgbClr val="536681"/>
                </a:solidFill>
                <a:latin typeface="Microsoft YaHei"/>
                <a:ea typeface="Microsoft YaHei"/>
                <a:cs typeface="Microsoft YaHei"/>
              </a:rPr>
              <a:t>【此处放网页平台首页截图】</a:t>
            </a:r>
          </a:p>
        </p:txBody>
      </p:sp>
      <p:sp>
        <p:nvSpPr>
          <p:cNvPr id="41" name="16:9">
            <a:extLst xmlns:a="http://schemas.openxmlformats.org/drawingml/2006/main">
              <a:ext uri="{FF2B5EF4-FFF2-40B4-BE49-F238E27FC236}">
                <a16:creationId xmlns:a16="http://schemas.microsoft.com/office/drawing/2014/main" id="{F299C09F-D0BA-453A-8B53-934D0DC4907D}"/>
              </a:ext>
            </a:extLst>
          </p:cNvPr>
          <p:cNvSpPr>
            <a:spLocks xmlns:a="http://schemas.openxmlformats.org/drawingml/2006/main" noGrp="1"/>
          </p:cNvSpPr>
          <p:nvPr/>
        </p:nvSpPr>
        <p:spPr>
          <a:xfrm xmlns:a="http://schemas.openxmlformats.org/drawingml/2006/main">
            <a:off x="15544800" y="393382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75" b="0">
                <a:solidFill>
                  <a:srgbClr val="536681"/>
                </a:solidFill>
                <a:latin typeface="Montserrat"/>
                <a:ea typeface="Montserrat"/>
                <a:cs typeface="Montserrat"/>
              </a:defRPr>
            </a:defPPr>
          </a:lstStyle>
          <a:p xmlns:a="http://schemas.openxmlformats.org/drawingml/2006/main">
            <a:pPr algn="r">
              <a:buNone/>
              <a:defRPr sz="1575" b="0">
                <a:solidFill>
                  <a:srgbClr val="536681"/>
                </a:solidFill>
                <a:latin typeface="Montserrat"/>
                <a:ea typeface="Montserrat"/>
                <a:cs typeface="Montserrat"/>
              </a:defRPr>
            </a:pPr>
            <a:r>
              <a:rPr sz="1575" b="0">
                <a:solidFill>
                  <a:srgbClr val="536681"/>
                </a:solidFill>
                <a:latin typeface="Montserrat"/>
                <a:ea typeface="Montserrat"/>
                <a:cs typeface="Montserrat"/>
              </a:rPr>
              <a:t>16:9</a:t>
            </a:r>
          </a:p>
        </p:txBody>
      </p:sp>
    </p:spTree>
    <p:extLst>
      <p:ext uri="{BB962C8B-B14F-4D97-AF65-F5344CB8AC3E}">
        <p14:creationId xmlns:p14="http://schemas.microsoft.com/office/powerpoint/2010/main" val="753561399"/>
      </p:ext>
    </p:extLst>
  </p:cSld>
</p:sld>
</file>

<file path=ppt/slides/slide2.xml><?xml version="1.0" encoding="utf-8"?>
<p:sld xmlns:p="http://schemas.openxmlformats.org/presentationml/2006/main">
  <p:cSld>
    <p:bg>
      <p:bgPr>
        <a:solidFill xmlns:a="http://schemas.openxmlformats.org/drawingml/2006/main">
          <a:srgbClr val="F1F1F1"/>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451DB41B-06B9-47D3-9E88-1D1F65C82D28}"/>
              </a:ext>
            </a:extLst>
          </p:cNvPr>
          <p:cNvSpPr>
            <a:spLocks xmlns:a="http://schemas.openxmlformats.org/drawingml/2006/main" noGrp="1"/>
          </p:cNvSpPr>
          <p:nvPr/>
        </p:nvSpPr>
        <p:spPr>
          <a:xfrm xmlns:a="http://schemas.openxmlformats.org/drawingml/2006/main" rot="0" flipH="0" flipV="0">
            <a:off x="4410075" y="514350"/>
            <a:ext cx="9467850" cy="819150"/>
          </a:xfrm>
          <a:custGeom xmlns:a="http://schemas.openxmlformats.org/drawingml/2006/main">
            <a:rect l="l" t="t" r="r" b="b"/>
            <a:pathLst>
              <a:path w="2494114" h="214543">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xmlns:a="http://schemas.openxmlformats.org/drawingml/2006/main" w="38100" cap="rnd">
            <a:solidFill>
              <a:srgbClr val="101B40"/>
            </a:solidFill>
            <a:prstDash val="solid"/>
            <a:round/>
          </a:ln>
        </p:spPr>
      </p:sp>
      <p:sp>
        <p:nvSpPr>
          <p:cNvPr id="4" name="TextBox 4">
            <a:extLst xmlns:a="http://schemas.openxmlformats.org/drawingml/2006/main">
              <a:ext uri="{FF2B5EF4-FFF2-40B4-BE49-F238E27FC236}">
                <a16:creationId xmlns:a16="http://schemas.microsoft.com/office/drawing/2014/main" id="{C73E431D-CAA6-4C80-89A4-80ABDAC3F28A}"/>
              </a:ext>
            </a:extLst>
          </p:cNvPr>
          <p:cNvSpPr>
            <a:spLocks xmlns:a="http://schemas.openxmlformats.org/drawingml/2006/main" noGrp="1"/>
          </p:cNvSpPr>
          <p:nvPr/>
        </p:nvSpPr>
        <p:spPr>
          <a:xfrm xmlns:a="http://schemas.openxmlformats.org/drawingml/2006/main" rot="0" flipH="0" flipV="0">
            <a:off x="4409081" y="370811"/>
            <a:ext cx="9469839" cy="95925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p>
        </p:txBody>
      </p:sp>
      <p:sp>
        <p:nvSpPr>
          <p:cNvPr id="6" name="Freeform 6">
            <a:extLst xmlns:a="http://schemas.openxmlformats.org/drawingml/2006/main">
              <a:ext uri="{FF2B5EF4-FFF2-40B4-BE49-F238E27FC236}">
                <a16:creationId xmlns:a16="http://schemas.microsoft.com/office/drawing/2014/main" id="{14AF1670-6876-4024-9ECF-E2D643B9CD1D}"/>
              </a:ext>
            </a:extLst>
          </p:cNvPr>
          <p:cNvSpPr>
            <a:spLocks xmlns:a="http://schemas.openxmlformats.org/drawingml/2006/main" noGrp="1"/>
          </p:cNvSpPr>
          <p:nvPr/>
        </p:nvSpPr>
        <p:spPr>
          <a:xfrm xmlns:a="http://schemas.openxmlformats.org/drawingml/2006/main" rot="0" flipH="0" flipV="0">
            <a:off x="7048500" y="628650"/>
            <a:ext cx="1466850" cy="590550"/>
          </a:xfrm>
          <a:custGeom xmlns:a="http://schemas.openxmlformats.org/drawingml/2006/main">
            <a:rect l="l" t="t" r="r" b="b"/>
            <a:pathLst>
              <a:path w="385586" h="155110">
                <a:moveTo>
                  <a:pt x="77555" y="0"/>
                </a:moveTo>
                <a:lnTo>
                  <a:pt x="308031" y="0"/>
                </a:lnTo>
                <a:cubicBezTo>
                  <a:pt x="350864" y="0"/>
                  <a:pt x="385586" y="34722"/>
                  <a:pt x="385586" y="77555"/>
                </a:cubicBezTo>
                <a:lnTo>
                  <a:pt x="385586" y="77555"/>
                </a:lnTo>
                <a:cubicBezTo>
                  <a:pt x="385586" y="120387"/>
                  <a:pt x="350864" y="155110"/>
                  <a:pt x="308031" y="155110"/>
                </a:cubicBezTo>
                <a:lnTo>
                  <a:pt x="77555" y="155110"/>
                </a:lnTo>
                <a:cubicBezTo>
                  <a:pt x="34722" y="155110"/>
                  <a:pt x="0" y="120387"/>
                  <a:pt x="0" y="77555"/>
                </a:cubicBezTo>
                <a:lnTo>
                  <a:pt x="0" y="77555"/>
                </a:lnTo>
                <a:cubicBezTo>
                  <a:pt x="0" y="34722"/>
                  <a:pt x="34722" y="0"/>
                  <a:pt x="77555" y="0"/>
                </a:cubicBezTo>
                <a:close/>
              </a:path>
            </a:pathLst>
          </a:custGeom>
          <a:solidFill xmlns:a="http://schemas.openxmlformats.org/drawingml/2006/main">
            <a:srgbClr val="101B40"/>
          </a:solidFill>
          <a:ln xmlns:a="http://schemas.openxmlformats.org/drawingml/2006/main" cap="rnd">
            <a:noFill/>
            <a:prstDash val="solid"/>
            <a:round/>
          </a:ln>
        </p:spPr>
      </p:sp>
      <p:sp>
        <p:nvSpPr>
          <p:cNvPr id="7" name="TextBox 7">
            <a:extLst xmlns:a="http://schemas.openxmlformats.org/drawingml/2006/main">
              <a:ext uri="{FF2B5EF4-FFF2-40B4-BE49-F238E27FC236}">
                <a16:creationId xmlns:a16="http://schemas.microsoft.com/office/drawing/2014/main" id="{AEADC97D-4CF2-46A6-BCE1-95034A882F1F}"/>
              </a:ext>
            </a:extLst>
          </p:cNvPr>
          <p:cNvSpPr>
            <a:spLocks xmlns:a="http://schemas.openxmlformats.org/drawingml/2006/main" noGrp="1"/>
          </p:cNvSpPr>
          <p:nvPr/>
        </p:nvSpPr>
        <p:spPr>
          <a:xfrm xmlns:a="http://schemas.openxmlformats.org/drawingml/2006/main" rot="0" flipH="0" flipV="0">
            <a:off x="7051333" y="483641"/>
            <a:ext cx="1464022" cy="73359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p>
        </p:txBody>
      </p:sp>
      <p:sp>
        <p:nvSpPr>
          <p:cNvPr id="31" name="TextBox 31">
            <a:extLst xmlns:a="http://schemas.openxmlformats.org/drawingml/2006/main">
              <a:ext uri="{FF2B5EF4-FFF2-40B4-BE49-F238E27FC236}">
                <a16:creationId xmlns:a16="http://schemas.microsoft.com/office/drawing/2014/main" id="{A9E0484D-DC82-4E2F-9230-E8E009F719AE}"/>
              </a:ext>
            </a:extLst>
          </p:cNvPr>
          <p:cNvSpPr>
            <a:spLocks xmlns:a="http://schemas.openxmlformats.org/drawingml/2006/main" noGrp="1"/>
          </p:cNvSpPr>
          <p:nvPr/>
        </p:nvSpPr>
        <p:spPr>
          <a:xfrm xmlns:a="http://schemas.openxmlformats.org/drawingml/2006/main" rot="0">
            <a:off x="4438650" y="733425"/>
            <a:ext cx="16668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VISION</a:t>
            </a:r>
          </a:p>
        </p:txBody>
      </p:sp>
      <p:sp>
        <p:nvSpPr>
          <p:cNvPr id="32" name="TextBox 32">
            <a:extLst xmlns:a="http://schemas.openxmlformats.org/drawingml/2006/main">
              <a:ext uri="{FF2B5EF4-FFF2-40B4-BE49-F238E27FC236}">
                <a16:creationId xmlns:a16="http://schemas.microsoft.com/office/drawing/2014/main" id="{8A0C8032-06CF-4912-A00E-FE356871323C}"/>
              </a:ext>
            </a:extLst>
          </p:cNvPr>
          <p:cNvSpPr>
            <a:spLocks xmlns:a="http://schemas.openxmlformats.org/drawingml/2006/main" noGrp="1"/>
          </p:cNvSpPr>
          <p:nvPr/>
        </p:nvSpPr>
        <p:spPr>
          <a:xfrm xmlns:a="http://schemas.openxmlformats.org/drawingml/2006/main" rot="0">
            <a:off x="6829425" y="733425"/>
            <a:ext cx="190500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1">
                <a:solidFill>
                  <a:srgbClr val="FFFFFF"/>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1">
                <a:solidFill>
                  <a:srgbClr val="FFFFFF"/>
                </a:solidFill>
                <a:latin typeface="Montserrat"/>
                <a:ea typeface="Montserrat"/>
                <a:cs typeface="Montserrat"/>
              </a:defRPr>
            </a:pPr>
            <a:r>
              <a:rPr sz="1800" b="1" spc="3">
                <a:solidFill>
                  <a:srgbClr val="FFFFFF"/>
                </a:solidFill>
                <a:latin typeface="Montserrat"/>
                <a:ea typeface="Montserrat"/>
                <a:cs typeface="Montserrat"/>
              </a:rPr>
              <a:t>DESIGN</a:t>
            </a:r>
          </a:p>
        </p:txBody>
      </p:sp>
      <p:sp>
        <p:nvSpPr>
          <p:cNvPr id="33" name="TextBox 33">
            <a:extLst xmlns:a="http://schemas.openxmlformats.org/drawingml/2006/main">
              <a:ext uri="{FF2B5EF4-FFF2-40B4-BE49-F238E27FC236}">
                <a16:creationId xmlns:a16="http://schemas.microsoft.com/office/drawing/2014/main" id="{D40F2FAD-511A-4CAC-A19C-D7EAA3329FFC}"/>
              </a:ext>
            </a:extLst>
          </p:cNvPr>
          <p:cNvSpPr>
            <a:spLocks xmlns:a="http://schemas.openxmlformats.org/drawingml/2006/main" noGrp="1"/>
          </p:cNvSpPr>
          <p:nvPr/>
        </p:nvSpPr>
        <p:spPr>
          <a:xfrm xmlns:a="http://schemas.openxmlformats.org/drawingml/2006/main" rot="0">
            <a:off x="9496425" y="733425"/>
            <a:ext cx="15906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SYSTEM</a:t>
            </a:r>
          </a:p>
        </p:txBody>
      </p:sp>
      <p:sp>
        <p:nvSpPr>
          <p:cNvPr id="34" name="TextBox 34">
            <a:extLst xmlns:a="http://schemas.openxmlformats.org/drawingml/2006/main">
              <a:ext uri="{FF2B5EF4-FFF2-40B4-BE49-F238E27FC236}">
                <a16:creationId xmlns:a16="http://schemas.microsoft.com/office/drawing/2014/main" id="{8CED178F-B4CC-437D-91BD-6F3C099E14B9}"/>
              </a:ext>
            </a:extLst>
          </p:cNvPr>
          <p:cNvSpPr>
            <a:spLocks xmlns:a="http://schemas.openxmlformats.org/drawingml/2006/main" noGrp="1"/>
          </p:cNvSpPr>
          <p:nvPr/>
        </p:nvSpPr>
        <p:spPr>
          <a:xfrm xmlns:a="http://schemas.openxmlformats.org/drawingml/2006/main" rot="0">
            <a:off x="11591925" y="733425"/>
            <a:ext cx="222885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REVIEW</a:t>
            </a:r>
          </a:p>
        </p:txBody>
      </p:sp>
      <p:sp>
        <p:nvSpPr>
          <p:cNvPr id="35" name="TextBox 35">
            <a:extLst xmlns:a="http://schemas.openxmlformats.org/drawingml/2006/main">
              <a:ext uri="{FF2B5EF4-FFF2-40B4-BE49-F238E27FC236}">
                <a16:creationId xmlns:a16="http://schemas.microsoft.com/office/drawing/2014/main" id="{8B21B1CB-CA5C-4BF0-AC17-99BD7C789B0A}"/>
              </a:ext>
            </a:extLst>
          </p:cNvPr>
          <p:cNvSpPr>
            <a:spLocks xmlns:a="http://schemas.openxmlformats.org/drawingml/2006/main" noGrp="1"/>
          </p:cNvSpPr>
          <p:nvPr/>
        </p:nvSpPr>
        <p:spPr>
          <a:xfrm xmlns:a="http://schemas.openxmlformats.org/drawingml/2006/main" rot="0">
            <a:off x="800100" y="628650"/>
            <a:ext cx="2381250" cy="56769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defRPr sz="1800" b="1">
                <a:solidFill>
                  <a:srgbClr val="101B40"/>
                </a:solidFill>
                <a:latin typeface="Montserrat"/>
                <a:ea typeface="Montserrat"/>
                <a:cs typeface="Montserrat"/>
              </a:defRPr>
            </a:defPPr>
          </a:lstStyle>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PDF</a:t>
            </a:r>
          </a:p>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GALAXAI</a:t>
            </a:r>
          </a:p>
        </p:txBody>
      </p:sp>
      <p:sp>
        <p:nvSpPr>
          <p:cNvPr id="36" name="02">
            <a:extLst xmlns:a="http://schemas.openxmlformats.org/drawingml/2006/main">
              <a:ext uri="{FF2B5EF4-FFF2-40B4-BE49-F238E27FC236}">
                <a16:creationId xmlns:a16="http://schemas.microsoft.com/office/drawing/2014/main" id="{71757E11-53B8-414B-AAB1-9A81303B9F03}"/>
              </a:ext>
            </a:extLst>
          </p:cNvPr>
          <p:cNvSpPr>
            <a:spLocks xmlns:a="http://schemas.openxmlformats.org/drawingml/2006/main" noGrp="1"/>
          </p:cNvSpPr>
          <p:nvPr/>
        </p:nvSpPr>
        <p:spPr>
          <a:xfrm xmlns:a="http://schemas.openxmlformats.org/drawingml/2006/main">
            <a:off x="16735425" y="73342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1">
                <a:solidFill>
                  <a:srgbClr val="101B40"/>
                </a:solidFill>
                <a:latin typeface="Montserrat Bold"/>
                <a:ea typeface="Montserrat Bold"/>
                <a:cs typeface="Montserrat Bold"/>
              </a:defRPr>
            </a:defPPr>
          </a:lstStyle>
          <a:p xmlns:a="http://schemas.openxmlformats.org/drawingml/2006/main">
            <a:pPr algn="r">
              <a:buNone/>
              <a:defRPr sz="1875" b="1">
                <a:solidFill>
                  <a:srgbClr val="101B40"/>
                </a:solidFill>
                <a:latin typeface="Montserrat Bold"/>
                <a:ea typeface="Montserrat Bold"/>
                <a:cs typeface="Montserrat Bold"/>
              </a:defRPr>
            </a:pPr>
            <a:r>
              <a:rPr sz="1875" b="1">
                <a:solidFill>
                  <a:srgbClr val="101B40"/>
                </a:solidFill>
                <a:latin typeface="Montserrat Bold"/>
                <a:ea typeface="Montserrat Bold"/>
                <a:cs typeface="Montserrat Bold"/>
              </a:rPr>
              <a:t>02</a:t>
            </a:r>
          </a:p>
        </p:txBody>
      </p:sp>
      <p:sp>
        <p:nvSpPr>
          <p:cNvPr id="37" name="PDF-GalaxAI">
            <a:extLst xmlns:a="http://schemas.openxmlformats.org/drawingml/2006/main">
              <a:ext uri="{FF2B5EF4-FFF2-40B4-BE49-F238E27FC236}">
                <a16:creationId xmlns:a16="http://schemas.microsoft.com/office/drawing/2014/main" id="{58C96FCE-7EB1-415A-A793-A1845630B8CA}"/>
              </a:ext>
            </a:extLst>
          </p:cNvPr>
          <p:cNvSpPr>
            <a:spLocks xmlns:a="http://schemas.openxmlformats.org/drawingml/2006/main" noGrp="1"/>
          </p:cNvSpPr>
          <p:nvPr/>
        </p:nvSpPr>
        <p:spPr>
          <a:xfrm xmlns:a="http://schemas.openxmlformats.org/drawingml/2006/main">
            <a:off x="1238250" y="96202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681"/>
                </a:solidFill>
                <a:latin typeface="Montserrat"/>
                <a:ea typeface="Montserrat"/>
                <a:cs typeface="Montserrat"/>
              </a:defRPr>
            </a:defPPr>
          </a:lstStyle>
          <a:p xmlns:a="http://schemas.openxmlformats.org/drawingml/2006/main">
            <a:pPr algn="l">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PDF-GalaxAI</a:t>
            </a:r>
          </a:p>
        </p:txBody>
      </p:sp>
      <p:sp>
        <p:nvSpPr>
          <p:cNvPr id="38" name="02 / 12">
            <a:extLst xmlns:a="http://schemas.openxmlformats.org/drawingml/2006/main">
              <a:ext uri="{FF2B5EF4-FFF2-40B4-BE49-F238E27FC236}">
                <a16:creationId xmlns:a16="http://schemas.microsoft.com/office/drawing/2014/main" id="{4A1FF8FE-A8D3-450A-8242-6842E89BD6DE}"/>
              </a:ext>
            </a:extLst>
          </p:cNvPr>
          <p:cNvSpPr>
            <a:spLocks xmlns:a="http://schemas.openxmlformats.org/drawingml/2006/main" noGrp="1"/>
          </p:cNvSpPr>
          <p:nvPr/>
        </p:nvSpPr>
        <p:spPr>
          <a:xfrm xmlns:a="http://schemas.openxmlformats.org/drawingml/2006/main">
            <a:off x="15430500" y="9620250"/>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536681"/>
                </a:solidFill>
                <a:latin typeface="Montserrat"/>
                <a:ea typeface="Montserrat"/>
                <a:cs typeface="Montserrat"/>
              </a:defRPr>
            </a:defPPr>
          </a:lstStyle>
          <a:p xmlns:a="http://schemas.openxmlformats.org/drawingml/2006/main">
            <a:pPr algn="r">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02 / 12</a:t>
            </a:r>
          </a:p>
        </p:txBody>
      </p:sp>
      <p:sp>
        <p:nvSpPr>
          <p:cNvPr id="39" name="User Problems &amp; Design Objectives">
            <a:extLst xmlns:a="http://schemas.openxmlformats.org/drawingml/2006/main">
              <a:ext uri="{FF2B5EF4-FFF2-40B4-BE49-F238E27FC236}">
                <a16:creationId xmlns:a16="http://schemas.microsoft.com/office/drawing/2014/main" id="{8F375502-DAC4-41E8-A407-F0B23FF2EF5F}"/>
              </a:ext>
            </a:extLst>
          </p:cNvPr>
          <p:cNvSpPr>
            <a:spLocks xmlns:a="http://schemas.openxmlformats.org/drawingml/2006/main" noGrp="1"/>
          </p:cNvSpPr>
          <p:nvPr/>
        </p:nvSpPr>
        <p:spPr>
          <a:xfrm xmlns:a="http://schemas.openxmlformats.org/drawingml/2006/main">
            <a:off x="1238250" y="1952625"/>
            <a:ext cx="15668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425" b="1">
                <a:solidFill>
                  <a:srgbClr val="101B40"/>
                </a:solidFill>
                <a:latin typeface="Montserrat Bold"/>
                <a:ea typeface="Montserrat Bold"/>
                <a:cs typeface="Montserrat Bold"/>
              </a:defRPr>
            </a:defPPr>
          </a:lstStyle>
          <a:p xmlns:a="http://schemas.openxmlformats.org/drawingml/2006/main">
            <a:pPr algn="l">
              <a:buNone/>
              <a:defRPr sz="4425" b="1">
                <a:solidFill>
                  <a:srgbClr val="101B40"/>
                </a:solidFill>
                <a:latin typeface="Montserrat Bold"/>
                <a:ea typeface="Montserrat Bold"/>
                <a:cs typeface="Montserrat Bold"/>
              </a:defRPr>
            </a:pPr>
            <a:r>
              <a:rPr sz="4425" b="1">
                <a:solidFill>
                  <a:srgbClr val="101B40"/>
                </a:solidFill>
                <a:latin typeface="Montserrat Bold"/>
                <a:ea typeface="Montserrat Bold"/>
                <a:cs typeface="Montserrat Bold"/>
              </a:rPr>
              <a:t>User Problems &amp; Design Objectives</a:t>
            </a:r>
          </a:p>
        </p:txBody>
      </p:sp>
      <p:sp>
        <p:nvSpPr>
          <p:cNvPr id="40" name="Designed for researchers exploring relationships across a growing coll">
            <a:extLst xmlns:a="http://schemas.openxmlformats.org/drawingml/2006/main">
              <a:ext uri="{FF2B5EF4-FFF2-40B4-BE49-F238E27FC236}">
                <a16:creationId xmlns:a16="http://schemas.microsoft.com/office/drawing/2014/main" id="{1C1841D4-1A7D-41B2-BC0E-11401715AB59}"/>
              </a:ext>
            </a:extLst>
          </p:cNvPr>
          <p:cNvSpPr>
            <a:spLocks xmlns:a="http://schemas.openxmlformats.org/drawingml/2006/main" noGrp="1"/>
          </p:cNvSpPr>
          <p:nvPr/>
        </p:nvSpPr>
        <p:spPr>
          <a:xfrm xmlns:a="http://schemas.openxmlformats.org/drawingml/2006/main">
            <a:off x="1257300" y="2905125"/>
            <a:ext cx="15382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36681"/>
                </a:solidFill>
                <a:latin typeface="Montserrat"/>
                <a:ea typeface="Montserrat"/>
                <a:cs typeface="Montserrat"/>
              </a:defRPr>
            </a:defPPr>
          </a:lstStyle>
          <a:p xmlns:a="http://schemas.openxmlformats.org/drawingml/2006/main">
            <a:pPr algn="l">
              <a:buNone/>
              <a:defRPr sz="2250" b="0">
                <a:solidFill>
                  <a:srgbClr val="536681"/>
                </a:solidFill>
                <a:latin typeface="Montserrat"/>
                <a:ea typeface="Montserrat"/>
                <a:cs typeface="Montserrat"/>
              </a:defRPr>
            </a:pPr>
            <a:r>
              <a:rPr sz="2250" b="0">
                <a:solidFill>
                  <a:srgbClr val="536681"/>
                </a:solidFill>
                <a:latin typeface="Montserrat"/>
                <a:ea typeface="Montserrat"/>
                <a:cs typeface="Montserrat"/>
              </a:rPr>
              <a:t>Designed for researchers exploring relationships across a growing collection of papers.</a:t>
            </a:r>
          </a:p>
        </p:txBody>
      </p:sp>
      <p:sp>
        <p:nvSpPr>
          <p:cNvPr id="41" name="RESEARCH TASK">
            <a:extLst xmlns:a="http://schemas.openxmlformats.org/drawingml/2006/main">
              <a:ext uri="{FF2B5EF4-FFF2-40B4-BE49-F238E27FC236}">
                <a16:creationId xmlns:a16="http://schemas.microsoft.com/office/drawing/2014/main" id="{170D77D2-EFCB-4EC1-ACEF-B04E0AC7A8A5}"/>
              </a:ext>
            </a:extLst>
          </p:cNvPr>
          <p:cNvSpPr>
            <a:spLocks xmlns:a="http://schemas.openxmlformats.org/drawingml/2006/main" noGrp="1"/>
          </p:cNvSpPr>
          <p:nvPr/>
        </p:nvSpPr>
        <p:spPr>
          <a:xfrm xmlns:a="http://schemas.openxmlformats.org/drawingml/2006/main">
            <a:off x="1285875" y="4029075"/>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36681"/>
                </a:solidFill>
                <a:latin typeface="Montserrat Bold"/>
                <a:ea typeface="Montserrat Bold"/>
                <a:cs typeface="Montserrat Bold"/>
              </a:defRPr>
            </a:defPPr>
          </a:lstStyle>
          <a:p xmlns:a="http://schemas.openxmlformats.org/drawingml/2006/main">
            <a:pPr algn="l">
              <a:buNone/>
              <a:defRPr sz="1800" b="1">
                <a:solidFill>
                  <a:srgbClr val="536681"/>
                </a:solidFill>
                <a:latin typeface="Montserrat Bold"/>
                <a:ea typeface="Montserrat Bold"/>
                <a:cs typeface="Montserrat Bold"/>
              </a:defRPr>
            </a:pPr>
            <a:r>
              <a:rPr sz="1800" b="1">
                <a:solidFill>
                  <a:srgbClr val="536681"/>
                </a:solidFill>
                <a:latin typeface="Montserrat Bold"/>
                <a:ea typeface="Montserrat Bold"/>
                <a:cs typeface="Montserrat Bold"/>
              </a:rPr>
              <a:t>RESEARCH TASK</a:t>
            </a:r>
          </a:p>
        </p:txBody>
      </p:sp>
      <p:sp>
        <p:nvSpPr>
          <p:cNvPr id="42" name="PRODUCT RESPONSE">
            <a:extLst xmlns:a="http://schemas.openxmlformats.org/drawingml/2006/main">
              <a:ext uri="{FF2B5EF4-FFF2-40B4-BE49-F238E27FC236}">
                <a16:creationId xmlns:a16="http://schemas.microsoft.com/office/drawing/2014/main" id="{185D7574-1B58-4B10-8256-5265FB3074A6}"/>
              </a:ext>
            </a:extLst>
          </p:cNvPr>
          <p:cNvSpPr>
            <a:spLocks xmlns:a="http://schemas.openxmlformats.org/drawingml/2006/main" noGrp="1"/>
          </p:cNvSpPr>
          <p:nvPr/>
        </p:nvSpPr>
        <p:spPr>
          <a:xfrm xmlns:a="http://schemas.openxmlformats.org/drawingml/2006/main">
            <a:off x="9286875" y="4029075"/>
            <a:ext cx="7429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36681"/>
                </a:solidFill>
                <a:latin typeface="Montserrat Bold"/>
                <a:ea typeface="Montserrat Bold"/>
                <a:cs typeface="Montserrat Bold"/>
              </a:defRPr>
            </a:defPPr>
          </a:lstStyle>
          <a:p xmlns:a="http://schemas.openxmlformats.org/drawingml/2006/main">
            <a:pPr algn="l">
              <a:buNone/>
              <a:defRPr sz="1800" b="1">
                <a:solidFill>
                  <a:srgbClr val="536681"/>
                </a:solidFill>
                <a:latin typeface="Montserrat Bold"/>
                <a:ea typeface="Montserrat Bold"/>
                <a:cs typeface="Montserrat Bold"/>
              </a:defRPr>
            </a:pPr>
            <a:r>
              <a:rPr sz="1800" b="1">
                <a:solidFill>
                  <a:srgbClr val="536681"/>
                </a:solidFill>
                <a:latin typeface="Montserrat Bold"/>
                <a:ea typeface="Montserrat Bold"/>
                <a:cs typeface="Montserrat Bold"/>
              </a:rPr>
              <a:t>PRODUCT RESPONSE</a:t>
            </a:r>
          </a:p>
        </p:txBody>
      </p:sp>
      <p:sp>
        <p:nvSpPr>
          <p:cNvPr id="43" name="Fragmented knowledge">
            <a:extLst xmlns:a="http://schemas.openxmlformats.org/drawingml/2006/main">
              <a:ext uri="{FF2B5EF4-FFF2-40B4-BE49-F238E27FC236}">
                <a16:creationId xmlns:a16="http://schemas.microsoft.com/office/drawing/2014/main" id="{44F669A3-35B0-44EE-BEBB-461759DA8206}"/>
              </a:ext>
            </a:extLst>
          </p:cNvPr>
          <p:cNvSpPr>
            <a:spLocks xmlns:a="http://schemas.openxmlformats.org/drawingml/2006/main" noGrp="1"/>
          </p:cNvSpPr>
          <p:nvPr/>
        </p:nvSpPr>
        <p:spPr>
          <a:xfrm xmlns:a="http://schemas.openxmlformats.org/drawingml/2006/main">
            <a:off x="1285875" y="4667250"/>
            <a:ext cx="709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01B40"/>
                </a:solidFill>
                <a:latin typeface="Montserrat Bold"/>
                <a:ea typeface="Montserrat Bold"/>
                <a:cs typeface="Montserrat Bold"/>
              </a:defRPr>
            </a:defPPr>
          </a:lstStyle>
          <a:p xmlns:a="http://schemas.openxmlformats.org/drawingml/2006/main">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Fragmented knowledge</a:t>
            </a:r>
          </a:p>
        </p:txBody>
      </p:sp>
      <p:sp>
        <p:nvSpPr>
          <p:cNvPr id="44" name="Individual PDFs hide connections across a collection.">
            <a:extLst xmlns:a="http://schemas.openxmlformats.org/drawingml/2006/main">
              <a:ext uri="{FF2B5EF4-FFF2-40B4-BE49-F238E27FC236}">
                <a16:creationId xmlns:a16="http://schemas.microsoft.com/office/drawing/2014/main" id="{B0FA2008-5FF8-4212-8F3B-F125002BABF8}"/>
              </a:ext>
            </a:extLst>
          </p:cNvPr>
          <p:cNvSpPr>
            <a:spLocks xmlns:a="http://schemas.openxmlformats.org/drawingml/2006/main" noGrp="1"/>
          </p:cNvSpPr>
          <p:nvPr/>
        </p:nvSpPr>
        <p:spPr>
          <a:xfrm xmlns:a="http://schemas.openxmlformats.org/drawingml/2006/main">
            <a:off x="1285875" y="5114925"/>
            <a:ext cx="7096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81"/>
                </a:solidFill>
                <a:latin typeface="Montserrat"/>
                <a:ea typeface="Montserrat"/>
                <a:cs typeface="Montserrat"/>
              </a:defRPr>
            </a:defPPr>
          </a:lstStyle>
          <a:p xmlns:a="http://schemas.openxmlformats.org/drawingml/2006/main">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Individual PDFs hide connections across a collection.</a:t>
            </a:r>
          </a:p>
        </p:txBody>
      </p:sp>
      <p:sp>
        <p:nvSpPr>
          <p:cNvPr id="45" name="A semantic knowledge galaxy">
            <a:extLst xmlns:a="http://schemas.openxmlformats.org/drawingml/2006/main">
              <a:ext uri="{FF2B5EF4-FFF2-40B4-BE49-F238E27FC236}">
                <a16:creationId xmlns:a16="http://schemas.microsoft.com/office/drawing/2014/main" id="{5EC37D8B-29C1-43F7-99F4-A01188B1F5B2}"/>
              </a:ext>
            </a:extLst>
          </p:cNvPr>
          <p:cNvSpPr>
            <a:spLocks xmlns:a="http://schemas.openxmlformats.org/drawingml/2006/main" noGrp="1"/>
          </p:cNvSpPr>
          <p:nvPr/>
        </p:nvSpPr>
        <p:spPr>
          <a:xfrm xmlns:a="http://schemas.openxmlformats.org/drawingml/2006/main">
            <a:off x="9286875" y="4667250"/>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01B40"/>
                </a:solidFill>
                <a:latin typeface="Montserrat Bold"/>
                <a:ea typeface="Montserrat Bold"/>
                <a:cs typeface="Montserrat Bold"/>
              </a:defRPr>
            </a:defPPr>
          </a:lstStyle>
          <a:p xmlns:a="http://schemas.openxmlformats.org/drawingml/2006/main">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A semantic knowledge galaxy</a:t>
            </a:r>
          </a:p>
        </p:txBody>
      </p:sp>
      <p:sp>
        <p:nvSpPr>
          <p:cNvPr id="46" name="Organise papers by topic and expose related documents.">
            <a:extLst xmlns:a="http://schemas.openxmlformats.org/drawingml/2006/main">
              <a:ext uri="{FF2B5EF4-FFF2-40B4-BE49-F238E27FC236}">
                <a16:creationId xmlns:a16="http://schemas.microsoft.com/office/drawing/2014/main" id="{A0A610E1-A4EE-413D-9104-169D9394D3BB}"/>
              </a:ext>
            </a:extLst>
          </p:cNvPr>
          <p:cNvSpPr>
            <a:spLocks xmlns:a="http://schemas.openxmlformats.org/drawingml/2006/main" noGrp="1"/>
          </p:cNvSpPr>
          <p:nvPr/>
        </p:nvSpPr>
        <p:spPr>
          <a:xfrm xmlns:a="http://schemas.openxmlformats.org/drawingml/2006/main">
            <a:off x="9286875" y="5114925"/>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81"/>
                </a:solidFill>
                <a:latin typeface="Montserrat"/>
                <a:ea typeface="Montserrat"/>
                <a:cs typeface="Montserrat"/>
              </a:defRPr>
            </a:defPPr>
          </a:lstStyle>
          <a:p xmlns:a="http://schemas.openxmlformats.org/drawingml/2006/main">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Organise papers by topic and expose related documents.</a:t>
            </a:r>
          </a:p>
        </p:txBody>
      </p:sp>
      <p:sp>
        <p:nvSpPr>
          <p:cNvPr id="47" name="">
            <a:extLst xmlns:a="http://schemas.openxmlformats.org/drawingml/2006/main">
              <a:ext uri="{FF2B5EF4-FFF2-40B4-BE49-F238E27FC236}">
                <a16:creationId xmlns:a16="http://schemas.microsoft.com/office/drawing/2014/main" id="{168B8A35-F408-46AF-9408-DD4E87D90F01}"/>
              </a:ext>
            </a:extLst>
          </p:cNvPr>
          <p:cNvSpPr>
            <a:spLocks xmlns:a="http://schemas.openxmlformats.org/drawingml/2006/main" noGrp="1"/>
          </p:cNvSpPr>
          <p:nvPr/>
        </p:nvSpPr>
        <p:spPr>
          <a:xfrm xmlns:a="http://schemas.openxmlformats.org/drawingml/2006/main">
            <a:off x="1285875" y="5648325"/>
            <a:ext cx="15525750" cy="0"/>
          </a:xfrm>
          <a:prstGeom xmlns:a="http://schemas.openxmlformats.org/drawingml/2006/main" prst="line">
            <a:avLst/>
          </a:prstGeom>
          <a:noFill xmlns:a="http://schemas.openxmlformats.org/drawingml/2006/main"/>
          <a:ln xmlns:a="http://schemas.openxmlformats.org/drawingml/2006/main" w="13335">
            <a:solidFill>
              <a:srgbClr val="8FA4C1"/>
            </a:solidFill>
          </a:ln>
        </p:spPr>
      </p:sp>
      <p:sp>
        <p:nvSpPr>
          <p:cNvPr id="48" name="Slow changes of context">
            <a:extLst xmlns:a="http://schemas.openxmlformats.org/drawingml/2006/main">
              <a:ext uri="{FF2B5EF4-FFF2-40B4-BE49-F238E27FC236}">
                <a16:creationId xmlns:a16="http://schemas.microsoft.com/office/drawing/2014/main" id="{2670FC71-3BDA-4C0D-B672-6C4AA7A278F8}"/>
              </a:ext>
            </a:extLst>
          </p:cNvPr>
          <p:cNvSpPr>
            <a:spLocks xmlns:a="http://schemas.openxmlformats.org/drawingml/2006/main" noGrp="1"/>
          </p:cNvSpPr>
          <p:nvPr/>
        </p:nvSpPr>
        <p:spPr>
          <a:xfrm xmlns:a="http://schemas.openxmlformats.org/drawingml/2006/main">
            <a:off x="1285875" y="5734050"/>
            <a:ext cx="709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01B40"/>
                </a:solidFill>
                <a:latin typeface="Montserrat Bold"/>
                <a:ea typeface="Montserrat Bold"/>
                <a:cs typeface="Montserrat Bold"/>
              </a:defRPr>
            </a:defPPr>
          </a:lstStyle>
          <a:p xmlns:a="http://schemas.openxmlformats.org/drawingml/2006/main">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Slow changes of context</a:t>
            </a:r>
          </a:p>
        </p:txBody>
      </p:sp>
      <p:sp>
        <p:nvSpPr>
          <p:cNvPr id="49" name="Finding, reading and questioning require separate steps.">
            <a:extLst xmlns:a="http://schemas.openxmlformats.org/drawingml/2006/main">
              <a:ext uri="{FF2B5EF4-FFF2-40B4-BE49-F238E27FC236}">
                <a16:creationId xmlns:a16="http://schemas.microsoft.com/office/drawing/2014/main" id="{E8987A4A-C12F-476A-96D8-60F5B3B35B49}"/>
              </a:ext>
            </a:extLst>
          </p:cNvPr>
          <p:cNvSpPr>
            <a:spLocks xmlns:a="http://schemas.openxmlformats.org/drawingml/2006/main" noGrp="1"/>
          </p:cNvSpPr>
          <p:nvPr/>
        </p:nvSpPr>
        <p:spPr>
          <a:xfrm xmlns:a="http://schemas.openxmlformats.org/drawingml/2006/main">
            <a:off x="1285875" y="6181725"/>
            <a:ext cx="7096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81"/>
                </a:solidFill>
                <a:latin typeface="Montserrat"/>
                <a:ea typeface="Montserrat"/>
                <a:cs typeface="Montserrat"/>
              </a:defRPr>
            </a:defPPr>
          </a:lstStyle>
          <a:p xmlns:a="http://schemas.openxmlformats.org/drawingml/2006/main">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Finding, reading and questioning require separate steps.</a:t>
            </a:r>
          </a:p>
        </p:txBody>
      </p:sp>
      <p:sp>
        <p:nvSpPr>
          <p:cNvPr id="50" name="A connected reading workspace">
            <a:extLst xmlns:a="http://schemas.openxmlformats.org/drawingml/2006/main">
              <a:ext uri="{FF2B5EF4-FFF2-40B4-BE49-F238E27FC236}">
                <a16:creationId xmlns:a16="http://schemas.microsoft.com/office/drawing/2014/main" id="{84F61FBA-7AFD-4CA0-B9BF-AD8EB160B74E}"/>
              </a:ext>
            </a:extLst>
          </p:cNvPr>
          <p:cNvSpPr>
            <a:spLocks xmlns:a="http://schemas.openxmlformats.org/drawingml/2006/main" noGrp="1"/>
          </p:cNvSpPr>
          <p:nvPr/>
        </p:nvSpPr>
        <p:spPr>
          <a:xfrm xmlns:a="http://schemas.openxmlformats.org/drawingml/2006/main">
            <a:off x="9286875" y="5734050"/>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01B40"/>
                </a:solidFill>
                <a:latin typeface="Montserrat Bold"/>
                <a:ea typeface="Montserrat Bold"/>
                <a:cs typeface="Montserrat Bold"/>
              </a:defRPr>
            </a:defPPr>
          </a:lstStyle>
          <a:p xmlns:a="http://schemas.openxmlformats.org/drawingml/2006/main">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A connected reading workspace</a:t>
            </a:r>
          </a:p>
        </p:txBody>
      </p:sp>
      <p:sp>
        <p:nvSpPr>
          <p:cNvPr id="51" name="Carry the selected paper into AI dialogue and PDF reading.">
            <a:extLst xmlns:a="http://schemas.openxmlformats.org/drawingml/2006/main">
              <a:ext uri="{FF2B5EF4-FFF2-40B4-BE49-F238E27FC236}">
                <a16:creationId xmlns:a16="http://schemas.microsoft.com/office/drawing/2014/main" id="{D71E4259-5C78-48AA-A488-E35A9AA584E3}"/>
              </a:ext>
            </a:extLst>
          </p:cNvPr>
          <p:cNvSpPr>
            <a:spLocks xmlns:a="http://schemas.openxmlformats.org/drawingml/2006/main" noGrp="1"/>
          </p:cNvSpPr>
          <p:nvPr/>
        </p:nvSpPr>
        <p:spPr>
          <a:xfrm xmlns:a="http://schemas.openxmlformats.org/drawingml/2006/main">
            <a:off x="9286875" y="6181725"/>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81"/>
                </a:solidFill>
                <a:latin typeface="Montserrat"/>
                <a:ea typeface="Montserrat"/>
                <a:cs typeface="Montserrat"/>
              </a:defRPr>
            </a:defPPr>
          </a:lstStyle>
          <a:p xmlns:a="http://schemas.openxmlformats.org/drawingml/2006/main">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Carry the selected paper into AI dialogue and PDF reading.</a:t>
            </a:r>
          </a:p>
        </p:txBody>
      </p:sp>
      <p:sp>
        <p:nvSpPr>
          <p:cNvPr id="52" name="">
            <a:extLst xmlns:a="http://schemas.openxmlformats.org/drawingml/2006/main">
              <a:ext uri="{FF2B5EF4-FFF2-40B4-BE49-F238E27FC236}">
                <a16:creationId xmlns:a16="http://schemas.microsoft.com/office/drawing/2014/main" id="{E3BB4CEE-D4AB-444B-B02F-6B7B877D5781}"/>
              </a:ext>
            </a:extLst>
          </p:cNvPr>
          <p:cNvSpPr>
            <a:spLocks xmlns:a="http://schemas.openxmlformats.org/drawingml/2006/main" noGrp="1"/>
          </p:cNvSpPr>
          <p:nvPr/>
        </p:nvSpPr>
        <p:spPr>
          <a:xfrm xmlns:a="http://schemas.openxmlformats.org/drawingml/2006/main">
            <a:off x="1285875" y="6715125"/>
            <a:ext cx="15525750" cy="0"/>
          </a:xfrm>
          <a:prstGeom xmlns:a="http://schemas.openxmlformats.org/drawingml/2006/main" prst="line">
            <a:avLst/>
          </a:prstGeom>
          <a:noFill xmlns:a="http://schemas.openxmlformats.org/drawingml/2006/main"/>
          <a:ln xmlns:a="http://schemas.openxmlformats.org/drawingml/2006/main" w="13335">
            <a:solidFill>
              <a:srgbClr val="8FA4C1"/>
            </a:solidFill>
          </a:ln>
        </p:spPr>
      </p:sp>
      <p:sp>
        <p:nvSpPr>
          <p:cNvPr id="53" name="Unclear AI provenance">
            <a:extLst xmlns:a="http://schemas.openxmlformats.org/drawingml/2006/main">
              <a:ext uri="{FF2B5EF4-FFF2-40B4-BE49-F238E27FC236}">
                <a16:creationId xmlns:a16="http://schemas.microsoft.com/office/drawing/2014/main" id="{755C0692-B348-4B82-AE4C-037D793078CF}"/>
              </a:ext>
            </a:extLst>
          </p:cNvPr>
          <p:cNvSpPr>
            <a:spLocks xmlns:a="http://schemas.openxmlformats.org/drawingml/2006/main" noGrp="1"/>
          </p:cNvSpPr>
          <p:nvPr/>
        </p:nvSpPr>
        <p:spPr>
          <a:xfrm xmlns:a="http://schemas.openxmlformats.org/drawingml/2006/main">
            <a:off x="1285875" y="6800850"/>
            <a:ext cx="709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01B40"/>
                </a:solidFill>
                <a:latin typeface="Montserrat Bold"/>
                <a:ea typeface="Montserrat Bold"/>
                <a:cs typeface="Montserrat Bold"/>
              </a:defRPr>
            </a:defPPr>
          </a:lstStyle>
          <a:p xmlns:a="http://schemas.openxmlformats.org/drawingml/2006/main">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Unclear AI provenance</a:t>
            </a:r>
          </a:p>
        </p:txBody>
      </p:sp>
      <p:sp>
        <p:nvSpPr>
          <p:cNvPr id="54" name="A fluent answer can be difficult to verify.">
            <a:extLst xmlns:a="http://schemas.openxmlformats.org/drawingml/2006/main">
              <a:ext uri="{FF2B5EF4-FFF2-40B4-BE49-F238E27FC236}">
                <a16:creationId xmlns:a16="http://schemas.microsoft.com/office/drawing/2014/main" id="{CBC842B0-204C-47C1-A676-BE47156B5152}"/>
              </a:ext>
            </a:extLst>
          </p:cNvPr>
          <p:cNvSpPr>
            <a:spLocks xmlns:a="http://schemas.openxmlformats.org/drawingml/2006/main" noGrp="1"/>
          </p:cNvSpPr>
          <p:nvPr/>
        </p:nvSpPr>
        <p:spPr>
          <a:xfrm xmlns:a="http://schemas.openxmlformats.org/drawingml/2006/main">
            <a:off x="1285875" y="7248525"/>
            <a:ext cx="7096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81"/>
                </a:solidFill>
                <a:latin typeface="Montserrat"/>
                <a:ea typeface="Montserrat"/>
                <a:cs typeface="Montserrat"/>
              </a:defRPr>
            </a:defPPr>
          </a:lstStyle>
          <a:p xmlns:a="http://schemas.openxmlformats.org/drawingml/2006/main">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A fluent answer can be difficult to verify.</a:t>
            </a:r>
          </a:p>
        </p:txBody>
      </p:sp>
      <p:sp>
        <p:nvSpPr>
          <p:cNvPr id="55" name="Accessible source evidence">
            <a:extLst xmlns:a="http://schemas.openxmlformats.org/drawingml/2006/main">
              <a:ext uri="{FF2B5EF4-FFF2-40B4-BE49-F238E27FC236}">
                <a16:creationId xmlns:a16="http://schemas.microsoft.com/office/drawing/2014/main" id="{D7092214-36C0-41D8-B939-C866B972E639}"/>
              </a:ext>
            </a:extLst>
          </p:cNvPr>
          <p:cNvSpPr>
            <a:spLocks xmlns:a="http://schemas.openxmlformats.org/drawingml/2006/main" noGrp="1"/>
          </p:cNvSpPr>
          <p:nvPr/>
        </p:nvSpPr>
        <p:spPr>
          <a:xfrm xmlns:a="http://schemas.openxmlformats.org/drawingml/2006/main">
            <a:off x="9286875" y="6800850"/>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01B40"/>
                </a:solidFill>
                <a:latin typeface="Montserrat Bold"/>
                <a:ea typeface="Montserrat Bold"/>
                <a:cs typeface="Montserrat Bold"/>
              </a:defRPr>
            </a:defPPr>
          </a:lstStyle>
          <a:p xmlns:a="http://schemas.openxmlformats.org/drawingml/2006/main">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Accessible source evidence</a:t>
            </a:r>
          </a:p>
        </p:txBody>
      </p:sp>
      <p:sp>
        <p:nvSpPr>
          <p:cNvPr id="56" name="Return retrieved passages and links to original PDF pages.">
            <a:extLst xmlns:a="http://schemas.openxmlformats.org/drawingml/2006/main">
              <a:ext uri="{FF2B5EF4-FFF2-40B4-BE49-F238E27FC236}">
                <a16:creationId xmlns:a16="http://schemas.microsoft.com/office/drawing/2014/main" id="{5DD90FCF-CAED-406F-B87B-81703936B096}"/>
              </a:ext>
            </a:extLst>
          </p:cNvPr>
          <p:cNvSpPr>
            <a:spLocks xmlns:a="http://schemas.openxmlformats.org/drawingml/2006/main" noGrp="1"/>
          </p:cNvSpPr>
          <p:nvPr/>
        </p:nvSpPr>
        <p:spPr>
          <a:xfrm xmlns:a="http://schemas.openxmlformats.org/drawingml/2006/main">
            <a:off x="9286875" y="7248525"/>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81"/>
                </a:solidFill>
                <a:latin typeface="Montserrat"/>
                <a:ea typeface="Montserrat"/>
                <a:cs typeface="Montserrat"/>
              </a:defRPr>
            </a:defPPr>
          </a:lstStyle>
          <a:p xmlns:a="http://schemas.openxmlformats.org/drawingml/2006/main">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Return retrieved passages and links to original PDF pages.</a:t>
            </a:r>
          </a:p>
        </p:txBody>
      </p:sp>
      <p:sp>
        <p:nvSpPr>
          <p:cNvPr id="57" name="">
            <a:extLst xmlns:a="http://schemas.openxmlformats.org/drawingml/2006/main">
              <a:ext uri="{FF2B5EF4-FFF2-40B4-BE49-F238E27FC236}">
                <a16:creationId xmlns:a16="http://schemas.microsoft.com/office/drawing/2014/main" id="{DE10E1FB-C698-4060-99BD-28B727F0ED5E}"/>
              </a:ext>
            </a:extLst>
          </p:cNvPr>
          <p:cNvSpPr>
            <a:spLocks xmlns:a="http://schemas.openxmlformats.org/drawingml/2006/main" noGrp="1"/>
          </p:cNvSpPr>
          <p:nvPr/>
        </p:nvSpPr>
        <p:spPr>
          <a:xfrm xmlns:a="http://schemas.openxmlformats.org/drawingml/2006/main">
            <a:off x="1285875" y="7781925"/>
            <a:ext cx="15525750" cy="0"/>
          </a:xfrm>
          <a:prstGeom xmlns:a="http://schemas.openxmlformats.org/drawingml/2006/main" prst="line">
            <a:avLst/>
          </a:prstGeom>
          <a:noFill xmlns:a="http://schemas.openxmlformats.org/drawingml/2006/main"/>
          <a:ln xmlns:a="http://schemas.openxmlformats.org/drawingml/2006/main" w="13335">
            <a:solidFill>
              <a:srgbClr val="8FA4C1"/>
            </a:solidFill>
          </a:ln>
        </p:spPr>
      </p:sp>
      <p:sp>
        <p:nvSpPr>
          <p:cNvPr id="58" name="Different privacy needs">
            <a:extLst xmlns:a="http://schemas.openxmlformats.org/drawingml/2006/main">
              <a:ext uri="{FF2B5EF4-FFF2-40B4-BE49-F238E27FC236}">
                <a16:creationId xmlns:a16="http://schemas.microsoft.com/office/drawing/2014/main" id="{1189DF5F-7460-4486-82D1-86DE9407A0F1}"/>
              </a:ext>
            </a:extLst>
          </p:cNvPr>
          <p:cNvSpPr>
            <a:spLocks xmlns:a="http://schemas.openxmlformats.org/drawingml/2006/main" noGrp="1"/>
          </p:cNvSpPr>
          <p:nvPr/>
        </p:nvSpPr>
        <p:spPr>
          <a:xfrm xmlns:a="http://schemas.openxmlformats.org/drawingml/2006/main">
            <a:off x="1285875" y="7867650"/>
            <a:ext cx="709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01B40"/>
                </a:solidFill>
                <a:latin typeface="Montserrat Bold"/>
                <a:ea typeface="Montserrat Bold"/>
                <a:cs typeface="Montserrat Bold"/>
              </a:defRPr>
            </a:defPPr>
          </a:lstStyle>
          <a:p xmlns:a="http://schemas.openxmlformats.org/drawingml/2006/main">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Different privacy needs</a:t>
            </a:r>
          </a:p>
        </p:txBody>
      </p:sp>
      <p:sp>
        <p:nvSpPr>
          <p:cNvPr id="59" name="Cloud capability and local processing involve trade-offs.">
            <a:extLst xmlns:a="http://schemas.openxmlformats.org/drawingml/2006/main">
              <a:ext uri="{FF2B5EF4-FFF2-40B4-BE49-F238E27FC236}">
                <a16:creationId xmlns:a16="http://schemas.microsoft.com/office/drawing/2014/main" id="{80243FC1-1627-498A-A272-FB56C9662445}"/>
              </a:ext>
            </a:extLst>
          </p:cNvPr>
          <p:cNvSpPr>
            <a:spLocks xmlns:a="http://schemas.openxmlformats.org/drawingml/2006/main" noGrp="1"/>
          </p:cNvSpPr>
          <p:nvPr/>
        </p:nvSpPr>
        <p:spPr>
          <a:xfrm xmlns:a="http://schemas.openxmlformats.org/drawingml/2006/main">
            <a:off x="1285875" y="8315325"/>
            <a:ext cx="7096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81"/>
                </a:solidFill>
                <a:latin typeface="Montserrat"/>
                <a:ea typeface="Montserrat"/>
                <a:cs typeface="Montserrat"/>
              </a:defRPr>
            </a:defPPr>
          </a:lstStyle>
          <a:p xmlns:a="http://schemas.openxmlformats.org/drawingml/2006/main">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Cloud capability and local processing involve trade-offs.</a:t>
            </a:r>
          </a:p>
        </p:txBody>
      </p:sp>
      <p:sp>
        <p:nvSpPr>
          <p:cNvPr id="60" name="A visible model choice">
            <a:extLst xmlns:a="http://schemas.openxmlformats.org/drawingml/2006/main">
              <a:ext uri="{FF2B5EF4-FFF2-40B4-BE49-F238E27FC236}">
                <a16:creationId xmlns:a16="http://schemas.microsoft.com/office/drawing/2014/main" id="{8E3399A2-DFD0-4899-9F4A-5E8C2C7BB73A}"/>
              </a:ext>
            </a:extLst>
          </p:cNvPr>
          <p:cNvSpPr>
            <a:spLocks xmlns:a="http://schemas.openxmlformats.org/drawingml/2006/main" noGrp="1"/>
          </p:cNvSpPr>
          <p:nvPr/>
        </p:nvSpPr>
        <p:spPr>
          <a:xfrm xmlns:a="http://schemas.openxmlformats.org/drawingml/2006/main">
            <a:off x="9286875" y="7867650"/>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01B40"/>
                </a:solidFill>
                <a:latin typeface="Montserrat Bold"/>
                <a:ea typeface="Montserrat Bold"/>
                <a:cs typeface="Montserrat Bold"/>
              </a:defRPr>
            </a:defPPr>
          </a:lstStyle>
          <a:p xmlns:a="http://schemas.openxmlformats.org/drawingml/2006/main">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A visible model choice</a:t>
            </a:r>
          </a:p>
        </p:txBody>
      </p:sp>
      <p:sp>
        <p:nvSpPr>
          <p:cNvPr id="61" name="Let users choose local or cloud inference in the same interface.">
            <a:extLst xmlns:a="http://schemas.openxmlformats.org/drawingml/2006/main">
              <a:ext uri="{FF2B5EF4-FFF2-40B4-BE49-F238E27FC236}">
                <a16:creationId xmlns:a16="http://schemas.microsoft.com/office/drawing/2014/main" id="{397CE679-B059-43C3-B910-7897A7E06A13}"/>
              </a:ext>
            </a:extLst>
          </p:cNvPr>
          <p:cNvSpPr>
            <a:spLocks xmlns:a="http://schemas.openxmlformats.org/drawingml/2006/main" noGrp="1"/>
          </p:cNvSpPr>
          <p:nvPr/>
        </p:nvSpPr>
        <p:spPr>
          <a:xfrm xmlns:a="http://schemas.openxmlformats.org/drawingml/2006/main">
            <a:off x="9286875" y="8315325"/>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81"/>
                </a:solidFill>
                <a:latin typeface="Montserrat"/>
                <a:ea typeface="Montserrat"/>
                <a:cs typeface="Montserrat"/>
              </a:defRPr>
            </a:defPPr>
          </a:lstStyle>
          <a:p xmlns:a="http://schemas.openxmlformats.org/drawingml/2006/main">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Let users choose local or cloud inference in the same interface.</a:t>
            </a:r>
          </a:p>
        </p:txBody>
      </p:sp>
    </p:spTree>
    <p:extLst>
      <p:ext uri="{BB962C8B-B14F-4D97-AF65-F5344CB8AC3E}">
        <p14:creationId xmlns:p14="http://schemas.microsoft.com/office/powerpoint/2010/main" val="807220767"/>
      </p:ext>
    </p:extLst>
  </p:cSld>
</p:sld>
</file>

<file path=ppt/slides/slide3.xml><?xml version="1.0" encoding="utf-8"?>
<p:sld xmlns:p="http://schemas.openxmlformats.org/presentationml/2006/main">
  <p:cSld>
    <p:bg>
      <p:bgPr>
        <a:solidFill xmlns:a="http://schemas.openxmlformats.org/drawingml/2006/main">
          <a:srgbClr val="F1F1F1"/>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16BABA43-BD5C-4A15-873F-E73B3B662B2C}"/>
              </a:ext>
            </a:extLst>
          </p:cNvPr>
          <p:cNvSpPr>
            <a:spLocks xmlns:a="http://schemas.openxmlformats.org/drawingml/2006/main" noGrp="1"/>
          </p:cNvSpPr>
          <p:nvPr/>
        </p:nvSpPr>
        <p:spPr>
          <a:xfrm xmlns:a="http://schemas.openxmlformats.org/drawingml/2006/main" rot="0" flipH="0" flipV="0">
            <a:off x="4410075" y="514350"/>
            <a:ext cx="9467850" cy="819150"/>
          </a:xfrm>
          <a:custGeom xmlns:a="http://schemas.openxmlformats.org/drawingml/2006/main">
            <a:rect l="l" t="t" r="r" b="b"/>
            <a:pathLst>
              <a:path w="2494114" h="214543">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xmlns:a="http://schemas.openxmlformats.org/drawingml/2006/main" w="38100" cap="rnd">
            <a:solidFill>
              <a:srgbClr val="101B40"/>
            </a:solidFill>
            <a:prstDash val="solid"/>
            <a:round/>
          </a:ln>
        </p:spPr>
      </p:sp>
      <p:sp>
        <p:nvSpPr>
          <p:cNvPr id="4" name="TextBox 4">
            <a:extLst xmlns:a="http://schemas.openxmlformats.org/drawingml/2006/main">
              <a:ext uri="{FF2B5EF4-FFF2-40B4-BE49-F238E27FC236}">
                <a16:creationId xmlns:a16="http://schemas.microsoft.com/office/drawing/2014/main" id="{0AD8B474-58FC-475F-A315-B2E71C8F8B10}"/>
              </a:ext>
            </a:extLst>
          </p:cNvPr>
          <p:cNvSpPr>
            <a:spLocks xmlns:a="http://schemas.openxmlformats.org/drawingml/2006/main" noGrp="1"/>
          </p:cNvSpPr>
          <p:nvPr/>
        </p:nvSpPr>
        <p:spPr>
          <a:xfrm xmlns:a="http://schemas.openxmlformats.org/drawingml/2006/main" rot="0" flipH="0" flipV="0">
            <a:off x="4409081" y="370811"/>
            <a:ext cx="9469839" cy="95925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p>
        </p:txBody>
      </p:sp>
      <p:sp>
        <p:nvSpPr>
          <p:cNvPr id="6" name="Freeform 6">
            <a:extLst xmlns:a="http://schemas.openxmlformats.org/drawingml/2006/main">
              <a:ext uri="{FF2B5EF4-FFF2-40B4-BE49-F238E27FC236}">
                <a16:creationId xmlns:a16="http://schemas.microsoft.com/office/drawing/2014/main" id="{29C6AEBB-AB7A-4922-AA0D-6E20E8E1D84A}"/>
              </a:ext>
            </a:extLst>
          </p:cNvPr>
          <p:cNvSpPr>
            <a:spLocks xmlns:a="http://schemas.openxmlformats.org/drawingml/2006/main" noGrp="1"/>
          </p:cNvSpPr>
          <p:nvPr/>
        </p:nvSpPr>
        <p:spPr>
          <a:xfrm xmlns:a="http://schemas.openxmlformats.org/drawingml/2006/main" rot="0" flipH="0" flipV="0">
            <a:off x="7048500" y="628650"/>
            <a:ext cx="1466850" cy="590550"/>
          </a:xfrm>
          <a:custGeom xmlns:a="http://schemas.openxmlformats.org/drawingml/2006/main">
            <a:rect l="l" t="t" r="r" b="b"/>
            <a:pathLst>
              <a:path w="438737" h="155110">
                <a:moveTo>
                  <a:pt x="77555" y="0"/>
                </a:moveTo>
                <a:lnTo>
                  <a:pt x="361182" y="0"/>
                </a:lnTo>
                <a:cubicBezTo>
                  <a:pt x="404015" y="0"/>
                  <a:pt x="438737" y="34722"/>
                  <a:pt x="438737" y="77555"/>
                </a:cubicBezTo>
                <a:lnTo>
                  <a:pt x="438737" y="77555"/>
                </a:lnTo>
                <a:cubicBezTo>
                  <a:pt x="438737" y="120387"/>
                  <a:pt x="404015" y="155110"/>
                  <a:pt x="361182" y="155110"/>
                </a:cubicBezTo>
                <a:lnTo>
                  <a:pt x="77555" y="155110"/>
                </a:lnTo>
                <a:cubicBezTo>
                  <a:pt x="34722" y="155110"/>
                  <a:pt x="0" y="120387"/>
                  <a:pt x="0" y="77555"/>
                </a:cubicBezTo>
                <a:lnTo>
                  <a:pt x="0" y="77555"/>
                </a:lnTo>
                <a:cubicBezTo>
                  <a:pt x="0" y="34722"/>
                  <a:pt x="34722" y="0"/>
                  <a:pt x="77555" y="0"/>
                </a:cubicBezTo>
                <a:close/>
              </a:path>
            </a:pathLst>
          </a:custGeom>
          <a:solidFill xmlns:a="http://schemas.openxmlformats.org/drawingml/2006/main">
            <a:srgbClr val="101B40"/>
          </a:solidFill>
          <a:ln xmlns:a="http://schemas.openxmlformats.org/drawingml/2006/main" cap="rnd">
            <a:noFill/>
            <a:prstDash val="solid"/>
            <a:round/>
          </a:ln>
        </p:spPr>
      </p:sp>
      <p:sp>
        <p:nvSpPr>
          <p:cNvPr id="7" name="TextBox 7">
            <a:extLst xmlns:a="http://schemas.openxmlformats.org/drawingml/2006/main">
              <a:ext uri="{FF2B5EF4-FFF2-40B4-BE49-F238E27FC236}">
                <a16:creationId xmlns:a16="http://schemas.microsoft.com/office/drawing/2014/main" id="{A4AECA2E-3018-44DF-855A-1E442B0F947D}"/>
              </a:ext>
            </a:extLst>
          </p:cNvPr>
          <p:cNvSpPr>
            <a:spLocks xmlns:a="http://schemas.openxmlformats.org/drawingml/2006/main" noGrp="1"/>
          </p:cNvSpPr>
          <p:nvPr/>
        </p:nvSpPr>
        <p:spPr>
          <a:xfrm xmlns:a="http://schemas.openxmlformats.org/drawingml/2006/main" rot="0" flipH="0" flipV="0">
            <a:off x="9460786" y="483641"/>
            <a:ext cx="1665830" cy="73359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p>
        </p:txBody>
      </p:sp>
      <p:sp>
        <p:nvSpPr>
          <p:cNvPr id="23" name="TextBox 23">
            <a:extLst xmlns:a="http://schemas.openxmlformats.org/drawingml/2006/main">
              <a:ext uri="{FF2B5EF4-FFF2-40B4-BE49-F238E27FC236}">
                <a16:creationId xmlns:a16="http://schemas.microsoft.com/office/drawing/2014/main" id="{08497ED0-D918-4069-A641-02CC09B79286}"/>
              </a:ext>
            </a:extLst>
          </p:cNvPr>
          <p:cNvSpPr>
            <a:spLocks xmlns:a="http://schemas.openxmlformats.org/drawingml/2006/main" noGrp="1"/>
          </p:cNvSpPr>
          <p:nvPr/>
        </p:nvSpPr>
        <p:spPr>
          <a:xfrm xmlns:a="http://schemas.openxmlformats.org/drawingml/2006/main" rot="0">
            <a:off x="4438650" y="733425"/>
            <a:ext cx="16668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VISION</a:t>
            </a:r>
          </a:p>
        </p:txBody>
      </p:sp>
      <p:sp>
        <p:nvSpPr>
          <p:cNvPr id="24" name="TextBox 24">
            <a:extLst xmlns:a="http://schemas.openxmlformats.org/drawingml/2006/main">
              <a:ext uri="{FF2B5EF4-FFF2-40B4-BE49-F238E27FC236}">
                <a16:creationId xmlns:a16="http://schemas.microsoft.com/office/drawing/2014/main" id="{00A160DD-8108-493E-B445-A6AE8BC87432}"/>
              </a:ext>
            </a:extLst>
          </p:cNvPr>
          <p:cNvSpPr>
            <a:spLocks xmlns:a="http://schemas.openxmlformats.org/drawingml/2006/main" noGrp="1"/>
          </p:cNvSpPr>
          <p:nvPr/>
        </p:nvSpPr>
        <p:spPr>
          <a:xfrm xmlns:a="http://schemas.openxmlformats.org/drawingml/2006/main" rot="0">
            <a:off x="6829425" y="733425"/>
            <a:ext cx="190500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1">
                <a:solidFill>
                  <a:srgbClr val="FFFFFF"/>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1">
                <a:solidFill>
                  <a:srgbClr val="FFFFFF"/>
                </a:solidFill>
                <a:latin typeface="Montserrat"/>
                <a:ea typeface="Montserrat"/>
                <a:cs typeface="Montserrat"/>
              </a:defRPr>
            </a:pPr>
            <a:r>
              <a:rPr sz="1800" b="1" spc="3">
                <a:solidFill>
                  <a:srgbClr val="FFFFFF"/>
                </a:solidFill>
                <a:latin typeface="Montserrat"/>
                <a:ea typeface="Montserrat"/>
                <a:cs typeface="Montserrat"/>
              </a:rPr>
              <a:t>DESIGN</a:t>
            </a:r>
          </a:p>
        </p:txBody>
      </p:sp>
      <p:sp>
        <p:nvSpPr>
          <p:cNvPr id="25" name="TextBox 25">
            <a:extLst xmlns:a="http://schemas.openxmlformats.org/drawingml/2006/main">
              <a:ext uri="{FF2B5EF4-FFF2-40B4-BE49-F238E27FC236}">
                <a16:creationId xmlns:a16="http://schemas.microsoft.com/office/drawing/2014/main" id="{F33A308A-1606-4470-9F12-341A089739B9}"/>
              </a:ext>
            </a:extLst>
          </p:cNvPr>
          <p:cNvSpPr>
            <a:spLocks xmlns:a="http://schemas.openxmlformats.org/drawingml/2006/main" noGrp="1"/>
          </p:cNvSpPr>
          <p:nvPr/>
        </p:nvSpPr>
        <p:spPr>
          <a:xfrm xmlns:a="http://schemas.openxmlformats.org/drawingml/2006/main" rot="0">
            <a:off x="9496425" y="733425"/>
            <a:ext cx="15906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SYSTEM</a:t>
            </a:r>
          </a:p>
        </p:txBody>
      </p:sp>
      <p:sp>
        <p:nvSpPr>
          <p:cNvPr id="26" name="TextBox 26">
            <a:extLst xmlns:a="http://schemas.openxmlformats.org/drawingml/2006/main">
              <a:ext uri="{FF2B5EF4-FFF2-40B4-BE49-F238E27FC236}">
                <a16:creationId xmlns:a16="http://schemas.microsoft.com/office/drawing/2014/main" id="{1D859AF9-3D53-4316-BE16-11E44208073C}"/>
              </a:ext>
            </a:extLst>
          </p:cNvPr>
          <p:cNvSpPr>
            <a:spLocks xmlns:a="http://schemas.openxmlformats.org/drawingml/2006/main" noGrp="1"/>
          </p:cNvSpPr>
          <p:nvPr/>
        </p:nvSpPr>
        <p:spPr>
          <a:xfrm xmlns:a="http://schemas.openxmlformats.org/drawingml/2006/main" rot="0">
            <a:off x="11591925" y="733425"/>
            <a:ext cx="222885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REVIEW</a:t>
            </a:r>
          </a:p>
        </p:txBody>
      </p:sp>
      <p:sp>
        <p:nvSpPr>
          <p:cNvPr id="27" name="TextBox 27">
            <a:extLst xmlns:a="http://schemas.openxmlformats.org/drawingml/2006/main">
              <a:ext uri="{FF2B5EF4-FFF2-40B4-BE49-F238E27FC236}">
                <a16:creationId xmlns:a16="http://schemas.microsoft.com/office/drawing/2014/main" id="{15D031DE-1E0A-47AC-83EF-D91B0EF222D4}"/>
              </a:ext>
            </a:extLst>
          </p:cNvPr>
          <p:cNvSpPr>
            <a:spLocks xmlns:a="http://schemas.openxmlformats.org/drawingml/2006/main" noGrp="1"/>
          </p:cNvSpPr>
          <p:nvPr/>
        </p:nvSpPr>
        <p:spPr>
          <a:xfrm xmlns:a="http://schemas.openxmlformats.org/drawingml/2006/main" rot="0">
            <a:off x="800100" y="628650"/>
            <a:ext cx="2381250" cy="56769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defRPr sz="1800" b="1">
                <a:solidFill>
                  <a:srgbClr val="101B40"/>
                </a:solidFill>
                <a:latin typeface="Montserrat"/>
                <a:ea typeface="Montserrat"/>
                <a:cs typeface="Montserrat"/>
              </a:defRPr>
            </a:defPPr>
          </a:lstStyle>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PDF</a:t>
            </a:r>
          </a:p>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GALAXAI</a:t>
            </a:r>
          </a:p>
        </p:txBody>
      </p:sp>
      <p:sp>
        <p:nvSpPr>
          <p:cNvPr id="28" name="03">
            <a:extLst xmlns:a="http://schemas.openxmlformats.org/drawingml/2006/main">
              <a:ext uri="{FF2B5EF4-FFF2-40B4-BE49-F238E27FC236}">
                <a16:creationId xmlns:a16="http://schemas.microsoft.com/office/drawing/2014/main" id="{3BCD68C0-461F-4B7C-A432-E78D191C0BDF}"/>
              </a:ext>
            </a:extLst>
          </p:cNvPr>
          <p:cNvSpPr>
            <a:spLocks xmlns:a="http://schemas.openxmlformats.org/drawingml/2006/main" noGrp="1"/>
          </p:cNvSpPr>
          <p:nvPr/>
        </p:nvSpPr>
        <p:spPr>
          <a:xfrm xmlns:a="http://schemas.openxmlformats.org/drawingml/2006/main">
            <a:off x="16735425" y="73342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1">
                <a:solidFill>
                  <a:srgbClr val="101B40"/>
                </a:solidFill>
                <a:latin typeface="Montserrat Bold"/>
                <a:ea typeface="Montserrat Bold"/>
                <a:cs typeface="Montserrat Bold"/>
              </a:defRPr>
            </a:defPPr>
          </a:lstStyle>
          <a:p xmlns:a="http://schemas.openxmlformats.org/drawingml/2006/main">
            <a:pPr algn="r">
              <a:buNone/>
              <a:defRPr sz="1875" b="1">
                <a:solidFill>
                  <a:srgbClr val="101B40"/>
                </a:solidFill>
                <a:latin typeface="Montserrat Bold"/>
                <a:ea typeface="Montserrat Bold"/>
                <a:cs typeface="Montserrat Bold"/>
              </a:defRPr>
            </a:pPr>
            <a:r>
              <a:rPr sz="1875" b="1">
                <a:solidFill>
                  <a:srgbClr val="101B40"/>
                </a:solidFill>
                <a:latin typeface="Montserrat Bold"/>
                <a:ea typeface="Montserrat Bold"/>
                <a:cs typeface="Montserrat Bold"/>
              </a:rPr>
              <a:t>03</a:t>
            </a:r>
          </a:p>
        </p:txBody>
      </p:sp>
      <p:sp>
        <p:nvSpPr>
          <p:cNvPr id="29" name="PDF-GalaxAI">
            <a:extLst xmlns:a="http://schemas.openxmlformats.org/drawingml/2006/main">
              <a:ext uri="{FF2B5EF4-FFF2-40B4-BE49-F238E27FC236}">
                <a16:creationId xmlns:a16="http://schemas.microsoft.com/office/drawing/2014/main" id="{C4DB7B55-E71A-41B6-BC83-4D539E77D84D}"/>
              </a:ext>
            </a:extLst>
          </p:cNvPr>
          <p:cNvSpPr>
            <a:spLocks xmlns:a="http://schemas.openxmlformats.org/drawingml/2006/main" noGrp="1"/>
          </p:cNvSpPr>
          <p:nvPr/>
        </p:nvSpPr>
        <p:spPr>
          <a:xfrm xmlns:a="http://schemas.openxmlformats.org/drawingml/2006/main">
            <a:off x="1238250" y="96202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681"/>
                </a:solidFill>
                <a:latin typeface="Montserrat"/>
                <a:ea typeface="Montserrat"/>
                <a:cs typeface="Montserrat"/>
              </a:defRPr>
            </a:defPPr>
          </a:lstStyle>
          <a:p xmlns:a="http://schemas.openxmlformats.org/drawingml/2006/main">
            <a:pPr algn="l">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PDF-GalaxAI</a:t>
            </a:r>
          </a:p>
        </p:txBody>
      </p:sp>
      <p:sp>
        <p:nvSpPr>
          <p:cNvPr id="30" name="03 / 12">
            <a:extLst xmlns:a="http://schemas.openxmlformats.org/drawingml/2006/main">
              <a:ext uri="{FF2B5EF4-FFF2-40B4-BE49-F238E27FC236}">
                <a16:creationId xmlns:a16="http://schemas.microsoft.com/office/drawing/2014/main" id="{ED87A44F-CDD9-452B-8375-25549FF2D8E9}"/>
              </a:ext>
            </a:extLst>
          </p:cNvPr>
          <p:cNvSpPr>
            <a:spLocks xmlns:a="http://schemas.openxmlformats.org/drawingml/2006/main" noGrp="1"/>
          </p:cNvSpPr>
          <p:nvPr/>
        </p:nvSpPr>
        <p:spPr>
          <a:xfrm xmlns:a="http://schemas.openxmlformats.org/drawingml/2006/main">
            <a:off x="15430500" y="9620250"/>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536681"/>
                </a:solidFill>
                <a:latin typeface="Montserrat"/>
                <a:ea typeface="Montserrat"/>
                <a:cs typeface="Montserrat"/>
              </a:defRPr>
            </a:defPPr>
          </a:lstStyle>
          <a:p xmlns:a="http://schemas.openxmlformats.org/drawingml/2006/main">
            <a:pPr algn="r">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03 / 12</a:t>
            </a:r>
          </a:p>
        </p:txBody>
      </p:sp>
      <p:sp>
        <p:nvSpPr>
          <p:cNvPr id="31" name="Product Concept &amp; Interaction">
            <a:extLst xmlns:a="http://schemas.openxmlformats.org/drawingml/2006/main">
              <a:ext uri="{FF2B5EF4-FFF2-40B4-BE49-F238E27FC236}">
                <a16:creationId xmlns:a16="http://schemas.microsoft.com/office/drawing/2014/main" id="{95A5842A-7B29-4D8B-ACA2-B4C0A69B62E9}"/>
              </a:ext>
            </a:extLst>
          </p:cNvPr>
          <p:cNvSpPr>
            <a:spLocks xmlns:a="http://schemas.openxmlformats.org/drawingml/2006/main" noGrp="1"/>
          </p:cNvSpPr>
          <p:nvPr/>
        </p:nvSpPr>
        <p:spPr>
          <a:xfrm xmlns:a="http://schemas.openxmlformats.org/drawingml/2006/main">
            <a:off x="1238250" y="1952625"/>
            <a:ext cx="15668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425" b="1">
                <a:solidFill>
                  <a:srgbClr val="101B40"/>
                </a:solidFill>
                <a:latin typeface="Montserrat Bold"/>
                <a:ea typeface="Montserrat Bold"/>
                <a:cs typeface="Montserrat Bold"/>
              </a:defRPr>
            </a:defPPr>
          </a:lstStyle>
          <a:p xmlns:a="http://schemas.openxmlformats.org/drawingml/2006/main">
            <a:pPr algn="l">
              <a:buNone/>
              <a:defRPr sz="4425" b="1">
                <a:solidFill>
                  <a:srgbClr val="101B40"/>
                </a:solidFill>
                <a:latin typeface="Montserrat Bold"/>
                <a:ea typeface="Montserrat Bold"/>
                <a:cs typeface="Montserrat Bold"/>
              </a:defRPr>
            </a:pPr>
            <a:r>
              <a:rPr sz="4425" b="1">
                <a:solidFill>
                  <a:srgbClr val="101B40"/>
                </a:solidFill>
                <a:latin typeface="Montserrat Bold"/>
                <a:ea typeface="Montserrat Bold"/>
                <a:cs typeface="Montserrat Bold"/>
              </a:rPr>
              <a:t>Product Concept &amp; Interaction</a:t>
            </a:r>
          </a:p>
        </p:txBody>
      </p:sp>
      <p:sp>
        <p:nvSpPr>
          <p:cNvPr id="32" name="A selected paper provides a shared context for exploration, questions ">
            <a:extLst xmlns:a="http://schemas.openxmlformats.org/drawingml/2006/main">
              <a:ext uri="{FF2B5EF4-FFF2-40B4-BE49-F238E27FC236}">
                <a16:creationId xmlns:a16="http://schemas.microsoft.com/office/drawing/2014/main" id="{06A61B55-062C-4484-B9AA-3A724A8AF2A7}"/>
              </a:ext>
            </a:extLst>
          </p:cNvPr>
          <p:cNvSpPr>
            <a:spLocks xmlns:a="http://schemas.openxmlformats.org/drawingml/2006/main" noGrp="1"/>
          </p:cNvSpPr>
          <p:nvPr/>
        </p:nvSpPr>
        <p:spPr>
          <a:xfrm xmlns:a="http://schemas.openxmlformats.org/drawingml/2006/main">
            <a:off x="1257300" y="2905125"/>
            <a:ext cx="15382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36681"/>
                </a:solidFill>
                <a:latin typeface="Montserrat"/>
                <a:ea typeface="Montserrat"/>
                <a:cs typeface="Montserrat"/>
              </a:defRPr>
            </a:defPPr>
          </a:lstStyle>
          <a:p xmlns:a="http://schemas.openxmlformats.org/drawingml/2006/main">
            <a:pPr algn="l">
              <a:buNone/>
              <a:defRPr sz="2250" b="0">
                <a:solidFill>
                  <a:srgbClr val="536681"/>
                </a:solidFill>
                <a:latin typeface="Montserrat"/>
                <a:ea typeface="Montserrat"/>
                <a:cs typeface="Montserrat"/>
              </a:defRPr>
            </a:pPr>
            <a:r>
              <a:rPr sz="2250" b="0">
                <a:solidFill>
                  <a:srgbClr val="536681"/>
                </a:solidFill>
                <a:latin typeface="Montserrat"/>
                <a:ea typeface="Montserrat"/>
                <a:cs typeface="Montserrat"/>
              </a:rPr>
              <a:t>A selected paper provides a shared context for exploration, questions and close reading.</a:t>
            </a:r>
          </a:p>
        </p:txBody>
      </p:sp>
      <p:sp>
        <p:nvSpPr>
          <p:cNvPr id="33" name="Screenshot placeholder: 【此处放论文节点与关联交互截图】">
            <a:extLst xmlns:a="http://schemas.openxmlformats.org/drawingml/2006/main">
              <a:ext uri="{FF2B5EF4-FFF2-40B4-BE49-F238E27FC236}">
                <a16:creationId xmlns:a16="http://schemas.microsoft.com/office/drawing/2014/main" id="{9951E9B1-F458-4CC6-BB75-F8E55F7778A3}"/>
              </a:ext>
            </a:extLst>
          </p:cNvPr>
          <p:cNvSpPr>
            <a:spLocks xmlns:a="http://schemas.openxmlformats.org/drawingml/2006/main" noGrp="1"/>
          </p:cNvSpPr>
          <p:nvPr/>
        </p:nvSpPr>
        <p:spPr>
          <a:xfrm xmlns:a="http://schemas.openxmlformats.org/drawingml/2006/main">
            <a:off x="1238250" y="4048125"/>
            <a:ext cx="9906000" cy="5572125"/>
          </a:xfrm>
          <a:prstGeom xmlns:a="http://schemas.openxmlformats.org/drawingml/2006/main" prst="roundRect">
            <a:avLst>
              <a:gd name="adj" fmla="val 4103"/>
            </a:avLst>
          </a:prstGeom>
          <a:solidFill xmlns:a="http://schemas.openxmlformats.org/drawingml/2006/main">
            <a:srgbClr val="DCE2EB"/>
          </a:solidFill>
          <a:ln xmlns:a="http://schemas.openxmlformats.org/drawingml/2006/main" w="16193">
            <a:solidFill>
              <a:srgbClr val="8FA4C1"/>
            </a:solidFill>
          </a:ln>
        </p:spPr>
      </p:sp>
      <p:sp>
        <p:nvSpPr>
          <p:cNvPr id="34" name="【此处放论文节点与关联交互截图】">
            <a:extLst xmlns:a="http://schemas.openxmlformats.org/drawingml/2006/main">
              <a:ext uri="{FF2B5EF4-FFF2-40B4-BE49-F238E27FC236}">
                <a16:creationId xmlns:a16="http://schemas.microsoft.com/office/drawing/2014/main" id="{48DB5F29-AF52-4139-A0FD-F69ED5D61608}"/>
              </a:ext>
            </a:extLst>
          </p:cNvPr>
          <p:cNvSpPr>
            <a:spLocks xmlns:a="http://schemas.openxmlformats.org/drawingml/2006/main" noGrp="1"/>
          </p:cNvSpPr>
          <p:nvPr/>
        </p:nvSpPr>
        <p:spPr>
          <a:xfrm xmlns:a="http://schemas.openxmlformats.org/drawingml/2006/main">
            <a:off x="1447800" y="6548438"/>
            <a:ext cx="94869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250" b="0">
                <a:solidFill>
                  <a:srgbClr val="536681"/>
                </a:solidFill>
                <a:latin typeface="Microsoft YaHei"/>
                <a:ea typeface="Microsoft YaHei"/>
                <a:cs typeface="Microsoft YaHei"/>
              </a:defRPr>
            </a:defPPr>
          </a:lstStyle>
          <a:p xmlns:a="http://schemas.openxmlformats.org/drawingml/2006/main">
            <a:pPr algn="ctr">
              <a:buNone/>
              <a:defRPr sz="2250" b="0">
                <a:solidFill>
                  <a:srgbClr val="536681"/>
                </a:solidFill>
                <a:latin typeface="Microsoft YaHei"/>
                <a:ea typeface="Microsoft YaHei"/>
                <a:cs typeface="Microsoft YaHei"/>
              </a:defRPr>
            </a:pPr>
            <a:r>
              <a:rPr sz="2250" b="0">
                <a:solidFill>
                  <a:srgbClr val="536681"/>
                </a:solidFill>
                <a:latin typeface="Microsoft YaHei"/>
                <a:ea typeface="Microsoft YaHei"/>
                <a:cs typeface="Microsoft YaHei"/>
              </a:rPr>
              <a:t>【此处放论文节点与关联交互截图】</a:t>
            </a:r>
          </a:p>
        </p:txBody>
      </p:sp>
      <p:sp>
        <p:nvSpPr>
          <p:cNvPr id="35" name="16:9">
            <a:extLst xmlns:a="http://schemas.openxmlformats.org/drawingml/2006/main">
              <a:ext uri="{FF2B5EF4-FFF2-40B4-BE49-F238E27FC236}">
                <a16:creationId xmlns:a16="http://schemas.microsoft.com/office/drawing/2014/main" id="{F66464E8-5457-416F-A70C-57A40D993632}"/>
              </a:ext>
            </a:extLst>
          </p:cNvPr>
          <p:cNvSpPr>
            <a:spLocks xmlns:a="http://schemas.openxmlformats.org/drawingml/2006/main" noGrp="1"/>
          </p:cNvSpPr>
          <p:nvPr/>
        </p:nvSpPr>
        <p:spPr>
          <a:xfrm xmlns:a="http://schemas.openxmlformats.org/drawingml/2006/main">
            <a:off x="9763125" y="421957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75" b="0">
                <a:solidFill>
                  <a:srgbClr val="536681"/>
                </a:solidFill>
                <a:latin typeface="Montserrat"/>
                <a:ea typeface="Montserrat"/>
                <a:cs typeface="Montserrat"/>
              </a:defRPr>
            </a:defPPr>
          </a:lstStyle>
          <a:p xmlns:a="http://schemas.openxmlformats.org/drawingml/2006/main">
            <a:pPr algn="r">
              <a:buNone/>
              <a:defRPr sz="1575" b="0">
                <a:solidFill>
                  <a:srgbClr val="536681"/>
                </a:solidFill>
                <a:latin typeface="Montserrat"/>
                <a:ea typeface="Montserrat"/>
                <a:cs typeface="Montserrat"/>
              </a:defRPr>
            </a:pPr>
            <a:r>
              <a:rPr sz="1575" b="0">
                <a:solidFill>
                  <a:srgbClr val="536681"/>
                </a:solidFill>
                <a:latin typeface="Montserrat"/>
                <a:ea typeface="Montserrat"/>
                <a:cs typeface="Montserrat"/>
              </a:rPr>
              <a:t>16:9</a:t>
            </a:r>
          </a:p>
        </p:txBody>
      </p:sp>
      <p:sp>
        <p:nvSpPr>
          <p:cNvPr id="36" name="Explore relationships">
            <a:extLst xmlns:a="http://schemas.openxmlformats.org/drawingml/2006/main">
              <a:ext uri="{FF2B5EF4-FFF2-40B4-BE49-F238E27FC236}">
                <a16:creationId xmlns:a16="http://schemas.microsoft.com/office/drawing/2014/main" id="{9139A5AE-484E-4589-98B2-F778183C89EC}"/>
              </a:ext>
            </a:extLst>
          </p:cNvPr>
          <p:cNvSpPr>
            <a:spLocks xmlns:a="http://schemas.openxmlformats.org/drawingml/2006/main" noGrp="1"/>
          </p:cNvSpPr>
          <p:nvPr/>
        </p:nvSpPr>
        <p:spPr>
          <a:xfrm xmlns:a="http://schemas.openxmlformats.org/drawingml/2006/main">
            <a:off x="11811000" y="4105275"/>
            <a:ext cx="5095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01B40"/>
                </a:solidFill>
                <a:latin typeface="Montserrat Bold"/>
                <a:ea typeface="Montserrat Bold"/>
                <a:cs typeface="Montserrat Bold"/>
              </a:defRPr>
            </a:defPPr>
          </a:lstStyle>
          <a:p xmlns:a="http://schemas.openxmlformats.org/drawingml/2006/main">
            <a:pPr algn="l">
              <a:buNone/>
              <a:defRPr sz="2625" b="1">
                <a:solidFill>
                  <a:srgbClr val="101B40"/>
                </a:solidFill>
                <a:latin typeface="Montserrat Bold"/>
                <a:ea typeface="Montserrat Bold"/>
                <a:cs typeface="Montserrat Bold"/>
              </a:defRPr>
            </a:pPr>
            <a:r>
              <a:rPr sz="2625" b="1">
                <a:solidFill>
                  <a:srgbClr val="101B40"/>
                </a:solidFill>
                <a:latin typeface="Montserrat Bold"/>
                <a:ea typeface="Montserrat Bold"/>
                <a:cs typeface="Montserrat Bold"/>
              </a:rPr>
              <a:t>Explore relationships</a:t>
            </a:r>
          </a:p>
        </p:txBody>
      </p:sp>
      <p:sp>
        <p:nvSpPr>
          <p:cNvPr id="37" name="Select a paper in the galaxy or search by title, filename or keyword.">
            <a:extLst xmlns:a="http://schemas.openxmlformats.org/drawingml/2006/main">
              <a:ext uri="{FF2B5EF4-FFF2-40B4-BE49-F238E27FC236}">
                <a16:creationId xmlns:a16="http://schemas.microsoft.com/office/drawing/2014/main" id="{6DF901C6-FF1B-477F-BF3A-4CE3552C8FE8}"/>
              </a:ext>
            </a:extLst>
          </p:cNvPr>
          <p:cNvSpPr>
            <a:spLocks xmlns:a="http://schemas.openxmlformats.org/drawingml/2006/main" noGrp="1"/>
          </p:cNvSpPr>
          <p:nvPr/>
        </p:nvSpPr>
        <p:spPr>
          <a:xfrm xmlns:a="http://schemas.openxmlformats.org/drawingml/2006/main">
            <a:off x="11811000" y="4781550"/>
            <a:ext cx="50958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36681"/>
                </a:solidFill>
                <a:latin typeface="Montserrat"/>
                <a:ea typeface="Montserrat"/>
                <a:cs typeface="Montserrat"/>
              </a:defRPr>
            </a:defPPr>
          </a:lstStyle>
          <a:p xmlns:a="http://schemas.openxmlformats.org/drawingml/2006/main">
            <a:pPr algn="l">
              <a:buNone/>
              <a:defRPr sz="2100" b="0">
                <a:solidFill>
                  <a:srgbClr val="536681"/>
                </a:solidFill>
                <a:latin typeface="Montserrat"/>
                <a:ea typeface="Montserrat"/>
                <a:cs typeface="Montserrat"/>
              </a:defRPr>
            </a:pPr>
            <a:r>
              <a:rPr sz="2100" b="0">
                <a:solidFill>
                  <a:srgbClr val="536681"/>
                </a:solidFill>
                <a:latin typeface="Montserrat"/>
                <a:ea typeface="Montserrat"/>
                <a:cs typeface="Montserrat"/>
              </a:rPr>
              <a:t>Select a paper in the galaxy or search by title, filename or keyword.</a:t>
            </a:r>
          </a:p>
        </p:txBody>
      </p:sp>
      <p:sp>
        <p:nvSpPr>
          <p:cNvPr id="38" name="">
            <a:extLst xmlns:a="http://schemas.openxmlformats.org/drawingml/2006/main">
              <a:ext uri="{FF2B5EF4-FFF2-40B4-BE49-F238E27FC236}">
                <a16:creationId xmlns:a16="http://schemas.microsoft.com/office/drawing/2014/main" id="{FF2D5271-8C72-48A0-B44B-3758E878E4D8}"/>
              </a:ext>
            </a:extLst>
          </p:cNvPr>
          <p:cNvSpPr>
            <a:spLocks xmlns:a="http://schemas.openxmlformats.org/drawingml/2006/main" noGrp="1"/>
          </p:cNvSpPr>
          <p:nvPr/>
        </p:nvSpPr>
        <p:spPr>
          <a:xfrm xmlns:a="http://schemas.openxmlformats.org/drawingml/2006/main">
            <a:off x="11811000" y="6086475"/>
            <a:ext cx="5095875" cy="0"/>
          </a:xfrm>
          <a:prstGeom xmlns:a="http://schemas.openxmlformats.org/drawingml/2006/main" prst="line">
            <a:avLst/>
          </a:prstGeom>
          <a:noFill xmlns:a="http://schemas.openxmlformats.org/drawingml/2006/main"/>
          <a:ln xmlns:a="http://schemas.openxmlformats.org/drawingml/2006/main" w="13335">
            <a:solidFill>
              <a:srgbClr val="8FA4C1"/>
            </a:solidFill>
          </a:ln>
        </p:spPr>
      </p:sp>
      <p:sp>
        <p:nvSpPr>
          <p:cNvPr id="39" name="Build a question context">
            <a:extLst xmlns:a="http://schemas.openxmlformats.org/drawingml/2006/main">
              <a:ext uri="{FF2B5EF4-FFF2-40B4-BE49-F238E27FC236}">
                <a16:creationId xmlns:a16="http://schemas.microsoft.com/office/drawing/2014/main" id="{9CC2AF31-5DD1-4338-ABDB-A0B8071F5A1E}"/>
              </a:ext>
            </a:extLst>
          </p:cNvPr>
          <p:cNvSpPr>
            <a:spLocks xmlns:a="http://schemas.openxmlformats.org/drawingml/2006/main" noGrp="1"/>
          </p:cNvSpPr>
          <p:nvPr/>
        </p:nvSpPr>
        <p:spPr>
          <a:xfrm xmlns:a="http://schemas.openxmlformats.org/drawingml/2006/main">
            <a:off x="11811000" y="6391275"/>
            <a:ext cx="5095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01B40"/>
                </a:solidFill>
                <a:latin typeface="Montserrat Bold"/>
                <a:ea typeface="Montserrat Bold"/>
                <a:cs typeface="Montserrat Bold"/>
              </a:defRPr>
            </a:defPPr>
          </a:lstStyle>
          <a:p xmlns:a="http://schemas.openxmlformats.org/drawingml/2006/main">
            <a:pPr algn="l">
              <a:buNone/>
              <a:defRPr sz="2625" b="1">
                <a:solidFill>
                  <a:srgbClr val="101B40"/>
                </a:solidFill>
                <a:latin typeface="Montserrat Bold"/>
                <a:ea typeface="Montserrat Bold"/>
                <a:cs typeface="Montserrat Bold"/>
              </a:defRPr>
            </a:pPr>
            <a:r>
              <a:rPr sz="2625" b="1">
                <a:solidFill>
                  <a:srgbClr val="101B40"/>
                </a:solidFill>
                <a:latin typeface="Montserrat Bold"/>
                <a:ea typeface="Montserrat Bold"/>
                <a:cs typeface="Montserrat Bold"/>
              </a:rPr>
              <a:t>Build a question context</a:t>
            </a:r>
          </a:p>
        </p:txBody>
      </p:sp>
      <p:sp>
        <p:nvSpPr>
          <p:cNvPr id="40" name="Add a paper to the conversation. Open its detail panel or continue in ">
            <a:extLst xmlns:a="http://schemas.openxmlformats.org/drawingml/2006/main">
              <a:ext uri="{FF2B5EF4-FFF2-40B4-BE49-F238E27FC236}">
                <a16:creationId xmlns:a16="http://schemas.microsoft.com/office/drawing/2014/main" id="{0790AE5A-6E29-4CBA-877F-7F9A2D91F0FA}"/>
              </a:ext>
            </a:extLst>
          </p:cNvPr>
          <p:cNvSpPr>
            <a:spLocks xmlns:a="http://schemas.openxmlformats.org/drawingml/2006/main" noGrp="1"/>
          </p:cNvSpPr>
          <p:nvPr/>
        </p:nvSpPr>
        <p:spPr>
          <a:xfrm xmlns:a="http://schemas.openxmlformats.org/drawingml/2006/main">
            <a:off x="11811000" y="7086600"/>
            <a:ext cx="5095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36681"/>
                </a:solidFill>
                <a:latin typeface="Montserrat"/>
                <a:ea typeface="Montserrat"/>
                <a:cs typeface="Montserrat"/>
              </a:defRPr>
            </a:defPPr>
          </a:lstStyle>
          <a:p xmlns:a="http://schemas.openxmlformats.org/drawingml/2006/main">
            <a:pPr algn="l">
              <a:buNone/>
              <a:defRPr sz="2100" b="0">
                <a:solidFill>
                  <a:srgbClr val="536681"/>
                </a:solidFill>
                <a:latin typeface="Montserrat"/>
                <a:ea typeface="Montserrat"/>
                <a:cs typeface="Montserrat"/>
              </a:defRPr>
            </a:pPr>
            <a:r>
              <a:rPr sz="2100" b="0">
                <a:solidFill>
                  <a:srgbClr val="536681"/>
                </a:solidFill>
                <a:latin typeface="Montserrat"/>
                <a:ea typeface="Montserrat"/>
                <a:cs typeface="Montserrat"/>
              </a:rPr>
              <a:t>Add a paper to the conversation. Open its detail panel or continue in the PDF reader.</a:t>
            </a:r>
          </a:p>
        </p:txBody>
      </p:sp>
      <p:sp>
        <p:nvSpPr>
          <p:cNvPr id="41" name="Interaction result">
            <a:extLst xmlns:a="http://schemas.openxmlformats.org/drawingml/2006/main">
              <a:ext uri="{FF2B5EF4-FFF2-40B4-BE49-F238E27FC236}">
                <a16:creationId xmlns:a16="http://schemas.microsoft.com/office/drawing/2014/main" id="{4AAE24B4-3706-4FF2-AF67-B8461BEEB4F2}"/>
              </a:ext>
            </a:extLst>
          </p:cNvPr>
          <p:cNvSpPr>
            <a:spLocks xmlns:a="http://schemas.openxmlformats.org/drawingml/2006/main" noGrp="1"/>
          </p:cNvSpPr>
          <p:nvPr/>
        </p:nvSpPr>
        <p:spPr>
          <a:xfrm xmlns:a="http://schemas.openxmlformats.org/drawingml/2006/main">
            <a:off x="11811000" y="8610600"/>
            <a:ext cx="5095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36681"/>
                </a:solidFill>
                <a:latin typeface="Montserrat Bold"/>
                <a:ea typeface="Montserrat Bold"/>
                <a:cs typeface="Montserrat Bold"/>
              </a:defRPr>
            </a:defPPr>
          </a:lstStyle>
          <a:p xmlns:a="http://schemas.openxmlformats.org/drawingml/2006/main">
            <a:pPr algn="l">
              <a:buNone/>
              <a:defRPr sz="1800" b="1">
                <a:solidFill>
                  <a:srgbClr val="536681"/>
                </a:solidFill>
                <a:latin typeface="Montserrat Bold"/>
                <a:ea typeface="Montserrat Bold"/>
                <a:cs typeface="Montserrat Bold"/>
              </a:defRPr>
            </a:pPr>
            <a:r>
              <a:rPr sz="1800" b="1">
                <a:solidFill>
                  <a:srgbClr val="536681"/>
                </a:solidFill>
                <a:latin typeface="Montserrat Bold"/>
                <a:ea typeface="Montserrat Bold"/>
                <a:cs typeface="Montserrat Bold"/>
              </a:rPr>
              <a:t>Interaction result</a:t>
            </a:r>
          </a:p>
        </p:txBody>
      </p:sp>
      <p:sp>
        <p:nvSpPr>
          <p:cNvPr id="42" name="The paper stays identifiable across views.">
            <a:extLst xmlns:a="http://schemas.openxmlformats.org/drawingml/2006/main">
              <a:ext uri="{FF2B5EF4-FFF2-40B4-BE49-F238E27FC236}">
                <a16:creationId xmlns:a16="http://schemas.microsoft.com/office/drawing/2014/main" id="{ADBA37C7-35D9-4C64-9E59-E0DA46DB6797}"/>
              </a:ext>
            </a:extLst>
          </p:cNvPr>
          <p:cNvSpPr>
            <a:spLocks xmlns:a="http://schemas.openxmlformats.org/drawingml/2006/main" noGrp="1"/>
          </p:cNvSpPr>
          <p:nvPr/>
        </p:nvSpPr>
        <p:spPr>
          <a:xfrm xmlns:a="http://schemas.openxmlformats.org/drawingml/2006/main">
            <a:off x="11811000" y="9010650"/>
            <a:ext cx="5095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01B40"/>
                </a:solidFill>
                <a:latin typeface="Montserrat"/>
                <a:ea typeface="Montserrat"/>
                <a:cs typeface="Montserrat"/>
              </a:defRPr>
            </a:defPPr>
          </a:lstStyle>
          <a:p xmlns:a="http://schemas.openxmlformats.org/drawingml/2006/main">
            <a:pPr algn="l">
              <a:buNone/>
              <a:defRPr sz="2100" b="0">
                <a:solidFill>
                  <a:srgbClr val="101B40"/>
                </a:solidFill>
                <a:latin typeface="Montserrat"/>
                <a:ea typeface="Montserrat"/>
                <a:cs typeface="Montserrat"/>
              </a:defRPr>
            </a:pPr>
            <a:r>
              <a:rPr sz="2100" b="0">
                <a:solidFill>
                  <a:srgbClr val="101B40"/>
                </a:solidFill>
                <a:latin typeface="Montserrat"/>
                <a:ea typeface="Montserrat"/>
                <a:cs typeface="Montserrat"/>
              </a:rPr>
              <a:t>The paper stays identifiable across views.</a:t>
            </a:r>
          </a:p>
        </p:txBody>
      </p:sp>
    </p:spTree>
    <p:extLst>
      <p:ext uri="{BB962C8B-B14F-4D97-AF65-F5344CB8AC3E}">
        <p14:creationId xmlns:p14="http://schemas.microsoft.com/office/powerpoint/2010/main" val="362358546"/>
      </p:ext>
    </p:extLst>
  </p:cSld>
</p:sld>
</file>

<file path=ppt/slides/slide4.xml><?xml version="1.0" encoding="utf-8"?>
<p:sld xmlns:p="http://schemas.openxmlformats.org/presentationml/2006/main">
  <p:cSld>
    <p:bg>
      <p:bgPr>
        <a:solidFill xmlns:a="http://schemas.openxmlformats.org/drawingml/2006/main">
          <a:srgbClr val="F1F1F1"/>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9AA10A0F-7D88-49E2-8A1B-ECE45ED032C1}"/>
              </a:ext>
            </a:extLst>
          </p:cNvPr>
          <p:cNvSpPr>
            <a:spLocks xmlns:a="http://schemas.openxmlformats.org/drawingml/2006/main" noGrp="1"/>
          </p:cNvSpPr>
          <p:nvPr/>
        </p:nvSpPr>
        <p:spPr>
          <a:xfrm xmlns:a="http://schemas.openxmlformats.org/drawingml/2006/main" rot="0" flipH="0" flipV="0">
            <a:off x="4410075" y="514350"/>
            <a:ext cx="9467850" cy="819150"/>
          </a:xfrm>
          <a:custGeom xmlns:a="http://schemas.openxmlformats.org/drawingml/2006/main">
            <a:rect l="l" t="t" r="r" b="b"/>
            <a:pathLst>
              <a:path w="2494114" h="214543">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xmlns:a="http://schemas.openxmlformats.org/drawingml/2006/main" w="38100" cap="rnd">
            <a:solidFill>
              <a:srgbClr val="101B40"/>
            </a:solidFill>
            <a:prstDash val="solid"/>
            <a:round/>
          </a:ln>
        </p:spPr>
      </p:sp>
      <p:sp>
        <p:nvSpPr>
          <p:cNvPr id="4" name="TextBox 4">
            <a:extLst xmlns:a="http://schemas.openxmlformats.org/drawingml/2006/main">
              <a:ext uri="{FF2B5EF4-FFF2-40B4-BE49-F238E27FC236}">
                <a16:creationId xmlns:a16="http://schemas.microsoft.com/office/drawing/2014/main" id="{1C2336E7-29B6-4D98-83F7-1FC4BBDFAA01}"/>
              </a:ext>
            </a:extLst>
          </p:cNvPr>
          <p:cNvSpPr>
            <a:spLocks xmlns:a="http://schemas.openxmlformats.org/drawingml/2006/main" noGrp="1"/>
          </p:cNvSpPr>
          <p:nvPr/>
        </p:nvSpPr>
        <p:spPr>
          <a:xfrm xmlns:a="http://schemas.openxmlformats.org/drawingml/2006/main" rot="0" flipH="0" flipV="0">
            <a:off x="4409081" y="370811"/>
            <a:ext cx="9469839" cy="95925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p>
        </p:txBody>
      </p:sp>
      <p:sp>
        <p:nvSpPr>
          <p:cNvPr id="6" name="Freeform 6">
            <a:extLst xmlns:a="http://schemas.openxmlformats.org/drawingml/2006/main">
              <a:ext uri="{FF2B5EF4-FFF2-40B4-BE49-F238E27FC236}">
                <a16:creationId xmlns:a16="http://schemas.microsoft.com/office/drawing/2014/main" id="{A630BADD-12B3-4EF4-B753-2CC3D3F2813F}"/>
              </a:ext>
            </a:extLst>
          </p:cNvPr>
          <p:cNvSpPr>
            <a:spLocks xmlns:a="http://schemas.openxmlformats.org/drawingml/2006/main" noGrp="1"/>
          </p:cNvSpPr>
          <p:nvPr/>
        </p:nvSpPr>
        <p:spPr>
          <a:xfrm xmlns:a="http://schemas.openxmlformats.org/drawingml/2006/main" rot="0" flipH="0" flipV="0">
            <a:off x="7048500" y="628650"/>
            <a:ext cx="1466850" cy="590550"/>
          </a:xfrm>
          <a:custGeom xmlns:a="http://schemas.openxmlformats.org/drawingml/2006/main">
            <a:rect l="l" t="t" r="r" b="b"/>
            <a:pathLst>
              <a:path w="438737" h="155110">
                <a:moveTo>
                  <a:pt x="77555" y="0"/>
                </a:moveTo>
                <a:lnTo>
                  <a:pt x="361182" y="0"/>
                </a:lnTo>
                <a:cubicBezTo>
                  <a:pt x="404015" y="0"/>
                  <a:pt x="438737" y="34722"/>
                  <a:pt x="438737" y="77555"/>
                </a:cubicBezTo>
                <a:lnTo>
                  <a:pt x="438737" y="77555"/>
                </a:lnTo>
                <a:cubicBezTo>
                  <a:pt x="438737" y="120387"/>
                  <a:pt x="404015" y="155110"/>
                  <a:pt x="361182" y="155110"/>
                </a:cubicBezTo>
                <a:lnTo>
                  <a:pt x="77555" y="155110"/>
                </a:lnTo>
                <a:cubicBezTo>
                  <a:pt x="34722" y="155110"/>
                  <a:pt x="0" y="120387"/>
                  <a:pt x="0" y="77555"/>
                </a:cubicBezTo>
                <a:lnTo>
                  <a:pt x="0" y="77555"/>
                </a:lnTo>
                <a:cubicBezTo>
                  <a:pt x="0" y="34722"/>
                  <a:pt x="34722" y="0"/>
                  <a:pt x="77555" y="0"/>
                </a:cubicBezTo>
                <a:close/>
              </a:path>
            </a:pathLst>
          </a:custGeom>
          <a:solidFill xmlns:a="http://schemas.openxmlformats.org/drawingml/2006/main">
            <a:srgbClr val="101B40"/>
          </a:solidFill>
          <a:ln xmlns:a="http://schemas.openxmlformats.org/drawingml/2006/main" cap="rnd">
            <a:noFill/>
            <a:prstDash val="solid"/>
            <a:round/>
          </a:ln>
        </p:spPr>
      </p:sp>
      <p:sp>
        <p:nvSpPr>
          <p:cNvPr id="7" name="TextBox 7">
            <a:extLst xmlns:a="http://schemas.openxmlformats.org/drawingml/2006/main">
              <a:ext uri="{FF2B5EF4-FFF2-40B4-BE49-F238E27FC236}">
                <a16:creationId xmlns:a16="http://schemas.microsoft.com/office/drawing/2014/main" id="{55CEEA1C-4E62-4A32-98B5-5E5243D81B53}"/>
              </a:ext>
            </a:extLst>
          </p:cNvPr>
          <p:cNvSpPr>
            <a:spLocks xmlns:a="http://schemas.openxmlformats.org/drawingml/2006/main" noGrp="1"/>
          </p:cNvSpPr>
          <p:nvPr/>
        </p:nvSpPr>
        <p:spPr>
          <a:xfrm xmlns:a="http://schemas.openxmlformats.org/drawingml/2006/main" rot="0" flipH="0" flipV="0">
            <a:off x="9460786" y="483641"/>
            <a:ext cx="1665830" cy="73359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p>
        </p:txBody>
      </p:sp>
      <p:sp>
        <p:nvSpPr>
          <p:cNvPr id="10" name="Freeform 10">
            <a:extLst xmlns:a="http://schemas.openxmlformats.org/drawingml/2006/main">
              <a:ext uri="{FF2B5EF4-FFF2-40B4-BE49-F238E27FC236}">
                <a16:creationId xmlns:a16="http://schemas.microsoft.com/office/drawing/2014/main" id="{9E2AD183-00CB-4EF9-8F72-AC52313C56A4}"/>
              </a:ext>
            </a:extLst>
          </p:cNvPr>
          <p:cNvSpPr>
            <a:spLocks xmlns:a="http://schemas.openxmlformats.org/drawingml/2006/main" noGrp="1"/>
          </p:cNvSpPr>
          <p:nvPr/>
        </p:nvSpPr>
        <p:spPr>
          <a:xfrm xmlns:a="http://schemas.openxmlformats.org/drawingml/2006/main" rot="0" flipH="0" flipV="0">
            <a:off x="0" y="0"/>
            <a:ext cx="4264059" cy="10287000"/>
          </a:xfrm>
          <a:custGeom xmlns:a="http://schemas.openxmlformats.org/drawingml/2006/main">
            <a:rect l="l" t="t" r="r" b="b"/>
            <a:pathLst>
              <a:path w="1123044" h="2709333">
                <a:moveTo>
                  <a:pt x="92597" y="0"/>
                </a:moveTo>
                <a:lnTo>
                  <a:pt x="1030448" y="0"/>
                </a:lnTo>
                <a:cubicBezTo>
                  <a:pt x="1081587" y="0"/>
                  <a:pt x="1123044" y="41457"/>
                  <a:pt x="1123044" y="92597"/>
                </a:cubicBezTo>
                <a:lnTo>
                  <a:pt x="1123044" y="2616737"/>
                </a:lnTo>
                <a:cubicBezTo>
                  <a:pt x="1123044" y="2667876"/>
                  <a:pt x="1081587" y="2709333"/>
                  <a:pt x="1030448" y="2709333"/>
                </a:cubicBezTo>
                <a:lnTo>
                  <a:pt x="92597" y="2709333"/>
                </a:lnTo>
                <a:cubicBezTo>
                  <a:pt x="41457" y="2709333"/>
                  <a:pt x="0" y="2667876"/>
                  <a:pt x="0" y="2616737"/>
                </a:cubicBezTo>
                <a:lnTo>
                  <a:pt x="0" y="92597"/>
                </a:lnTo>
                <a:cubicBezTo>
                  <a:pt x="0" y="41457"/>
                  <a:pt x="41457" y="0"/>
                  <a:pt x="92597" y="0"/>
                </a:cubicBezTo>
                <a:close/>
              </a:path>
            </a:pathLst>
          </a:custGeom>
          <a:solidFill xmlns:a="http://schemas.openxmlformats.org/drawingml/2006/main">
            <a:srgbClr val="DCE2EB"/>
          </a:solidFill>
        </p:spPr>
      </p:sp>
      <p:sp>
        <p:nvSpPr>
          <p:cNvPr id="21" name="TextBox 21">
            <a:extLst xmlns:a="http://schemas.openxmlformats.org/drawingml/2006/main">
              <a:ext uri="{FF2B5EF4-FFF2-40B4-BE49-F238E27FC236}">
                <a16:creationId xmlns:a16="http://schemas.microsoft.com/office/drawing/2014/main" id="{1086C460-7E75-4BC4-9084-A24B08066940}"/>
              </a:ext>
            </a:extLst>
          </p:cNvPr>
          <p:cNvSpPr>
            <a:spLocks xmlns:a="http://schemas.openxmlformats.org/drawingml/2006/main" noGrp="1"/>
          </p:cNvSpPr>
          <p:nvPr/>
        </p:nvSpPr>
        <p:spPr>
          <a:xfrm xmlns:a="http://schemas.openxmlformats.org/drawingml/2006/main" rot="0">
            <a:off x="4438650" y="733425"/>
            <a:ext cx="16668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VISION</a:t>
            </a:r>
          </a:p>
        </p:txBody>
      </p:sp>
      <p:sp>
        <p:nvSpPr>
          <p:cNvPr id="22" name="TextBox 22">
            <a:extLst xmlns:a="http://schemas.openxmlformats.org/drawingml/2006/main">
              <a:ext uri="{FF2B5EF4-FFF2-40B4-BE49-F238E27FC236}">
                <a16:creationId xmlns:a16="http://schemas.microsoft.com/office/drawing/2014/main" id="{F85F5EF7-8F9F-46C6-8E66-74A638DC90E1}"/>
              </a:ext>
            </a:extLst>
          </p:cNvPr>
          <p:cNvSpPr>
            <a:spLocks xmlns:a="http://schemas.openxmlformats.org/drawingml/2006/main" noGrp="1"/>
          </p:cNvSpPr>
          <p:nvPr/>
        </p:nvSpPr>
        <p:spPr>
          <a:xfrm xmlns:a="http://schemas.openxmlformats.org/drawingml/2006/main" rot="0">
            <a:off x="6829425" y="733425"/>
            <a:ext cx="190500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1">
                <a:solidFill>
                  <a:srgbClr val="FFFFFF"/>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1">
                <a:solidFill>
                  <a:srgbClr val="FFFFFF"/>
                </a:solidFill>
                <a:latin typeface="Montserrat"/>
                <a:ea typeface="Montserrat"/>
                <a:cs typeface="Montserrat"/>
              </a:defRPr>
            </a:pPr>
            <a:r>
              <a:rPr sz="1800" b="1" spc="3">
                <a:solidFill>
                  <a:srgbClr val="FFFFFF"/>
                </a:solidFill>
                <a:latin typeface="Montserrat"/>
                <a:ea typeface="Montserrat"/>
                <a:cs typeface="Montserrat"/>
              </a:rPr>
              <a:t>DESIGN</a:t>
            </a:r>
          </a:p>
        </p:txBody>
      </p:sp>
      <p:sp>
        <p:nvSpPr>
          <p:cNvPr id="23" name="TextBox 23">
            <a:extLst xmlns:a="http://schemas.openxmlformats.org/drawingml/2006/main">
              <a:ext uri="{FF2B5EF4-FFF2-40B4-BE49-F238E27FC236}">
                <a16:creationId xmlns:a16="http://schemas.microsoft.com/office/drawing/2014/main" id="{4B602223-28EE-42A0-8C21-7066C1DCEF18}"/>
              </a:ext>
            </a:extLst>
          </p:cNvPr>
          <p:cNvSpPr>
            <a:spLocks xmlns:a="http://schemas.openxmlformats.org/drawingml/2006/main" noGrp="1"/>
          </p:cNvSpPr>
          <p:nvPr/>
        </p:nvSpPr>
        <p:spPr>
          <a:xfrm xmlns:a="http://schemas.openxmlformats.org/drawingml/2006/main" rot="0">
            <a:off x="9496425" y="733425"/>
            <a:ext cx="15906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SYSTEM</a:t>
            </a:r>
          </a:p>
        </p:txBody>
      </p:sp>
      <p:sp>
        <p:nvSpPr>
          <p:cNvPr id="24" name="TextBox 24">
            <a:extLst xmlns:a="http://schemas.openxmlformats.org/drawingml/2006/main">
              <a:ext uri="{FF2B5EF4-FFF2-40B4-BE49-F238E27FC236}">
                <a16:creationId xmlns:a16="http://schemas.microsoft.com/office/drawing/2014/main" id="{89390289-E777-4074-A2C3-C861630BF8A2}"/>
              </a:ext>
            </a:extLst>
          </p:cNvPr>
          <p:cNvSpPr>
            <a:spLocks xmlns:a="http://schemas.openxmlformats.org/drawingml/2006/main" noGrp="1"/>
          </p:cNvSpPr>
          <p:nvPr/>
        </p:nvSpPr>
        <p:spPr>
          <a:xfrm xmlns:a="http://schemas.openxmlformats.org/drawingml/2006/main" rot="0">
            <a:off x="11591925" y="733425"/>
            <a:ext cx="222885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REVIEW</a:t>
            </a:r>
          </a:p>
        </p:txBody>
      </p:sp>
      <p:sp>
        <p:nvSpPr>
          <p:cNvPr id="25" name="TextBox 25">
            <a:extLst xmlns:a="http://schemas.openxmlformats.org/drawingml/2006/main">
              <a:ext uri="{FF2B5EF4-FFF2-40B4-BE49-F238E27FC236}">
                <a16:creationId xmlns:a16="http://schemas.microsoft.com/office/drawing/2014/main" id="{8A8C5C0A-5E34-46D2-B6D7-AE34073906E7}"/>
              </a:ext>
            </a:extLst>
          </p:cNvPr>
          <p:cNvSpPr>
            <a:spLocks xmlns:a="http://schemas.openxmlformats.org/drawingml/2006/main" noGrp="1"/>
          </p:cNvSpPr>
          <p:nvPr/>
        </p:nvSpPr>
        <p:spPr>
          <a:xfrm xmlns:a="http://schemas.openxmlformats.org/drawingml/2006/main" rot="0">
            <a:off x="800100" y="628650"/>
            <a:ext cx="2381250" cy="56769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defRPr sz="1800" b="1">
                <a:solidFill>
                  <a:srgbClr val="101B40"/>
                </a:solidFill>
                <a:latin typeface="Montserrat"/>
                <a:ea typeface="Montserrat"/>
                <a:cs typeface="Montserrat"/>
              </a:defRPr>
            </a:defPPr>
          </a:lstStyle>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PDF</a:t>
            </a:r>
          </a:p>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GALAXAI</a:t>
            </a:r>
          </a:p>
        </p:txBody>
      </p:sp>
      <p:sp>
        <p:nvSpPr>
          <p:cNvPr id="26" name="04">
            <a:extLst xmlns:a="http://schemas.openxmlformats.org/drawingml/2006/main">
              <a:ext uri="{FF2B5EF4-FFF2-40B4-BE49-F238E27FC236}">
                <a16:creationId xmlns:a16="http://schemas.microsoft.com/office/drawing/2014/main" id="{7CABA642-C0BA-4EFF-8216-161817ABD2D5}"/>
              </a:ext>
            </a:extLst>
          </p:cNvPr>
          <p:cNvSpPr>
            <a:spLocks xmlns:a="http://schemas.openxmlformats.org/drawingml/2006/main" noGrp="1"/>
          </p:cNvSpPr>
          <p:nvPr/>
        </p:nvSpPr>
        <p:spPr>
          <a:xfrm xmlns:a="http://schemas.openxmlformats.org/drawingml/2006/main">
            <a:off x="16735425" y="73342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1">
                <a:solidFill>
                  <a:srgbClr val="101B40"/>
                </a:solidFill>
                <a:latin typeface="Montserrat Bold"/>
                <a:ea typeface="Montserrat Bold"/>
                <a:cs typeface="Montserrat Bold"/>
              </a:defRPr>
            </a:defPPr>
          </a:lstStyle>
          <a:p xmlns:a="http://schemas.openxmlformats.org/drawingml/2006/main">
            <a:pPr algn="r">
              <a:buNone/>
              <a:defRPr sz="1875" b="1">
                <a:solidFill>
                  <a:srgbClr val="101B40"/>
                </a:solidFill>
                <a:latin typeface="Montserrat Bold"/>
                <a:ea typeface="Montserrat Bold"/>
                <a:cs typeface="Montserrat Bold"/>
              </a:defRPr>
            </a:pPr>
            <a:r>
              <a:rPr sz="1875" b="1">
                <a:solidFill>
                  <a:srgbClr val="101B40"/>
                </a:solidFill>
                <a:latin typeface="Montserrat Bold"/>
                <a:ea typeface="Montserrat Bold"/>
                <a:cs typeface="Montserrat Bold"/>
              </a:rPr>
              <a:t>04</a:t>
            </a:r>
          </a:p>
        </p:txBody>
      </p:sp>
      <p:sp>
        <p:nvSpPr>
          <p:cNvPr id="27" name="PDF-GalaxAI">
            <a:extLst xmlns:a="http://schemas.openxmlformats.org/drawingml/2006/main">
              <a:ext uri="{FF2B5EF4-FFF2-40B4-BE49-F238E27FC236}">
                <a16:creationId xmlns:a16="http://schemas.microsoft.com/office/drawing/2014/main" id="{179A747C-F522-4A72-AF31-D4B2018EDFCC}"/>
              </a:ext>
            </a:extLst>
          </p:cNvPr>
          <p:cNvSpPr>
            <a:spLocks xmlns:a="http://schemas.openxmlformats.org/drawingml/2006/main" noGrp="1"/>
          </p:cNvSpPr>
          <p:nvPr/>
        </p:nvSpPr>
        <p:spPr>
          <a:xfrm xmlns:a="http://schemas.openxmlformats.org/drawingml/2006/main">
            <a:off x="1238250" y="96202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681"/>
                </a:solidFill>
                <a:latin typeface="Montserrat"/>
                <a:ea typeface="Montserrat"/>
                <a:cs typeface="Montserrat"/>
              </a:defRPr>
            </a:defPPr>
          </a:lstStyle>
          <a:p xmlns:a="http://schemas.openxmlformats.org/drawingml/2006/main">
            <a:pPr algn="l">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PDF-GalaxAI</a:t>
            </a:r>
          </a:p>
        </p:txBody>
      </p:sp>
      <p:sp>
        <p:nvSpPr>
          <p:cNvPr id="28" name="04 / 12">
            <a:extLst xmlns:a="http://schemas.openxmlformats.org/drawingml/2006/main">
              <a:ext uri="{FF2B5EF4-FFF2-40B4-BE49-F238E27FC236}">
                <a16:creationId xmlns:a16="http://schemas.microsoft.com/office/drawing/2014/main" id="{2CD5C878-C2BA-432B-A681-33EE67F6F770}"/>
              </a:ext>
            </a:extLst>
          </p:cNvPr>
          <p:cNvSpPr>
            <a:spLocks xmlns:a="http://schemas.openxmlformats.org/drawingml/2006/main" noGrp="1"/>
          </p:cNvSpPr>
          <p:nvPr/>
        </p:nvSpPr>
        <p:spPr>
          <a:xfrm xmlns:a="http://schemas.openxmlformats.org/drawingml/2006/main">
            <a:off x="15430500" y="9620250"/>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536681"/>
                </a:solidFill>
                <a:latin typeface="Montserrat"/>
                <a:ea typeface="Montserrat"/>
                <a:cs typeface="Montserrat"/>
              </a:defRPr>
            </a:defPPr>
          </a:lstStyle>
          <a:p xmlns:a="http://schemas.openxmlformats.org/drawingml/2006/main">
            <a:pPr algn="r">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04 / 12</a:t>
            </a:r>
          </a:p>
        </p:txBody>
      </p:sp>
      <p:sp>
        <p:nvSpPr>
          <p:cNvPr id="29" name="3D Semantic Knowledge Visualisation">
            <a:extLst xmlns:a="http://schemas.openxmlformats.org/drawingml/2006/main">
              <a:ext uri="{FF2B5EF4-FFF2-40B4-BE49-F238E27FC236}">
                <a16:creationId xmlns:a16="http://schemas.microsoft.com/office/drawing/2014/main" id="{744B5083-AEF0-4EC1-92D8-7E8D7E63417C}"/>
              </a:ext>
            </a:extLst>
          </p:cNvPr>
          <p:cNvSpPr>
            <a:spLocks xmlns:a="http://schemas.openxmlformats.org/drawingml/2006/main" noGrp="1"/>
          </p:cNvSpPr>
          <p:nvPr/>
        </p:nvSpPr>
        <p:spPr>
          <a:xfrm xmlns:a="http://schemas.openxmlformats.org/drawingml/2006/main">
            <a:off x="1238250" y="1952625"/>
            <a:ext cx="15668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425" b="1">
                <a:solidFill>
                  <a:srgbClr val="101B40"/>
                </a:solidFill>
                <a:latin typeface="Montserrat Bold"/>
                <a:ea typeface="Montserrat Bold"/>
                <a:cs typeface="Montserrat Bold"/>
              </a:defRPr>
            </a:defPPr>
          </a:lstStyle>
          <a:p xmlns:a="http://schemas.openxmlformats.org/drawingml/2006/main">
            <a:pPr algn="l">
              <a:buNone/>
              <a:defRPr sz="4425" b="1">
                <a:solidFill>
                  <a:srgbClr val="101B40"/>
                </a:solidFill>
                <a:latin typeface="Montserrat Bold"/>
                <a:ea typeface="Montserrat Bold"/>
                <a:cs typeface="Montserrat Bold"/>
              </a:defRPr>
            </a:pPr>
            <a:r>
              <a:rPr sz="4425" b="1">
                <a:solidFill>
                  <a:srgbClr val="101B40"/>
                </a:solidFill>
                <a:latin typeface="Montserrat Bold"/>
                <a:ea typeface="Montserrat Bold"/>
                <a:cs typeface="Montserrat Bold"/>
              </a:rPr>
              <a:t>3D Semantic Knowledge Visualisation</a:t>
            </a:r>
          </a:p>
        </p:txBody>
      </p:sp>
      <p:sp>
        <p:nvSpPr>
          <p:cNvPr id="30" name="3D topic groups provide a collection overview with direct access to in">
            <a:extLst xmlns:a="http://schemas.openxmlformats.org/drawingml/2006/main">
              <a:ext uri="{FF2B5EF4-FFF2-40B4-BE49-F238E27FC236}">
                <a16:creationId xmlns:a16="http://schemas.microsoft.com/office/drawing/2014/main" id="{230BE1FE-5ADD-4C4E-9216-A61F0BB2176A}"/>
              </a:ext>
            </a:extLst>
          </p:cNvPr>
          <p:cNvSpPr>
            <a:spLocks xmlns:a="http://schemas.openxmlformats.org/drawingml/2006/main" noGrp="1"/>
          </p:cNvSpPr>
          <p:nvPr/>
        </p:nvSpPr>
        <p:spPr>
          <a:xfrm xmlns:a="http://schemas.openxmlformats.org/drawingml/2006/main">
            <a:off x="1257300" y="2905125"/>
            <a:ext cx="15382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36681"/>
                </a:solidFill>
                <a:latin typeface="Montserrat"/>
                <a:ea typeface="Montserrat"/>
                <a:cs typeface="Montserrat"/>
              </a:defRPr>
            </a:defPPr>
          </a:lstStyle>
          <a:p xmlns:a="http://schemas.openxmlformats.org/drawingml/2006/main">
            <a:pPr algn="l">
              <a:buNone/>
              <a:defRPr sz="2250" b="0">
                <a:solidFill>
                  <a:srgbClr val="536681"/>
                </a:solidFill>
                <a:latin typeface="Montserrat"/>
                <a:ea typeface="Montserrat"/>
                <a:cs typeface="Montserrat"/>
              </a:defRPr>
            </a:pPr>
            <a:r>
              <a:rPr sz="2250" b="0">
                <a:solidFill>
                  <a:srgbClr val="536681"/>
                </a:solidFill>
                <a:latin typeface="Montserrat"/>
                <a:ea typeface="Montserrat"/>
                <a:cs typeface="Montserrat"/>
              </a:rPr>
              <a:t>3D topic groups provide a collection overview with direct access to individual papers.</a:t>
            </a:r>
          </a:p>
        </p:txBody>
      </p:sp>
      <p:sp>
        <p:nvSpPr>
          <p:cNvPr id="31" name="Screenshot placeholder: 【此处放三维语义知识星云截图】">
            <a:extLst xmlns:a="http://schemas.openxmlformats.org/drawingml/2006/main">
              <a:ext uri="{FF2B5EF4-FFF2-40B4-BE49-F238E27FC236}">
                <a16:creationId xmlns:a16="http://schemas.microsoft.com/office/drawing/2014/main" id="{FB82EB11-92C8-4184-BD65-9783655D3A0D}"/>
              </a:ext>
            </a:extLst>
          </p:cNvPr>
          <p:cNvSpPr>
            <a:spLocks xmlns:a="http://schemas.openxmlformats.org/drawingml/2006/main" noGrp="1"/>
          </p:cNvSpPr>
          <p:nvPr/>
        </p:nvSpPr>
        <p:spPr>
          <a:xfrm xmlns:a="http://schemas.openxmlformats.org/drawingml/2006/main">
            <a:off x="1238250" y="4076700"/>
            <a:ext cx="9906000" cy="5572125"/>
          </a:xfrm>
          <a:prstGeom xmlns:a="http://schemas.openxmlformats.org/drawingml/2006/main" prst="roundRect">
            <a:avLst>
              <a:gd name="adj" fmla="val 4103"/>
            </a:avLst>
          </a:prstGeom>
          <a:solidFill xmlns:a="http://schemas.openxmlformats.org/drawingml/2006/main">
            <a:srgbClr val="DCE2EB"/>
          </a:solidFill>
          <a:ln xmlns:a="http://schemas.openxmlformats.org/drawingml/2006/main" w="16193">
            <a:solidFill>
              <a:srgbClr val="8FA4C1"/>
            </a:solidFill>
          </a:ln>
        </p:spPr>
      </p:sp>
      <p:sp>
        <p:nvSpPr>
          <p:cNvPr id="32" name="【此处放三维语义知识星云截图】">
            <a:extLst xmlns:a="http://schemas.openxmlformats.org/drawingml/2006/main">
              <a:ext uri="{FF2B5EF4-FFF2-40B4-BE49-F238E27FC236}">
                <a16:creationId xmlns:a16="http://schemas.microsoft.com/office/drawing/2014/main" id="{7329C4CE-7344-4CB9-A71F-6F6B396FAB4C}"/>
              </a:ext>
            </a:extLst>
          </p:cNvPr>
          <p:cNvSpPr>
            <a:spLocks xmlns:a="http://schemas.openxmlformats.org/drawingml/2006/main" noGrp="1"/>
          </p:cNvSpPr>
          <p:nvPr/>
        </p:nvSpPr>
        <p:spPr>
          <a:xfrm xmlns:a="http://schemas.openxmlformats.org/drawingml/2006/main">
            <a:off x="1447800" y="6577013"/>
            <a:ext cx="94869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250" b="0">
                <a:solidFill>
                  <a:srgbClr val="536681"/>
                </a:solidFill>
                <a:latin typeface="Microsoft YaHei"/>
                <a:ea typeface="Microsoft YaHei"/>
                <a:cs typeface="Microsoft YaHei"/>
              </a:defRPr>
            </a:defPPr>
          </a:lstStyle>
          <a:p xmlns:a="http://schemas.openxmlformats.org/drawingml/2006/main">
            <a:pPr algn="ctr">
              <a:buNone/>
              <a:defRPr sz="2250" b="0">
                <a:solidFill>
                  <a:srgbClr val="536681"/>
                </a:solidFill>
                <a:latin typeface="Microsoft YaHei"/>
                <a:ea typeface="Microsoft YaHei"/>
                <a:cs typeface="Microsoft YaHei"/>
              </a:defRPr>
            </a:pPr>
            <a:r>
              <a:rPr sz="2250" b="0">
                <a:solidFill>
                  <a:srgbClr val="536681"/>
                </a:solidFill>
                <a:latin typeface="Microsoft YaHei"/>
                <a:ea typeface="Microsoft YaHei"/>
                <a:cs typeface="Microsoft YaHei"/>
              </a:rPr>
              <a:t>【此处放三维语义知识星云截图】</a:t>
            </a:r>
          </a:p>
        </p:txBody>
      </p:sp>
      <p:sp>
        <p:nvSpPr>
          <p:cNvPr id="33" name="16:9">
            <a:extLst xmlns:a="http://schemas.openxmlformats.org/drawingml/2006/main">
              <a:ext uri="{FF2B5EF4-FFF2-40B4-BE49-F238E27FC236}">
                <a16:creationId xmlns:a16="http://schemas.microsoft.com/office/drawing/2014/main" id="{D58989B8-B243-4285-AD73-93E147948F09}"/>
              </a:ext>
            </a:extLst>
          </p:cNvPr>
          <p:cNvSpPr>
            <a:spLocks xmlns:a="http://schemas.openxmlformats.org/drawingml/2006/main" noGrp="1"/>
          </p:cNvSpPr>
          <p:nvPr/>
        </p:nvSpPr>
        <p:spPr>
          <a:xfrm xmlns:a="http://schemas.openxmlformats.org/drawingml/2006/main">
            <a:off x="9763125" y="4248150"/>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75" b="0">
                <a:solidFill>
                  <a:srgbClr val="536681"/>
                </a:solidFill>
                <a:latin typeface="Montserrat"/>
                <a:ea typeface="Montserrat"/>
                <a:cs typeface="Montserrat"/>
              </a:defRPr>
            </a:defPPr>
          </a:lstStyle>
          <a:p xmlns:a="http://schemas.openxmlformats.org/drawingml/2006/main">
            <a:pPr algn="r">
              <a:buNone/>
              <a:defRPr sz="1575" b="0">
                <a:solidFill>
                  <a:srgbClr val="536681"/>
                </a:solidFill>
                <a:latin typeface="Montserrat"/>
                <a:ea typeface="Montserrat"/>
                <a:cs typeface="Montserrat"/>
              </a:defRPr>
            </a:pPr>
            <a:r>
              <a:rPr sz="1575" b="0">
                <a:solidFill>
                  <a:srgbClr val="536681"/>
                </a:solidFill>
                <a:latin typeface="Montserrat"/>
                <a:ea typeface="Montserrat"/>
                <a:cs typeface="Montserrat"/>
              </a:rPr>
              <a:t>16:9</a:t>
            </a:r>
          </a:p>
        </p:txBody>
      </p:sp>
      <p:sp>
        <p:nvSpPr>
          <p:cNvPr id="34" name="Colour">
            <a:extLst xmlns:a="http://schemas.openxmlformats.org/drawingml/2006/main">
              <a:ext uri="{FF2B5EF4-FFF2-40B4-BE49-F238E27FC236}">
                <a16:creationId xmlns:a16="http://schemas.microsoft.com/office/drawing/2014/main" id="{5AEDAB65-2013-4E9D-AA7A-B8FED2A6381F}"/>
              </a:ext>
            </a:extLst>
          </p:cNvPr>
          <p:cNvSpPr>
            <a:spLocks xmlns:a="http://schemas.openxmlformats.org/drawingml/2006/main" noGrp="1"/>
          </p:cNvSpPr>
          <p:nvPr/>
        </p:nvSpPr>
        <p:spPr>
          <a:xfrm xmlns:a="http://schemas.openxmlformats.org/drawingml/2006/main">
            <a:off x="11811000" y="4067175"/>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1B40"/>
                </a:solidFill>
                <a:latin typeface="Montserrat Bold"/>
                <a:ea typeface="Montserrat Bold"/>
                <a:cs typeface="Montserrat Bold"/>
              </a:defRPr>
            </a:defPPr>
          </a:lstStyle>
          <a:p xmlns:a="http://schemas.openxmlformats.org/drawingml/2006/main">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Colour</a:t>
            </a:r>
          </a:p>
        </p:txBody>
      </p:sp>
      <p:sp>
        <p:nvSpPr>
          <p:cNvPr id="35" name="KMeans topic cluster">
            <a:extLst xmlns:a="http://schemas.openxmlformats.org/drawingml/2006/main">
              <a:ext uri="{FF2B5EF4-FFF2-40B4-BE49-F238E27FC236}">
                <a16:creationId xmlns:a16="http://schemas.microsoft.com/office/drawing/2014/main" id="{87111CA3-A8B7-4E33-98CB-2C310E5EF977}"/>
              </a:ext>
            </a:extLst>
          </p:cNvPr>
          <p:cNvSpPr>
            <a:spLocks xmlns:a="http://schemas.openxmlformats.org/drawingml/2006/main" noGrp="1"/>
          </p:cNvSpPr>
          <p:nvPr/>
        </p:nvSpPr>
        <p:spPr>
          <a:xfrm xmlns:a="http://schemas.openxmlformats.org/drawingml/2006/main">
            <a:off x="11811000" y="44862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81"/>
                </a:solidFill>
                <a:latin typeface="Montserrat"/>
                <a:ea typeface="Montserrat"/>
                <a:cs typeface="Montserrat"/>
              </a:defRPr>
            </a:defPPr>
          </a:lstStyle>
          <a:p xmlns:a="http://schemas.openxmlformats.org/drawingml/2006/main">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KMeans topic cluster</a:t>
            </a:r>
          </a:p>
        </p:txBody>
      </p:sp>
      <p:sp>
        <p:nvSpPr>
          <p:cNvPr id="36" name="Position">
            <a:extLst xmlns:a="http://schemas.openxmlformats.org/drawingml/2006/main">
              <a:ext uri="{FF2B5EF4-FFF2-40B4-BE49-F238E27FC236}">
                <a16:creationId xmlns:a16="http://schemas.microsoft.com/office/drawing/2014/main" id="{E8D76CAA-C777-46FA-8C16-4C4D919EDE7B}"/>
              </a:ext>
            </a:extLst>
          </p:cNvPr>
          <p:cNvSpPr>
            <a:spLocks xmlns:a="http://schemas.openxmlformats.org/drawingml/2006/main" noGrp="1"/>
          </p:cNvSpPr>
          <p:nvPr/>
        </p:nvSpPr>
        <p:spPr>
          <a:xfrm xmlns:a="http://schemas.openxmlformats.org/drawingml/2006/main">
            <a:off x="11811000" y="5095875"/>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1B40"/>
                </a:solidFill>
                <a:latin typeface="Montserrat Bold"/>
                <a:ea typeface="Montserrat Bold"/>
                <a:cs typeface="Montserrat Bold"/>
              </a:defRPr>
            </a:defPPr>
          </a:lstStyle>
          <a:p xmlns:a="http://schemas.openxmlformats.org/drawingml/2006/main">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Position</a:t>
            </a:r>
          </a:p>
        </p:txBody>
      </p:sp>
      <p:sp>
        <p:nvSpPr>
          <p:cNvPr id="37" name="UMAP/PCA coordinates with additional cluster separation">
            <a:extLst xmlns:a="http://schemas.openxmlformats.org/drawingml/2006/main">
              <a:ext uri="{FF2B5EF4-FFF2-40B4-BE49-F238E27FC236}">
                <a16:creationId xmlns:a16="http://schemas.microsoft.com/office/drawing/2014/main" id="{4EC049C2-BE98-4753-8FDF-9EDEF43B30E7}"/>
              </a:ext>
            </a:extLst>
          </p:cNvPr>
          <p:cNvSpPr>
            <a:spLocks xmlns:a="http://schemas.openxmlformats.org/drawingml/2006/main" noGrp="1"/>
          </p:cNvSpPr>
          <p:nvPr/>
        </p:nvSpPr>
        <p:spPr>
          <a:xfrm xmlns:a="http://schemas.openxmlformats.org/drawingml/2006/main">
            <a:off x="11811000" y="55149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81"/>
                </a:solidFill>
                <a:latin typeface="Montserrat"/>
                <a:ea typeface="Montserrat"/>
                <a:cs typeface="Montserrat"/>
              </a:defRPr>
            </a:defPPr>
          </a:lstStyle>
          <a:p xmlns:a="http://schemas.openxmlformats.org/drawingml/2006/main">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UMAP/PCA coordinates with additional cluster separation</a:t>
            </a:r>
          </a:p>
        </p:txBody>
      </p:sp>
      <p:sp>
        <p:nvSpPr>
          <p:cNvPr id="38" name="Node size">
            <a:extLst xmlns:a="http://schemas.openxmlformats.org/drawingml/2006/main">
              <a:ext uri="{FF2B5EF4-FFF2-40B4-BE49-F238E27FC236}">
                <a16:creationId xmlns:a16="http://schemas.microsoft.com/office/drawing/2014/main" id="{C11D0391-68C1-490A-ADEC-F8E8312FCC71}"/>
              </a:ext>
            </a:extLst>
          </p:cNvPr>
          <p:cNvSpPr>
            <a:spLocks xmlns:a="http://schemas.openxmlformats.org/drawingml/2006/main" noGrp="1"/>
          </p:cNvSpPr>
          <p:nvPr/>
        </p:nvSpPr>
        <p:spPr>
          <a:xfrm xmlns:a="http://schemas.openxmlformats.org/drawingml/2006/main">
            <a:off x="11811000" y="6124575"/>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1B40"/>
                </a:solidFill>
                <a:latin typeface="Montserrat Bold"/>
                <a:ea typeface="Montserrat Bold"/>
                <a:cs typeface="Montserrat Bold"/>
              </a:defRPr>
            </a:defPPr>
          </a:lstStyle>
          <a:p xmlns:a="http://schemas.openxmlformats.org/drawingml/2006/main">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Node size</a:t>
            </a:r>
          </a:p>
        </p:txBody>
      </p:sp>
      <p:sp>
        <p:nvSpPr>
          <p:cNvPr id="39" name="Similarity to the assigned cluster centre">
            <a:extLst xmlns:a="http://schemas.openxmlformats.org/drawingml/2006/main">
              <a:ext uri="{FF2B5EF4-FFF2-40B4-BE49-F238E27FC236}">
                <a16:creationId xmlns:a16="http://schemas.microsoft.com/office/drawing/2014/main" id="{2E6E4DA3-B91E-442C-82E2-9AFB7F318CA2}"/>
              </a:ext>
            </a:extLst>
          </p:cNvPr>
          <p:cNvSpPr>
            <a:spLocks xmlns:a="http://schemas.openxmlformats.org/drawingml/2006/main" noGrp="1"/>
          </p:cNvSpPr>
          <p:nvPr/>
        </p:nvSpPr>
        <p:spPr>
          <a:xfrm xmlns:a="http://schemas.openxmlformats.org/drawingml/2006/main">
            <a:off x="11811000" y="65436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81"/>
                </a:solidFill>
                <a:latin typeface="Montserrat"/>
                <a:ea typeface="Montserrat"/>
                <a:cs typeface="Montserrat"/>
              </a:defRPr>
            </a:defPPr>
          </a:lstStyle>
          <a:p xmlns:a="http://schemas.openxmlformats.org/drawingml/2006/main">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Similarity to the assigned cluster centre</a:t>
            </a:r>
          </a:p>
        </p:txBody>
      </p:sp>
      <p:sp>
        <p:nvSpPr>
          <p:cNvPr id="40" name="Nebula density">
            <a:extLst xmlns:a="http://schemas.openxmlformats.org/drawingml/2006/main">
              <a:ext uri="{FF2B5EF4-FFF2-40B4-BE49-F238E27FC236}">
                <a16:creationId xmlns:a16="http://schemas.microsoft.com/office/drawing/2014/main" id="{C17E0C83-D629-4EBE-A60A-C52811D0A6E9}"/>
              </a:ext>
            </a:extLst>
          </p:cNvPr>
          <p:cNvSpPr>
            <a:spLocks xmlns:a="http://schemas.openxmlformats.org/drawingml/2006/main" noGrp="1"/>
          </p:cNvSpPr>
          <p:nvPr/>
        </p:nvSpPr>
        <p:spPr>
          <a:xfrm xmlns:a="http://schemas.openxmlformats.org/drawingml/2006/main">
            <a:off x="11811000" y="7153275"/>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1B40"/>
                </a:solidFill>
                <a:latin typeface="Montserrat Bold"/>
                <a:ea typeface="Montserrat Bold"/>
                <a:cs typeface="Montserrat Bold"/>
              </a:defRPr>
            </a:defPPr>
          </a:lstStyle>
          <a:p xmlns:a="http://schemas.openxmlformats.org/drawingml/2006/main">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Nebula density</a:t>
            </a:r>
          </a:p>
        </p:txBody>
      </p:sp>
      <p:sp>
        <p:nvSpPr>
          <p:cNvPr id="41" name="Number of papers in the cluster">
            <a:extLst xmlns:a="http://schemas.openxmlformats.org/drawingml/2006/main">
              <a:ext uri="{FF2B5EF4-FFF2-40B4-BE49-F238E27FC236}">
                <a16:creationId xmlns:a16="http://schemas.microsoft.com/office/drawing/2014/main" id="{997F3C1F-6482-4E10-8275-353035900C88}"/>
              </a:ext>
            </a:extLst>
          </p:cNvPr>
          <p:cNvSpPr>
            <a:spLocks xmlns:a="http://schemas.openxmlformats.org/drawingml/2006/main" noGrp="1"/>
          </p:cNvSpPr>
          <p:nvPr/>
        </p:nvSpPr>
        <p:spPr>
          <a:xfrm xmlns:a="http://schemas.openxmlformats.org/drawingml/2006/main">
            <a:off x="11811000" y="75723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81"/>
                </a:solidFill>
                <a:latin typeface="Montserrat"/>
                <a:ea typeface="Montserrat"/>
                <a:cs typeface="Montserrat"/>
              </a:defRPr>
            </a:defPPr>
          </a:lstStyle>
          <a:p xmlns:a="http://schemas.openxmlformats.org/drawingml/2006/main">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Number of papers in the cluster</a:t>
            </a:r>
          </a:p>
        </p:txBody>
      </p:sp>
      <p:sp>
        <p:nvSpPr>
          <p:cNvPr id="42" name="Visual emphasis">
            <a:extLst xmlns:a="http://schemas.openxmlformats.org/drawingml/2006/main">
              <a:ext uri="{FF2B5EF4-FFF2-40B4-BE49-F238E27FC236}">
                <a16:creationId xmlns:a16="http://schemas.microsoft.com/office/drawing/2014/main" id="{8A6166DE-A0F0-4A34-B73A-AD786A56573F}"/>
              </a:ext>
            </a:extLst>
          </p:cNvPr>
          <p:cNvSpPr>
            <a:spLocks xmlns:a="http://schemas.openxmlformats.org/drawingml/2006/main" noGrp="1"/>
          </p:cNvSpPr>
          <p:nvPr/>
        </p:nvSpPr>
        <p:spPr>
          <a:xfrm xmlns:a="http://schemas.openxmlformats.org/drawingml/2006/main">
            <a:off x="11811000" y="8181975"/>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1B40"/>
                </a:solidFill>
                <a:latin typeface="Montserrat Bold"/>
                <a:ea typeface="Montserrat Bold"/>
                <a:cs typeface="Montserrat Bold"/>
              </a:defRPr>
            </a:defPPr>
          </a:lstStyle>
          <a:p xmlns:a="http://schemas.openxmlformats.org/drawingml/2006/main">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Visual emphasis</a:t>
            </a:r>
          </a:p>
        </p:txBody>
      </p:sp>
      <p:sp>
        <p:nvSpPr>
          <p:cNvPr id="43" name="Retrieved papers and selected search results">
            <a:extLst xmlns:a="http://schemas.openxmlformats.org/drawingml/2006/main">
              <a:ext uri="{FF2B5EF4-FFF2-40B4-BE49-F238E27FC236}">
                <a16:creationId xmlns:a16="http://schemas.microsoft.com/office/drawing/2014/main" id="{4A353A7B-2720-4F80-BD9A-DD06B577F06B}"/>
              </a:ext>
            </a:extLst>
          </p:cNvPr>
          <p:cNvSpPr>
            <a:spLocks xmlns:a="http://schemas.openxmlformats.org/drawingml/2006/main" noGrp="1"/>
          </p:cNvSpPr>
          <p:nvPr/>
        </p:nvSpPr>
        <p:spPr>
          <a:xfrm xmlns:a="http://schemas.openxmlformats.org/drawingml/2006/main">
            <a:off x="11811000" y="86010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81"/>
                </a:solidFill>
                <a:latin typeface="Montserrat"/>
                <a:ea typeface="Montserrat"/>
                <a:cs typeface="Montserrat"/>
              </a:defRPr>
            </a:defPPr>
          </a:lstStyle>
          <a:p xmlns:a="http://schemas.openxmlformats.org/drawingml/2006/main">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Retrieved papers and selected search results</a:t>
            </a:r>
          </a:p>
        </p:txBody>
      </p:sp>
    </p:spTree>
    <p:extLst>
      <p:ext uri="{BB962C8B-B14F-4D97-AF65-F5344CB8AC3E}">
        <p14:creationId xmlns:p14="http://schemas.microsoft.com/office/powerpoint/2010/main" val="826168617"/>
      </p:ext>
    </p:extLst>
  </p:cSld>
</p:sld>
</file>

<file path=ppt/slides/slide5.xml><?xml version="1.0" encoding="utf-8"?>
<p:sld xmlns:p="http://schemas.openxmlformats.org/presentationml/2006/main">
  <p:cSld>
    <p:bg>
      <p:bgPr>
        <a:solidFill xmlns:a="http://schemas.openxmlformats.org/drawingml/2006/main">
          <a:srgbClr val="F1F1F1"/>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E2AFC88F-1E26-4B61-A0FA-E6E548F00634}"/>
              </a:ext>
            </a:extLst>
          </p:cNvPr>
          <p:cNvSpPr>
            <a:spLocks xmlns:a="http://schemas.openxmlformats.org/drawingml/2006/main" noGrp="1"/>
          </p:cNvSpPr>
          <p:nvPr/>
        </p:nvSpPr>
        <p:spPr>
          <a:xfrm xmlns:a="http://schemas.openxmlformats.org/drawingml/2006/main" rot="0" flipH="0" flipV="0">
            <a:off x="4410075" y="514350"/>
            <a:ext cx="9467850" cy="819150"/>
          </a:xfrm>
          <a:custGeom xmlns:a="http://schemas.openxmlformats.org/drawingml/2006/main">
            <a:rect l="l" t="t" r="r" b="b"/>
            <a:pathLst>
              <a:path w="2494114" h="214543">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xmlns:a="http://schemas.openxmlformats.org/drawingml/2006/main" w="38100" cap="rnd">
            <a:solidFill>
              <a:srgbClr val="101B40"/>
            </a:solidFill>
            <a:prstDash val="solid"/>
            <a:round/>
          </a:ln>
        </p:spPr>
      </p:sp>
      <p:sp>
        <p:nvSpPr>
          <p:cNvPr id="4" name="TextBox 4">
            <a:extLst xmlns:a="http://schemas.openxmlformats.org/drawingml/2006/main">
              <a:ext uri="{FF2B5EF4-FFF2-40B4-BE49-F238E27FC236}">
                <a16:creationId xmlns:a16="http://schemas.microsoft.com/office/drawing/2014/main" id="{CC68A061-5E5A-4705-A9D4-B69C4F661087}"/>
              </a:ext>
            </a:extLst>
          </p:cNvPr>
          <p:cNvSpPr>
            <a:spLocks xmlns:a="http://schemas.openxmlformats.org/drawingml/2006/main" noGrp="1"/>
          </p:cNvSpPr>
          <p:nvPr/>
        </p:nvSpPr>
        <p:spPr>
          <a:xfrm xmlns:a="http://schemas.openxmlformats.org/drawingml/2006/main" rot="0" flipH="0" flipV="0">
            <a:off x="4409081" y="370811"/>
            <a:ext cx="9469839" cy="95925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p>
        </p:txBody>
      </p:sp>
      <p:sp>
        <p:nvSpPr>
          <p:cNvPr id="6" name="Freeform 6">
            <a:extLst xmlns:a="http://schemas.openxmlformats.org/drawingml/2006/main">
              <a:ext uri="{FF2B5EF4-FFF2-40B4-BE49-F238E27FC236}">
                <a16:creationId xmlns:a16="http://schemas.microsoft.com/office/drawing/2014/main" id="{3685100E-A305-48D1-9F93-375FD490B949}"/>
              </a:ext>
            </a:extLst>
          </p:cNvPr>
          <p:cNvSpPr>
            <a:spLocks xmlns:a="http://schemas.openxmlformats.org/drawingml/2006/main" noGrp="1"/>
          </p:cNvSpPr>
          <p:nvPr/>
        </p:nvSpPr>
        <p:spPr>
          <a:xfrm xmlns:a="http://schemas.openxmlformats.org/drawingml/2006/main" rot="0" flipH="0" flipV="0">
            <a:off x="9458325" y="628650"/>
            <a:ext cx="1666875" cy="590550"/>
          </a:xfrm>
          <a:custGeom xmlns:a="http://schemas.openxmlformats.org/drawingml/2006/main">
            <a:rect l="l" t="t" r="r" b="b"/>
            <a:pathLst>
              <a:path w="438737" h="155110">
                <a:moveTo>
                  <a:pt x="77555" y="0"/>
                </a:moveTo>
                <a:lnTo>
                  <a:pt x="361182" y="0"/>
                </a:lnTo>
                <a:cubicBezTo>
                  <a:pt x="404015" y="0"/>
                  <a:pt x="438737" y="34722"/>
                  <a:pt x="438737" y="77555"/>
                </a:cubicBezTo>
                <a:lnTo>
                  <a:pt x="438737" y="77555"/>
                </a:lnTo>
                <a:cubicBezTo>
                  <a:pt x="438737" y="120387"/>
                  <a:pt x="404015" y="155110"/>
                  <a:pt x="361182" y="155110"/>
                </a:cubicBezTo>
                <a:lnTo>
                  <a:pt x="77555" y="155110"/>
                </a:lnTo>
                <a:cubicBezTo>
                  <a:pt x="34722" y="155110"/>
                  <a:pt x="0" y="120387"/>
                  <a:pt x="0" y="77555"/>
                </a:cubicBezTo>
                <a:lnTo>
                  <a:pt x="0" y="77555"/>
                </a:lnTo>
                <a:cubicBezTo>
                  <a:pt x="0" y="34722"/>
                  <a:pt x="34722" y="0"/>
                  <a:pt x="77555" y="0"/>
                </a:cubicBezTo>
                <a:close/>
              </a:path>
            </a:pathLst>
          </a:custGeom>
          <a:solidFill xmlns:a="http://schemas.openxmlformats.org/drawingml/2006/main">
            <a:srgbClr val="101B40"/>
          </a:solidFill>
          <a:ln xmlns:a="http://schemas.openxmlformats.org/drawingml/2006/main" cap="rnd">
            <a:noFill/>
            <a:prstDash val="solid"/>
            <a:round/>
          </a:ln>
        </p:spPr>
      </p:sp>
      <p:sp>
        <p:nvSpPr>
          <p:cNvPr id="7" name="TextBox 7">
            <a:extLst xmlns:a="http://schemas.openxmlformats.org/drawingml/2006/main">
              <a:ext uri="{FF2B5EF4-FFF2-40B4-BE49-F238E27FC236}">
                <a16:creationId xmlns:a16="http://schemas.microsoft.com/office/drawing/2014/main" id="{88291513-6558-43C6-BDBE-57124467CCD1}"/>
              </a:ext>
            </a:extLst>
          </p:cNvPr>
          <p:cNvSpPr>
            <a:spLocks xmlns:a="http://schemas.openxmlformats.org/drawingml/2006/main" noGrp="1"/>
          </p:cNvSpPr>
          <p:nvPr/>
        </p:nvSpPr>
        <p:spPr>
          <a:xfrm xmlns:a="http://schemas.openxmlformats.org/drawingml/2006/main" rot="0" flipH="0" flipV="0">
            <a:off x="9460786" y="483641"/>
            <a:ext cx="1665830" cy="73359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p>
        </p:txBody>
      </p:sp>
      <p:sp>
        <p:nvSpPr>
          <p:cNvPr id="9" name="TextBox 9">
            <a:extLst xmlns:a="http://schemas.openxmlformats.org/drawingml/2006/main">
              <a:ext uri="{FF2B5EF4-FFF2-40B4-BE49-F238E27FC236}">
                <a16:creationId xmlns:a16="http://schemas.microsoft.com/office/drawing/2014/main" id="{7DBF6DDE-E4FA-4F07-8B69-D1462F9F14AF}"/>
              </a:ext>
            </a:extLst>
          </p:cNvPr>
          <p:cNvSpPr>
            <a:spLocks xmlns:a="http://schemas.openxmlformats.org/drawingml/2006/main" noGrp="1"/>
          </p:cNvSpPr>
          <p:nvPr/>
        </p:nvSpPr>
        <p:spPr>
          <a:xfrm xmlns:a="http://schemas.openxmlformats.org/drawingml/2006/main" rot="0">
            <a:off x="4438650" y="733425"/>
            <a:ext cx="16668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VISION</a:t>
            </a:r>
          </a:p>
        </p:txBody>
      </p:sp>
      <p:sp>
        <p:nvSpPr>
          <p:cNvPr id="10" name="TextBox 10">
            <a:extLst xmlns:a="http://schemas.openxmlformats.org/drawingml/2006/main">
              <a:ext uri="{FF2B5EF4-FFF2-40B4-BE49-F238E27FC236}">
                <a16:creationId xmlns:a16="http://schemas.microsoft.com/office/drawing/2014/main" id="{BD85BC6F-2D64-4946-A9FE-55E002A9A740}"/>
              </a:ext>
            </a:extLst>
          </p:cNvPr>
          <p:cNvSpPr>
            <a:spLocks xmlns:a="http://schemas.openxmlformats.org/drawingml/2006/main" noGrp="1"/>
          </p:cNvSpPr>
          <p:nvPr/>
        </p:nvSpPr>
        <p:spPr>
          <a:xfrm xmlns:a="http://schemas.openxmlformats.org/drawingml/2006/main" rot="0">
            <a:off x="6829425" y="733425"/>
            <a:ext cx="190500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DESIGN</a:t>
            </a:r>
          </a:p>
        </p:txBody>
      </p:sp>
      <p:sp>
        <p:nvSpPr>
          <p:cNvPr id="11" name="TextBox 11">
            <a:extLst xmlns:a="http://schemas.openxmlformats.org/drawingml/2006/main">
              <a:ext uri="{FF2B5EF4-FFF2-40B4-BE49-F238E27FC236}">
                <a16:creationId xmlns:a16="http://schemas.microsoft.com/office/drawing/2014/main" id="{34D87479-7559-4374-A8D3-24B861C3C639}"/>
              </a:ext>
            </a:extLst>
          </p:cNvPr>
          <p:cNvSpPr>
            <a:spLocks xmlns:a="http://schemas.openxmlformats.org/drawingml/2006/main" noGrp="1"/>
          </p:cNvSpPr>
          <p:nvPr/>
        </p:nvSpPr>
        <p:spPr>
          <a:xfrm xmlns:a="http://schemas.openxmlformats.org/drawingml/2006/main" rot="0">
            <a:off x="9496425" y="733425"/>
            <a:ext cx="15906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1">
                <a:solidFill>
                  <a:srgbClr val="FFFFFF"/>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1">
                <a:solidFill>
                  <a:srgbClr val="FFFFFF"/>
                </a:solidFill>
                <a:latin typeface="Montserrat"/>
                <a:ea typeface="Montserrat"/>
                <a:cs typeface="Montserrat"/>
              </a:defRPr>
            </a:pPr>
            <a:r>
              <a:rPr sz="1800" b="1" spc="3">
                <a:solidFill>
                  <a:srgbClr val="FFFFFF"/>
                </a:solidFill>
                <a:latin typeface="Montserrat"/>
                <a:ea typeface="Montserrat"/>
                <a:cs typeface="Montserrat"/>
              </a:rPr>
              <a:t>SYSTEM</a:t>
            </a:r>
          </a:p>
        </p:txBody>
      </p:sp>
      <p:sp>
        <p:nvSpPr>
          <p:cNvPr id="12" name="TextBox 12">
            <a:extLst xmlns:a="http://schemas.openxmlformats.org/drawingml/2006/main">
              <a:ext uri="{FF2B5EF4-FFF2-40B4-BE49-F238E27FC236}">
                <a16:creationId xmlns:a16="http://schemas.microsoft.com/office/drawing/2014/main" id="{9CD7E810-CB41-413D-B7CF-BD9D88D52CCF}"/>
              </a:ext>
            </a:extLst>
          </p:cNvPr>
          <p:cNvSpPr>
            <a:spLocks xmlns:a="http://schemas.openxmlformats.org/drawingml/2006/main" noGrp="1"/>
          </p:cNvSpPr>
          <p:nvPr/>
        </p:nvSpPr>
        <p:spPr>
          <a:xfrm xmlns:a="http://schemas.openxmlformats.org/drawingml/2006/main" rot="0">
            <a:off x="11591925" y="733425"/>
            <a:ext cx="222885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REVIEW</a:t>
            </a:r>
          </a:p>
        </p:txBody>
      </p:sp>
      <p:sp>
        <p:nvSpPr>
          <p:cNvPr id="13" name="TextBox 13">
            <a:extLst xmlns:a="http://schemas.openxmlformats.org/drawingml/2006/main">
              <a:ext uri="{FF2B5EF4-FFF2-40B4-BE49-F238E27FC236}">
                <a16:creationId xmlns:a16="http://schemas.microsoft.com/office/drawing/2014/main" id="{66CD8B82-C3E4-4211-BCE6-2CFC32CC034D}"/>
              </a:ext>
            </a:extLst>
          </p:cNvPr>
          <p:cNvSpPr>
            <a:spLocks xmlns:a="http://schemas.openxmlformats.org/drawingml/2006/main" noGrp="1"/>
          </p:cNvSpPr>
          <p:nvPr/>
        </p:nvSpPr>
        <p:spPr>
          <a:xfrm xmlns:a="http://schemas.openxmlformats.org/drawingml/2006/main" rot="0">
            <a:off x="800100" y="628650"/>
            <a:ext cx="2381250" cy="56769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defRPr sz="1800" b="1">
                <a:solidFill>
                  <a:srgbClr val="101B40"/>
                </a:solidFill>
                <a:latin typeface="Montserrat"/>
                <a:ea typeface="Montserrat"/>
                <a:cs typeface="Montserrat"/>
              </a:defRPr>
            </a:defPPr>
          </a:lstStyle>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PDF</a:t>
            </a:r>
          </a:p>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GALAXAI</a:t>
            </a:r>
          </a:p>
        </p:txBody>
      </p:sp>
      <p:sp>
        <p:nvSpPr>
          <p:cNvPr id="14" name="05">
            <a:extLst xmlns:a="http://schemas.openxmlformats.org/drawingml/2006/main">
              <a:ext uri="{FF2B5EF4-FFF2-40B4-BE49-F238E27FC236}">
                <a16:creationId xmlns:a16="http://schemas.microsoft.com/office/drawing/2014/main" id="{EC156930-EC93-4B2D-B81F-50F7620876BD}"/>
              </a:ext>
            </a:extLst>
          </p:cNvPr>
          <p:cNvSpPr>
            <a:spLocks xmlns:a="http://schemas.openxmlformats.org/drawingml/2006/main" noGrp="1"/>
          </p:cNvSpPr>
          <p:nvPr/>
        </p:nvSpPr>
        <p:spPr>
          <a:xfrm xmlns:a="http://schemas.openxmlformats.org/drawingml/2006/main">
            <a:off x="16735425" y="73342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1">
                <a:solidFill>
                  <a:srgbClr val="101B40"/>
                </a:solidFill>
                <a:latin typeface="Montserrat Bold"/>
                <a:ea typeface="Montserrat Bold"/>
                <a:cs typeface="Montserrat Bold"/>
              </a:defRPr>
            </a:defPPr>
          </a:lstStyle>
          <a:p xmlns:a="http://schemas.openxmlformats.org/drawingml/2006/main">
            <a:pPr algn="r">
              <a:buNone/>
              <a:defRPr sz="1875" b="1">
                <a:solidFill>
                  <a:srgbClr val="101B40"/>
                </a:solidFill>
                <a:latin typeface="Montserrat Bold"/>
                <a:ea typeface="Montserrat Bold"/>
                <a:cs typeface="Montserrat Bold"/>
              </a:defRPr>
            </a:pPr>
            <a:r>
              <a:rPr sz="1875" b="1">
                <a:solidFill>
                  <a:srgbClr val="101B40"/>
                </a:solidFill>
                <a:latin typeface="Montserrat Bold"/>
                <a:ea typeface="Montserrat Bold"/>
                <a:cs typeface="Montserrat Bold"/>
              </a:rPr>
              <a:t>05</a:t>
            </a:r>
          </a:p>
        </p:txBody>
      </p:sp>
      <p:sp>
        <p:nvSpPr>
          <p:cNvPr id="15" name="PDF-GalaxAI">
            <a:extLst xmlns:a="http://schemas.openxmlformats.org/drawingml/2006/main">
              <a:ext uri="{FF2B5EF4-FFF2-40B4-BE49-F238E27FC236}">
                <a16:creationId xmlns:a16="http://schemas.microsoft.com/office/drawing/2014/main" id="{76C94275-6C5A-4E5F-ABA8-075BD7B136D9}"/>
              </a:ext>
            </a:extLst>
          </p:cNvPr>
          <p:cNvSpPr>
            <a:spLocks xmlns:a="http://schemas.openxmlformats.org/drawingml/2006/main" noGrp="1"/>
          </p:cNvSpPr>
          <p:nvPr/>
        </p:nvSpPr>
        <p:spPr>
          <a:xfrm xmlns:a="http://schemas.openxmlformats.org/drawingml/2006/main">
            <a:off x="1238250" y="96202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681"/>
                </a:solidFill>
                <a:latin typeface="Montserrat"/>
                <a:ea typeface="Montserrat"/>
                <a:cs typeface="Montserrat"/>
              </a:defRPr>
            </a:defPPr>
          </a:lstStyle>
          <a:p xmlns:a="http://schemas.openxmlformats.org/drawingml/2006/main">
            <a:pPr algn="l">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PDF-GalaxAI</a:t>
            </a:r>
          </a:p>
        </p:txBody>
      </p:sp>
      <p:sp>
        <p:nvSpPr>
          <p:cNvPr id="16" name="05 / 12">
            <a:extLst xmlns:a="http://schemas.openxmlformats.org/drawingml/2006/main">
              <a:ext uri="{FF2B5EF4-FFF2-40B4-BE49-F238E27FC236}">
                <a16:creationId xmlns:a16="http://schemas.microsoft.com/office/drawing/2014/main" id="{56E77A87-CCD6-419C-84C5-4C249068D7BB}"/>
              </a:ext>
            </a:extLst>
          </p:cNvPr>
          <p:cNvSpPr>
            <a:spLocks xmlns:a="http://schemas.openxmlformats.org/drawingml/2006/main" noGrp="1"/>
          </p:cNvSpPr>
          <p:nvPr/>
        </p:nvSpPr>
        <p:spPr>
          <a:xfrm xmlns:a="http://schemas.openxmlformats.org/drawingml/2006/main">
            <a:off x="15430500" y="9620250"/>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536681"/>
                </a:solidFill>
                <a:latin typeface="Montserrat"/>
                <a:ea typeface="Montserrat"/>
                <a:cs typeface="Montserrat"/>
              </a:defRPr>
            </a:defPPr>
          </a:lstStyle>
          <a:p xmlns:a="http://schemas.openxmlformats.org/drawingml/2006/main">
            <a:pPr algn="r">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05 / 12</a:t>
            </a:r>
          </a:p>
        </p:txBody>
      </p:sp>
      <p:sp>
        <p:nvSpPr>
          <p:cNvPr id="17" name="Document Processing &amp; Semantic Indexing">
            <a:extLst xmlns:a="http://schemas.openxmlformats.org/drawingml/2006/main">
              <a:ext uri="{FF2B5EF4-FFF2-40B4-BE49-F238E27FC236}">
                <a16:creationId xmlns:a16="http://schemas.microsoft.com/office/drawing/2014/main" id="{6EB19025-F81B-48F3-B1D1-0A3422713755}"/>
              </a:ext>
            </a:extLst>
          </p:cNvPr>
          <p:cNvSpPr>
            <a:spLocks xmlns:a="http://schemas.openxmlformats.org/drawingml/2006/main" noGrp="1"/>
          </p:cNvSpPr>
          <p:nvPr/>
        </p:nvSpPr>
        <p:spPr>
          <a:xfrm xmlns:a="http://schemas.openxmlformats.org/drawingml/2006/main">
            <a:off x="1238250" y="1952625"/>
            <a:ext cx="15668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425" b="1">
                <a:solidFill>
                  <a:srgbClr val="101B40"/>
                </a:solidFill>
                <a:latin typeface="Montserrat Bold"/>
                <a:ea typeface="Montserrat Bold"/>
                <a:cs typeface="Montserrat Bold"/>
              </a:defRPr>
            </a:defPPr>
          </a:lstStyle>
          <a:p xmlns:a="http://schemas.openxmlformats.org/drawingml/2006/main">
            <a:pPr algn="l">
              <a:buNone/>
              <a:defRPr sz="4425" b="1">
                <a:solidFill>
                  <a:srgbClr val="101B40"/>
                </a:solidFill>
                <a:latin typeface="Montserrat Bold"/>
                <a:ea typeface="Montserrat Bold"/>
                <a:cs typeface="Montserrat Bold"/>
              </a:defRPr>
            </a:pPr>
            <a:r>
              <a:rPr sz="4425" b="1">
                <a:solidFill>
                  <a:srgbClr val="101B40"/>
                </a:solidFill>
                <a:latin typeface="Montserrat Bold"/>
                <a:ea typeface="Montserrat Bold"/>
                <a:cs typeface="Montserrat Bold"/>
              </a:rPr>
              <a:t>Document Processing &amp; Semantic Indexing</a:t>
            </a:r>
          </a:p>
        </p:txBody>
      </p:sp>
      <p:sp>
        <p:nvSpPr>
          <p:cNvPr id="18" name="Two representations serve different tasks: an overview of papers and d">
            <a:extLst xmlns:a="http://schemas.openxmlformats.org/drawingml/2006/main">
              <a:ext uri="{FF2B5EF4-FFF2-40B4-BE49-F238E27FC236}">
                <a16:creationId xmlns:a16="http://schemas.microsoft.com/office/drawing/2014/main" id="{2F19516D-9C22-4F81-8BDC-AB6489CDE9BB}"/>
              </a:ext>
            </a:extLst>
          </p:cNvPr>
          <p:cNvSpPr>
            <a:spLocks xmlns:a="http://schemas.openxmlformats.org/drawingml/2006/main" noGrp="1"/>
          </p:cNvSpPr>
          <p:nvPr/>
        </p:nvSpPr>
        <p:spPr>
          <a:xfrm xmlns:a="http://schemas.openxmlformats.org/drawingml/2006/main">
            <a:off x="1257300" y="2905125"/>
            <a:ext cx="15382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36681"/>
                </a:solidFill>
                <a:latin typeface="Montserrat"/>
                <a:ea typeface="Montserrat"/>
                <a:cs typeface="Montserrat"/>
              </a:defRPr>
            </a:defPPr>
          </a:lstStyle>
          <a:p xmlns:a="http://schemas.openxmlformats.org/drawingml/2006/main">
            <a:pPr algn="l">
              <a:buNone/>
              <a:defRPr sz="2250" b="0">
                <a:solidFill>
                  <a:srgbClr val="536681"/>
                </a:solidFill>
                <a:latin typeface="Montserrat"/>
                <a:ea typeface="Montserrat"/>
                <a:cs typeface="Montserrat"/>
              </a:defRPr>
            </a:pPr>
            <a:r>
              <a:rPr sz="2250" b="0">
                <a:solidFill>
                  <a:srgbClr val="536681"/>
                </a:solidFill>
                <a:latin typeface="Montserrat"/>
                <a:ea typeface="Montserrat"/>
                <a:cs typeface="Montserrat"/>
              </a:rPr>
              <a:t>Two representations serve different tasks: an overview of papers and detailed retrieval of passages.</a:t>
            </a:r>
          </a:p>
        </p:txBody>
      </p:sp>
      <p:sp>
        <p:nvSpPr>
          <p:cNvPr id="19" name="">
            <a:extLst xmlns:a="http://schemas.openxmlformats.org/drawingml/2006/main">
              <a:ext uri="{FF2B5EF4-FFF2-40B4-BE49-F238E27FC236}">
                <a16:creationId xmlns:a16="http://schemas.microsoft.com/office/drawing/2014/main" id="{A8587096-5F7B-44BE-BD96-C9A59D699790}"/>
              </a:ext>
            </a:extLst>
          </p:cNvPr>
          <p:cNvSpPr>
            <a:spLocks xmlns:a="http://schemas.openxmlformats.org/drawingml/2006/main" noGrp="1"/>
          </p:cNvSpPr>
          <p:nvPr/>
        </p:nvSpPr>
        <p:spPr>
          <a:xfrm xmlns:a="http://schemas.openxmlformats.org/drawingml/2006/main">
            <a:off x="1238250" y="4048125"/>
            <a:ext cx="3190875" cy="1638300"/>
          </a:xfrm>
          <a:prstGeom xmlns:a="http://schemas.openxmlformats.org/drawingml/2006/main" prst="roundRect">
            <a:avLst>
              <a:gd name="adj" fmla="val 10465"/>
            </a:avLst>
          </a:prstGeom>
          <a:solidFill xmlns:a="http://schemas.openxmlformats.org/drawingml/2006/main">
            <a:srgbClr val="FFFFFF"/>
          </a:solidFill>
          <a:ln xmlns:a="http://schemas.openxmlformats.org/drawingml/2006/main" w="16193">
            <a:solidFill>
              <a:srgbClr val="8FA4C1"/>
            </a:solidFill>
          </a:ln>
        </p:spPr>
      </p:sp>
      <p:sp>
        <p:nvSpPr>
          <p:cNvPr id="20" name="PDF upload">
            <a:extLst xmlns:a="http://schemas.openxmlformats.org/drawingml/2006/main">
              <a:ext uri="{FF2B5EF4-FFF2-40B4-BE49-F238E27FC236}">
                <a16:creationId xmlns:a16="http://schemas.microsoft.com/office/drawing/2014/main" id="{47C6C2AD-EE34-4132-AD85-E5DE64660E7E}"/>
              </a:ext>
            </a:extLst>
          </p:cNvPr>
          <p:cNvSpPr>
            <a:spLocks xmlns:a="http://schemas.openxmlformats.org/drawingml/2006/main" noGrp="1"/>
          </p:cNvSpPr>
          <p:nvPr/>
        </p:nvSpPr>
        <p:spPr>
          <a:xfrm xmlns:a="http://schemas.openxmlformats.org/drawingml/2006/main">
            <a:off x="1447800" y="4238625"/>
            <a:ext cx="27717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1B40"/>
                </a:solidFill>
                <a:latin typeface="Montserrat Bold"/>
                <a:ea typeface="Montserrat Bold"/>
                <a:cs typeface="Montserrat Bold"/>
              </a:defRPr>
            </a:defPPr>
          </a:lstStyle>
          <a:p xmlns:a="http://schemas.openxmlformats.org/drawingml/2006/main">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PDF upload</a:t>
            </a:r>
          </a:p>
        </p:txBody>
      </p:sp>
      <p:sp>
        <p:nvSpPr>
          <p:cNvPr id="21" name="Store the original&#10;PDF locally">
            <a:extLst xmlns:a="http://schemas.openxmlformats.org/drawingml/2006/main">
              <a:ext uri="{FF2B5EF4-FFF2-40B4-BE49-F238E27FC236}">
                <a16:creationId xmlns:a16="http://schemas.microsoft.com/office/drawing/2014/main" id="{C50590FB-D5C9-4745-9161-E65A5667E80A}"/>
              </a:ext>
            </a:extLst>
          </p:cNvPr>
          <p:cNvSpPr>
            <a:spLocks xmlns:a="http://schemas.openxmlformats.org/drawingml/2006/main" noGrp="1"/>
          </p:cNvSpPr>
          <p:nvPr/>
        </p:nvSpPr>
        <p:spPr>
          <a:xfrm xmlns:a="http://schemas.openxmlformats.org/drawingml/2006/main">
            <a:off x="1447800" y="4781550"/>
            <a:ext cx="27717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Store the original</a:t>
            </a:r>
          </a:p>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PDF locally</a:t>
            </a:r>
          </a:p>
        </p:txBody>
      </p:sp>
      <p:sp>
        <p:nvSpPr>
          <p:cNvPr id="22" name="">
            <a:extLst xmlns:a="http://schemas.openxmlformats.org/drawingml/2006/main">
              <a:ext uri="{FF2B5EF4-FFF2-40B4-BE49-F238E27FC236}">
                <a16:creationId xmlns:a16="http://schemas.microsoft.com/office/drawing/2014/main" id="{60570F90-AC3F-48F2-8271-275068C92EFE}"/>
              </a:ext>
            </a:extLst>
          </p:cNvPr>
          <p:cNvSpPr>
            <a:spLocks xmlns:a="http://schemas.openxmlformats.org/drawingml/2006/main" noGrp="1"/>
          </p:cNvSpPr>
          <p:nvPr/>
        </p:nvSpPr>
        <p:spPr>
          <a:xfrm xmlns:a="http://schemas.openxmlformats.org/drawingml/2006/main">
            <a:off x="5095875" y="4048125"/>
            <a:ext cx="3714750" cy="1638300"/>
          </a:xfrm>
          <a:prstGeom xmlns:a="http://schemas.openxmlformats.org/drawingml/2006/main" prst="roundRect">
            <a:avLst>
              <a:gd name="adj" fmla="val 10465"/>
            </a:avLst>
          </a:prstGeom>
          <a:solidFill xmlns:a="http://schemas.openxmlformats.org/drawingml/2006/main">
            <a:srgbClr val="FFFFFF"/>
          </a:solidFill>
          <a:ln xmlns:a="http://schemas.openxmlformats.org/drawingml/2006/main" w="16193">
            <a:solidFill>
              <a:srgbClr val="8FA4C1"/>
            </a:solidFill>
          </a:ln>
        </p:spPr>
      </p:sp>
      <p:sp>
        <p:nvSpPr>
          <p:cNvPr id="23" name="Text extraction">
            <a:extLst xmlns:a="http://schemas.openxmlformats.org/drawingml/2006/main">
              <a:ext uri="{FF2B5EF4-FFF2-40B4-BE49-F238E27FC236}">
                <a16:creationId xmlns:a16="http://schemas.microsoft.com/office/drawing/2014/main" id="{96C796F2-8938-40CA-A8D2-C372E03EA908}"/>
              </a:ext>
            </a:extLst>
          </p:cNvPr>
          <p:cNvSpPr>
            <a:spLocks xmlns:a="http://schemas.openxmlformats.org/drawingml/2006/main" noGrp="1"/>
          </p:cNvSpPr>
          <p:nvPr/>
        </p:nvSpPr>
        <p:spPr>
          <a:xfrm xmlns:a="http://schemas.openxmlformats.org/drawingml/2006/main">
            <a:off x="5305425" y="4238625"/>
            <a:ext cx="3295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1B40"/>
                </a:solidFill>
                <a:latin typeface="Montserrat Bold"/>
                <a:ea typeface="Montserrat Bold"/>
                <a:cs typeface="Montserrat Bold"/>
              </a:defRPr>
            </a:defPPr>
          </a:lstStyle>
          <a:p xmlns:a="http://schemas.openxmlformats.org/drawingml/2006/main">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Text extraction</a:t>
            </a:r>
          </a:p>
        </p:txBody>
      </p:sp>
      <p:sp>
        <p:nvSpPr>
          <p:cNvPr id="24" name="PyMuPDF / pdfplumber&#10;Optional OCR or MinerU">
            <a:extLst xmlns:a="http://schemas.openxmlformats.org/drawingml/2006/main">
              <a:ext uri="{FF2B5EF4-FFF2-40B4-BE49-F238E27FC236}">
                <a16:creationId xmlns:a16="http://schemas.microsoft.com/office/drawing/2014/main" id="{D11AB6D3-BB69-4A74-802B-95D8A9AB771A}"/>
              </a:ext>
            </a:extLst>
          </p:cNvPr>
          <p:cNvSpPr>
            <a:spLocks xmlns:a="http://schemas.openxmlformats.org/drawingml/2006/main" noGrp="1"/>
          </p:cNvSpPr>
          <p:nvPr/>
        </p:nvSpPr>
        <p:spPr>
          <a:xfrm xmlns:a="http://schemas.openxmlformats.org/drawingml/2006/main">
            <a:off x="5305425" y="4781550"/>
            <a:ext cx="3295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PyMuPDF / pdfplumber</a:t>
            </a:r>
          </a:p>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Optional OCR or MinerU</a:t>
            </a:r>
          </a:p>
        </p:txBody>
      </p:sp>
      <p:sp>
        <p:nvSpPr>
          <p:cNvPr id="25" name="">
            <a:extLst xmlns:a="http://schemas.openxmlformats.org/drawingml/2006/main">
              <a:ext uri="{FF2B5EF4-FFF2-40B4-BE49-F238E27FC236}">
                <a16:creationId xmlns:a16="http://schemas.microsoft.com/office/drawing/2014/main" id="{E7DCB10A-DC51-4FD6-BFAB-CB58B302FD2D}"/>
              </a:ext>
            </a:extLst>
          </p:cNvPr>
          <p:cNvSpPr>
            <a:spLocks xmlns:a="http://schemas.openxmlformats.org/drawingml/2006/main" noGrp="1"/>
          </p:cNvSpPr>
          <p:nvPr/>
        </p:nvSpPr>
        <p:spPr>
          <a:xfrm xmlns:a="http://schemas.openxmlformats.org/drawingml/2006/main">
            <a:off x="9477375" y="4048125"/>
            <a:ext cx="3810000" cy="1638300"/>
          </a:xfrm>
          <a:prstGeom xmlns:a="http://schemas.openxmlformats.org/drawingml/2006/main" prst="roundRect">
            <a:avLst>
              <a:gd name="adj" fmla="val 10465"/>
            </a:avLst>
          </a:prstGeom>
          <a:solidFill xmlns:a="http://schemas.openxmlformats.org/drawingml/2006/main">
            <a:srgbClr val="FFFFFF"/>
          </a:solidFill>
          <a:ln xmlns:a="http://schemas.openxmlformats.org/drawingml/2006/main" w="16193">
            <a:solidFill>
              <a:srgbClr val="8FA4C1"/>
            </a:solidFill>
          </a:ln>
        </p:spPr>
      </p:sp>
      <p:sp>
        <p:nvSpPr>
          <p:cNvPr id="26" name="Text preparation">
            <a:extLst xmlns:a="http://schemas.openxmlformats.org/drawingml/2006/main">
              <a:ext uri="{FF2B5EF4-FFF2-40B4-BE49-F238E27FC236}">
                <a16:creationId xmlns:a16="http://schemas.microsoft.com/office/drawing/2014/main" id="{4ABB57AF-8899-404F-9A93-F3E80C839CDD}"/>
              </a:ext>
            </a:extLst>
          </p:cNvPr>
          <p:cNvSpPr>
            <a:spLocks xmlns:a="http://schemas.openxmlformats.org/drawingml/2006/main" noGrp="1"/>
          </p:cNvSpPr>
          <p:nvPr/>
        </p:nvSpPr>
        <p:spPr>
          <a:xfrm xmlns:a="http://schemas.openxmlformats.org/drawingml/2006/main">
            <a:off x="9686925" y="4238625"/>
            <a:ext cx="3390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1B40"/>
                </a:solidFill>
                <a:latin typeface="Montserrat Bold"/>
                <a:ea typeface="Montserrat Bold"/>
                <a:cs typeface="Montserrat Bold"/>
              </a:defRPr>
            </a:defPPr>
          </a:lstStyle>
          <a:p xmlns:a="http://schemas.openxmlformats.org/drawingml/2006/main">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Text preparation</a:t>
            </a:r>
          </a:p>
        </p:txBody>
      </p:sp>
      <p:sp>
        <p:nvSpPr>
          <p:cNvPr id="27" name="Clean text, extract&#10;metadata and keywords">
            <a:extLst xmlns:a="http://schemas.openxmlformats.org/drawingml/2006/main">
              <a:ext uri="{FF2B5EF4-FFF2-40B4-BE49-F238E27FC236}">
                <a16:creationId xmlns:a16="http://schemas.microsoft.com/office/drawing/2014/main" id="{4353B28D-FF72-4EB8-887D-A1D8A49D63C8}"/>
              </a:ext>
            </a:extLst>
          </p:cNvPr>
          <p:cNvSpPr>
            <a:spLocks xmlns:a="http://schemas.openxmlformats.org/drawingml/2006/main" noGrp="1"/>
          </p:cNvSpPr>
          <p:nvPr/>
        </p:nvSpPr>
        <p:spPr>
          <a:xfrm xmlns:a="http://schemas.openxmlformats.org/drawingml/2006/main">
            <a:off x="9686925" y="4781550"/>
            <a:ext cx="33909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Clean text, extract</a:t>
            </a:r>
          </a:p>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metadata and keywords</a:t>
            </a:r>
          </a:p>
        </p:txBody>
      </p:sp>
      <p:cxnSp>
        <p:nvCxnSpPr>
          <p:cNvPr id="28" name="">
            <a:extLst xmlns:a="http://schemas.openxmlformats.org/drawingml/2006/main">
              <a:ext uri="{FF2B5EF4-FFF2-40B4-BE49-F238E27FC236}">
                <a16:creationId xmlns:a16="http://schemas.microsoft.com/office/drawing/2014/main" id="{B90CA7EF-5731-4AC6-B795-12D944268502}"/>
              </a:ext>
            </a:extLst>
          </p:cNvPr>
          <p:cNvCxnSpPr>
            <a:stCxn xmlns:a="http://schemas.openxmlformats.org/drawingml/2006/main" id="19" idx="3"/>
            <a:endCxn xmlns:a="http://schemas.openxmlformats.org/drawingml/2006/main" id="22" idx="1"/>
          </p:cNvCxnSpPr>
          <p:nvPr/>
        </p:nvCxnSpPr>
        <p:spPr>
          <a:xfrm xmlns:a="http://schemas.openxmlformats.org/drawingml/2006/main">
            <a:off x="4429125" y="4867275"/>
            <a:ext cx="666750" cy="0"/>
          </a:xfrm>
          <a:prstGeom xmlns:a="http://schemas.openxmlformats.org/drawingml/2006/main" prst="straightConnector1">
            <a:avLst/>
          </a:prstGeom>
          <a:ln xmlns:a="http://schemas.openxmlformats.org/drawingml/2006/main" w="28575">
            <a:solidFill>
              <a:srgbClr val="8FA4C1"/>
            </a:solidFill>
            <a:tailEnd type="triangle" w="med" len="med"/>
          </a:ln>
        </p:spPr>
      </p:cxnSp>
      <p:cxnSp>
        <p:nvCxnSpPr>
          <p:cNvPr id="29" name="">
            <a:extLst xmlns:a="http://schemas.openxmlformats.org/drawingml/2006/main">
              <a:ext uri="{FF2B5EF4-FFF2-40B4-BE49-F238E27FC236}">
                <a16:creationId xmlns:a16="http://schemas.microsoft.com/office/drawing/2014/main" id="{4516F6F2-1AAC-46E6-BE1D-AAEBC8D1C8DC}"/>
              </a:ext>
            </a:extLst>
          </p:cNvPr>
          <p:cNvCxnSpPr>
            <a:stCxn xmlns:a="http://schemas.openxmlformats.org/drawingml/2006/main" id="22" idx="3"/>
            <a:endCxn xmlns:a="http://schemas.openxmlformats.org/drawingml/2006/main" id="25" idx="1"/>
          </p:cNvCxnSpPr>
          <p:nvPr/>
        </p:nvCxnSpPr>
        <p:spPr>
          <a:xfrm xmlns:a="http://schemas.openxmlformats.org/drawingml/2006/main">
            <a:off x="8810625" y="4867275"/>
            <a:ext cx="666750" cy="0"/>
          </a:xfrm>
          <a:prstGeom xmlns:a="http://schemas.openxmlformats.org/drawingml/2006/main" prst="straightConnector1">
            <a:avLst/>
          </a:prstGeom>
          <a:ln xmlns:a="http://schemas.openxmlformats.org/drawingml/2006/main" w="28575">
            <a:solidFill>
              <a:srgbClr val="8FA4C1"/>
            </a:solidFill>
            <a:tailEnd type="triangle" w="med" len="med"/>
          </a:ln>
        </p:spPr>
      </p:cxnSp>
      <p:sp>
        <p:nvSpPr>
          <p:cNvPr id="30" name="">
            <a:extLst xmlns:a="http://schemas.openxmlformats.org/drawingml/2006/main">
              <a:ext uri="{FF2B5EF4-FFF2-40B4-BE49-F238E27FC236}">
                <a16:creationId xmlns:a16="http://schemas.microsoft.com/office/drawing/2014/main" id="{E2D28074-1506-4512-95F6-ECABADB8F990}"/>
              </a:ext>
            </a:extLst>
          </p:cNvPr>
          <p:cNvSpPr>
            <a:spLocks xmlns:a="http://schemas.openxmlformats.org/drawingml/2006/main" noGrp="1"/>
          </p:cNvSpPr>
          <p:nvPr/>
        </p:nvSpPr>
        <p:spPr>
          <a:xfrm xmlns:a="http://schemas.openxmlformats.org/drawingml/2006/main">
            <a:off x="6191250" y="6810375"/>
            <a:ext cx="4143375" cy="1666875"/>
          </a:xfrm>
          <a:prstGeom xmlns:a="http://schemas.openxmlformats.org/drawingml/2006/main" prst="roundRect">
            <a:avLst>
              <a:gd name="adj" fmla="val 10286"/>
            </a:avLst>
          </a:prstGeom>
          <a:solidFill xmlns:a="http://schemas.openxmlformats.org/drawingml/2006/main">
            <a:srgbClr val="FFFFFF"/>
          </a:solidFill>
          <a:ln xmlns:a="http://schemas.openxmlformats.org/drawingml/2006/main" w="16193">
            <a:solidFill>
              <a:srgbClr val="8FA4C1"/>
            </a:solidFill>
          </a:ln>
        </p:spPr>
      </p:sp>
      <p:sp>
        <p:nvSpPr>
          <p:cNvPr id="31" name="Paper representation">
            <a:extLst xmlns:a="http://schemas.openxmlformats.org/drawingml/2006/main">
              <a:ext uri="{FF2B5EF4-FFF2-40B4-BE49-F238E27FC236}">
                <a16:creationId xmlns:a16="http://schemas.microsoft.com/office/drawing/2014/main" id="{004A6E6A-E3E8-47BF-A2D7-C9ED00EA29CE}"/>
              </a:ext>
            </a:extLst>
          </p:cNvPr>
          <p:cNvSpPr>
            <a:spLocks xmlns:a="http://schemas.openxmlformats.org/drawingml/2006/main" noGrp="1"/>
          </p:cNvSpPr>
          <p:nvPr/>
        </p:nvSpPr>
        <p:spPr>
          <a:xfrm xmlns:a="http://schemas.openxmlformats.org/drawingml/2006/main">
            <a:off x="6400800" y="7000875"/>
            <a:ext cx="37242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1B40"/>
                </a:solidFill>
                <a:latin typeface="Montserrat Bold"/>
                <a:ea typeface="Montserrat Bold"/>
                <a:cs typeface="Montserrat Bold"/>
              </a:defRPr>
            </a:defPPr>
          </a:lstStyle>
          <a:p xmlns:a="http://schemas.openxmlformats.org/drawingml/2006/main">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Paper representation</a:t>
            </a:r>
          </a:p>
        </p:txBody>
      </p:sp>
      <p:sp>
        <p:nvSpPr>
          <p:cNvPr id="32" name="Abstract + keywords&#10;Normalised embeddings">
            <a:extLst xmlns:a="http://schemas.openxmlformats.org/drawingml/2006/main">
              <a:ext uri="{FF2B5EF4-FFF2-40B4-BE49-F238E27FC236}">
                <a16:creationId xmlns:a16="http://schemas.microsoft.com/office/drawing/2014/main" id="{19C45853-C7E5-453E-A75A-9AC768304271}"/>
              </a:ext>
            </a:extLst>
          </p:cNvPr>
          <p:cNvSpPr>
            <a:spLocks xmlns:a="http://schemas.openxmlformats.org/drawingml/2006/main" noGrp="1"/>
          </p:cNvSpPr>
          <p:nvPr/>
        </p:nvSpPr>
        <p:spPr>
          <a:xfrm xmlns:a="http://schemas.openxmlformats.org/drawingml/2006/main">
            <a:off x="6400800" y="7543800"/>
            <a:ext cx="372427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Abstract + keywords</a:t>
            </a:r>
          </a:p>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Normalised embeddings</a:t>
            </a:r>
          </a:p>
        </p:txBody>
      </p:sp>
      <p:sp>
        <p:nvSpPr>
          <p:cNvPr id="33" name="">
            <a:extLst xmlns:a="http://schemas.openxmlformats.org/drawingml/2006/main">
              <a:ext uri="{FF2B5EF4-FFF2-40B4-BE49-F238E27FC236}">
                <a16:creationId xmlns:a16="http://schemas.microsoft.com/office/drawing/2014/main" id="{B09BA84F-0665-46E6-B919-2B7D9FBF0F55}"/>
              </a:ext>
            </a:extLst>
          </p:cNvPr>
          <p:cNvSpPr>
            <a:spLocks xmlns:a="http://schemas.openxmlformats.org/drawingml/2006/main" noGrp="1"/>
          </p:cNvSpPr>
          <p:nvPr/>
        </p:nvSpPr>
        <p:spPr>
          <a:xfrm xmlns:a="http://schemas.openxmlformats.org/drawingml/2006/main">
            <a:off x="11715750" y="6810375"/>
            <a:ext cx="5095875" cy="1666875"/>
          </a:xfrm>
          <a:prstGeom xmlns:a="http://schemas.openxmlformats.org/drawingml/2006/main" prst="roundRect">
            <a:avLst>
              <a:gd name="adj" fmla="val 10286"/>
            </a:avLst>
          </a:prstGeom>
          <a:solidFill xmlns:a="http://schemas.openxmlformats.org/drawingml/2006/main">
            <a:srgbClr val="FFFFFF"/>
          </a:solidFill>
          <a:ln xmlns:a="http://schemas.openxmlformats.org/drawingml/2006/main" w="16193">
            <a:solidFill>
              <a:srgbClr val="8FA4C1"/>
            </a:solidFill>
          </a:ln>
        </p:spPr>
      </p:sp>
      <p:sp>
        <p:nvSpPr>
          <p:cNvPr id="34" name="Passage representation">
            <a:extLst xmlns:a="http://schemas.openxmlformats.org/drawingml/2006/main">
              <a:ext uri="{FF2B5EF4-FFF2-40B4-BE49-F238E27FC236}">
                <a16:creationId xmlns:a16="http://schemas.microsoft.com/office/drawing/2014/main" id="{89D4B956-8566-433F-AABD-EA60A2E3C4EB}"/>
              </a:ext>
            </a:extLst>
          </p:cNvPr>
          <p:cNvSpPr>
            <a:spLocks xmlns:a="http://schemas.openxmlformats.org/drawingml/2006/main" noGrp="1"/>
          </p:cNvSpPr>
          <p:nvPr/>
        </p:nvSpPr>
        <p:spPr>
          <a:xfrm xmlns:a="http://schemas.openxmlformats.org/drawingml/2006/main">
            <a:off x="11925300" y="7000875"/>
            <a:ext cx="46767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1B40"/>
                </a:solidFill>
                <a:latin typeface="Montserrat Bold"/>
                <a:ea typeface="Montserrat Bold"/>
                <a:cs typeface="Montserrat Bold"/>
              </a:defRPr>
            </a:defPPr>
          </a:lstStyle>
          <a:p xmlns:a="http://schemas.openxmlformats.org/drawingml/2006/main">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Passage representation</a:t>
            </a:r>
          </a:p>
        </p:txBody>
      </p:sp>
      <p:sp>
        <p:nvSpPr>
          <p:cNvPr id="35" name="Overlapping text chunks&#10;Normalised embeddings">
            <a:extLst xmlns:a="http://schemas.openxmlformats.org/drawingml/2006/main">
              <a:ext uri="{FF2B5EF4-FFF2-40B4-BE49-F238E27FC236}">
                <a16:creationId xmlns:a16="http://schemas.microsoft.com/office/drawing/2014/main" id="{B943CA43-3A0D-4A4A-AD5F-40B10D6C13BE}"/>
              </a:ext>
            </a:extLst>
          </p:cNvPr>
          <p:cNvSpPr>
            <a:spLocks xmlns:a="http://schemas.openxmlformats.org/drawingml/2006/main" noGrp="1"/>
          </p:cNvSpPr>
          <p:nvPr/>
        </p:nvSpPr>
        <p:spPr>
          <a:xfrm xmlns:a="http://schemas.openxmlformats.org/drawingml/2006/main">
            <a:off x="11925300" y="7543800"/>
            <a:ext cx="467677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Overlapping text chunks</a:t>
            </a:r>
          </a:p>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Normalised embeddings</a:t>
            </a:r>
          </a:p>
        </p:txBody>
      </p:sp>
      <p:cxnSp>
        <p:nvCxnSpPr>
          <p:cNvPr id="36" name="">
            <a:extLst xmlns:a="http://schemas.openxmlformats.org/drawingml/2006/main">
              <a:ext uri="{FF2B5EF4-FFF2-40B4-BE49-F238E27FC236}">
                <a16:creationId xmlns:a16="http://schemas.microsoft.com/office/drawing/2014/main" id="{3285C873-C2F8-475F-88CE-7475E0BEA5A0}"/>
              </a:ext>
            </a:extLst>
          </p:cNvPr>
          <p:cNvCxnSpPr>
            <a:stCxn xmlns:a="http://schemas.openxmlformats.org/drawingml/2006/main" id="25" idx="2"/>
            <a:endCxn xmlns:a="http://schemas.openxmlformats.org/drawingml/2006/main" id="30" idx="0"/>
          </p:cNvCxnSpPr>
          <p:nvPr/>
        </p:nvCxnSpPr>
        <p:spPr>
          <a:xfrm xmlns:a="http://schemas.openxmlformats.org/drawingml/2006/main" flipH="1">
            <a:off x="8262938" y="5686425"/>
            <a:ext cx="3119438" cy="1123950"/>
          </a:xfrm>
          <a:prstGeom xmlns:a="http://schemas.openxmlformats.org/drawingml/2006/main" prst="straightConnector1">
            <a:avLst/>
          </a:prstGeom>
          <a:ln xmlns:a="http://schemas.openxmlformats.org/drawingml/2006/main" w="28575">
            <a:solidFill>
              <a:srgbClr val="8FA4C1"/>
            </a:solidFill>
            <a:tailEnd type="triangle" w="med" len="med"/>
          </a:ln>
        </p:spPr>
      </p:cxnSp>
      <p:cxnSp>
        <p:nvCxnSpPr>
          <p:cNvPr id="37" name="">
            <a:extLst xmlns:a="http://schemas.openxmlformats.org/drawingml/2006/main">
              <a:ext uri="{FF2B5EF4-FFF2-40B4-BE49-F238E27FC236}">
                <a16:creationId xmlns:a16="http://schemas.microsoft.com/office/drawing/2014/main" id="{0CD2B5B7-A552-4B6A-BC56-118C2708DC3B}"/>
              </a:ext>
            </a:extLst>
          </p:cNvPr>
          <p:cNvCxnSpPr>
            <a:stCxn xmlns:a="http://schemas.openxmlformats.org/drawingml/2006/main" id="25" idx="2"/>
            <a:endCxn xmlns:a="http://schemas.openxmlformats.org/drawingml/2006/main" id="33" idx="0"/>
          </p:cNvCxnSpPr>
          <p:nvPr/>
        </p:nvCxnSpPr>
        <p:spPr>
          <a:xfrm xmlns:a="http://schemas.openxmlformats.org/drawingml/2006/main">
            <a:off x="11382375" y="5686425"/>
            <a:ext cx="2881313" cy="1123950"/>
          </a:xfrm>
          <a:prstGeom xmlns:a="http://schemas.openxmlformats.org/drawingml/2006/main" prst="straightConnector1">
            <a:avLst/>
          </a:prstGeom>
          <a:ln xmlns:a="http://schemas.openxmlformats.org/drawingml/2006/main" w="28575">
            <a:solidFill>
              <a:srgbClr val="8FA4C1"/>
            </a:solidFill>
            <a:tailEnd type="triangle" w="med" len="med"/>
          </a:ln>
        </p:spPr>
      </p:cxnSp>
      <p:sp>
        <p:nvSpPr>
          <p:cNvPr id="38" name="Local vector storage">
            <a:extLst xmlns:a="http://schemas.openxmlformats.org/drawingml/2006/main">
              <a:ext uri="{FF2B5EF4-FFF2-40B4-BE49-F238E27FC236}">
                <a16:creationId xmlns:a16="http://schemas.microsoft.com/office/drawing/2014/main" id="{0D32808F-2D07-421F-9018-EA5C50053014}"/>
              </a:ext>
            </a:extLst>
          </p:cNvPr>
          <p:cNvSpPr>
            <a:spLocks xmlns:a="http://schemas.openxmlformats.org/drawingml/2006/main" noGrp="1"/>
          </p:cNvSpPr>
          <p:nvPr/>
        </p:nvSpPr>
        <p:spPr>
          <a:xfrm xmlns:a="http://schemas.openxmlformats.org/drawingml/2006/main">
            <a:off x="1285875" y="7134225"/>
            <a:ext cx="4238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01B40"/>
                </a:solidFill>
                <a:latin typeface="Montserrat Bold"/>
                <a:ea typeface="Montserrat Bold"/>
                <a:cs typeface="Montserrat Bold"/>
              </a:defRPr>
            </a:defPPr>
          </a:lstStyle>
          <a:p xmlns:a="http://schemas.openxmlformats.org/drawingml/2006/main">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Local vector storage</a:t>
            </a:r>
          </a:p>
        </p:txBody>
      </p:sp>
      <p:sp>
        <p:nvSpPr>
          <p:cNvPr id="39" name="Paper vectors support the galaxy.&#10;Chunk vectors support RAG.">
            <a:extLst xmlns:a="http://schemas.openxmlformats.org/drawingml/2006/main">
              <a:ext uri="{FF2B5EF4-FFF2-40B4-BE49-F238E27FC236}">
                <a16:creationId xmlns:a16="http://schemas.microsoft.com/office/drawing/2014/main" id="{0F7DD5B6-0C16-442D-A281-6A85B7E0A47E}"/>
              </a:ext>
            </a:extLst>
          </p:cNvPr>
          <p:cNvSpPr>
            <a:spLocks xmlns:a="http://schemas.openxmlformats.org/drawingml/2006/main" noGrp="1"/>
          </p:cNvSpPr>
          <p:nvPr/>
        </p:nvSpPr>
        <p:spPr>
          <a:xfrm xmlns:a="http://schemas.openxmlformats.org/drawingml/2006/main">
            <a:off x="1285875" y="7829550"/>
            <a:ext cx="42386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36681"/>
                </a:solidFill>
                <a:latin typeface="Montserrat"/>
                <a:ea typeface="Montserrat"/>
                <a:cs typeface="Montserrat"/>
              </a:defRPr>
            </a:defPPr>
          </a:lstStyle>
          <a:p xmlns:a="http://schemas.openxmlformats.org/drawingml/2006/main">
            <a:pPr algn="l">
              <a:buNone/>
              <a:defRPr sz="2100" b="0">
                <a:solidFill>
                  <a:srgbClr val="536681"/>
                </a:solidFill>
                <a:latin typeface="Montserrat"/>
                <a:ea typeface="Montserrat"/>
                <a:cs typeface="Montserrat"/>
              </a:defRPr>
            </a:pPr>
            <a:r>
              <a:rPr sz="2100" b="0">
                <a:solidFill>
                  <a:srgbClr val="536681"/>
                </a:solidFill>
                <a:latin typeface="Montserrat"/>
                <a:ea typeface="Montserrat"/>
                <a:cs typeface="Montserrat"/>
              </a:rPr>
              <a:t>Paper vectors support the galaxy.</a:t>
            </a:r>
          </a:p>
          <a:p xmlns:a="http://schemas.openxmlformats.org/drawingml/2006/main">
            <a:pPr algn="l">
              <a:buNone/>
              <a:defRPr sz="2100" b="0">
                <a:solidFill>
                  <a:srgbClr val="536681"/>
                </a:solidFill>
                <a:latin typeface="Montserrat"/>
                <a:ea typeface="Montserrat"/>
                <a:cs typeface="Montserrat"/>
              </a:defRPr>
            </a:pPr>
            <a:r>
              <a:rPr sz="2100" b="0">
                <a:solidFill>
                  <a:srgbClr val="536681"/>
                </a:solidFill>
                <a:latin typeface="Montserrat"/>
                <a:ea typeface="Montserrat"/>
                <a:cs typeface="Montserrat"/>
              </a:rPr>
              <a:t>Chunk vectors support RAG.</a:t>
            </a:r>
          </a:p>
        </p:txBody>
      </p:sp>
      <p:sp>
        <p:nvSpPr>
          <p:cNvPr id="40" name="Shared embedding model">
            <a:extLst xmlns:a="http://schemas.openxmlformats.org/drawingml/2006/main">
              <a:ext uri="{FF2B5EF4-FFF2-40B4-BE49-F238E27FC236}">
                <a16:creationId xmlns:a16="http://schemas.microsoft.com/office/drawing/2014/main" id="{301ED50E-839B-4181-B568-4C9DADF5B8F6}"/>
              </a:ext>
            </a:extLst>
          </p:cNvPr>
          <p:cNvSpPr>
            <a:spLocks xmlns:a="http://schemas.openxmlformats.org/drawingml/2006/main" noGrp="1"/>
          </p:cNvSpPr>
          <p:nvPr/>
        </p:nvSpPr>
        <p:spPr>
          <a:xfrm xmlns:a="http://schemas.openxmlformats.org/drawingml/2006/main">
            <a:off x="14001750" y="4095750"/>
            <a:ext cx="2905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1B40"/>
                </a:solidFill>
                <a:latin typeface="Montserrat Bold"/>
                <a:ea typeface="Montserrat Bold"/>
                <a:cs typeface="Montserrat Bold"/>
              </a:defRPr>
            </a:defPPr>
          </a:lstStyle>
          <a:p xmlns:a="http://schemas.openxmlformats.org/drawingml/2006/main">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Shared embedding model</a:t>
            </a:r>
          </a:p>
        </p:txBody>
      </p:sp>
      <p:sp>
        <p:nvSpPr>
          <p:cNvPr id="41" name="BGE-M3 by default&#10;Multilingual research text">
            <a:extLst xmlns:a="http://schemas.openxmlformats.org/drawingml/2006/main">
              <a:ext uri="{FF2B5EF4-FFF2-40B4-BE49-F238E27FC236}">
                <a16:creationId xmlns:a16="http://schemas.microsoft.com/office/drawing/2014/main" id="{63D2EF4C-15BA-4E13-897F-7B1AA30EB639}"/>
              </a:ext>
            </a:extLst>
          </p:cNvPr>
          <p:cNvSpPr>
            <a:spLocks xmlns:a="http://schemas.openxmlformats.org/drawingml/2006/main" noGrp="1"/>
          </p:cNvSpPr>
          <p:nvPr/>
        </p:nvSpPr>
        <p:spPr>
          <a:xfrm xmlns:a="http://schemas.openxmlformats.org/drawingml/2006/main">
            <a:off x="14001750" y="5010150"/>
            <a:ext cx="2905125"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81"/>
                </a:solidFill>
                <a:latin typeface="Montserrat"/>
                <a:ea typeface="Montserrat"/>
                <a:cs typeface="Montserrat"/>
              </a:defRPr>
            </a:defPPr>
          </a:lstStyle>
          <a:p xmlns:a="http://schemas.openxmlformats.org/drawingml/2006/main">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BGE-M3 by default</a:t>
            </a:r>
          </a:p>
          <a:p xmlns:a="http://schemas.openxmlformats.org/drawingml/2006/main">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Multilingual research text</a:t>
            </a:r>
          </a:p>
        </p:txBody>
      </p:sp>
      <p:sp>
        <p:nvSpPr>
          <p:cNvPr id="42" name="scholar_papers">
            <a:extLst xmlns:a="http://schemas.openxmlformats.org/drawingml/2006/main">
              <a:ext uri="{FF2B5EF4-FFF2-40B4-BE49-F238E27FC236}">
                <a16:creationId xmlns:a16="http://schemas.microsoft.com/office/drawing/2014/main" id="{36E3602B-CF5E-47D7-8619-29AC26B73C14}"/>
              </a:ext>
            </a:extLst>
          </p:cNvPr>
          <p:cNvSpPr>
            <a:spLocks xmlns:a="http://schemas.openxmlformats.org/drawingml/2006/main" noGrp="1"/>
          </p:cNvSpPr>
          <p:nvPr/>
        </p:nvSpPr>
        <p:spPr>
          <a:xfrm xmlns:a="http://schemas.openxmlformats.org/drawingml/2006/main">
            <a:off x="6191250" y="8782050"/>
            <a:ext cx="4143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36681"/>
                </a:solidFill>
                <a:latin typeface="Montserrat Bold"/>
                <a:ea typeface="Montserrat Bold"/>
                <a:cs typeface="Montserrat Bold"/>
              </a:defRPr>
            </a:defPPr>
          </a:lstStyle>
          <a:p xmlns:a="http://schemas.openxmlformats.org/drawingml/2006/main">
            <a:pPr algn="l">
              <a:buNone/>
              <a:defRPr sz="1800" b="1">
                <a:solidFill>
                  <a:srgbClr val="536681"/>
                </a:solidFill>
                <a:latin typeface="Montserrat Bold"/>
                <a:ea typeface="Montserrat Bold"/>
                <a:cs typeface="Montserrat Bold"/>
              </a:defRPr>
            </a:pPr>
            <a:r>
              <a:rPr sz="1800" b="1">
                <a:solidFill>
                  <a:srgbClr val="536681"/>
                </a:solidFill>
                <a:latin typeface="Montserrat Bold"/>
                <a:ea typeface="Montserrat Bold"/>
                <a:cs typeface="Montserrat Bold"/>
              </a:rPr>
              <a:t>scholar_papers</a:t>
            </a:r>
          </a:p>
        </p:txBody>
      </p:sp>
      <p:sp>
        <p:nvSpPr>
          <p:cNvPr id="43" name="scholar_chunks">
            <a:extLst xmlns:a="http://schemas.openxmlformats.org/drawingml/2006/main">
              <a:ext uri="{FF2B5EF4-FFF2-40B4-BE49-F238E27FC236}">
                <a16:creationId xmlns:a16="http://schemas.microsoft.com/office/drawing/2014/main" id="{AFFEAC3B-31E9-406A-B255-EC5520F36E03}"/>
              </a:ext>
            </a:extLst>
          </p:cNvPr>
          <p:cNvSpPr>
            <a:spLocks xmlns:a="http://schemas.openxmlformats.org/drawingml/2006/main" noGrp="1"/>
          </p:cNvSpPr>
          <p:nvPr/>
        </p:nvSpPr>
        <p:spPr>
          <a:xfrm xmlns:a="http://schemas.openxmlformats.org/drawingml/2006/main">
            <a:off x="11715750" y="878205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36681"/>
                </a:solidFill>
                <a:latin typeface="Montserrat Bold"/>
                <a:ea typeface="Montserrat Bold"/>
                <a:cs typeface="Montserrat Bold"/>
              </a:defRPr>
            </a:defPPr>
          </a:lstStyle>
          <a:p xmlns:a="http://schemas.openxmlformats.org/drawingml/2006/main">
            <a:pPr algn="l">
              <a:buNone/>
              <a:defRPr sz="1800" b="1">
                <a:solidFill>
                  <a:srgbClr val="536681"/>
                </a:solidFill>
                <a:latin typeface="Montserrat Bold"/>
                <a:ea typeface="Montserrat Bold"/>
                <a:cs typeface="Montserrat Bold"/>
              </a:defRPr>
            </a:pPr>
            <a:r>
              <a:rPr sz="1800" b="1">
                <a:solidFill>
                  <a:srgbClr val="536681"/>
                </a:solidFill>
                <a:latin typeface="Montserrat Bold"/>
                <a:ea typeface="Montserrat Bold"/>
                <a:cs typeface="Montserrat Bold"/>
              </a:rPr>
              <a:t>scholar_chunks</a:t>
            </a:r>
          </a:p>
        </p:txBody>
      </p:sp>
    </p:spTree>
    <p:extLst>
      <p:ext uri="{BB962C8B-B14F-4D97-AF65-F5344CB8AC3E}">
        <p14:creationId xmlns:p14="http://schemas.microsoft.com/office/powerpoint/2010/main" val="432878970"/>
      </p:ext>
    </p:extLst>
  </p:cSld>
</p:sld>
</file>

<file path=ppt/slides/slide6.xml><?xml version="1.0" encoding="utf-8"?>
<p:sld xmlns:p="http://schemas.openxmlformats.org/presentationml/2006/main">
  <p:cSld>
    <p:bg>
      <p:bgPr>
        <a:solidFill xmlns:a="http://schemas.openxmlformats.org/drawingml/2006/main">
          <a:srgbClr val="F1F1F1"/>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C920F2C7-7F14-4D60-A417-6274F09C5B61}"/>
              </a:ext>
            </a:extLst>
          </p:cNvPr>
          <p:cNvSpPr>
            <a:spLocks xmlns:a="http://schemas.openxmlformats.org/drawingml/2006/main" noGrp="1"/>
          </p:cNvSpPr>
          <p:nvPr/>
        </p:nvSpPr>
        <p:spPr>
          <a:xfrm xmlns:a="http://schemas.openxmlformats.org/drawingml/2006/main" rot="0" flipH="0" flipV="0">
            <a:off x="350265" y="341540"/>
            <a:ext cx="17587469" cy="9603920"/>
          </a:xfrm>
          <a:custGeom xmlns:a="http://schemas.openxmlformats.org/drawingml/2006/main">
            <a:rect l="l" t="t" r="r" b="b"/>
            <a:pathLst>
              <a:path w="4632091" h="2529427">
                <a:moveTo>
                  <a:pt x="22450" y="0"/>
                </a:moveTo>
                <a:lnTo>
                  <a:pt x="4609641" y="0"/>
                </a:lnTo>
                <a:cubicBezTo>
                  <a:pt x="4615595" y="0"/>
                  <a:pt x="4621305" y="2365"/>
                  <a:pt x="4625515" y="6575"/>
                </a:cubicBezTo>
                <a:cubicBezTo>
                  <a:pt x="4629725" y="10786"/>
                  <a:pt x="4632091" y="16496"/>
                  <a:pt x="4632091" y="22450"/>
                </a:cubicBezTo>
                <a:lnTo>
                  <a:pt x="4632091" y="2506977"/>
                </a:lnTo>
                <a:cubicBezTo>
                  <a:pt x="4632091" y="2519376"/>
                  <a:pt x="4622039" y="2529427"/>
                  <a:pt x="4609641" y="2529427"/>
                </a:cubicBezTo>
                <a:lnTo>
                  <a:pt x="22450" y="2529427"/>
                </a:lnTo>
                <a:cubicBezTo>
                  <a:pt x="10051" y="2529427"/>
                  <a:pt x="0" y="2519376"/>
                  <a:pt x="0" y="2506977"/>
                </a:cubicBezTo>
                <a:lnTo>
                  <a:pt x="0" y="22450"/>
                </a:lnTo>
                <a:cubicBezTo>
                  <a:pt x="0" y="10051"/>
                  <a:pt x="10051" y="0"/>
                  <a:pt x="22450" y="0"/>
                </a:cubicBezTo>
                <a:close/>
              </a:path>
            </a:pathLst>
          </a:custGeom>
          <a:solidFill xmlns:a="http://schemas.openxmlformats.org/drawingml/2006/main">
            <a:srgbClr val="DCE2EB"/>
          </a:solidFill>
        </p:spPr>
      </p:sp>
      <p:sp>
        <p:nvSpPr>
          <p:cNvPr id="6" name="Freeform 6">
            <a:extLst xmlns:a="http://schemas.openxmlformats.org/drawingml/2006/main">
              <a:ext uri="{FF2B5EF4-FFF2-40B4-BE49-F238E27FC236}">
                <a16:creationId xmlns:a16="http://schemas.microsoft.com/office/drawing/2014/main" id="{85EED528-DCB8-4BAD-AACC-47944D2E34DB}"/>
              </a:ext>
            </a:extLst>
          </p:cNvPr>
          <p:cNvSpPr>
            <a:spLocks xmlns:a="http://schemas.openxmlformats.org/drawingml/2006/main" noGrp="1"/>
          </p:cNvSpPr>
          <p:nvPr/>
        </p:nvSpPr>
        <p:spPr>
          <a:xfrm xmlns:a="http://schemas.openxmlformats.org/drawingml/2006/main" rot="0" flipH="0" flipV="0">
            <a:off x="4410075" y="514350"/>
            <a:ext cx="9467850" cy="819150"/>
          </a:xfrm>
          <a:custGeom xmlns:a="http://schemas.openxmlformats.org/drawingml/2006/main">
            <a:rect l="l" t="t" r="r" b="b"/>
            <a:pathLst>
              <a:path w="2494114" h="214543">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xmlns:a="http://schemas.openxmlformats.org/drawingml/2006/main" w="38100" cap="rnd">
            <a:solidFill>
              <a:srgbClr val="101B40"/>
            </a:solidFill>
            <a:prstDash val="solid"/>
            <a:round/>
          </a:ln>
        </p:spPr>
      </p:sp>
      <p:sp>
        <p:nvSpPr>
          <p:cNvPr id="7" name="TextBox 7">
            <a:extLst xmlns:a="http://schemas.openxmlformats.org/drawingml/2006/main">
              <a:ext uri="{FF2B5EF4-FFF2-40B4-BE49-F238E27FC236}">
                <a16:creationId xmlns:a16="http://schemas.microsoft.com/office/drawing/2014/main" id="{E02053D9-6A79-4A94-B3A0-6B831B814550}"/>
              </a:ext>
            </a:extLst>
          </p:cNvPr>
          <p:cNvSpPr>
            <a:spLocks xmlns:a="http://schemas.openxmlformats.org/drawingml/2006/main" noGrp="1"/>
          </p:cNvSpPr>
          <p:nvPr/>
        </p:nvSpPr>
        <p:spPr>
          <a:xfrm xmlns:a="http://schemas.openxmlformats.org/drawingml/2006/main" rot="0" flipH="0" flipV="0">
            <a:off x="4409081" y="617340"/>
            <a:ext cx="9469839" cy="95925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p>
        </p:txBody>
      </p:sp>
      <p:sp>
        <p:nvSpPr>
          <p:cNvPr id="9" name="Freeform 9">
            <a:extLst xmlns:a="http://schemas.openxmlformats.org/drawingml/2006/main">
              <a:ext uri="{FF2B5EF4-FFF2-40B4-BE49-F238E27FC236}">
                <a16:creationId xmlns:a16="http://schemas.microsoft.com/office/drawing/2014/main" id="{3A4DB3B2-6561-42C9-B572-B0BB7C421802}"/>
              </a:ext>
            </a:extLst>
          </p:cNvPr>
          <p:cNvSpPr>
            <a:spLocks xmlns:a="http://schemas.openxmlformats.org/drawingml/2006/main" noGrp="1"/>
          </p:cNvSpPr>
          <p:nvPr/>
        </p:nvSpPr>
        <p:spPr>
          <a:xfrm xmlns:a="http://schemas.openxmlformats.org/drawingml/2006/main" rot="0" flipH="0" flipV="0">
            <a:off x="9458325" y="628650"/>
            <a:ext cx="1666875" cy="590550"/>
          </a:xfrm>
          <a:custGeom xmlns:a="http://schemas.openxmlformats.org/drawingml/2006/main">
            <a:rect l="l" t="t" r="r" b="b"/>
            <a:pathLst>
              <a:path w="438737" h="155110">
                <a:moveTo>
                  <a:pt x="77555" y="0"/>
                </a:moveTo>
                <a:lnTo>
                  <a:pt x="361182" y="0"/>
                </a:lnTo>
                <a:cubicBezTo>
                  <a:pt x="404015" y="0"/>
                  <a:pt x="438737" y="34722"/>
                  <a:pt x="438737" y="77555"/>
                </a:cubicBezTo>
                <a:lnTo>
                  <a:pt x="438737" y="77555"/>
                </a:lnTo>
                <a:cubicBezTo>
                  <a:pt x="438737" y="120387"/>
                  <a:pt x="404015" y="155110"/>
                  <a:pt x="361182" y="155110"/>
                </a:cubicBezTo>
                <a:lnTo>
                  <a:pt x="77555" y="155110"/>
                </a:lnTo>
                <a:cubicBezTo>
                  <a:pt x="34722" y="155110"/>
                  <a:pt x="0" y="120387"/>
                  <a:pt x="0" y="77555"/>
                </a:cubicBezTo>
                <a:lnTo>
                  <a:pt x="0" y="77555"/>
                </a:lnTo>
                <a:cubicBezTo>
                  <a:pt x="0" y="34722"/>
                  <a:pt x="34722" y="0"/>
                  <a:pt x="77555" y="0"/>
                </a:cubicBezTo>
                <a:close/>
              </a:path>
            </a:pathLst>
          </a:custGeom>
          <a:solidFill xmlns:a="http://schemas.openxmlformats.org/drawingml/2006/main">
            <a:srgbClr val="101B40"/>
          </a:solidFill>
          <a:ln xmlns:a="http://schemas.openxmlformats.org/drawingml/2006/main" cap="rnd">
            <a:noFill/>
            <a:prstDash val="solid"/>
            <a:round/>
          </a:ln>
        </p:spPr>
      </p:sp>
      <p:sp>
        <p:nvSpPr>
          <p:cNvPr id="10" name="TextBox 10">
            <a:extLst xmlns:a="http://schemas.openxmlformats.org/drawingml/2006/main">
              <a:ext uri="{FF2B5EF4-FFF2-40B4-BE49-F238E27FC236}">
                <a16:creationId xmlns:a16="http://schemas.microsoft.com/office/drawing/2014/main" id="{1E533097-F34B-4477-96E4-06B881A7FEF9}"/>
              </a:ext>
            </a:extLst>
          </p:cNvPr>
          <p:cNvSpPr>
            <a:spLocks xmlns:a="http://schemas.openxmlformats.org/drawingml/2006/main" noGrp="1"/>
          </p:cNvSpPr>
          <p:nvPr/>
        </p:nvSpPr>
        <p:spPr>
          <a:xfrm xmlns:a="http://schemas.openxmlformats.org/drawingml/2006/main" rot="0" flipH="0" flipV="0">
            <a:off x="9460786" y="730170"/>
            <a:ext cx="1665830" cy="73359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p>
        </p:txBody>
      </p:sp>
      <p:sp>
        <p:nvSpPr>
          <p:cNvPr id="50" name="TextBox 50">
            <a:extLst xmlns:a="http://schemas.openxmlformats.org/drawingml/2006/main">
              <a:ext uri="{FF2B5EF4-FFF2-40B4-BE49-F238E27FC236}">
                <a16:creationId xmlns:a16="http://schemas.microsoft.com/office/drawing/2014/main" id="{895BCC7A-6881-483E-932F-B61A2679877F}"/>
              </a:ext>
            </a:extLst>
          </p:cNvPr>
          <p:cNvSpPr>
            <a:spLocks xmlns:a="http://schemas.openxmlformats.org/drawingml/2006/main" noGrp="1"/>
          </p:cNvSpPr>
          <p:nvPr/>
        </p:nvSpPr>
        <p:spPr>
          <a:xfrm xmlns:a="http://schemas.openxmlformats.org/drawingml/2006/main" rot="0">
            <a:off x="4438650" y="733425"/>
            <a:ext cx="16668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VISION</a:t>
            </a:r>
          </a:p>
        </p:txBody>
      </p:sp>
      <p:sp>
        <p:nvSpPr>
          <p:cNvPr id="51" name="TextBox 51">
            <a:extLst xmlns:a="http://schemas.openxmlformats.org/drawingml/2006/main">
              <a:ext uri="{FF2B5EF4-FFF2-40B4-BE49-F238E27FC236}">
                <a16:creationId xmlns:a16="http://schemas.microsoft.com/office/drawing/2014/main" id="{B4F69C6D-2F5E-4E66-BF00-E7FD361766F4}"/>
              </a:ext>
            </a:extLst>
          </p:cNvPr>
          <p:cNvSpPr>
            <a:spLocks xmlns:a="http://schemas.openxmlformats.org/drawingml/2006/main" noGrp="1"/>
          </p:cNvSpPr>
          <p:nvPr/>
        </p:nvSpPr>
        <p:spPr>
          <a:xfrm xmlns:a="http://schemas.openxmlformats.org/drawingml/2006/main" rot="0">
            <a:off x="6829425" y="733425"/>
            <a:ext cx="190500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DESIGN</a:t>
            </a:r>
          </a:p>
        </p:txBody>
      </p:sp>
      <p:sp>
        <p:nvSpPr>
          <p:cNvPr id="52" name="TextBox 52">
            <a:extLst xmlns:a="http://schemas.openxmlformats.org/drawingml/2006/main">
              <a:ext uri="{FF2B5EF4-FFF2-40B4-BE49-F238E27FC236}">
                <a16:creationId xmlns:a16="http://schemas.microsoft.com/office/drawing/2014/main" id="{ED64CD2A-0B13-4227-A754-AC91C1920263}"/>
              </a:ext>
            </a:extLst>
          </p:cNvPr>
          <p:cNvSpPr>
            <a:spLocks xmlns:a="http://schemas.openxmlformats.org/drawingml/2006/main" noGrp="1"/>
          </p:cNvSpPr>
          <p:nvPr/>
        </p:nvSpPr>
        <p:spPr>
          <a:xfrm xmlns:a="http://schemas.openxmlformats.org/drawingml/2006/main" rot="0">
            <a:off x="9496425" y="733425"/>
            <a:ext cx="15906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1">
                <a:solidFill>
                  <a:srgbClr val="FFFFFF"/>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1">
                <a:solidFill>
                  <a:srgbClr val="FFFFFF"/>
                </a:solidFill>
                <a:latin typeface="Montserrat"/>
                <a:ea typeface="Montserrat"/>
                <a:cs typeface="Montserrat"/>
              </a:defRPr>
            </a:pPr>
            <a:r>
              <a:rPr sz="1800" b="1" spc="3">
                <a:solidFill>
                  <a:srgbClr val="FFFFFF"/>
                </a:solidFill>
                <a:latin typeface="Montserrat"/>
                <a:ea typeface="Montserrat"/>
                <a:cs typeface="Montserrat"/>
              </a:rPr>
              <a:t>SYSTEM</a:t>
            </a:r>
          </a:p>
        </p:txBody>
      </p:sp>
      <p:sp>
        <p:nvSpPr>
          <p:cNvPr id="53" name="TextBox 53">
            <a:extLst xmlns:a="http://schemas.openxmlformats.org/drawingml/2006/main">
              <a:ext uri="{FF2B5EF4-FFF2-40B4-BE49-F238E27FC236}">
                <a16:creationId xmlns:a16="http://schemas.microsoft.com/office/drawing/2014/main" id="{6AC844EA-1E85-4885-B17D-075CE187DCAD}"/>
              </a:ext>
            </a:extLst>
          </p:cNvPr>
          <p:cNvSpPr>
            <a:spLocks xmlns:a="http://schemas.openxmlformats.org/drawingml/2006/main" noGrp="1"/>
          </p:cNvSpPr>
          <p:nvPr/>
        </p:nvSpPr>
        <p:spPr>
          <a:xfrm xmlns:a="http://schemas.openxmlformats.org/drawingml/2006/main" rot="0">
            <a:off x="11591925" y="733425"/>
            <a:ext cx="222885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REVIEW</a:t>
            </a:r>
          </a:p>
        </p:txBody>
      </p:sp>
      <p:sp>
        <p:nvSpPr>
          <p:cNvPr id="54" name="TextBox 54">
            <a:extLst xmlns:a="http://schemas.openxmlformats.org/drawingml/2006/main">
              <a:ext uri="{FF2B5EF4-FFF2-40B4-BE49-F238E27FC236}">
                <a16:creationId xmlns:a16="http://schemas.microsoft.com/office/drawing/2014/main" id="{06C9C5BE-06CD-4F89-8344-682E121917E0}"/>
              </a:ext>
            </a:extLst>
          </p:cNvPr>
          <p:cNvSpPr>
            <a:spLocks xmlns:a="http://schemas.openxmlformats.org/drawingml/2006/main" noGrp="1"/>
          </p:cNvSpPr>
          <p:nvPr/>
        </p:nvSpPr>
        <p:spPr>
          <a:xfrm xmlns:a="http://schemas.openxmlformats.org/drawingml/2006/main" rot="0">
            <a:off x="800100" y="628650"/>
            <a:ext cx="2381250" cy="56769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defRPr sz="1800" b="1">
                <a:solidFill>
                  <a:srgbClr val="101B40"/>
                </a:solidFill>
                <a:latin typeface="Montserrat"/>
                <a:ea typeface="Montserrat"/>
                <a:cs typeface="Montserrat"/>
              </a:defRPr>
            </a:defPPr>
          </a:lstStyle>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PDF</a:t>
            </a:r>
          </a:p>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GALAXAI</a:t>
            </a:r>
          </a:p>
        </p:txBody>
      </p:sp>
      <p:sp>
        <p:nvSpPr>
          <p:cNvPr id="55" name="06">
            <a:extLst xmlns:a="http://schemas.openxmlformats.org/drawingml/2006/main">
              <a:ext uri="{FF2B5EF4-FFF2-40B4-BE49-F238E27FC236}">
                <a16:creationId xmlns:a16="http://schemas.microsoft.com/office/drawing/2014/main" id="{F4E53DA8-7E67-47A6-825F-5B260499B5AB}"/>
              </a:ext>
            </a:extLst>
          </p:cNvPr>
          <p:cNvSpPr>
            <a:spLocks xmlns:a="http://schemas.openxmlformats.org/drawingml/2006/main" noGrp="1"/>
          </p:cNvSpPr>
          <p:nvPr/>
        </p:nvSpPr>
        <p:spPr>
          <a:xfrm xmlns:a="http://schemas.openxmlformats.org/drawingml/2006/main">
            <a:off x="16735425" y="73342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1">
                <a:solidFill>
                  <a:srgbClr val="101B40"/>
                </a:solidFill>
                <a:latin typeface="Montserrat Bold"/>
                <a:ea typeface="Montserrat Bold"/>
                <a:cs typeface="Montserrat Bold"/>
              </a:defRPr>
            </a:defPPr>
          </a:lstStyle>
          <a:p xmlns:a="http://schemas.openxmlformats.org/drawingml/2006/main">
            <a:pPr algn="r">
              <a:buNone/>
              <a:defRPr sz="1875" b="1">
                <a:solidFill>
                  <a:srgbClr val="101B40"/>
                </a:solidFill>
                <a:latin typeface="Montserrat Bold"/>
                <a:ea typeface="Montserrat Bold"/>
                <a:cs typeface="Montserrat Bold"/>
              </a:defRPr>
            </a:pPr>
            <a:r>
              <a:rPr sz="1875" b="1">
                <a:solidFill>
                  <a:srgbClr val="101B40"/>
                </a:solidFill>
                <a:latin typeface="Montserrat Bold"/>
                <a:ea typeface="Montserrat Bold"/>
                <a:cs typeface="Montserrat Bold"/>
              </a:rPr>
              <a:t>06</a:t>
            </a:r>
          </a:p>
        </p:txBody>
      </p:sp>
      <p:sp>
        <p:nvSpPr>
          <p:cNvPr id="56" name="PDF-GalaxAI">
            <a:extLst xmlns:a="http://schemas.openxmlformats.org/drawingml/2006/main">
              <a:ext uri="{FF2B5EF4-FFF2-40B4-BE49-F238E27FC236}">
                <a16:creationId xmlns:a16="http://schemas.microsoft.com/office/drawing/2014/main" id="{A3A53FC7-28E6-4F5A-9190-CA8854917045}"/>
              </a:ext>
            </a:extLst>
          </p:cNvPr>
          <p:cNvSpPr>
            <a:spLocks xmlns:a="http://schemas.openxmlformats.org/drawingml/2006/main" noGrp="1"/>
          </p:cNvSpPr>
          <p:nvPr/>
        </p:nvSpPr>
        <p:spPr>
          <a:xfrm xmlns:a="http://schemas.openxmlformats.org/drawingml/2006/main">
            <a:off x="1238250" y="96202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681"/>
                </a:solidFill>
                <a:latin typeface="Montserrat"/>
                <a:ea typeface="Montserrat"/>
                <a:cs typeface="Montserrat"/>
              </a:defRPr>
            </a:defPPr>
          </a:lstStyle>
          <a:p xmlns:a="http://schemas.openxmlformats.org/drawingml/2006/main">
            <a:pPr algn="l">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PDF-GalaxAI</a:t>
            </a:r>
          </a:p>
        </p:txBody>
      </p:sp>
      <p:sp>
        <p:nvSpPr>
          <p:cNvPr id="57" name="06 / 12">
            <a:extLst xmlns:a="http://schemas.openxmlformats.org/drawingml/2006/main">
              <a:ext uri="{FF2B5EF4-FFF2-40B4-BE49-F238E27FC236}">
                <a16:creationId xmlns:a16="http://schemas.microsoft.com/office/drawing/2014/main" id="{8FC43387-89F8-43FA-855A-2E1C59BF306A}"/>
              </a:ext>
            </a:extLst>
          </p:cNvPr>
          <p:cNvSpPr>
            <a:spLocks xmlns:a="http://schemas.openxmlformats.org/drawingml/2006/main" noGrp="1"/>
          </p:cNvSpPr>
          <p:nvPr/>
        </p:nvSpPr>
        <p:spPr>
          <a:xfrm xmlns:a="http://schemas.openxmlformats.org/drawingml/2006/main">
            <a:off x="15430500" y="9620250"/>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536681"/>
                </a:solidFill>
                <a:latin typeface="Montserrat"/>
                <a:ea typeface="Montserrat"/>
                <a:cs typeface="Montserrat"/>
              </a:defRPr>
            </a:defPPr>
          </a:lstStyle>
          <a:p xmlns:a="http://schemas.openxmlformats.org/drawingml/2006/main">
            <a:pPr algn="r">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06 / 12</a:t>
            </a:r>
          </a:p>
        </p:txBody>
      </p:sp>
      <p:sp>
        <p:nvSpPr>
          <p:cNvPr id="58" name="AI-Powered Retrieval-Augmented Generation">
            <a:extLst xmlns:a="http://schemas.openxmlformats.org/drawingml/2006/main">
              <a:ext uri="{FF2B5EF4-FFF2-40B4-BE49-F238E27FC236}">
                <a16:creationId xmlns:a16="http://schemas.microsoft.com/office/drawing/2014/main" id="{511C5177-4D89-4C46-9F56-22DEB4557395}"/>
              </a:ext>
            </a:extLst>
          </p:cNvPr>
          <p:cNvSpPr>
            <a:spLocks xmlns:a="http://schemas.openxmlformats.org/drawingml/2006/main" noGrp="1"/>
          </p:cNvSpPr>
          <p:nvPr/>
        </p:nvSpPr>
        <p:spPr>
          <a:xfrm xmlns:a="http://schemas.openxmlformats.org/drawingml/2006/main">
            <a:off x="1238250" y="1952625"/>
            <a:ext cx="15668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425" b="1">
                <a:solidFill>
                  <a:srgbClr val="101B40"/>
                </a:solidFill>
                <a:latin typeface="Montserrat Bold"/>
                <a:ea typeface="Montserrat Bold"/>
                <a:cs typeface="Montserrat Bold"/>
              </a:defRPr>
            </a:defPPr>
          </a:lstStyle>
          <a:p xmlns:a="http://schemas.openxmlformats.org/drawingml/2006/main">
            <a:pPr algn="l">
              <a:buNone/>
              <a:defRPr sz="4425" b="1">
                <a:solidFill>
                  <a:srgbClr val="101B40"/>
                </a:solidFill>
                <a:latin typeface="Montserrat Bold"/>
                <a:ea typeface="Montserrat Bold"/>
                <a:cs typeface="Montserrat Bold"/>
              </a:defRPr>
            </a:pPr>
            <a:r>
              <a:rPr sz="4425" b="1">
                <a:solidFill>
                  <a:srgbClr val="101B40"/>
                </a:solidFill>
                <a:latin typeface="Montserrat Bold"/>
                <a:ea typeface="Montserrat Bold"/>
                <a:cs typeface="Montserrat Bold"/>
              </a:rPr>
              <a:t>AI-Powered Retrieval-Augmented Generation</a:t>
            </a:r>
          </a:p>
        </p:txBody>
      </p:sp>
      <p:sp>
        <p:nvSpPr>
          <p:cNvPr id="59" name="Retrieved passages give the model document context and give the reader">
            <a:extLst xmlns:a="http://schemas.openxmlformats.org/drawingml/2006/main">
              <a:ext uri="{FF2B5EF4-FFF2-40B4-BE49-F238E27FC236}">
                <a16:creationId xmlns:a16="http://schemas.microsoft.com/office/drawing/2014/main" id="{4BB0645F-FEE5-41CF-8563-1DD25F6C994D}"/>
              </a:ext>
            </a:extLst>
          </p:cNvPr>
          <p:cNvSpPr>
            <a:spLocks xmlns:a="http://schemas.openxmlformats.org/drawingml/2006/main" noGrp="1"/>
          </p:cNvSpPr>
          <p:nvPr/>
        </p:nvSpPr>
        <p:spPr>
          <a:xfrm xmlns:a="http://schemas.openxmlformats.org/drawingml/2006/main">
            <a:off x="1257300" y="2905125"/>
            <a:ext cx="15382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36681"/>
                </a:solidFill>
                <a:latin typeface="Montserrat"/>
                <a:ea typeface="Montserrat"/>
                <a:cs typeface="Montserrat"/>
              </a:defRPr>
            </a:defPPr>
          </a:lstStyle>
          <a:p xmlns:a="http://schemas.openxmlformats.org/drawingml/2006/main">
            <a:pPr algn="l">
              <a:buNone/>
              <a:defRPr sz="2250" b="0">
                <a:solidFill>
                  <a:srgbClr val="536681"/>
                </a:solidFill>
                <a:latin typeface="Montserrat"/>
                <a:ea typeface="Montserrat"/>
                <a:cs typeface="Montserrat"/>
              </a:defRPr>
            </a:pPr>
            <a:r>
              <a:rPr sz="2250" b="0">
                <a:solidFill>
                  <a:srgbClr val="536681"/>
                </a:solidFill>
                <a:latin typeface="Montserrat"/>
                <a:ea typeface="Montserrat"/>
                <a:cs typeface="Montserrat"/>
              </a:rPr>
              <a:t>Retrieved passages give the model document context and give the reader evidence to inspect.</a:t>
            </a:r>
          </a:p>
        </p:txBody>
      </p:sp>
      <p:sp>
        <p:nvSpPr>
          <p:cNvPr id="60" name="">
            <a:extLst xmlns:a="http://schemas.openxmlformats.org/drawingml/2006/main">
              <a:ext uri="{FF2B5EF4-FFF2-40B4-BE49-F238E27FC236}">
                <a16:creationId xmlns:a16="http://schemas.microsoft.com/office/drawing/2014/main" id="{AB74526D-04A3-404E-96E9-1A7F72EAD19A}"/>
              </a:ext>
            </a:extLst>
          </p:cNvPr>
          <p:cNvSpPr>
            <a:spLocks xmlns:a="http://schemas.openxmlformats.org/drawingml/2006/main" noGrp="1"/>
          </p:cNvSpPr>
          <p:nvPr/>
        </p:nvSpPr>
        <p:spPr>
          <a:xfrm xmlns:a="http://schemas.openxmlformats.org/drawingml/2006/main">
            <a:off x="1238250" y="4095750"/>
            <a:ext cx="3190875" cy="142875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16193">
            <a:solidFill>
              <a:srgbClr val="8FA4C1"/>
            </a:solidFill>
          </a:ln>
        </p:spPr>
      </p:sp>
      <p:sp>
        <p:nvSpPr>
          <p:cNvPr id="61" name="Question">
            <a:extLst xmlns:a="http://schemas.openxmlformats.org/drawingml/2006/main">
              <a:ext uri="{FF2B5EF4-FFF2-40B4-BE49-F238E27FC236}">
                <a16:creationId xmlns:a16="http://schemas.microsoft.com/office/drawing/2014/main" id="{7A7B3791-8C52-46EA-A8B7-A37BFB783585}"/>
              </a:ext>
            </a:extLst>
          </p:cNvPr>
          <p:cNvSpPr>
            <a:spLocks xmlns:a="http://schemas.openxmlformats.org/drawingml/2006/main" noGrp="1"/>
          </p:cNvSpPr>
          <p:nvPr/>
        </p:nvSpPr>
        <p:spPr>
          <a:xfrm xmlns:a="http://schemas.openxmlformats.org/drawingml/2006/main">
            <a:off x="1447800" y="4286250"/>
            <a:ext cx="27717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1B40"/>
                </a:solidFill>
                <a:latin typeface="Montserrat Bold"/>
                <a:ea typeface="Montserrat Bold"/>
                <a:cs typeface="Montserrat Bold"/>
              </a:defRPr>
            </a:defPPr>
          </a:lstStyle>
          <a:p xmlns:a="http://schemas.openxmlformats.org/drawingml/2006/main">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Question</a:t>
            </a:r>
          </a:p>
        </p:txBody>
      </p:sp>
      <p:sp>
        <p:nvSpPr>
          <p:cNvPr id="62" name="Optional paper context">
            <a:extLst xmlns:a="http://schemas.openxmlformats.org/drawingml/2006/main">
              <a:ext uri="{FF2B5EF4-FFF2-40B4-BE49-F238E27FC236}">
                <a16:creationId xmlns:a16="http://schemas.microsoft.com/office/drawing/2014/main" id="{90E83CCC-1F71-464F-9EC8-46B918FA3607}"/>
              </a:ext>
            </a:extLst>
          </p:cNvPr>
          <p:cNvSpPr>
            <a:spLocks xmlns:a="http://schemas.openxmlformats.org/drawingml/2006/main" noGrp="1"/>
          </p:cNvSpPr>
          <p:nvPr/>
        </p:nvSpPr>
        <p:spPr>
          <a:xfrm xmlns:a="http://schemas.openxmlformats.org/drawingml/2006/main">
            <a:off x="1447800" y="4829175"/>
            <a:ext cx="27717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Optional paper context</a:t>
            </a:r>
          </a:p>
        </p:txBody>
      </p:sp>
      <p:sp>
        <p:nvSpPr>
          <p:cNvPr id="63" name="">
            <a:extLst xmlns:a="http://schemas.openxmlformats.org/drawingml/2006/main">
              <a:ext uri="{FF2B5EF4-FFF2-40B4-BE49-F238E27FC236}">
                <a16:creationId xmlns:a16="http://schemas.microsoft.com/office/drawing/2014/main" id="{9C99FA1A-0751-4126-9A6F-17D84D234ED0}"/>
              </a:ext>
            </a:extLst>
          </p:cNvPr>
          <p:cNvSpPr>
            <a:spLocks xmlns:a="http://schemas.openxmlformats.org/drawingml/2006/main" noGrp="1"/>
          </p:cNvSpPr>
          <p:nvPr/>
        </p:nvSpPr>
        <p:spPr>
          <a:xfrm xmlns:a="http://schemas.openxmlformats.org/drawingml/2006/main">
            <a:off x="5095875" y="4095750"/>
            <a:ext cx="3524250" cy="142875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16193">
            <a:solidFill>
              <a:srgbClr val="8FA4C1"/>
            </a:solidFill>
          </a:ln>
        </p:spPr>
      </p:sp>
      <p:sp>
        <p:nvSpPr>
          <p:cNvPr id="64" name="Candidate retrieval">
            <a:extLst xmlns:a="http://schemas.openxmlformats.org/drawingml/2006/main">
              <a:ext uri="{FF2B5EF4-FFF2-40B4-BE49-F238E27FC236}">
                <a16:creationId xmlns:a16="http://schemas.microsoft.com/office/drawing/2014/main" id="{BA913AA3-D6C4-4C91-BFC0-992FBEF775B3}"/>
              </a:ext>
            </a:extLst>
          </p:cNvPr>
          <p:cNvSpPr>
            <a:spLocks xmlns:a="http://schemas.openxmlformats.org/drawingml/2006/main" noGrp="1"/>
          </p:cNvSpPr>
          <p:nvPr/>
        </p:nvSpPr>
        <p:spPr>
          <a:xfrm xmlns:a="http://schemas.openxmlformats.org/drawingml/2006/main">
            <a:off x="5305425" y="4286250"/>
            <a:ext cx="3105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1B40"/>
                </a:solidFill>
                <a:latin typeface="Montserrat Bold"/>
                <a:ea typeface="Montserrat Bold"/>
                <a:cs typeface="Montserrat Bold"/>
              </a:defRPr>
            </a:defPPr>
          </a:lstStyle>
          <a:p xmlns:a="http://schemas.openxmlformats.org/drawingml/2006/main">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Candidate retrieval</a:t>
            </a:r>
          </a:p>
        </p:txBody>
      </p:sp>
      <p:sp>
        <p:nvSpPr>
          <p:cNvPr id="65" name="Embedding similarity">
            <a:extLst xmlns:a="http://schemas.openxmlformats.org/drawingml/2006/main">
              <a:ext uri="{FF2B5EF4-FFF2-40B4-BE49-F238E27FC236}">
                <a16:creationId xmlns:a16="http://schemas.microsoft.com/office/drawing/2014/main" id="{A62F2745-E475-402F-ACB4-FAD47B92C1D4}"/>
              </a:ext>
            </a:extLst>
          </p:cNvPr>
          <p:cNvSpPr>
            <a:spLocks xmlns:a="http://schemas.openxmlformats.org/drawingml/2006/main" noGrp="1"/>
          </p:cNvSpPr>
          <p:nvPr/>
        </p:nvSpPr>
        <p:spPr>
          <a:xfrm xmlns:a="http://schemas.openxmlformats.org/drawingml/2006/main">
            <a:off x="5305425" y="4829175"/>
            <a:ext cx="31051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Embedding similarity</a:t>
            </a:r>
          </a:p>
        </p:txBody>
      </p:sp>
      <p:sp>
        <p:nvSpPr>
          <p:cNvPr id="66" name="">
            <a:extLst xmlns:a="http://schemas.openxmlformats.org/drawingml/2006/main">
              <a:ext uri="{FF2B5EF4-FFF2-40B4-BE49-F238E27FC236}">
                <a16:creationId xmlns:a16="http://schemas.microsoft.com/office/drawing/2014/main" id="{48A6D9C5-94FE-4C62-A6A6-FBF910819F91}"/>
              </a:ext>
            </a:extLst>
          </p:cNvPr>
          <p:cNvSpPr>
            <a:spLocks xmlns:a="http://schemas.openxmlformats.org/drawingml/2006/main" noGrp="1"/>
          </p:cNvSpPr>
          <p:nvPr/>
        </p:nvSpPr>
        <p:spPr>
          <a:xfrm xmlns:a="http://schemas.openxmlformats.org/drawingml/2006/main">
            <a:off x="9286875" y="4095750"/>
            <a:ext cx="4048125" cy="142875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16193">
            <a:solidFill>
              <a:srgbClr val="8FA4C1"/>
            </a:solidFill>
          </a:ln>
        </p:spPr>
      </p:sp>
      <p:sp>
        <p:nvSpPr>
          <p:cNvPr id="67" name="Reranking">
            <a:extLst xmlns:a="http://schemas.openxmlformats.org/drawingml/2006/main">
              <a:ext uri="{FF2B5EF4-FFF2-40B4-BE49-F238E27FC236}">
                <a16:creationId xmlns:a16="http://schemas.microsoft.com/office/drawing/2014/main" id="{C5451ADB-0654-44BB-9247-96C24CFF846B}"/>
              </a:ext>
            </a:extLst>
          </p:cNvPr>
          <p:cNvSpPr>
            <a:spLocks xmlns:a="http://schemas.openxmlformats.org/drawingml/2006/main" noGrp="1"/>
          </p:cNvSpPr>
          <p:nvPr/>
        </p:nvSpPr>
        <p:spPr>
          <a:xfrm xmlns:a="http://schemas.openxmlformats.org/drawingml/2006/main">
            <a:off x="9496425" y="4286250"/>
            <a:ext cx="36290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1B40"/>
                </a:solidFill>
                <a:latin typeface="Montserrat Bold"/>
                <a:ea typeface="Montserrat Bold"/>
                <a:cs typeface="Montserrat Bold"/>
              </a:defRPr>
            </a:defPPr>
          </a:lstStyle>
          <a:p xmlns:a="http://schemas.openxmlformats.org/drawingml/2006/main">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Reranking</a:t>
            </a:r>
          </a:p>
        </p:txBody>
      </p:sp>
      <p:sp>
        <p:nvSpPr>
          <p:cNvPr id="68" name="Semantic + lexical + quality">
            <a:extLst xmlns:a="http://schemas.openxmlformats.org/drawingml/2006/main">
              <a:ext uri="{FF2B5EF4-FFF2-40B4-BE49-F238E27FC236}">
                <a16:creationId xmlns:a16="http://schemas.microsoft.com/office/drawing/2014/main" id="{102DDEA3-B832-49A7-8035-B4F181D622BA}"/>
              </a:ext>
            </a:extLst>
          </p:cNvPr>
          <p:cNvSpPr>
            <a:spLocks xmlns:a="http://schemas.openxmlformats.org/drawingml/2006/main" noGrp="1"/>
          </p:cNvSpPr>
          <p:nvPr/>
        </p:nvSpPr>
        <p:spPr>
          <a:xfrm xmlns:a="http://schemas.openxmlformats.org/drawingml/2006/main">
            <a:off x="9496425" y="4829175"/>
            <a:ext cx="36290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Semantic + lexical + quality</a:t>
            </a:r>
          </a:p>
        </p:txBody>
      </p:sp>
      <p:sp>
        <p:nvSpPr>
          <p:cNvPr id="69" name="">
            <a:extLst xmlns:a="http://schemas.openxmlformats.org/drawingml/2006/main">
              <a:ext uri="{FF2B5EF4-FFF2-40B4-BE49-F238E27FC236}">
                <a16:creationId xmlns:a16="http://schemas.microsoft.com/office/drawing/2014/main" id="{A635C06C-D5EB-491E-B7B8-D9340F560489}"/>
              </a:ext>
            </a:extLst>
          </p:cNvPr>
          <p:cNvSpPr>
            <a:spLocks xmlns:a="http://schemas.openxmlformats.org/drawingml/2006/main" noGrp="1"/>
          </p:cNvSpPr>
          <p:nvPr/>
        </p:nvSpPr>
        <p:spPr>
          <a:xfrm xmlns:a="http://schemas.openxmlformats.org/drawingml/2006/main">
            <a:off x="14001750" y="4095750"/>
            <a:ext cx="2905125" cy="142875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16193">
            <a:solidFill>
              <a:srgbClr val="8FA4C1"/>
            </a:solidFill>
          </a:ln>
        </p:spPr>
      </p:sp>
      <p:sp>
        <p:nvSpPr>
          <p:cNvPr id="70" name="LLM answer">
            <a:extLst xmlns:a="http://schemas.openxmlformats.org/drawingml/2006/main">
              <a:ext uri="{FF2B5EF4-FFF2-40B4-BE49-F238E27FC236}">
                <a16:creationId xmlns:a16="http://schemas.microsoft.com/office/drawing/2014/main" id="{194B53FF-0F9F-4935-B072-9E4B5B962E24}"/>
              </a:ext>
            </a:extLst>
          </p:cNvPr>
          <p:cNvSpPr>
            <a:spLocks xmlns:a="http://schemas.openxmlformats.org/drawingml/2006/main" noGrp="1"/>
          </p:cNvSpPr>
          <p:nvPr/>
        </p:nvSpPr>
        <p:spPr>
          <a:xfrm xmlns:a="http://schemas.openxmlformats.org/drawingml/2006/main">
            <a:off x="14211300" y="4286250"/>
            <a:ext cx="24860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1B40"/>
                </a:solidFill>
                <a:latin typeface="Montserrat Bold"/>
                <a:ea typeface="Montserrat Bold"/>
                <a:cs typeface="Montserrat Bold"/>
              </a:defRPr>
            </a:defPPr>
          </a:lstStyle>
          <a:p xmlns:a="http://schemas.openxmlformats.org/drawingml/2006/main">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LLM answer</a:t>
            </a:r>
          </a:p>
        </p:txBody>
      </p:sp>
      <p:sp>
        <p:nvSpPr>
          <p:cNvPr id="71" name="Local or cloud model">
            <a:extLst xmlns:a="http://schemas.openxmlformats.org/drawingml/2006/main">
              <a:ext uri="{FF2B5EF4-FFF2-40B4-BE49-F238E27FC236}">
                <a16:creationId xmlns:a16="http://schemas.microsoft.com/office/drawing/2014/main" id="{AD8FF85C-41E5-42BD-9C8D-3B23A03C887D}"/>
              </a:ext>
            </a:extLst>
          </p:cNvPr>
          <p:cNvSpPr>
            <a:spLocks xmlns:a="http://schemas.openxmlformats.org/drawingml/2006/main" noGrp="1"/>
          </p:cNvSpPr>
          <p:nvPr/>
        </p:nvSpPr>
        <p:spPr>
          <a:xfrm xmlns:a="http://schemas.openxmlformats.org/drawingml/2006/main">
            <a:off x="14211300" y="4829175"/>
            <a:ext cx="24860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Local or cloud model</a:t>
            </a:r>
          </a:p>
        </p:txBody>
      </p:sp>
      <p:cxnSp>
        <p:nvCxnSpPr>
          <p:cNvPr id="72" name="">
            <a:extLst xmlns:a="http://schemas.openxmlformats.org/drawingml/2006/main">
              <a:ext uri="{FF2B5EF4-FFF2-40B4-BE49-F238E27FC236}">
                <a16:creationId xmlns:a16="http://schemas.microsoft.com/office/drawing/2014/main" id="{68B27721-4BED-4FE1-A66A-62A2C92C934E}"/>
              </a:ext>
            </a:extLst>
          </p:cNvPr>
          <p:cNvCxnSpPr>
            <a:stCxn xmlns:a="http://schemas.openxmlformats.org/drawingml/2006/main" id="60" idx="3"/>
            <a:endCxn xmlns:a="http://schemas.openxmlformats.org/drawingml/2006/main" id="63" idx="1"/>
          </p:cNvCxnSpPr>
          <p:nvPr/>
        </p:nvCxnSpPr>
        <p:spPr>
          <a:xfrm xmlns:a="http://schemas.openxmlformats.org/drawingml/2006/main">
            <a:off x="4429125" y="4810125"/>
            <a:ext cx="666750" cy="0"/>
          </a:xfrm>
          <a:prstGeom xmlns:a="http://schemas.openxmlformats.org/drawingml/2006/main" prst="straightConnector1">
            <a:avLst/>
          </a:prstGeom>
          <a:ln xmlns:a="http://schemas.openxmlformats.org/drawingml/2006/main" w="28575">
            <a:solidFill>
              <a:srgbClr val="8FA4C1"/>
            </a:solidFill>
            <a:tailEnd type="triangle" w="med" len="med"/>
          </a:ln>
        </p:spPr>
      </p:cxnSp>
      <p:cxnSp>
        <p:nvCxnSpPr>
          <p:cNvPr id="73" name="">
            <a:extLst xmlns:a="http://schemas.openxmlformats.org/drawingml/2006/main">
              <a:ext uri="{FF2B5EF4-FFF2-40B4-BE49-F238E27FC236}">
                <a16:creationId xmlns:a16="http://schemas.microsoft.com/office/drawing/2014/main" id="{89B155F9-E53B-4876-AC5D-5A39E3BD70ED}"/>
              </a:ext>
            </a:extLst>
          </p:cNvPr>
          <p:cNvCxnSpPr>
            <a:stCxn xmlns:a="http://schemas.openxmlformats.org/drawingml/2006/main" id="63" idx="3"/>
            <a:endCxn xmlns:a="http://schemas.openxmlformats.org/drawingml/2006/main" id="66" idx="1"/>
          </p:cNvCxnSpPr>
          <p:nvPr/>
        </p:nvCxnSpPr>
        <p:spPr>
          <a:xfrm xmlns:a="http://schemas.openxmlformats.org/drawingml/2006/main">
            <a:off x="8620125" y="4810125"/>
            <a:ext cx="666750" cy="0"/>
          </a:xfrm>
          <a:prstGeom xmlns:a="http://schemas.openxmlformats.org/drawingml/2006/main" prst="straightConnector1">
            <a:avLst/>
          </a:prstGeom>
          <a:ln xmlns:a="http://schemas.openxmlformats.org/drawingml/2006/main" w="28575">
            <a:solidFill>
              <a:srgbClr val="8FA4C1"/>
            </a:solidFill>
            <a:tailEnd type="triangle" w="med" len="med"/>
          </a:ln>
        </p:spPr>
      </p:cxnSp>
      <p:cxnSp>
        <p:nvCxnSpPr>
          <p:cNvPr id="74" name="">
            <a:extLst xmlns:a="http://schemas.openxmlformats.org/drawingml/2006/main">
              <a:ext uri="{FF2B5EF4-FFF2-40B4-BE49-F238E27FC236}">
                <a16:creationId xmlns:a16="http://schemas.microsoft.com/office/drawing/2014/main" id="{E2A7B431-A7C4-43E3-BD70-4896B1290225}"/>
              </a:ext>
            </a:extLst>
          </p:cNvPr>
          <p:cNvCxnSpPr>
            <a:stCxn xmlns:a="http://schemas.openxmlformats.org/drawingml/2006/main" id="66" idx="3"/>
            <a:endCxn xmlns:a="http://schemas.openxmlformats.org/drawingml/2006/main" id="69" idx="1"/>
          </p:cNvCxnSpPr>
          <p:nvPr/>
        </p:nvCxnSpPr>
        <p:spPr>
          <a:xfrm xmlns:a="http://schemas.openxmlformats.org/drawingml/2006/main">
            <a:off x="13335000" y="4810125"/>
            <a:ext cx="666750" cy="0"/>
          </a:xfrm>
          <a:prstGeom xmlns:a="http://schemas.openxmlformats.org/drawingml/2006/main" prst="straightConnector1">
            <a:avLst/>
          </a:prstGeom>
          <a:ln xmlns:a="http://schemas.openxmlformats.org/drawingml/2006/main" w="28575">
            <a:solidFill>
              <a:srgbClr val="8FA4C1"/>
            </a:solidFill>
            <a:tailEnd type="triangle" w="med" len="med"/>
          </a:ln>
        </p:spPr>
      </p:cxnSp>
      <p:sp>
        <p:nvSpPr>
          <p:cNvPr id="75" name="Screenshot placeholder: 【此处放智能文献问答截图】">
            <a:extLst xmlns:a="http://schemas.openxmlformats.org/drawingml/2006/main">
              <a:ext uri="{FF2B5EF4-FFF2-40B4-BE49-F238E27FC236}">
                <a16:creationId xmlns:a16="http://schemas.microsoft.com/office/drawing/2014/main" id="{1D53F1C3-3AD5-439E-BD59-FEA40C627FE5}"/>
              </a:ext>
            </a:extLst>
          </p:cNvPr>
          <p:cNvSpPr>
            <a:spLocks xmlns:a="http://schemas.openxmlformats.org/drawingml/2006/main" noGrp="1"/>
          </p:cNvSpPr>
          <p:nvPr/>
        </p:nvSpPr>
        <p:spPr>
          <a:xfrm xmlns:a="http://schemas.openxmlformats.org/drawingml/2006/main">
            <a:off x="1238250" y="6191250"/>
            <a:ext cx="9906000" cy="3095625"/>
          </a:xfrm>
          <a:prstGeom xmlns:a="http://schemas.openxmlformats.org/drawingml/2006/main" prst="roundRect">
            <a:avLst>
              <a:gd name="adj" fmla="val 7385"/>
            </a:avLst>
          </a:prstGeom>
          <a:solidFill xmlns:a="http://schemas.openxmlformats.org/drawingml/2006/main">
            <a:srgbClr val="DCE2EB"/>
          </a:solidFill>
          <a:ln xmlns:a="http://schemas.openxmlformats.org/drawingml/2006/main" w="16193">
            <a:solidFill>
              <a:srgbClr val="8FA4C1"/>
            </a:solidFill>
          </a:ln>
        </p:spPr>
      </p:sp>
      <p:sp>
        <p:nvSpPr>
          <p:cNvPr id="76" name="【此处放智能文献问答截图】">
            <a:extLst xmlns:a="http://schemas.openxmlformats.org/drawingml/2006/main">
              <a:ext uri="{FF2B5EF4-FFF2-40B4-BE49-F238E27FC236}">
                <a16:creationId xmlns:a16="http://schemas.microsoft.com/office/drawing/2014/main" id="{BDD55CCE-41B4-46BD-ACA5-F3011209AB63}"/>
              </a:ext>
            </a:extLst>
          </p:cNvPr>
          <p:cNvSpPr>
            <a:spLocks xmlns:a="http://schemas.openxmlformats.org/drawingml/2006/main" noGrp="1"/>
          </p:cNvSpPr>
          <p:nvPr/>
        </p:nvSpPr>
        <p:spPr>
          <a:xfrm xmlns:a="http://schemas.openxmlformats.org/drawingml/2006/main">
            <a:off x="1447800" y="7453313"/>
            <a:ext cx="94869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250" b="0">
                <a:solidFill>
                  <a:srgbClr val="536681"/>
                </a:solidFill>
                <a:latin typeface="Microsoft YaHei"/>
                <a:ea typeface="Microsoft YaHei"/>
                <a:cs typeface="Microsoft YaHei"/>
              </a:defRPr>
            </a:defPPr>
          </a:lstStyle>
          <a:p xmlns:a="http://schemas.openxmlformats.org/drawingml/2006/main">
            <a:pPr algn="ctr">
              <a:buNone/>
              <a:defRPr sz="2250" b="0">
                <a:solidFill>
                  <a:srgbClr val="536681"/>
                </a:solidFill>
                <a:latin typeface="Microsoft YaHei"/>
                <a:ea typeface="Microsoft YaHei"/>
                <a:cs typeface="Microsoft YaHei"/>
              </a:defRPr>
            </a:pPr>
            <a:r>
              <a:rPr sz="2250" b="0">
                <a:solidFill>
                  <a:srgbClr val="536681"/>
                </a:solidFill>
                <a:latin typeface="Microsoft YaHei"/>
                <a:ea typeface="Microsoft YaHei"/>
                <a:cs typeface="Microsoft YaHei"/>
              </a:rPr>
              <a:t>【此处放智能文献问答截图】</a:t>
            </a:r>
          </a:p>
        </p:txBody>
      </p:sp>
      <p:sp>
        <p:nvSpPr>
          <p:cNvPr id="77" name="Interface crop">
            <a:extLst xmlns:a="http://schemas.openxmlformats.org/drawingml/2006/main">
              <a:ext uri="{FF2B5EF4-FFF2-40B4-BE49-F238E27FC236}">
                <a16:creationId xmlns:a16="http://schemas.microsoft.com/office/drawing/2014/main" id="{E4704FC4-C58B-454D-9155-DFE8DDA7D1D5}"/>
              </a:ext>
            </a:extLst>
          </p:cNvPr>
          <p:cNvSpPr>
            <a:spLocks xmlns:a="http://schemas.openxmlformats.org/drawingml/2006/main" noGrp="1"/>
          </p:cNvSpPr>
          <p:nvPr/>
        </p:nvSpPr>
        <p:spPr>
          <a:xfrm xmlns:a="http://schemas.openxmlformats.org/drawingml/2006/main">
            <a:off x="9763125" y="6362700"/>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75" b="0">
                <a:solidFill>
                  <a:srgbClr val="536681"/>
                </a:solidFill>
                <a:latin typeface="Montserrat"/>
                <a:ea typeface="Montserrat"/>
                <a:cs typeface="Montserrat"/>
              </a:defRPr>
            </a:defPPr>
          </a:lstStyle>
          <a:p xmlns:a="http://schemas.openxmlformats.org/drawingml/2006/main">
            <a:pPr algn="r">
              <a:buNone/>
              <a:defRPr sz="1575" b="0">
                <a:solidFill>
                  <a:srgbClr val="536681"/>
                </a:solidFill>
                <a:latin typeface="Montserrat"/>
                <a:ea typeface="Montserrat"/>
                <a:cs typeface="Montserrat"/>
              </a:defRPr>
            </a:pPr>
            <a:r>
              <a:rPr sz="1575" b="0">
                <a:solidFill>
                  <a:srgbClr val="536681"/>
                </a:solidFill>
                <a:latin typeface="Montserrat"/>
                <a:ea typeface="Montserrat"/>
                <a:cs typeface="Montserrat"/>
              </a:rPr>
              <a:t>Interface crop</a:t>
            </a:r>
          </a:p>
        </p:txBody>
      </p:sp>
      <p:sp>
        <p:nvSpPr>
          <p:cNvPr id="78" name="Why this approach">
            <a:extLst xmlns:a="http://schemas.openxmlformats.org/drawingml/2006/main">
              <a:ext uri="{FF2B5EF4-FFF2-40B4-BE49-F238E27FC236}">
                <a16:creationId xmlns:a16="http://schemas.microsoft.com/office/drawing/2014/main" id="{D2CF3BEB-373D-4D7A-B17A-4926743B90FC}"/>
              </a:ext>
            </a:extLst>
          </p:cNvPr>
          <p:cNvSpPr>
            <a:spLocks xmlns:a="http://schemas.openxmlformats.org/drawingml/2006/main" noGrp="1"/>
          </p:cNvSpPr>
          <p:nvPr/>
        </p:nvSpPr>
        <p:spPr>
          <a:xfrm xmlns:a="http://schemas.openxmlformats.org/drawingml/2006/main">
            <a:off x="11811000" y="6381750"/>
            <a:ext cx="509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01B40"/>
                </a:solidFill>
                <a:latin typeface="Montserrat Bold"/>
                <a:ea typeface="Montserrat Bold"/>
                <a:cs typeface="Montserrat Bold"/>
              </a:defRPr>
            </a:defPPr>
          </a:lstStyle>
          <a:p xmlns:a="http://schemas.openxmlformats.org/drawingml/2006/main">
            <a:pPr algn="l">
              <a:buNone/>
              <a:defRPr sz="2550" b="1">
                <a:solidFill>
                  <a:srgbClr val="101B40"/>
                </a:solidFill>
                <a:latin typeface="Montserrat Bold"/>
                <a:ea typeface="Montserrat Bold"/>
                <a:cs typeface="Montserrat Bold"/>
              </a:defRPr>
            </a:pPr>
            <a:r>
              <a:rPr sz="2550" b="1">
                <a:solidFill>
                  <a:srgbClr val="101B40"/>
                </a:solidFill>
                <a:latin typeface="Montserrat Bold"/>
                <a:ea typeface="Montserrat Bold"/>
                <a:cs typeface="Montserrat Bold"/>
              </a:rPr>
              <a:t>Why this approach</a:t>
            </a:r>
          </a:p>
        </p:txBody>
      </p:sp>
      <p:sp>
        <p:nvSpPr>
          <p:cNvPr id="79" name="Reranking favours relevant, readable passages. Auto, RAG and Chat mode">
            <a:extLst xmlns:a="http://schemas.openxmlformats.org/drawingml/2006/main">
              <a:ext uri="{FF2B5EF4-FFF2-40B4-BE49-F238E27FC236}">
                <a16:creationId xmlns:a16="http://schemas.microsoft.com/office/drawing/2014/main" id="{4EB66802-4B9C-4318-BB30-8D9D85D6CE78}"/>
              </a:ext>
            </a:extLst>
          </p:cNvPr>
          <p:cNvSpPr>
            <a:spLocks xmlns:a="http://schemas.openxmlformats.org/drawingml/2006/main" noGrp="1"/>
          </p:cNvSpPr>
          <p:nvPr/>
        </p:nvSpPr>
        <p:spPr>
          <a:xfrm xmlns:a="http://schemas.openxmlformats.org/drawingml/2006/main">
            <a:off x="11811000" y="7105650"/>
            <a:ext cx="5095875"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36681"/>
                </a:solidFill>
                <a:latin typeface="Montserrat"/>
                <a:ea typeface="Montserrat"/>
                <a:cs typeface="Montserrat"/>
              </a:defRPr>
            </a:defPPr>
          </a:lstStyle>
          <a:p xmlns:a="http://schemas.openxmlformats.org/drawingml/2006/main">
            <a:pPr algn="l">
              <a:buNone/>
              <a:defRPr sz="2100" b="0">
                <a:solidFill>
                  <a:srgbClr val="536681"/>
                </a:solidFill>
                <a:latin typeface="Montserrat"/>
                <a:ea typeface="Montserrat"/>
                <a:cs typeface="Montserrat"/>
              </a:defRPr>
            </a:pPr>
            <a:r>
              <a:rPr sz="2100" b="0">
                <a:solidFill>
                  <a:srgbClr val="536681"/>
                </a:solidFill>
                <a:latin typeface="Montserrat"/>
                <a:ea typeface="Montserrat"/>
                <a:cs typeface="Montserrat"/>
              </a:rPr>
              <a:t>Reranking favours relevant, readable passages. Auto, RAG and Chat modes make retrieval behaviour explicit.</a:t>
            </a:r>
          </a:p>
        </p:txBody>
      </p:sp>
      <p:sp>
        <p:nvSpPr>
          <p:cNvPr id="80" name="A retrieved source still requires human verification.">
            <a:extLst xmlns:a="http://schemas.openxmlformats.org/drawingml/2006/main">
              <a:ext uri="{FF2B5EF4-FFF2-40B4-BE49-F238E27FC236}">
                <a16:creationId xmlns:a16="http://schemas.microsoft.com/office/drawing/2014/main" id="{4410BC0D-A0DA-481D-8203-18E002949E3D}"/>
              </a:ext>
            </a:extLst>
          </p:cNvPr>
          <p:cNvSpPr>
            <a:spLocks xmlns:a="http://schemas.openxmlformats.org/drawingml/2006/main" noGrp="1"/>
          </p:cNvSpPr>
          <p:nvPr/>
        </p:nvSpPr>
        <p:spPr>
          <a:xfrm xmlns:a="http://schemas.openxmlformats.org/drawingml/2006/main">
            <a:off x="11811000" y="8667750"/>
            <a:ext cx="5095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01B40"/>
                </a:solidFill>
                <a:latin typeface="Montserrat Bold"/>
                <a:ea typeface="Montserrat Bold"/>
                <a:cs typeface="Montserrat Bold"/>
              </a:defRPr>
            </a:defPPr>
          </a:lstStyle>
          <a:p xmlns:a="http://schemas.openxmlformats.org/drawingml/2006/main">
            <a:pPr algn="l">
              <a:buNone/>
              <a:defRPr sz="2025" b="1">
                <a:solidFill>
                  <a:srgbClr val="101B40"/>
                </a:solidFill>
                <a:latin typeface="Montserrat Bold"/>
                <a:ea typeface="Montserrat Bold"/>
                <a:cs typeface="Montserrat Bold"/>
              </a:defRPr>
            </a:pPr>
            <a:r>
              <a:rPr sz="2025" b="1">
                <a:solidFill>
                  <a:srgbClr val="101B40"/>
                </a:solidFill>
                <a:latin typeface="Montserrat Bold"/>
                <a:ea typeface="Montserrat Bold"/>
                <a:cs typeface="Montserrat Bold"/>
              </a:rPr>
              <a:t>A retrieved source still requires human verification.</a:t>
            </a:r>
          </a:p>
        </p:txBody>
      </p:sp>
    </p:spTree>
    <p:extLst>
      <p:ext uri="{BB962C8B-B14F-4D97-AF65-F5344CB8AC3E}">
        <p14:creationId xmlns:p14="http://schemas.microsoft.com/office/powerpoint/2010/main" val="447674980"/>
      </p:ext>
    </p:extLst>
  </p:cSld>
</p:sld>
</file>

<file path=ppt/slides/slide7.xml><?xml version="1.0" encoding="utf-8"?>
<p:sld xmlns:p="http://schemas.openxmlformats.org/presentationml/2006/main">
  <p:cSld>
    <p:bg>
      <p:bgPr>
        <a:solidFill xmlns:a="http://schemas.openxmlformats.org/drawingml/2006/main">
          <a:srgbClr val="F1F1F1"/>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1EF1386A-B871-434E-B9E0-ADB51A83F63B}"/>
              </a:ext>
            </a:extLst>
          </p:cNvPr>
          <p:cNvSpPr>
            <a:spLocks xmlns:a="http://schemas.openxmlformats.org/drawingml/2006/main" noGrp="1"/>
          </p:cNvSpPr>
          <p:nvPr/>
        </p:nvSpPr>
        <p:spPr>
          <a:xfrm xmlns:a="http://schemas.openxmlformats.org/drawingml/2006/main" rot="0" flipH="0" flipV="0">
            <a:off x="4410075" y="514350"/>
            <a:ext cx="9467850" cy="819150"/>
          </a:xfrm>
          <a:custGeom xmlns:a="http://schemas.openxmlformats.org/drawingml/2006/main">
            <a:rect l="l" t="t" r="r" b="b"/>
            <a:pathLst>
              <a:path w="2494114" h="214543">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xmlns:a="http://schemas.openxmlformats.org/drawingml/2006/main" w="38100" cap="rnd">
            <a:solidFill>
              <a:srgbClr val="101B40"/>
            </a:solidFill>
            <a:prstDash val="solid"/>
            <a:round/>
          </a:ln>
        </p:spPr>
      </p:sp>
      <p:sp>
        <p:nvSpPr>
          <p:cNvPr id="4" name="TextBox 4">
            <a:extLst xmlns:a="http://schemas.openxmlformats.org/drawingml/2006/main">
              <a:ext uri="{FF2B5EF4-FFF2-40B4-BE49-F238E27FC236}">
                <a16:creationId xmlns:a16="http://schemas.microsoft.com/office/drawing/2014/main" id="{8FA2FF8A-FF93-4AB4-BF87-6CA549027389}"/>
              </a:ext>
            </a:extLst>
          </p:cNvPr>
          <p:cNvSpPr>
            <a:spLocks xmlns:a="http://schemas.openxmlformats.org/drawingml/2006/main" noGrp="1"/>
          </p:cNvSpPr>
          <p:nvPr/>
        </p:nvSpPr>
        <p:spPr>
          <a:xfrm xmlns:a="http://schemas.openxmlformats.org/drawingml/2006/main" rot="0" flipH="0" flipV="0">
            <a:off x="4409081" y="370811"/>
            <a:ext cx="9469839" cy="95925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p>
        </p:txBody>
      </p:sp>
      <p:sp>
        <p:nvSpPr>
          <p:cNvPr id="6" name="Freeform 6">
            <a:extLst xmlns:a="http://schemas.openxmlformats.org/drawingml/2006/main">
              <a:ext uri="{FF2B5EF4-FFF2-40B4-BE49-F238E27FC236}">
                <a16:creationId xmlns:a16="http://schemas.microsoft.com/office/drawing/2014/main" id="{E3F06451-2542-4216-B6E6-4F3E7FB559C2}"/>
              </a:ext>
            </a:extLst>
          </p:cNvPr>
          <p:cNvSpPr>
            <a:spLocks xmlns:a="http://schemas.openxmlformats.org/drawingml/2006/main" noGrp="1"/>
          </p:cNvSpPr>
          <p:nvPr/>
        </p:nvSpPr>
        <p:spPr>
          <a:xfrm xmlns:a="http://schemas.openxmlformats.org/drawingml/2006/main" rot="0" flipH="0" flipV="0">
            <a:off x="9458325" y="628650"/>
            <a:ext cx="1666875" cy="590550"/>
          </a:xfrm>
          <a:custGeom xmlns:a="http://schemas.openxmlformats.org/drawingml/2006/main">
            <a:rect l="l" t="t" r="r" b="b"/>
            <a:pathLst>
              <a:path w="438737" h="155110">
                <a:moveTo>
                  <a:pt x="77555" y="0"/>
                </a:moveTo>
                <a:lnTo>
                  <a:pt x="361182" y="0"/>
                </a:lnTo>
                <a:cubicBezTo>
                  <a:pt x="404015" y="0"/>
                  <a:pt x="438737" y="34722"/>
                  <a:pt x="438737" y="77555"/>
                </a:cubicBezTo>
                <a:lnTo>
                  <a:pt x="438737" y="77555"/>
                </a:lnTo>
                <a:cubicBezTo>
                  <a:pt x="438737" y="120387"/>
                  <a:pt x="404015" y="155110"/>
                  <a:pt x="361182" y="155110"/>
                </a:cubicBezTo>
                <a:lnTo>
                  <a:pt x="77555" y="155110"/>
                </a:lnTo>
                <a:cubicBezTo>
                  <a:pt x="34722" y="155110"/>
                  <a:pt x="0" y="120387"/>
                  <a:pt x="0" y="77555"/>
                </a:cubicBezTo>
                <a:lnTo>
                  <a:pt x="0" y="77555"/>
                </a:lnTo>
                <a:cubicBezTo>
                  <a:pt x="0" y="34722"/>
                  <a:pt x="34722" y="0"/>
                  <a:pt x="77555" y="0"/>
                </a:cubicBezTo>
                <a:close/>
              </a:path>
            </a:pathLst>
          </a:custGeom>
          <a:solidFill xmlns:a="http://schemas.openxmlformats.org/drawingml/2006/main">
            <a:srgbClr val="101B40"/>
          </a:solidFill>
          <a:ln xmlns:a="http://schemas.openxmlformats.org/drawingml/2006/main" cap="rnd">
            <a:noFill/>
            <a:prstDash val="solid"/>
            <a:round/>
          </a:ln>
        </p:spPr>
      </p:sp>
      <p:sp>
        <p:nvSpPr>
          <p:cNvPr id="7" name="TextBox 7">
            <a:extLst xmlns:a="http://schemas.openxmlformats.org/drawingml/2006/main">
              <a:ext uri="{FF2B5EF4-FFF2-40B4-BE49-F238E27FC236}">
                <a16:creationId xmlns:a16="http://schemas.microsoft.com/office/drawing/2014/main" id="{B31EC481-B235-4631-837D-DF2DADFF8880}"/>
              </a:ext>
            </a:extLst>
          </p:cNvPr>
          <p:cNvSpPr>
            <a:spLocks xmlns:a="http://schemas.openxmlformats.org/drawingml/2006/main" noGrp="1"/>
          </p:cNvSpPr>
          <p:nvPr/>
        </p:nvSpPr>
        <p:spPr>
          <a:xfrm xmlns:a="http://schemas.openxmlformats.org/drawingml/2006/main" rot="0" flipH="0" flipV="0">
            <a:off x="9460786" y="483641"/>
            <a:ext cx="1665830" cy="73359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p>
        </p:txBody>
      </p:sp>
      <p:sp>
        <p:nvSpPr>
          <p:cNvPr id="21" name="TextBox 21">
            <a:extLst xmlns:a="http://schemas.openxmlformats.org/drawingml/2006/main">
              <a:ext uri="{FF2B5EF4-FFF2-40B4-BE49-F238E27FC236}">
                <a16:creationId xmlns:a16="http://schemas.microsoft.com/office/drawing/2014/main" id="{98029099-95C8-456E-A7D8-AECE49B0F095}"/>
              </a:ext>
            </a:extLst>
          </p:cNvPr>
          <p:cNvSpPr>
            <a:spLocks xmlns:a="http://schemas.openxmlformats.org/drawingml/2006/main" noGrp="1"/>
          </p:cNvSpPr>
          <p:nvPr/>
        </p:nvSpPr>
        <p:spPr>
          <a:xfrm xmlns:a="http://schemas.openxmlformats.org/drawingml/2006/main" rot="0">
            <a:off x="4438650" y="733425"/>
            <a:ext cx="16668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VISION</a:t>
            </a:r>
          </a:p>
        </p:txBody>
      </p:sp>
      <p:sp>
        <p:nvSpPr>
          <p:cNvPr id="22" name="TextBox 22">
            <a:extLst xmlns:a="http://schemas.openxmlformats.org/drawingml/2006/main">
              <a:ext uri="{FF2B5EF4-FFF2-40B4-BE49-F238E27FC236}">
                <a16:creationId xmlns:a16="http://schemas.microsoft.com/office/drawing/2014/main" id="{F8AEB1B3-DD3F-4DDD-A65F-BB886F103FC2}"/>
              </a:ext>
            </a:extLst>
          </p:cNvPr>
          <p:cNvSpPr>
            <a:spLocks xmlns:a="http://schemas.openxmlformats.org/drawingml/2006/main" noGrp="1"/>
          </p:cNvSpPr>
          <p:nvPr/>
        </p:nvSpPr>
        <p:spPr>
          <a:xfrm xmlns:a="http://schemas.openxmlformats.org/drawingml/2006/main" rot="0">
            <a:off x="6829425" y="733425"/>
            <a:ext cx="190500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DESIGN</a:t>
            </a:r>
          </a:p>
        </p:txBody>
      </p:sp>
      <p:sp>
        <p:nvSpPr>
          <p:cNvPr id="23" name="TextBox 23">
            <a:extLst xmlns:a="http://schemas.openxmlformats.org/drawingml/2006/main">
              <a:ext uri="{FF2B5EF4-FFF2-40B4-BE49-F238E27FC236}">
                <a16:creationId xmlns:a16="http://schemas.microsoft.com/office/drawing/2014/main" id="{05E98AB3-52C2-4C5A-8936-D94021A951FD}"/>
              </a:ext>
            </a:extLst>
          </p:cNvPr>
          <p:cNvSpPr>
            <a:spLocks xmlns:a="http://schemas.openxmlformats.org/drawingml/2006/main" noGrp="1"/>
          </p:cNvSpPr>
          <p:nvPr/>
        </p:nvSpPr>
        <p:spPr>
          <a:xfrm xmlns:a="http://schemas.openxmlformats.org/drawingml/2006/main" rot="0">
            <a:off x="9496425" y="733425"/>
            <a:ext cx="15906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1">
                <a:solidFill>
                  <a:srgbClr val="FFFFFF"/>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1">
                <a:solidFill>
                  <a:srgbClr val="FFFFFF"/>
                </a:solidFill>
                <a:latin typeface="Montserrat"/>
                <a:ea typeface="Montserrat"/>
                <a:cs typeface="Montserrat"/>
              </a:defRPr>
            </a:pPr>
            <a:r>
              <a:rPr sz="1800" b="1" spc="3">
                <a:solidFill>
                  <a:srgbClr val="FFFFFF"/>
                </a:solidFill>
                <a:latin typeface="Montserrat"/>
                <a:ea typeface="Montserrat"/>
                <a:cs typeface="Montserrat"/>
              </a:rPr>
              <a:t>SYSTEM</a:t>
            </a:r>
          </a:p>
        </p:txBody>
      </p:sp>
      <p:sp>
        <p:nvSpPr>
          <p:cNvPr id="24" name="TextBox 24">
            <a:extLst xmlns:a="http://schemas.openxmlformats.org/drawingml/2006/main">
              <a:ext uri="{FF2B5EF4-FFF2-40B4-BE49-F238E27FC236}">
                <a16:creationId xmlns:a16="http://schemas.microsoft.com/office/drawing/2014/main" id="{4DDB76A6-3927-4E47-B512-52465BBF5101}"/>
              </a:ext>
            </a:extLst>
          </p:cNvPr>
          <p:cNvSpPr>
            <a:spLocks xmlns:a="http://schemas.openxmlformats.org/drawingml/2006/main" noGrp="1"/>
          </p:cNvSpPr>
          <p:nvPr/>
        </p:nvSpPr>
        <p:spPr>
          <a:xfrm xmlns:a="http://schemas.openxmlformats.org/drawingml/2006/main" rot="0">
            <a:off x="11591925" y="733425"/>
            <a:ext cx="222885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REVIEW</a:t>
            </a:r>
          </a:p>
        </p:txBody>
      </p:sp>
      <p:sp>
        <p:nvSpPr>
          <p:cNvPr id="25" name="TextBox 25">
            <a:extLst xmlns:a="http://schemas.openxmlformats.org/drawingml/2006/main">
              <a:ext uri="{FF2B5EF4-FFF2-40B4-BE49-F238E27FC236}">
                <a16:creationId xmlns:a16="http://schemas.microsoft.com/office/drawing/2014/main" id="{8394B56D-3A17-4FE1-81B1-45C5E9ADA1D5}"/>
              </a:ext>
            </a:extLst>
          </p:cNvPr>
          <p:cNvSpPr>
            <a:spLocks xmlns:a="http://schemas.openxmlformats.org/drawingml/2006/main" noGrp="1"/>
          </p:cNvSpPr>
          <p:nvPr/>
        </p:nvSpPr>
        <p:spPr>
          <a:xfrm xmlns:a="http://schemas.openxmlformats.org/drawingml/2006/main" rot="0">
            <a:off x="800100" y="628650"/>
            <a:ext cx="2381250" cy="56769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defRPr sz="1800" b="1">
                <a:solidFill>
                  <a:srgbClr val="101B40"/>
                </a:solidFill>
                <a:latin typeface="Montserrat"/>
                <a:ea typeface="Montserrat"/>
                <a:cs typeface="Montserrat"/>
              </a:defRPr>
            </a:defPPr>
          </a:lstStyle>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PDF</a:t>
            </a:r>
          </a:p>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GALAXAI</a:t>
            </a:r>
          </a:p>
        </p:txBody>
      </p:sp>
      <p:sp>
        <p:nvSpPr>
          <p:cNvPr id="26" name="07">
            <a:extLst xmlns:a="http://schemas.openxmlformats.org/drawingml/2006/main">
              <a:ext uri="{FF2B5EF4-FFF2-40B4-BE49-F238E27FC236}">
                <a16:creationId xmlns:a16="http://schemas.microsoft.com/office/drawing/2014/main" id="{7BF2860D-C4D2-4253-AD6D-E99B0B9F59D9}"/>
              </a:ext>
            </a:extLst>
          </p:cNvPr>
          <p:cNvSpPr>
            <a:spLocks xmlns:a="http://schemas.openxmlformats.org/drawingml/2006/main" noGrp="1"/>
          </p:cNvSpPr>
          <p:nvPr/>
        </p:nvSpPr>
        <p:spPr>
          <a:xfrm xmlns:a="http://schemas.openxmlformats.org/drawingml/2006/main">
            <a:off x="16735425" y="73342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1">
                <a:solidFill>
                  <a:srgbClr val="101B40"/>
                </a:solidFill>
                <a:latin typeface="Montserrat Bold"/>
                <a:ea typeface="Montserrat Bold"/>
                <a:cs typeface="Montserrat Bold"/>
              </a:defRPr>
            </a:defPPr>
          </a:lstStyle>
          <a:p xmlns:a="http://schemas.openxmlformats.org/drawingml/2006/main">
            <a:pPr algn="r">
              <a:buNone/>
              <a:defRPr sz="1875" b="1">
                <a:solidFill>
                  <a:srgbClr val="101B40"/>
                </a:solidFill>
                <a:latin typeface="Montserrat Bold"/>
                <a:ea typeface="Montserrat Bold"/>
                <a:cs typeface="Montserrat Bold"/>
              </a:defRPr>
            </a:pPr>
            <a:r>
              <a:rPr sz="1875" b="1">
                <a:solidFill>
                  <a:srgbClr val="101B40"/>
                </a:solidFill>
                <a:latin typeface="Montserrat Bold"/>
                <a:ea typeface="Montserrat Bold"/>
                <a:cs typeface="Montserrat Bold"/>
              </a:rPr>
              <a:t>07</a:t>
            </a:r>
          </a:p>
        </p:txBody>
      </p:sp>
      <p:sp>
        <p:nvSpPr>
          <p:cNvPr id="27" name="PDF-GalaxAI">
            <a:extLst xmlns:a="http://schemas.openxmlformats.org/drawingml/2006/main">
              <a:ext uri="{FF2B5EF4-FFF2-40B4-BE49-F238E27FC236}">
                <a16:creationId xmlns:a16="http://schemas.microsoft.com/office/drawing/2014/main" id="{43F2856C-D0D1-41F9-9820-2FF10101F8B9}"/>
              </a:ext>
            </a:extLst>
          </p:cNvPr>
          <p:cNvSpPr>
            <a:spLocks xmlns:a="http://schemas.openxmlformats.org/drawingml/2006/main" noGrp="1"/>
          </p:cNvSpPr>
          <p:nvPr/>
        </p:nvSpPr>
        <p:spPr>
          <a:xfrm xmlns:a="http://schemas.openxmlformats.org/drawingml/2006/main">
            <a:off x="1238250" y="96202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681"/>
                </a:solidFill>
                <a:latin typeface="Montserrat"/>
                <a:ea typeface="Montserrat"/>
                <a:cs typeface="Montserrat"/>
              </a:defRPr>
            </a:defPPr>
          </a:lstStyle>
          <a:p xmlns:a="http://schemas.openxmlformats.org/drawingml/2006/main">
            <a:pPr algn="l">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PDF-GalaxAI</a:t>
            </a:r>
          </a:p>
        </p:txBody>
      </p:sp>
      <p:sp>
        <p:nvSpPr>
          <p:cNvPr id="28" name="07 / 12">
            <a:extLst xmlns:a="http://schemas.openxmlformats.org/drawingml/2006/main">
              <a:ext uri="{FF2B5EF4-FFF2-40B4-BE49-F238E27FC236}">
                <a16:creationId xmlns:a16="http://schemas.microsoft.com/office/drawing/2014/main" id="{36572C1D-11A9-4322-BE05-3DD85918A547}"/>
              </a:ext>
            </a:extLst>
          </p:cNvPr>
          <p:cNvSpPr>
            <a:spLocks xmlns:a="http://schemas.openxmlformats.org/drawingml/2006/main" noGrp="1"/>
          </p:cNvSpPr>
          <p:nvPr/>
        </p:nvSpPr>
        <p:spPr>
          <a:xfrm xmlns:a="http://schemas.openxmlformats.org/drawingml/2006/main">
            <a:off x="15430500" y="9620250"/>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536681"/>
                </a:solidFill>
                <a:latin typeface="Montserrat"/>
                <a:ea typeface="Montserrat"/>
                <a:cs typeface="Montserrat"/>
              </a:defRPr>
            </a:defPPr>
          </a:lstStyle>
          <a:p xmlns:a="http://schemas.openxmlformats.org/drawingml/2006/main">
            <a:pPr algn="r">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07 / 12</a:t>
            </a:r>
          </a:p>
        </p:txBody>
      </p:sp>
      <p:sp>
        <p:nvSpPr>
          <p:cNvPr id="29" name="Evidence Tracing &amp; Source Reading">
            <a:extLst xmlns:a="http://schemas.openxmlformats.org/drawingml/2006/main">
              <a:ext uri="{FF2B5EF4-FFF2-40B4-BE49-F238E27FC236}">
                <a16:creationId xmlns:a16="http://schemas.microsoft.com/office/drawing/2014/main" id="{0C578D84-E687-43BE-AB8A-06627D9793C8}"/>
              </a:ext>
            </a:extLst>
          </p:cNvPr>
          <p:cNvSpPr>
            <a:spLocks xmlns:a="http://schemas.openxmlformats.org/drawingml/2006/main" noGrp="1"/>
          </p:cNvSpPr>
          <p:nvPr/>
        </p:nvSpPr>
        <p:spPr>
          <a:xfrm xmlns:a="http://schemas.openxmlformats.org/drawingml/2006/main">
            <a:off x="1238250" y="1952625"/>
            <a:ext cx="15668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425" b="1">
                <a:solidFill>
                  <a:srgbClr val="101B40"/>
                </a:solidFill>
                <a:latin typeface="Montserrat Bold"/>
                <a:ea typeface="Montserrat Bold"/>
                <a:cs typeface="Montserrat Bold"/>
              </a:defRPr>
            </a:defPPr>
          </a:lstStyle>
          <a:p xmlns:a="http://schemas.openxmlformats.org/drawingml/2006/main">
            <a:pPr algn="l">
              <a:buNone/>
              <a:defRPr sz="4425" b="1">
                <a:solidFill>
                  <a:srgbClr val="101B40"/>
                </a:solidFill>
                <a:latin typeface="Montserrat Bold"/>
                <a:ea typeface="Montserrat Bold"/>
                <a:cs typeface="Montserrat Bold"/>
              </a:defRPr>
            </a:pPr>
            <a:r>
              <a:rPr sz="4425" b="1">
                <a:solidFill>
                  <a:srgbClr val="101B40"/>
                </a:solidFill>
                <a:latin typeface="Montserrat Bold"/>
                <a:ea typeface="Montserrat Bold"/>
                <a:cs typeface="Montserrat Bold"/>
              </a:rPr>
              <a:t>Evidence Tracing &amp; Source Reading</a:t>
            </a:r>
          </a:p>
        </p:txBody>
      </p:sp>
      <p:sp>
        <p:nvSpPr>
          <p:cNvPr id="30" name="A citation opens the original document and directs attention to candid">
            <a:extLst xmlns:a="http://schemas.openxmlformats.org/drawingml/2006/main">
              <a:ext uri="{FF2B5EF4-FFF2-40B4-BE49-F238E27FC236}">
                <a16:creationId xmlns:a16="http://schemas.microsoft.com/office/drawing/2014/main" id="{AD3A90E9-6F17-49A0-A1E6-C225E11BC8FE}"/>
              </a:ext>
            </a:extLst>
          </p:cNvPr>
          <p:cNvSpPr>
            <a:spLocks xmlns:a="http://schemas.openxmlformats.org/drawingml/2006/main" noGrp="1"/>
          </p:cNvSpPr>
          <p:nvPr/>
        </p:nvSpPr>
        <p:spPr>
          <a:xfrm xmlns:a="http://schemas.openxmlformats.org/drawingml/2006/main">
            <a:off x="1257300" y="2905125"/>
            <a:ext cx="15382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36681"/>
                </a:solidFill>
                <a:latin typeface="Montserrat"/>
                <a:ea typeface="Montserrat"/>
                <a:cs typeface="Montserrat"/>
              </a:defRPr>
            </a:defPPr>
          </a:lstStyle>
          <a:p xmlns:a="http://schemas.openxmlformats.org/drawingml/2006/main">
            <a:pPr algn="l">
              <a:buNone/>
              <a:defRPr sz="2250" b="0">
                <a:solidFill>
                  <a:srgbClr val="536681"/>
                </a:solidFill>
                <a:latin typeface="Montserrat"/>
                <a:ea typeface="Montserrat"/>
                <a:cs typeface="Montserrat"/>
              </a:defRPr>
            </a:pPr>
            <a:r>
              <a:rPr sz="2250" b="0">
                <a:solidFill>
                  <a:srgbClr val="536681"/>
                </a:solidFill>
                <a:latin typeface="Montserrat"/>
                <a:ea typeface="Montserrat"/>
                <a:cs typeface="Montserrat"/>
              </a:rPr>
              <a:t>A citation opens the original document and directs attention to candidate supporting text.</a:t>
            </a:r>
          </a:p>
        </p:txBody>
      </p:sp>
      <p:sp>
        <p:nvSpPr>
          <p:cNvPr id="31" name="Screenshot placeholder: 【此处放回答引用原文跳转截图】">
            <a:extLst xmlns:a="http://schemas.openxmlformats.org/drawingml/2006/main">
              <a:ext uri="{FF2B5EF4-FFF2-40B4-BE49-F238E27FC236}">
                <a16:creationId xmlns:a16="http://schemas.microsoft.com/office/drawing/2014/main" id="{4BD579BF-DBE7-4A56-ABE6-DA04ADFF1D62}"/>
              </a:ext>
            </a:extLst>
          </p:cNvPr>
          <p:cNvSpPr>
            <a:spLocks xmlns:a="http://schemas.openxmlformats.org/drawingml/2006/main" noGrp="1"/>
          </p:cNvSpPr>
          <p:nvPr/>
        </p:nvSpPr>
        <p:spPr>
          <a:xfrm xmlns:a="http://schemas.openxmlformats.org/drawingml/2006/main">
            <a:off x="1238250" y="4048125"/>
            <a:ext cx="7429500" cy="4181475"/>
          </a:xfrm>
          <a:prstGeom xmlns:a="http://schemas.openxmlformats.org/drawingml/2006/main" prst="roundRect">
            <a:avLst>
              <a:gd name="adj" fmla="val 5467"/>
            </a:avLst>
          </a:prstGeom>
          <a:solidFill xmlns:a="http://schemas.openxmlformats.org/drawingml/2006/main">
            <a:srgbClr val="DCE2EB"/>
          </a:solidFill>
          <a:ln xmlns:a="http://schemas.openxmlformats.org/drawingml/2006/main" w="16193">
            <a:solidFill>
              <a:srgbClr val="8FA4C1"/>
            </a:solidFill>
          </a:ln>
        </p:spPr>
      </p:sp>
      <p:sp>
        <p:nvSpPr>
          <p:cNvPr id="32" name="【此处放回答引用原文跳转截图】">
            <a:extLst xmlns:a="http://schemas.openxmlformats.org/drawingml/2006/main">
              <a:ext uri="{FF2B5EF4-FFF2-40B4-BE49-F238E27FC236}">
                <a16:creationId xmlns:a16="http://schemas.microsoft.com/office/drawing/2014/main" id="{D57FCC91-C34F-4AEA-A794-4697B54BEB0B}"/>
              </a:ext>
            </a:extLst>
          </p:cNvPr>
          <p:cNvSpPr>
            <a:spLocks xmlns:a="http://schemas.openxmlformats.org/drawingml/2006/main" noGrp="1"/>
          </p:cNvSpPr>
          <p:nvPr/>
        </p:nvSpPr>
        <p:spPr>
          <a:xfrm xmlns:a="http://schemas.openxmlformats.org/drawingml/2006/main">
            <a:off x="1447800" y="5853113"/>
            <a:ext cx="701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250" b="0">
                <a:solidFill>
                  <a:srgbClr val="536681"/>
                </a:solidFill>
                <a:latin typeface="Microsoft YaHei"/>
                <a:ea typeface="Microsoft YaHei"/>
                <a:cs typeface="Microsoft YaHei"/>
              </a:defRPr>
            </a:defPPr>
          </a:lstStyle>
          <a:p xmlns:a="http://schemas.openxmlformats.org/drawingml/2006/main">
            <a:pPr algn="ctr">
              <a:buNone/>
              <a:defRPr sz="2250" b="0">
                <a:solidFill>
                  <a:srgbClr val="536681"/>
                </a:solidFill>
                <a:latin typeface="Microsoft YaHei"/>
                <a:ea typeface="Microsoft YaHei"/>
                <a:cs typeface="Microsoft YaHei"/>
              </a:defRPr>
            </a:pPr>
            <a:r>
              <a:rPr sz="2250" b="0">
                <a:solidFill>
                  <a:srgbClr val="536681"/>
                </a:solidFill>
                <a:latin typeface="Microsoft YaHei"/>
                <a:ea typeface="Microsoft YaHei"/>
                <a:cs typeface="Microsoft YaHei"/>
              </a:rPr>
              <a:t>【此处放回答引用原文跳转截图】</a:t>
            </a:r>
          </a:p>
        </p:txBody>
      </p:sp>
      <p:sp>
        <p:nvSpPr>
          <p:cNvPr id="33" name="16:9">
            <a:extLst xmlns:a="http://schemas.openxmlformats.org/drawingml/2006/main">
              <a:ext uri="{FF2B5EF4-FFF2-40B4-BE49-F238E27FC236}">
                <a16:creationId xmlns:a16="http://schemas.microsoft.com/office/drawing/2014/main" id="{060AE422-DE78-4638-968D-04A8EA9EE059}"/>
              </a:ext>
            </a:extLst>
          </p:cNvPr>
          <p:cNvSpPr>
            <a:spLocks xmlns:a="http://schemas.openxmlformats.org/drawingml/2006/main" noGrp="1"/>
          </p:cNvSpPr>
          <p:nvPr/>
        </p:nvSpPr>
        <p:spPr>
          <a:xfrm xmlns:a="http://schemas.openxmlformats.org/drawingml/2006/main">
            <a:off x="7286625" y="421957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75" b="0">
                <a:solidFill>
                  <a:srgbClr val="536681"/>
                </a:solidFill>
                <a:latin typeface="Montserrat"/>
                <a:ea typeface="Montserrat"/>
                <a:cs typeface="Montserrat"/>
              </a:defRPr>
            </a:defPPr>
          </a:lstStyle>
          <a:p xmlns:a="http://schemas.openxmlformats.org/drawingml/2006/main">
            <a:pPr algn="r">
              <a:buNone/>
              <a:defRPr sz="1575" b="0">
                <a:solidFill>
                  <a:srgbClr val="536681"/>
                </a:solidFill>
                <a:latin typeface="Montserrat"/>
                <a:ea typeface="Montserrat"/>
                <a:cs typeface="Montserrat"/>
              </a:defRPr>
            </a:pPr>
            <a:r>
              <a:rPr sz="1575" b="0">
                <a:solidFill>
                  <a:srgbClr val="536681"/>
                </a:solidFill>
                <a:latin typeface="Montserrat"/>
                <a:ea typeface="Montserrat"/>
                <a:cs typeface="Montserrat"/>
              </a:rPr>
              <a:t>16:9</a:t>
            </a:r>
          </a:p>
        </p:txBody>
      </p:sp>
      <p:sp>
        <p:nvSpPr>
          <p:cNvPr id="34" name="Screenshot placeholder: 【此处放文献阅读与高亮联动截图】">
            <a:extLst xmlns:a="http://schemas.openxmlformats.org/drawingml/2006/main">
              <a:ext uri="{FF2B5EF4-FFF2-40B4-BE49-F238E27FC236}">
                <a16:creationId xmlns:a16="http://schemas.microsoft.com/office/drawing/2014/main" id="{11C3B11D-14AE-4501-AC81-35741EA37688}"/>
              </a:ext>
            </a:extLst>
          </p:cNvPr>
          <p:cNvSpPr>
            <a:spLocks xmlns:a="http://schemas.openxmlformats.org/drawingml/2006/main" noGrp="1"/>
          </p:cNvSpPr>
          <p:nvPr/>
        </p:nvSpPr>
        <p:spPr>
          <a:xfrm xmlns:a="http://schemas.openxmlformats.org/drawingml/2006/main">
            <a:off x="9477375" y="4048125"/>
            <a:ext cx="7429500" cy="4181475"/>
          </a:xfrm>
          <a:prstGeom xmlns:a="http://schemas.openxmlformats.org/drawingml/2006/main" prst="roundRect">
            <a:avLst>
              <a:gd name="adj" fmla="val 5467"/>
            </a:avLst>
          </a:prstGeom>
          <a:solidFill xmlns:a="http://schemas.openxmlformats.org/drawingml/2006/main">
            <a:srgbClr val="DCE2EB"/>
          </a:solidFill>
          <a:ln xmlns:a="http://schemas.openxmlformats.org/drawingml/2006/main" w="16193">
            <a:solidFill>
              <a:srgbClr val="8FA4C1"/>
            </a:solidFill>
          </a:ln>
        </p:spPr>
      </p:sp>
      <p:sp>
        <p:nvSpPr>
          <p:cNvPr id="35" name="【此处放文献阅读与高亮联动截图】">
            <a:extLst xmlns:a="http://schemas.openxmlformats.org/drawingml/2006/main">
              <a:ext uri="{FF2B5EF4-FFF2-40B4-BE49-F238E27FC236}">
                <a16:creationId xmlns:a16="http://schemas.microsoft.com/office/drawing/2014/main" id="{18BBA2F6-0643-4D68-9298-9F0FD40180CC}"/>
              </a:ext>
            </a:extLst>
          </p:cNvPr>
          <p:cNvSpPr>
            <a:spLocks xmlns:a="http://schemas.openxmlformats.org/drawingml/2006/main" noGrp="1"/>
          </p:cNvSpPr>
          <p:nvPr/>
        </p:nvSpPr>
        <p:spPr>
          <a:xfrm xmlns:a="http://schemas.openxmlformats.org/drawingml/2006/main">
            <a:off x="9686925" y="5853113"/>
            <a:ext cx="701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250" b="0">
                <a:solidFill>
                  <a:srgbClr val="536681"/>
                </a:solidFill>
                <a:latin typeface="Microsoft YaHei"/>
                <a:ea typeface="Microsoft YaHei"/>
                <a:cs typeface="Microsoft YaHei"/>
              </a:defRPr>
            </a:defPPr>
          </a:lstStyle>
          <a:p xmlns:a="http://schemas.openxmlformats.org/drawingml/2006/main">
            <a:pPr algn="ctr">
              <a:buNone/>
              <a:defRPr sz="2250" b="0">
                <a:solidFill>
                  <a:srgbClr val="536681"/>
                </a:solidFill>
                <a:latin typeface="Microsoft YaHei"/>
                <a:ea typeface="Microsoft YaHei"/>
                <a:cs typeface="Microsoft YaHei"/>
              </a:defRPr>
            </a:pPr>
            <a:r>
              <a:rPr sz="2250" b="0">
                <a:solidFill>
                  <a:srgbClr val="536681"/>
                </a:solidFill>
                <a:latin typeface="Microsoft YaHei"/>
                <a:ea typeface="Microsoft YaHei"/>
                <a:cs typeface="Microsoft YaHei"/>
              </a:rPr>
              <a:t>【此处放文献阅读与高亮联动截图】</a:t>
            </a:r>
          </a:p>
        </p:txBody>
      </p:sp>
      <p:sp>
        <p:nvSpPr>
          <p:cNvPr id="36" name="16:9">
            <a:extLst xmlns:a="http://schemas.openxmlformats.org/drawingml/2006/main">
              <a:ext uri="{FF2B5EF4-FFF2-40B4-BE49-F238E27FC236}">
                <a16:creationId xmlns:a16="http://schemas.microsoft.com/office/drawing/2014/main" id="{C9AA21A0-9632-4E95-93AD-53B6DD6E461C}"/>
              </a:ext>
            </a:extLst>
          </p:cNvPr>
          <p:cNvSpPr>
            <a:spLocks xmlns:a="http://schemas.openxmlformats.org/drawingml/2006/main" noGrp="1"/>
          </p:cNvSpPr>
          <p:nvPr/>
        </p:nvSpPr>
        <p:spPr>
          <a:xfrm xmlns:a="http://schemas.openxmlformats.org/drawingml/2006/main">
            <a:off x="15525750" y="421957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75" b="0">
                <a:solidFill>
                  <a:srgbClr val="536681"/>
                </a:solidFill>
                <a:latin typeface="Montserrat"/>
                <a:ea typeface="Montserrat"/>
                <a:cs typeface="Montserrat"/>
              </a:defRPr>
            </a:defPPr>
          </a:lstStyle>
          <a:p xmlns:a="http://schemas.openxmlformats.org/drawingml/2006/main">
            <a:pPr algn="r">
              <a:buNone/>
              <a:defRPr sz="1575" b="0">
                <a:solidFill>
                  <a:srgbClr val="536681"/>
                </a:solidFill>
                <a:latin typeface="Montserrat"/>
                <a:ea typeface="Montserrat"/>
                <a:cs typeface="Montserrat"/>
              </a:defRPr>
            </a:pPr>
            <a:r>
              <a:rPr sz="1575" b="0">
                <a:solidFill>
                  <a:srgbClr val="536681"/>
                </a:solidFill>
                <a:latin typeface="Montserrat"/>
                <a:ea typeface="Montserrat"/>
                <a:cs typeface="Montserrat"/>
              </a:rPr>
              <a:t>16:9</a:t>
            </a:r>
          </a:p>
        </p:txBody>
      </p:sp>
      <p:sp>
        <p:nvSpPr>
          <p:cNvPr id="37" name="1  Retrieved passage">
            <a:extLst xmlns:a="http://schemas.openxmlformats.org/drawingml/2006/main">
              <a:ext uri="{FF2B5EF4-FFF2-40B4-BE49-F238E27FC236}">
                <a16:creationId xmlns:a16="http://schemas.microsoft.com/office/drawing/2014/main" id="{CF0D299F-CDD6-4AB9-980A-950582FC0A4C}"/>
              </a:ext>
            </a:extLst>
          </p:cNvPr>
          <p:cNvSpPr>
            <a:spLocks xmlns:a="http://schemas.openxmlformats.org/drawingml/2006/main" noGrp="1"/>
          </p:cNvSpPr>
          <p:nvPr/>
        </p:nvSpPr>
        <p:spPr>
          <a:xfrm xmlns:a="http://schemas.openxmlformats.org/drawingml/2006/main">
            <a:off x="1238250" y="8639175"/>
            <a:ext cx="5095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1B40"/>
                </a:solidFill>
                <a:latin typeface="Montserrat Bold"/>
                <a:ea typeface="Montserrat Bold"/>
                <a:cs typeface="Montserrat Bold"/>
              </a:defRPr>
            </a:defPPr>
          </a:lstStyle>
          <a:p xmlns:a="http://schemas.openxmlformats.org/drawingml/2006/main">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1  Retrieved passage</a:t>
            </a:r>
          </a:p>
        </p:txBody>
      </p:sp>
      <p:sp>
        <p:nvSpPr>
          <p:cNvPr id="38" name="paper_id, chunk_id and snippet">
            <a:extLst xmlns:a="http://schemas.openxmlformats.org/drawingml/2006/main">
              <a:ext uri="{FF2B5EF4-FFF2-40B4-BE49-F238E27FC236}">
                <a16:creationId xmlns:a16="http://schemas.microsoft.com/office/drawing/2014/main" id="{90229FAA-448B-4007-A698-BD860F089711}"/>
              </a:ext>
            </a:extLst>
          </p:cNvPr>
          <p:cNvSpPr>
            <a:spLocks xmlns:a="http://schemas.openxmlformats.org/drawingml/2006/main" noGrp="1"/>
          </p:cNvSpPr>
          <p:nvPr/>
        </p:nvSpPr>
        <p:spPr>
          <a:xfrm xmlns:a="http://schemas.openxmlformats.org/drawingml/2006/main">
            <a:off x="1238250" y="9124950"/>
            <a:ext cx="5095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paper_id, chunk_id and snippet</a:t>
            </a:r>
          </a:p>
        </p:txBody>
      </p:sp>
      <p:sp>
        <p:nvSpPr>
          <p:cNvPr id="39" name="2  Page location">
            <a:extLst xmlns:a="http://schemas.openxmlformats.org/drawingml/2006/main">
              <a:ext uri="{FF2B5EF4-FFF2-40B4-BE49-F238E27FC236}">
                <a16:creationId xmlns:a16="http://schemas.microsoft.com/office/drawing/2014/main" id="{05138EA6-BC7D-4697-893C-BC724600E99B}"/>
              </a:ext>
            </a:extLst>
          </p:cNvPr>
          <p:cNvSpPr>
            <a:spLocks xmlns:a="http://schemas.openxmlformats.org/drawingml/2006/main" noGrp="1"/>
          </p:cNvSpPr>
          <p:nvPr/>
        </p:nvSpPr>
        <p:spPr>
          <a:xfrm xmlns:a="http://schemas.openxmlformats.org/drawingml/2006/main">
            <a:off x="6667500" y="8639175"/>
            <a:ext cx="5095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1B40"/>
                </a:solidFill>
                <a:latin typeface="Montserrat Bold"/>
                <a:ea typeface="Montserrat Bold"/>
                <a:cs typeface="Montserrat Bold"/>
              </a:defRPr>
            </a:defPPr>
          </a:lstStyle>
          <a:p xmlns:a="http://schemas.openxmlformats.org/drawingml/2006/main">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2  Page location</a:t>
            </a:r>
          </a:p>
        </p:txBody>
      </p:sp>
      <p:sp>
        <p:nvSpPr>
          <p:cNvPr id="40" name="Normalised text and keyword matching">
            <a:extLst xmlns:a="http://schemas.openxmlformats.org/drawingml/2006/main">
              <a:ext uri="{FF2B5EF4-FFF2-40B4-BE49-F238E27FC236}">
                <a16:creationId xmlns:a16="http://schemas.microsoft.com/office/drawing/2014/main" id="{AD3524AB-A7AD-4C21-AC95-B7E555DD0384}"/>
              </a:ext>
            </a:extLst>
          </p:cNvPr>
          <p:cNvSpPr>
            <a:spLocks xmlns:a="http://schemas.openxmlformats.org/drawingml/2006/main" noGrp="1"/>
          </p:cNvSpPr>
          <p:nvPr/>
        </p:nvSpPr>
        <p:spPr>
          <a:xfrm xmlns:a="http://schemas.openxmlformats.org/drawingml/2006/main">
            <a:off x="6667500" y="9124950"/>
            <a:ext cx="5095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Normalised text and keyword matching</a:t>
            </a:r>
          </a:p>
        </p:txBody>
      </p:sp>
      <p:sp>
        <p:nvSpPr>
          <p:cNvPr id="41" name="3  Reader response">
            <a:extLst xmlns:a="http://schemas.openxmlformats.org/drawingml/2006/main">
              <a:ext uri="{FF2B5EF4-FFF2-40B4-BE49-F238E27FC236}">
                <a16:creationId xmlns:a16="http://schemas.microsoft.com/office/drawing/2014/main" id="{5CEDB522-FECF-4269-8C82-0BB20F71C96F}"/>
              </a:ext>
            </a:extLst>
          </p:cNvPr>
          <p:cNvSpPr>
            <a:spLocks xmlns:a="http://schemas.openxmlformats.org/drawingml/2006/main" noGrp="1"/>
          </p:cNvSpPr>
          <p:nvPr/>
        </p:nvSpPr>
        <p:spPr>
          <a:xfrm xmlns:a="http://schemas.openxmlformats.org/drawingml/2006/main">
            <a:off x="12096750" y="8639175"/>
            <a:ext cx="5095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1B40"/>
                </a:solidFill>
                <a:latin typeface="Montserrat Bold"/>
                <a:ea typeface="Montserrat Bold"/>
                <a:cs typeface="Montserrat Bold"/>
              </a:defRPr>
            </a:defPPr>
          </a:lstStyle>
          <a:p xmlns:a="http://schemas.openxmlformats.org/drawingml/2006/main">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3  Reader response</a:t>
            </a:r>
          </a:p>
        </p:txBody>
      </p:sp>
      <p:sp>
        <p:nvSpPr>
          <p:cNvPr id="42" name="Open the PDF page and highlight terms">
            <a:extLst xmlns:a="http://schemas.openxmlformats.org/drawingml/2006/main">
              <a:ext uri="{FF2B5EF4-FFF2-40B4-BE49-F238E27FC236}">
                <a16:creationId xmlns:a16="http://schemas.microsoft.com/office/drawing/2014/main" id="{E97E6B30-8DF7-4EFD-8F90-B4C83AE5F849}"/>
              </a:ext>
            </a:extLst>
          </p:cNvPr>
          <p:cNvSpPr>
            <a:spLocks xmlns:a="http://schemas.openxmlformats.org/drawingml/2006/main" noGrp="1"/>
          </p:cNvSpPr>
          <p:nvPr/>
        </p:nvSpPr>
        <p:spPr>
          <a:xfrm xmlns:a="http://schemas.openxmlformats.org/drawingml/2006/main">
            <a:off x="12096750" y="9124950"/>
            <a:ext cx="5095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Open the PDF page and highlight terms</a:t>
            </a:r>
          </a:p>
        </p:txBody>
      </p:sp>
    </p:spTree>
    <p:extLst>
      <p:ext uri="{BB962C8B-B14F-4D97-AF65-F5344CB8AC3E}">
        <p14:creationId xmlns:p14="http://schemas.microsoft.com/office/powerpoint/2010/main" val="2130362618"/>
      </p:ext>
    </p:extLst>
  </p:cSld>
</p:sld>
</file>

<file path=ppt/slides/slide8.xml><?xml version="1.0" encoding="utf-8"?>
<p:sld xmlns:p="http://schemas.openxmlformats.org/presentationml/2006/main">
  <p:cSld>
    <p:bg>
      <p:bgPr>
        <a:solidFill xmlns:a="http://schemas.openxmlformats.org/drawingml/2006/main">
          <a:srgbClr val="F1F1F1"/>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00EBB5D1-BA68-47DE-BFF8-8E2FD2785477}"/>
              </a:ext>
            </a:extLst>
          </p:cNvPr>
          <p:cNvSpPr>
            <a:spLocks xmlns:a="http://schemas.openxmlformats.org/drawingml/2006/main" noGrp="1"/>
          </p:cNvSpPr>
          <p:nvPr/>
        </p:nvSpPr>
        <p:spPr>
          <a:xfrm xmlns:a="http://schemas.openxmlformats.org/drawingml/2006/main" rot="0" flipH="0" flipV="0">
            <a:off x="4410075" y="514350"/>
            <a:ext cx="9467850" cy="819150"/>
          </a:xfrm>
          <a:custGeom xmlns:a="http://schemas.openxmlformats.org/drawingml/2006/main">
            <a:rect l="l" t="t" r="r" b="b"/>
            <a:pathLst>
              <a:path w="2494114" h="214543">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xmlns:a="http://schemas.openxmlformats.org/drawingml/2006/main" w="38100" cap="rnd">
            <a:solidFill>
              <a:srgbClr val="101B40"/>
            </a:solidFill>
            <a:prstDash val="solid"/>
            <a:round/>
          </a:ln>
        </p:spPr>
      </p:sp>
      <p:sp>
        <p:nvSpPr>
          <p:cNvPr id="4" name="TextBox 4">
            <a:extLst xmlns:a="http://schemas.openxmlformats.org/drawingml/2006/main">
              <a:ext uri="{FF2B5EF4-FFF2-40B4-BE49-F238E27FC236}">
                <a16:creationId xmlns:a16="http://schemas.microsoft.com/office/drawing/2014/main" id="{3BE45BEB-BEFB-48A4-BDEB-CC342A0FEDA6}"/>
              </a:ext>
            </a:extLst>
          </p:cNvPr>
          <p:cNvSpPr>
            <a:spLocks xmlns:a="http://schemas.openxmlformats.org/drawingml/2006/main" noGrp="1"/>
          </p:cNvSpPr>
          <p:nvPr/>
        </p:nvSpPr>
        <p:spPr>
          <a:xfrm xmlns:a="http://schemas.openxmlformats.org/drawingml/2006/main" rot="0" flipH="0" flipV="0">
            <a:off x="4409081" y="370811"/>
            <a:ext cx="9469839" cy="95925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p>
        </p:txBody>
      </p:sp>
      <p:sp>
        <p:nvSpPr>
          <p:cNvPr id="6" name="Freeform 6">
            <a:extLst xmlns:a="http://schemas.openxmlformats.org/drawingml/2006/main">
              <a:ext uri="{FF2B5EF4-FFF2-40B4-BE49-F238E27FC236}">
                <a16:creationId xmlns:a16="http://schemas.microsoft.com/office/drawing/2014/main" id="{4BA2262B-652D-4E9D-9011-CC8F9ADEFEED}"/>
              </a:ext>
            </a:extLst>
          </p:cNvPr>
          <p:cNvSpPr>
            <a:spLocks xmlns:a="http://schemas.openxmlformats.org/drawingml/2006/main" noGrp="1"/>
          </p:cNvSpPr>
          <p:nvPr/>
        </p:nvSpPr>
        <p:spPr>
          <a:xfrm xmlns:a="http://schemas.openxmlformats.org/drawingml/2006/main" rot="0" flipH="0" flipV="0">
            <a:off x="9458325" y="628650"/>
            <a:ext cx="1666875" cy="590550"/>
          </a:xfrm>
          <a:custGeom xmlns:a="http://schemas.openxmlformats.org/drawingml/2006/main">
            <a:rect l="l" t="t" r="r" b="b"/>
            <a:pathLst>
              <a:path w="438737" h="155110">
                <a:moveTo>
                  <a:pt x="77555" y="0"/>
                </a:moveTo>
                <a:lnTo>
                  <a:pt x="361182" y="0"/>
                </a:lnTo>
                <a:cubicBezTo>
                  <a:pt x="404015" y="0"/>
                  <a:pt x="438737" y="34722"/>
                  <a:pt x="438737" y="77555"/>
                </a:cubicBezTo>
                <a:lnTo>
                  <a:pt x="438737" y="77555"/>
                </a:lnTo>
                <a:cubicBezTo>
                  <a:pt x="438737" y="120387"/>
                  <a:pt x="404015" y="155110"/>
                  <a:pt x="361182" y="155110"/>
                </a:cubicBezTo>
                <a:lnTo>
                  <a:pt x="77555" y="155110"/>
                </a:lnTo>
                <a:cubicBezTo>
                  <a:pt x="34722" y="155110"/>
                  <a:pt x="0" y="120387"/>
                  <a:pt x="0" y="77555"/>
                </a:cubicBezTo>
                <a:lnTo>
                  <a:pt x="0" y="77555"/>
                </a:lnTo>
                <a:cubicBezTo>
                  <a:pt x="0" y="34722"/>
                  <a:pt x="34722" y="0"/>
                  <a:pt x="77555" y="0"/>
                </a:cubicBezTo>
                <a:close/>
              </a:path>
            </a:pathLst>
          </a:custGeom>
          <a:solidFill xmlns:a="http://schemas.openxmlformats.org/drawingml/2006/main">
            <a:srgbClr val="101B40"/>
          </a:solidFill>
          <a:ln xmlns:a="http://schemas.openxmlformats.org/drawingml/2006/main" cap="rnd">
            <a:noFill/>
            <a:prstDash val="solid"/>
            <a:round/>
          </a:ln>
        </p:spPr>
      </p:sp>
      <p:sp>
        <p:nvSpPr>
          <p:cNvPr id="7" name="TextBox 7">
            <a:extLst xmlns:a="http://schemas.openxmlformats.org/drawingml/2006/main">
              <a:ext uri="{FF2B5EF4-FFF2-40B4-BE49-F238E27FC236}">
                <a16:creationId xmlns:a16="http://schemas.microsoft.com/office/drawing/2014/main" id="{84EA0E48-D85F-42AC-AF4E-3D56CDB188B9}"/>
              </a:ext>
            </a:extLst>
          </p:cNvPr>
          <p:cNvSpPr>
            <a:spLocks xmlns:a="http://schemas.openxmlformats.org/drawingml/2006/main" noGrp="1"/>
          </p:cNvSpPr>
          <p:nvPr/>
        </p:nvSpPr>
        <p:spPr>
          <a:xfrm xmlns:a="http://schemas.openxmlformats.org/drawingml/2006/main" rot="0" flipH="0" flipV="0">
            <a:off x="9460786" y="483641"/>
            <a:ext cx="1665830" cy="73359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p>
        </p:txBody>
      </p:sp>
      <p:sp>
        <p:nvSpPr>
          <p:cNvPr id="9" name="TextBox 9">
            <a:extLst xmlns:a="http://schemas.openxmlformats.org/drawingml/2006/main">
              <a:ext uri="{FF2B5EF4-FFF2-40B4-BE49-F238E27FC236}">
                <a16:creationId xmlns:a16="http://schemas.microsoft.com/office/drawing/2014/main" id="{4DFA61FF-071D-48A7-81D5-04E81BE0130C}"/>
              </a:ext>
            </a:extLst>
          </p:cNvPr>
          <p:cNvSpPr>
            <a:spLocks xmlns:a="http://schemas.openxmlformats.org/drawingml/2006/main" noGrp="1"/>
          </p:cNvSpPr>
          <p:nvPr/>
        </p:nvSpPr>
        <p:spPr>
          <a:xfrm xmlns:a="http://schemas.openxmlformats.org/drawingml/2006/main" rot="0">
            <a:off x="4438650" y="733425"/>
            <a:ext cx="16668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VISION</a:t>
            </a:r>
          </a:p>
        </p:txBody>
      </p:sp>
      <p:sp>
        <p:nvSpPr>
          <p:cNvPr id="10" name="TextBox 10">
            <a:extLst xmlns:a="http://schemas.openxmlformats.org/drawingml/2006/main">
              <a:ext uri="{FF2B5EF4-FFF2-40B4-BE49-F238E27FC236}">
                <a16:creationId xmlns:a16="http://schemas.microsoft.com/office/drawing/2014/main" id="{60EF4159-831A-4F7F-B20D-8BE9A7360C87}"/>
              </a:ext>
            </a:extLst>
          </p:cNvPr>
          <p:cNvSpPr>
            <a:spLocks xmlns:a="http://schemas.openxmlformats.org/drawingml/2006/main" noGrp="1"/>
          </p:cNvSpPr>
          <p:nvPr/>
        </p:nvSpPr>
        <p:spPr>
          <a:xfrm xmlns:a="http://schemas.openxmlformats.org/drawingml/2006/main" rot="0">
            <a:off x="6829425" y="733425"/>
            <a:ext cx="190500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DESIGN</a:t>
            </a:r>
          </a:p>
        </p:txBody>
      </p:sp>
      <p:sp>
        <p:nvSpPr>
          <p:cNvPr id="11" name="TextBox 11">
            <a:extLst xmlns:a="http://schemas.openxmlformats.org/drawingml/2006/main">
              <a:ext uri="{FF2B5EF4-FFF2-40B4-BE49-F238E27FC236}">
                <a16:creationId xmlns:a16="http://schemas.microsoft.com/office/drawing/2014/main" id="{D1563E6A-E1D7-4A37-A1F6-AAD90F9B9F8E}"/>
              </a:ext>
            </a:extLst>
          </p:cNvPr>
          <p:cNvSpPr>
            <a:spLocks xmlns:a="http://schemas.openxmlformats.org/drawingml/2006/main" noGrp="1"/>
          </p:cNvSpPr>
          <p:nvPr/>
        </p:nvSpPr>
        <p:spPr>
          <a:xfrm xmlns:a="http://schemas.openxmlformats.org/drawingml/2006/main" rot="0">
            <a:off x="9496425" y="733425"/>
            <a:ext cx="15906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1">
                <a:solidFill>
                  <a:srgbClr val="FFFFFF"/>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1">
                <a:solidFill>
                  <a:srgbClr val="FFFFFF"/>
                </a:solidFill>
                <a:latin typeface="Montserrat"/>
                <a:ea typeface="Montserrat"/>
                <a:cs typeface="Montserrat"/>
              </a:defRPr>
            </a:pPr>
            <a:r>
              <a:rPr sz="1800" b="1" spc="3">
                <a:solidFill>
                  <a:srgbClr val="FFFFFF"/>
                </a:solidFill>
                <a:latin typeface="Montserrat"/>
                <a:ea typeface="Montserrat"/>
                <a:cs typeface="Montserrat"/>
              </a:rPr>
              <a:t>SYSTEM</a:t>
            </a:r>
          </a:p>
        </p:txBody>
      </p:sp>
      <p:sp>
        <p:nvSpPr>
          <p:cNvPr id="12" name="TextBox 12">
            <a:extLst xmlns:a="http://schemas.openxmlformats.org/drawingml/2006/main">
              <a:ext uri="{FF2B5EF4-FFF2-40B4-BE49-F238E27FC236}">
                <a16:creationId xmlns:a16="http://schemas.microsoft.com/office/drawing/2014/main" id="{CE8FF437-9BCF-4CBD-86E8-60360A4031B6}"/>
              </a:ext>
            </a:extLst>
          </p:cNvPr>
          <p:cNvSpPr>
            <a:spLocks xmlns:a="http://schemas.openxmlformats.org/drawingml/2006/main" noGrp="1"/>
          </p:cNvSpPr>
          <p:nvPr/>
        </p:nvSpPr>
        <p:spPr>
          <a:xfrm xmlns:a="http://schemas.openxmlformats.org/drawingml/2006/main" rot="0">
            <a:off x="11591925" y="733425"/>
            <a:ext cx="222885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REVIEW</a:t>
            </a:r>
          </a:p>
        </p:txBody>
      </p:sp>
      <p:sp>
        <p:nvSpPr>
          <p:cNvPr id="13" name="TextBox 13">
            <a:extLst xmlns:a="http://schemas.openxmlformats.org/drawingml/2006/main">
              <a:ext uri="{FF2B5EF4-FFF2-40B4-BE49-F238E27FC236}">
                <a16:creationId xmlns:a16="http://schemas.microsoft.com/office/drawing/2014/main" id="{5A5EDE88-64C1-4D0F-B7A6-EC2B8400AE8F}"/>
              </a:ext>
            </a:extLst>
          </p:cNvPr>
          <p:cNvSpPr>
            <a:spLocks xmlns:a="http://schemas.openxmlformats.org/drawingml/2006/main" noGrp="1"/>
          </p:cNvSpPr>
          <p:nvPr/>
        </p:nvSpPr>
        <p:spPr>
          <a:xfrm xmlns:a="http://schemas.openxmlformats.org/drawingml/2006/main" rot="0">
            <a:off x="800100" y="628650"/>
            <a:ext cx="2381250" cy="56769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defRPr sz="1800" b="1">
                <a:solidFill>
                  <a:srgbClr val="101B40"/>
                </a:solidFill>
                <a:latin typeface="Montserrat"/>
                <a:ea typeface="Montserrat"/>
                <a:cs typeface="Montserrat"/>
              </a:defRPr>
            </a:defPPr>
          </a:lstStyle>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PDF</a:t>
            </a:r>
          </a:p>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GALAXAI</a:t>
            </a:r>
          </a:p>
        </p:txBody>
      </p:sp>
      <p:sp>
        <p:nvSpPr>
          <p:cNvPr id="14" name="08">
            <a:extLst xmlns:a="http://schemas.openxmlformats.org/drawingml/2006/main">
              <a:ext uri="{FF2B5EF4-FFF2-40B4-BE49-F238E27FC236}">
                <a16:creationId xmlns:a16="http://schemas.microsoft.com/office/drawing/2014/main" id="{0728AA14-BDD9-4206-AB7E-380FA547C687}"/>
              </a:ext>
            </a:extLst>
          </p:cNvPr>
          <p:cNvSpPr>
            <a:spLocks xmlns:a="http://schemas.openxmlformats.org/drawingml/2006/main" noGrp="1"/>
          </p:cNvSpPr>
          <p:nvPr/>
        </p:nvSpPr>
        <p:spPr>
          <a:xfrm xmlns:a="http://schemas.openxmlformats.org/drawingml/2006/main">
            <a:off x="16735425" y="73342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1">
                <a:solidFill>
                  <a:srgbClr val="101B40"/>
                </a:solidFill>
                <a:latin typeface="Montserrat Bold"/>
                <a:ea typeface="Montserrat Bold"/>
                <a:cs typeface="Montserrat Bold"/>
              </a:defRPr>
            </a:defPPr>
          </a:lstStyle>
          <a:p xmlns:a="http://schemas.openxmlformats.org/drawingml/2006/main">
            <a:pPr algn="r">
              <a:buNone/>
              <a:defRPr sz="1875" b="1">
                <a:solidFill>
                  <a:srgbClr val="101B40"/>
                </a:solidFill>
                <a:latin typeface="Montserrat Bold"/>
                <a:ea typeface="Montserrat Bold"/>
                <a:cs typeface="Montserrat Bold"/>
              </a:defRPr>
            </a:pPr>
            <a:r>
              <a:rPr sz="1875" b="1">
                <a:solidFill>
                  <a:srgbClr val="101B40"/>
                </a:solidFill>
                <a:latin typeface="Montserrat Bold"/>
                <a:ea typeface="Montserrat Bold"/>
                <a:cs typeface="Montserrat Bold"/>
              </a:rPr>
              <a:t>08</a:t>
            </a:r>
          </a:p>
        </p:txBody>
      </p:sp>
      <p:sp>
        <p:nvSpPr>
          <p:cNvPr id="15" name="PDF-GalaxAI">
            <a:extLst xmlns:a="http://schemas.openxmlformats.org/drawingml/2006/main">
              <a:ext uri="{FF2B5EF4-FFF2-40B4-BE49-F238E27FC236}">
                <a16:creationId xmlns:a16="http://schemas.microsoft.com/office/drawing/2014/main" id="{9D01298A-BF2B-48DD-9414-882660E3F5ED}"/>
              </a:ext>
            </a:extLst>
          </p:cNvPr>
          <p:cNvSpPr>
            <a:spLocks xmlns:a="http://schemas.openxmlformats.org/drawingml/2006/main" noGrp="1"/>
          </p:cNvSpPr>
          <p:nvPr/>
        </p:nvSpPr>
        <p:spPr>
          <a:xfrm xmlns:a="http://schemas.openxmlformats.org/drawingml/2006/main">
            <a:off x="1238250" y="96202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681"/>
                </a:solidFill>
                <a:latin typeface="Montserrat"/>
                <a:ea typeface="Montserrat"/>
                <a:cs typeface="Montserrat"/>
              </a:defRPr>
            </a:defPPr>
          </a:lstStyle>
          <a:p xmlns:a="http://schemas.openxmlformats.org/drawingml/2006/main">
            <a:pPr algn="l">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PDF-GalaxAI</a:t>
            </a:r>
          </a:p>
        </p:txBody>
      </p:sp>
      <p:sp>
        <p:nvSpPr>
          <p:cNvPr id="16" name="08 / 12">
            <a:extLst xmlns:a="http://schemas.openxmlformats.org/drawingml/2006/main">
              <a:ext uri="{FF2B5EF4-FFF2-40B4-BE49-F238E27FC236}">
                <a16:creationId xmlns:a16="http://schemas.microsoft.com/office/drawing/2014/main" id="{CA9CB935-052F-4E2D-82A9-914A1760FC95}"/>
              </a:ext>
            </a:extLst>
          </p:cNvPr>
          <p:cNvSpPr>
            <a:spLocks xmlns:a="http://schemas.openxmlformats.org/drawingml/2006/main" noGrp="1"/>
          </p:cNvSpPr>
          <p:nvPr/>
        </p:nvSpPr>
        <p:spPr>
          <a:xfrm xmlns:a="http://schemas.openxmlformats.org/drawingml/2006/main">
            <a:off x="15430500" y="9620250"/>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536681"/>
                </a:solidFill>
                <a:latin typeface="Montserrat"/>
                <a:ea typeface="Montserrat"/>
                <a:cs typeface="Montserrat"/>
              </a:defRPr>
            </a:defPPr>
          </a:lstStyle>
          <a:p xmlns:a="http://schemas.openxmlformats.org/drawingml/2006/main">
            <a:pPr algn="r">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08 / 12</a:t>
            </a:r>
          </a:p>
        </p:txBody>
      </p:sp>
      <p:sp>
        <p:nvSpPr>
          <p:cNvPr id="17" name="Full-Stack System Architecture">
            <a:extLst xmlns:a="http://schemas.openxmlformats.org/drawingml/2006/main">
              <a:ext uri="{FF2B5EF4-FFF2-40B4-BE49-F238E27FC236}">
                <a16:creationId xmlns:a16="http://schemas.microsoft.com/office/drawing/2014/main" id="{C7AA5BB8-7626-4EC6-A846-BD73398F9B41}"/>
              </a:ext>
            </a:extLst>
          </p:cNvPr>
          <p:cNvSpPr>
            <a:spLocks xmlns:a="http://schemas.openxmlformats.org/drawingml/2006/main" noGrp="1"/>
          </p:cNvSpPr>
          <p:nvPr/>
        </p:nvSpPr>
        <p:spPr>
          <a:xfrm xmlns:a="http://schemas.openxmlformats.org/drawingml/2006/main">
            <a:off x="1238250" y="1952625"/>
            <a:ext cx="15668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425" b="1">
                <a:solidFill>
                  <a:srgbClr val="101B40"/>
                </a:solidFill>
                <a:latin typeface="Montserrat Bold"/>
                <a:ea typeface="Montserrat Bold"/>
                <a:cs typeface="Montserrat Bold"/>
              </a:defRPr>
            </a:defPPr>
          </a:lstStyle>
          <a:p xmlns:a="http://schemas.openxmlformats.org/drawingml/2006/main">
            <a:pPr algn="l">
              <a:buNone/>
              <a:defRPr sz="4425" b="1">
                <a:solidFill>
                  <a:srgbClr val="101B40"/>
                </a:solidFill>
                <a:latin typeface="Montserrat Bold"/>
                <a:ea typeface="Montserrat Bold"/>
                <a:cs typeface="Montserrat Bold"/>
              </a:defRPr>
            </a:pPr>
            <a:r>
              <a:rPr sz="4425" b="1">
                <a:solidFill>
                  <a:srgbClr val="101B40"/>
                </a:solidFill>
                <a:latin typeface="Montserrat Bold"/>
                <a:ea typeface="Montserrat Bold"/>
                <a:cs typeface="Montserrat Bold"/>
              </a:rPr>
              <a:t>Full-Stack System Architecture</a:t>
            </a:r>
          </a:p>
        </p:txBody>
      </p:sp>
      <p:sp>
        <p:nvSpPr>
          <p:cNvPr id="18" name="A shared paper identity connects semantic processing, WebGL exploratio">
            <a:extLst xmlns:a="http://schemas.openxmlformats.org/drawingml/2006/main">
              <a:ext uri="{FF2B5EF4-FFF2-40B4-BE49-F238E27FC236}">
                <a16:creationId xmlns:a16="http://schemas.microsoft.com/office/drawing/2014/main" id="{C3F24517-4257-4A83-9579-13D4D632515E}"/>
              </a:ext>
            </a:extLst>
          </p:cNvPr>
          <p:cNvSpPr>
            <a:spLocks xmlns:a="http://schemas.openxmlformats.org/drawingml/2006/main" noGrp="1"/>
          </p:cNvSpPr>
          <p:nvPr/>
        </p:nvSpPr>
        <p:spPr>
          <a:xfrm xmlns:a="http://schemas.openxmlformats.org/drawingml/2006/main">
            <a:off x="1257300" y="2905125"/>
            <a:ext cx="15382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36681"/>
                </a:solidFill>
                <a:latin typeface="Montserrat"/>
                <a:ea typeface="Montserrat"/>
                <a:cs typeface="Montserrat"/>
              </a:defRPr>
            </a:defPPr>
          </a:lstStyle>
          <a:p xmlns:a="http://schemas.openxmlformats.org/drawingml/2006/main">
            <a:pPr algn="l">
              <a:buNone/>
              <a:defRPr sz="2250" b="0">
                <a:solidFill>
                  <a:srgbClr val="536681"/>
                </a:solidFill>
                <a:latin typeface="Montserrat"/>
                <a:ea typeface="Montserrat"/>
                <a:cs typeface="Montserrat"/>
              </a:defRPr>
            </a:pPr>
            <a:r>
              <a:rPr sz="2250" b="0">
                <a:solidFill>
                  <a:srgbClr val="536681"/>
                </a:solidFill>
                <a:latin typeface="Montserrat"/>
                <a:ea typeface="Montserrat"/>
                <a:cs typeface="Montserrat"/>
              </a:rPr>
              <a:t>A shared paper identity connects semantic processing, WebGL exploration and evidence-based reading.</a:t>
            </a:r>
          </a:p>
        </p:txBody>
      </p:sp>
      <p:sp>
        <p:nvSpPr>
          <p:cNvPr id="19" name="">
            <a:extLst xmlns:a="http://schemas.openxmlformats.org/drawingml/2006/main">
              <a:ext uri="{FF2B5EF4-FFF2-40B4-BE49-F238E27FC236}">
                <a16:creationId xmlns:a16="http://schemas.microsoft.com/office/drawing/2014/main" id="{C087AC62-8009-4A7F-881F-14DD7BB9D264}"/>
              </a:ext>
            </a:extLst>
          </p:cNvPr>
          <p:cNvSpPr>
            <a:spLocks xmlns:a="http://schemas.openxmlformats.org/drawingml/2006/main" noGrp="1"/>
          </p:cNvSpPr>
          <p:nvPr/>
        </p:nvSpPr>
        <p:spPr>
          <a:xfrm xmlns:a="http://schemas.openxmlformats.org/drawingml/2006/main">
            <a:off x="1238250" y="4048125"/>
            <a:ext cx="4667250" cy="1857375"/>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6193">
            <a:solidFill>
              <a:srgbClr val="8FA4C1"/>
            </a:solidFill>
          </a:ln>
        </p:spPr>
      </p:sp>
      <p:sp>
        <p:nvSpPr>
          <p:cNvPr id="20" name="React web application">
            <a:extLst xmlns:a="http://schemas.openxmlformats.org/drawingml/2006/main">
              <a:ext uri="{FF2B5EF4-FFF2-40B4-BE49-F238E27FC236}">
                <a16:creationId xmlns:a16="http://schemas.microsoft.com/office/drawing/2014/main" id="{3D1AE0AF-C17E-4BED-A9B5-9A82690EE897}"/>
              </a:ext>
            </a:extLst>
          </p:cNvPr>
          <p:cNvSpPr>
            <a:spLocks xmlns:a="http://schemas.openxmlformats.org/drawingml/2006/main" noGrp="1"/>
          </p:cNvSpPr>
          <p:nvPr/>
        </p:nvSpPr>
        <p:spPr>
          <a:xfrm xmlns:a="http://schemas.openxmlformats.org/drawingml/2006/main">
            <a:off x="1447800" y="4238625"/>
            <a:ext cx="4248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1B40"/>
                </a:solidFill>
                <a:latin typeface="Montserrat Bold"/>
                <a:ea typeface="Montserrat Bold"/>
                <a:cs typeface="Montserrat Bold"/>
              </a:defRPr>
            </a:defPPr>
          </a:lstStyle>
          <a:p xmlns:a="http://schemas.openxmlformats.org/drawingml/2006/main">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React web application</a:t>
            </a:r>
          </a:p>
        </p:txBody>
      </p:sp>
      <p:sp>
        <p:nvSpPr>
          <p:cNvPr id="21" name="Vite + TypeScript&#10;Shared paper and interaction state">
            <a:extLst xmlns:a="http://schemas.openxmlformats.org/drawingml/2006/main">
              <a:ext uri="{FF2B5EF4-FFF2-40B4-BE49-F238E27FC236}">
                <a16:creationId xmlns:a16="http://schemas.microsoft.com/office/drawing/2014/main" id="{F7C78A0E-CC49-48E2-A88D-BBA7764785BD}"/>
              </a:ext>
            </a:extLst>
          </p:cNvPr>
          <p:cNvSpPr>
            <a:spLocks xmlns:a="http://schemas.openxmlformats.org/drawingml/2006/main" noGrp="1"/>
          </p:cNvSpPr>
          <p:nvPr/>
        </p:nvSpPr>
        <p:spPr>
          <a:xfrm xmlns:a="http://schemas.openxmlformats.org/drawingml/2006/main">
            <a:off x="1447800" y="4781550"/>
            <a:ext cx="42481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Vite + TypeScript</a:t>
            </a:r>
          </a:p>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Shared paper and interaction state</a:t>
            </a:r>
          </a:p>
        </p:txBody>
      </p:sp>
      <p:sp>
        <p:nvSpPr>
          <p:cNvPr id="22" name="">
            <a:extLst xmlns:a="http://schemas.openxmlformats.org/drawingml/2006/main">
              <a:ext uri="{FF2B5EF4-FFF2-40B4-BE49-F238E27FC236}">
                <a16:creationId xmlns:a16="http://schemas.microsoft.com/office/drawing/2014/main" id="{1EA9CC8D-3EBE-4B30-84B2-C5E7232E026A}"/>
              </a:ext>
            </a:extLst>
          </p:cNvPr>
          <p:cNvSpPr>
            <a:spLocks xmlns:a="http://schemas.openxmlformats.org/drawingml/2006/main" noGrp="1"/>
          </p:cNvSpPr>
          <p:nvPr/>
        </p:nvSpPr>
        <p:spPr>
          <a:xfrm xmlns:a="http://schemas.openxmlformats.org/drawingml/2006/main">
            <a:off x="7000875" y="4048125"/>
            <a:ext cx="5000625" cy="1857375"/>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6193">
            <a:solidFill>
              <a:srgbClr val="8FA4C1"/>
            </a:solidFill>
          </a:ln>
        </p:spPr>
      </p:sp>
      <p:sp>
        <p:nvSpPr>
          <p:cNvPr id="23" name="FastAPI service">
            <a:extLst xmlns:a="http://schemas.openxmlformats.org/drawingml/2006/main">
              <a:ext uri="{FF2B5EF4-FFF2-40B4-BE49-F238E27FC236}">
                <a16:creationId xmlns:a16="http://schemas.microsoft.com/office/drawing/2014/main" id="{308F2386-41FB-4001-8BA6-AA43B4D3AF2A}"/>
              </a:ext>
            </a:extLst>
          </p:cNvPr>
          <p:cNvSpPr>
            <a:spLocks xmlns:a="http://schemas.openxmlformats.org/drawingml/2006/main" noGrp="1"/>
          </p:cNvSpPr>
          <p:nvPr/>
        </p:nvSpPr>
        <p:spPr>
          <a:xfrm xmlns:a="http://schemas.openxmlformats.org/drawingml/2006/main">
            <a:off x="7210425" y="4238625"/>
            <a:ext cx="45815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1B40"/>
                </a:solidFill>
                <a:latin typeface="Montserrat Bold"/>
                <a:ea typeface="Montserrat Bold"/>
                <a:cs typeface="Montserrat Bold"/>
              </a:defRPr>
            </a:defPPr>
          </a:lstStyle>
          <a:p xmlns:a="http://schemas.openxmlformats.org/drawingml/2006/main">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FastAPI service</a:t>
            </a:r>
          </a:p>
        </p:txBody>
      </p:sp>
      <p:sp>
        <p:nvSpPr>
          <p:cNvPr id="24" name="Upload, graph, query and file APIs&#10;Provider resolution and error state">
            <a:extLst xmlns:a="http://schemas.openxmlformats.org/drawingml/2006/main">
              <a:ext uri="{FF2B5EF4-FFF2-40B4-BE49-F238E27FC236}">
                <a16:creationId xmlns:a16="http://schemas.microsoft.com/office/drawing/2014/main" id="{E12DA4F2-FDCE-4701-B845-B8BFCBEDA3D1}"/>
              </a:ext>
            </a:extLst>
          </p:cNvPr>
          <p:cNvSpPr>
            <a:spLocks xmlns:a="http://schemas.openxmlformats.org/drawingml/2006/main" noGrp="1"/>
          </p:cNvSpPr>
          <p:nvPr/>
        </p:nvSpPr>
        <p:spPr>
          <a:xfrm xmlns:a="http://schemas.openxmlformats.org/drawingml/2006/main">
            <a:off x="7210425" y="4781550"/>
            <a:ext cx="458152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Upload, graph, query and file APIs</a:t>
            </a:r>
          </a:p>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Provider resolution and error states</a:t>
            </a:r>
          </a:p>
        </p:txBody>
      </p:sp>
      <p:sp>
        <p:nvSpPr>
          <p:cNvPr id="25" name="">
            <a:extLst xmlns:a="http://schemas.openxmlformats.org/drawingml/2006/main">
              <a:ext uri="{FF2B5EF4-FFF2-40B4-BE49-F238E27FC236}">
                <a16:creationId xmlns:a16="http://schemas.microsoft.com/office/drawing/2014/main" id="{5A86C9EF-1AD7-4538-B94D-4A7FEB25BAE6}"/>
              </a:ext>
            </a:extLst>
          </p:cNvPr>
          <p:cNvSpPr>
            <a:spLocks xmlns:a="http://schemas.openxmlformats.org/drawingml/2006/main" noGrp="1"/>
          </p:cNvSpPr>
          <p:nvPr/>
        </p:nvSpPr>
        <p:spPr>
          <a:xfrm xmlns:a="http://schemas.openxmlformats.org/drawingml/2006/main">
            <a:off x="13096875" y="4048125"/>
            <a:ext cx="3810000" cy="1857375"/>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6193">
            <a:solidFill>
              <a:srgbClr val="8FA4C1"/>
            </a:solidFill>
          </a:ln>
        </p:spPr>
      </p:sp>
      <p:sp>
        <p:nvSpPr>
          <p:cNvPr id="26" name="Inference providers">
            <a:extLst xmlns:a="http://schemas.openxmlformats.org/drawingml/2006/main">
              <a:ext uri="{FF2B5EF4-FFF2-40B4-BE49-F238E27FC236}">
                <a16:creationId xmlns:a16="http://schemas.microsoft.com/office/drawing/2014/main" id="{604766E5-9E22-4F57-855B-47741AE7FB98}"/>
              </a:ext>
            </a:extLst>
          </p:cNvPr>
          <p:cNvSpPr>
            <a:spLocks xmlns:a="http://schemas.openxmlformats.org/drawingml/2006/main" noGrp="1"/>
          </p:cNvSpPr>
          <p:nvPr/>
        </p:nvSpPr>
        <p:spPr>
          <a:xfrm xmlns:a="http://schemas.openxmlformats.org/drawingml/2006/main">
            <a:off x="13306425" y="4238625"/>
            <a:ext cx="3390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1B40"/>
                </a:solidFill>
                <a:latin typeface="Montserrat Bold"/>
                <a:ea typeface="Montserrat Bold"/>
                <a:cs typeface="Montserrat Bold"/>
              </a:defRPr>
            </a:defPPr>
          </a:lstStyle>
          <a:p xmlns:a="http://schemas.openxmlformats.org/drawingml/2006/main">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Inference providers</a:t>
            </a:r>
          </a:p>
        </p:txBody>
      </p:sp>
      <p:sp>
        <p:nvSpPr>
          <p:cNvPr id="27" name="Local Ollama&#10;Gemini / OpenAI-compatible APIs">
            <a:extLst xmlns:a="http://schemas.openxmlformats.org/drawingml/2006/main">
              <a:ext uri="{FF2B5EF4-FFF2-40B4-BE49-F238E27FC236}">
                <a16:creationId xmlns:a16="http://schemas.microsoft.com/office/drawing/2014/main" id="{7D813D14-A417-4E71-8417-B8746C3486F1}"/>
              </a:ext>
            </a:extLst>
          </p:cNvPr>
          <p:cNvSpPr>
            <a:spLocks xmlns:a="http://schemas.openxmlformats.org/drawingml/2006/main" noGrp="1"/>
          </p:cNvSpPr>
          <p:nvPr/>
        </p:nvSpPr>
        <p:spPr>
          <a:xfrm xmlns:a="http://schemas.openxmlformats.org/drawingml/2006/main">
            <a:off x="13306425" y="4781550"/>
            <a:ext cx="33909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Local Ollama</a:t>
            </a:r>
          </a:p>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Gemini / OpenAI-compatible APIs</a:t>
            </a:r>
          </a:p>
        </p:txBody>
      </p:sp>
      <p:cxnSp>
        <p:nvCxnSpPr>
          <p:cNvPr id="28" name="">
            <a:extLst xmlns:a="http://schemas.openxmlformats.org/drawingml/2006/main">
              <a:ext uri="{FF2B5EF4-FFF2-40B4-BE49-F238E27FC236}">
                <a16:creationId xmlns:a16="http://schemas.microsoft.com/office/drawing/2014/main" id="{33B46E22-72E6-4122-B53A-634C8430AA86}"/>
              </a:ext>
            </a:extLst>
          </p:cNvPr>
          <p:cNvCxnSpPr>
            <a:stCxn xmlns:a="http://schemas.openxmlformats.org/drawingml/2006/main" id="19" idx="3"/>
            <a:endCxn xmlns:a="http://schemas.openxmlformats.org/drawingml/2006/main" id="22" idx="1"/>
          </p:cNvCxnSpPr>
          <p:nvPr/>
        </p:nvCxnSpPr>
        <p:spPr>
          <a:xfrm xmlns:a="http://schemas.openxmlformats.org/drawingml/2006/main">
            <a:off x="5905500" y="4976813"/>
            <a:ext cx="1095375" cy="0"/>
          </a:xfrm>
          <a:prstGeom xmlns:a="http://schemas.openxmlformats.org/drawingml/2006/main" prst="straightConnector1">
            <a:avLst/>
          </a:prstGeom>
          <a:ln xmlns:a="http://schemas.openxmlformats.org/drawingml/2006/main" w="28575">
            <a:solidFill>
              <a:srgbClr val="8FA4C1"/>
            </a:solidFill>
            <a:tailEnd type="triangle" w="med" len="med"/>
          </a:ln>
        </p:spPr>
      </p:cxnSp>
      <p:cxnSp>
        <p:nvCxnSpPr>
          <p:cNvPr id="29" name="">
            <a:extLst xmlns:a="http://schemas.openxmlformats.org/drawingml/2006/main">
              <a:ext uri="{FF2B5EF4-FFF2-40B4-BE49-F238E27FC236}">
                <a16:creationId xmlns:a16="http://schemas.microsoft.com/office/drawing/2014/main" id="{3AAAE5B4-0D4E-4743-8804-A97D79622F54}"/>
              </a:ext>
            </a:extLst>
          </p:cNvPr>
          <p:cNvCxnSpPr>
            <a:stCxn xmlns:a="http://schemas.openxmlformats.org/drawingml/2006/main" id="22" idx="3"/>
            <a:endCxn xmlns:a="http://schemas.openxmlformats.org/drawingml/2006/main" id="25" idx="1"/>
          </p:cNvCxnSpPr>
          <p:nvPr/>
        </p:nvCxnSpPr>
        <p:spPr>
          <a:xfrm xmlns:a="http://schemas.openxmlformats.org/drawingml/2006/main">
            <a:off x="12001500" y="4976813"/>
            <a:ext cx="1095375" cy="0"/>
          </a:xfrm>
          <a:prstGeom xmlns:a="http://schemas.openxmlformats.org/drawingml/2006/main" prst="straightConnector1">
            <a:avLst/>
          </a:prstGeom>
          <a:ln xmlns:a="http://schemas.openxmlformats.org/drawingml/2006/main" w="28575">
            <a:solidFill>
              <a:srgbClr val="8FA4C1"/>
            </a:solidFill>
            <a:tailEnd type="triangle" w="med" len="med"/>
          </a:ln>
        </p:spPr>
      </p:cxnSp>
      <p:sp>
        <p:nvSpPr>
          <p:cNvPr id="30" name="">
            <a:extLst xmlns:a="http://schemas.openxmlformats.org/drawingml/2006/main">
              <a:ext uri="{FF2B5EF4-FFF2-40B4-BE49-F238E27FC236}">
                <a16:creationId xmlns:a16="http://schemas.microsoft.com/office/drawing/2014/main" id="{0A7B49F7-2DE6-46F4-A0B7-F14262BD32B7}"/>
              </a:ext>
            </a:extLst>
          </p:cNvPr>
          <p:cNvSpPr>
            <a:spLocks xmlns:a="http://schemas.openxmlformats.org/drawingml/2006/main" noGrp="1"/>
          </p:cNvSpPr>
          <p:nvPr/>
        </p:nvSpPr>
        <p:spPr>
          <a:xfrm xmlns:a="http://schemas.openxmlformats.org/drawingml/2006/main">
            <a:off x="1238250" y="7096125"/>
            <a:ext cx="4667250" cy="1666875"/>
          </a:xfrm>
          <a:prstGeom xmlns:a="http://schemas.openxmlformats.org/drawingml/2006/main" prst="roundRect">
            <a:avLst>
              <a:gd name="adj" fmla="val 10286"/>
            </a:avLst>
          </a:prstGeom>
          <a:solidFill xmlns:a="http://schemas.openxmlformats.org/drawingml/2006/main">
            <a:srgbClr val="FFFFFF"/>
          </a:solidFill>
          <a:ln xmlns:a="http://schemas.openxmlformats.org/drawingml/2006/main" w="16193">
            <a:solidFill>
              <a:srgbClr val="8FA4C1"/>
            </a:solidFill>
          </a:ln>
        </p:spPr>
      </p:sp>
      <p:sp>
        <p:nvSpPr>
          <p:cNvPr id="31" name="Interaction modules">
            <a:extLst xmlns:a="http://schemas.openxmlformats.org/drawingml/2006/main">
              <a:ext uri="{FF2B5EF4-FFF2-40B4-BE49-F238E27FC236}">
                <a16:creationId xmlns:a16="http://schemas.microsoft.com/office/drawing/2014/main" id="{6047C89B-0B38-4B8E-8AFC-6DA863D186C8}"/>
              </a:ext>
            </a:extLst>
          </p:cNvPr>
          <p:cNvSpPr>
            <a:spLocks xmlns:a="http://schemas.openxmlformats.org/drawingml/2006/main" noGrp="1"/>
          </p:cNvSpPr>
          <p:nvPr/>
        </p:nvSpPr>
        <p:spPr>
          <a:xfrm xmlns:a="http://schemas.openxmlformats.org/drawingml/2006/main">
            <a:off x="1447800" y="7286625"/>
            <a:ext cx="4248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1B40"/>
                </a:solidFill>
                <a:latin typeface="Montserrat Bold"/>
                <a:ea typeface="Montserrat Bold"/>
                <a:cs typeface="Montserrat Bold"/>
              </a:defRPr>
            </a:defPPr>
          </a:lstStyle>
          <a:p xmlns:a="http://schemas.openxmlformats.org/drawingml/2006/main">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Interaction modules</a:t>
            </a:r>
          </a:p>
        </p:txBody>
      </p:sp>
      <p:sp>
        <p:nvSpPr>
          <p:cNvPr id="32" name="Three.js / GLSL galaxy&#10;PDF.js reader and chat">
            <a:extLst xmlns:a="http://schemas.openxmlformats.org/drawingml/2006/main">
              <a:ext uri="{FF2B5EF4-FFF2-40B4-BE49-F238E27FC236}">
                <a16:creationId xmlns:a16="http://schemas.microsoft.com/office/drawing/2014/main" id="{DDA02AC3-8376-4578-BE05-744281A15584}"/>
              </a:ext>
            </a:extLst>
          </p:cNvPr>
          <p:cNvSpPr>
            <a:spLocks xmlns:a="http://schemas.openxmlformats.org/drawingml/2006/main" noGrp="1"/>
          </p:cNvSpPr>
          <p:nvPr/>
        </p:nvSpPr>
        <p:spPr>
          <a:xfrm xmlns:a="http://schemas.openxmlformats.org/drawingml/2006/main">
            <a:off x="1447800" y="7829550"/>
            <a:ext cx="42481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Three.js / GLSL galaxy</a:t>
            </a:r>
          </a:p>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PDF.js reader and chat</a:t>
            </a:r>
          </a:p>
        </p:txBody>
      </p:sp>
      <p:sp>
        <p:nvSpPr>
          <p:cNvPr id="33" name="">
            <a:extLst xmlns:a="http://schemas.openxmlformats.org/drawingml/2006/main">
              <a:ext uri="{FF2B5EF4-FFF2-40B4-BE49-F238E27FC236}">
                <a16:creationId xmlns:a16="http://schemas.microsoft.com/office/drawing/2014/main" id="{F32B54B6-332E-41F5-8B0D-6D0D702CB6BB}"/>
              </a:ext>
            </a:extLst>
          </p:cNvPr>
          <p:cNvSpPr>
            <a:spLocks xmlns:a="http://schemas.openxmlformats.org/drawingml/2006/main" noGrp="1"/>
          </p:cNvSpPr>
          <p:nvPr/>
        </p:nvSpPr>
        <p:spPr>
          <a:xfrm xmlns:a="http://schemas.openxmlformats.org/drawingml/2006/main">
            <a:off x="7000875" y="7096125"/>
            <a:ext cx="5000625" cy="1666875"/>
          </a:xfrm>
          <a:prstGeom xmlns:a="http://schemas.openxmlformats.org/drawingml/2006/main" prst="roundRect">
            <a:avLst>
              <a:gd name="adj" fmla="val 10286"/>
            </a:avLst>
          </a:prstGeom>
          <a:solidFill xmlns:a="http://schemas.openxmlformats.org/drawingml/2006/main">
            <a:srgbClr val="FFFFFF"/>
          </a:solidFill>
          <a:ln xmlns:a="http://schemas.openxmlformats.org/drawingml/2006/main" w="16193">
            <a:solidFill>
              <a:srgbClr val="8FA4C1"/>
            </a:solidFill>
          </a:ln>
        </p:spPr>
      </p:sp>
      <p:sp>
        <p:nvSpPr>
          <p:cNvPr id="34" name="Processing modules">
            <a:extLst xmlns:a="http://schemas.openxmlformats.org/drawingml/2006/main">
              <a:ext uri="{FF2B5EF4-FFF2-40B4-BE49-F238E27FC236}">
                <a16:creationId xmlns:a16="http://schemas.microsoft.com/office/drawing/2014/main" id="{86C2039B-79DE-4088-B97D-749115D5AAE0}"/>
              </a:ext>
            </a:extLst>
          </p:cNvPr>
          <p:cNvSpPr>
            <a:spLocks xmlns:a="http://schemas.openxmlformats.org/drawingml/2006/main" noGrp="1"/>
          </p:cNvSpPr>
          <p:nvPr/>
        </p:nvSpPr>
        <p:spPr>
          <a:xfrm xmlns:a="http://schemas.openxmlformats.org/drawingml/2006/main">
            <a:off x="7210425" y="7286625"/>
            <a:ext cx="45815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1B40"/>
                </a:solidFill>
                <a:latin typeface="Montserrat Bold"/>
                <a:ea typeface="Montserrat Bold"/>
                <a:cs typeface="Montserrat Bold"/>
              </a:defRPr>
            </a:defPPr>
          </a:lstStyle>
          <a:p xmlns:a="http://schemas.openxmlformats.org/drawingml/2006/main">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Processing modules</a:t>
            </a:r>
          </a:p>
        </p:txBody>
      </p:sp>
      <p:sp>
        <p:nvSpPr>
          <p:cNvPr id="35" name="Parsing, chunking, embeddings&#10;KMeans, UMAP/PCA, retrieval">
            <a:extLst xmlns:a="http://schemas.openxmlformats.org/drawingml/2006/main">
              <a:ext uri="{FF2B5EF4-FFF2-40B4-BE49-F238E27FC236}">
                <a16:creationId xmlns:a16="http://schemas.microsoft.com/office/drawing/2014/main" id="{74DDB047-DCBC-49E3-B7E1-048481F2FCAF}"/>
              </a:ext>
            </a:extLst>
          </p:cNvPr>
          <p:cNvSpPr>
            <a:spLocks xmlns:a="http://schemas.openxmlformats.org/drawingml/2006/main" noGrp="1"/>
          </p:cNvSpPr>
          <p:nvPr/>
        </p:nvSpPr>
        <p:spPr>
          <a:xfrm xmlns:a="http://schemas.openxmlformats.org/drawingml/2006/main">
            <a:off x="7210425" y="7829550"/>
            <a:ext cx="45815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Parsing, chunking, embeddings</a:t>
            </a:r>
          </a:p>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KMeans, UMAP/PCA, retrieval</a:t>
            </a:r>
          </a:p>
        </p:txBody>
      </p:sp>
      <p:sp>
        <p:nvSpPr>
          <p:cNvPr id="36" name="">
            <a:extLst xmlns:a="http://schemas.openxmlformats.org/drawingml/2006/main">
              <a:ext uri="{FF2B5EF4-FFF2-40B4-BE49-F238E27FC236}">
                <a16:creationId xmlns:a16="http://schemas.microsoft.com/office/drawing/2014/main" id="{D34BAA49-3564-46C4-B1E2-1F96083D2DB7}"/>
              </a:ext>
            </a:extLst>
          </p:cNvPr>
          <p:cNvSpPr>
            <a:spLocks xmlns:a="http://schemas.openxmlformats.org/drawingml/2006/main" noGrp="1"/>
          </p:cNvSpPr>
          <p:nvPr/>
        </p:nvSpPr>
        <p:spPr>
          <a:xfrm xmlns:a="http://schemas.openxmlformats.org/drawingml/2006/main">
            <a:off x="13096875" y="7096125"/>
            <a:ext cx="3810000" cy="1666875"/>
          </a:xfrm>
          <a:prstGeom xmlns:a="http://schemas.openxmlformats.org/drawingml/2006/main" prst="roundRect">
            <a:avLst>
              <a:gd name="adj" fmla="val 10286"/>
            </a:avLst>
          </a:prstGeom>
          <a:solidFill xmlns:a="http://schemas.openxmlformats.org/drawingml/2006/main">
            <a:srgbClr val="FFFFFF"/>
          </a:solidFill>
          <a:ln xmlns:a="http://schemas.openxmlformats.org/drawingml/2006/main" w="16193">
            <a:solidFill>
              <a:srgbClr val="8FA4C1"/>
            </a:solidFill>
          </a:ln>
        </p:spPr>
      </p:sp>
      <p:sp>
        <p:nvSpPr>
          <p:cNvPr id="37" name="Local persistence">
            <a:extLst xmlns:a="http://schemas.openxmlformats.org/drawingml/2006/main">
              <a:ext uri="{FF2B5EF4-FFF2-40B4-BE49-F238E27FC236}">
                <a16:creationId xmlns:a16="http://schemas.microsoft.com/office/drawing/2014/main" id="{D3AE9CD7-3673-454C-BECD-EB999E1A9A52}"/>
              </a:ext>
            </a:extLst>
          </p:cNvPr>
          <p:cNvSpPr>
            <a:spLocks xmlns:a="http://schemas.openxmlformats.org/drawingml/2006/main" noGrp="1"/>
          </p:cNvSpPr>
          <p:nvPr/>
        </p:nvSpPr>
        <p:spPr>
          <a:xfrm xmlns:a="http://schemas.openxmlformats.org/drawingml/2006/main">
            <a:off x="13306425" y="7286625"/>
            <a:ext cx="3390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1B40"/>
                </a:solidFill>
                <a:latin typeface="Montserrat Bold"/>
                <a:ea typeface="Montserrat Bold"/>
                <a:cs typeface="Montserrat Bold"/>
              </a:defRPr>
            </a:defPPr>
          </a:lstStyle>
          <a:p xmlns:a="http://schemas.openxmlformats.org/drawingml/2006/main">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Local persistence</a:t>
            </a:r>
          </a:p>
        </p:txBody>
      </p:sp>
      <p:sp>
        <p:nvSpPr>
          <p:cNvPr id="38" name="PDF files + JSON metadata&#10;Chroma paper and chunk vectors">
            <a:extLst xmlns:a="http://schemas.openxmlformats.org/drawingml/2006/main">
              <a:ext uri="{FF2B5EF4-FFF2-40B4-BE49-F238E27FC236}">
                <a16:creationId xmlns:a16="http://schemas.microsoft.com/office/drawing/2014/main" id="{4C25BEB1-CC2B-4A41-9117-78D0EE4409BE}"/>
              </a:ext>
            </a:extLst>
          </p:cNvPr>
          <p:cNvSpPr>
            <a:spLocks xmlns:a="http://schemas.openxmlformats.org/drawingml/2006/main" noGrp="1"/>
          </p:cNvSpPr>
          <p:nvPr/>
        </p:nvSpPr>
        <p:spPr>
          <a:xfrm xmlns:a="http://schemas.openxmlformats.org/drawingml/2006/main">
            <a:off x="13306425" y="7829550"/>
            <a:ext cx="33909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PDF files + JSON metadata</a:t>
            </a:r>
          </a:p>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Chroma paper and chunk vectors</a:t>
            </a:r>
          </a:p>
        </p:txBody>
      </p:sp>
      <p:cxnSp>
        <p:nvCxnSpPr>
          <p:cNvPr id="39" name="">
            <a:extLst xmlns:a="http://schemas.openxmlformats.org/drawingml/2006/main">
              <a:ext uri="{FF2B5EF4-FFF2-40B4-BE49-F238E27FC236}">
                <a16:creationId xmlns:a16="http://schemas.microsoft.com/office/drawing/2014/main" id="{DD7C2EA8-691C-4720-A666-C1223F1A309B}"/>
              </a:ext>
            </a:extLst>
          </p:cNvPr>
          <p:cNvCxnSpPr>
            <a:stCxn xmlns:a="http://schemas.openxmlformats.org/drawingml/2006/main" id="19" idx="2"/>
            <a:endCxn xmlns:a="http://schemas.openxmlformats.org/drawingml/2006/main" id="30" idx="0"/>
          </p:cNvCxnSpPr>
          <p:nvPr/>
        </p:nvCxnSpPr>
        <p:spPr>
          <a:xfrm xmlns:a="http://schemas.openxmlformats.org/drawingml/2006/main">
            <a:off x="3571875" y="5905500"/>
            <a:ext cx="0" cy="1190625"/>
          </a:xfrm>
          <a:prstGeom xmlns:a="http://schemas.openxmlformats.org/drawingml/2006/main" prst="straightConnector1">
            <a:avLst/>
          </a:prstGeom>
          <a:ln xmlns:a="http://schemas.openxmlformats.org/drawingml/2006/main" w="28575">
            <a:solidFill>
              <a:srgbClr val="8FA4C1"/>
            </a:solidFill>
            <a:tailEnd type="triangle" w="med" len="med"/>
          </a:ln>
        </p:spPr>
      </p:cxnSp>
      <p:cxnSp>
        <p:nvCxnSpPr>
          <p:cNvPr id="40" name="">
            <a:extLst xmlns:a="http://schemas.openxmlformats.org/drawingml/2006/main">
              <a:ext uri="{FF2B5EF4-FFF2-40B4-BE49-F238E27FC236}">
                <a16:creationId xmlns:a16="http://schemas.microsoft.com/office/drawing/2014/main" id="{F675BCA4-3FB9-4C22-A992-773C484635CB}"/>
              </a:ext>
            </a:extLst>
          </p:cNvPr>
          <p:cNvCxnSpPr>
            <a:stCxn xmlns:a="http://schemas.openxmlformats.org/drawingml/2006/main" id="22" idx="2"/>
            <a:endCxn xmlns:a="http://schemas.openxmlformats.org/drawingml/2006/main" id="33" idx="0"/>
          </p:cNvCxnSpPr>
          <p:nvPr/>
        </p:nvCxnSpPr>
        <p:spPr>
          <a:xfrm xmlns:a="http://schemas.openxmlformats.org/drawingml/2006/main">
            <a:off x="9501188" y="5905500"/>
            <a:ext cx="0" cy="1190625"/>
          </a:xfrm>
          <a:prstGeom xmlns:a="http://schemas.openxmlformats.org/drawingml/2006/main" prst="straightConnector1">
            <a:avLst/>
          </a:prstGeom>
          <a:ln xmlns:a="http://schemas.openxmlformats.org/drawingml/2006/main" w="28575">
            <a:solidFill>
              <a:srgbClr val="8FA4C1"/>
            </a:solidFill>
            <a:tailEnd type="triangle" w="med" len="med"/>
          </a:ln>
        </p:spPr>
      </p:cxnSp>
      <p:cxnSp>
        <p:nvCxnSpPr>
          <p:cNvPr id="41" name="">
            <a:extLst xmlns:a="http://schemas.openxmlformats.org/drawingml/2006/main">
              <a:ext uri="{FF2B5EF4-FFF2-40B4-BE49-F238E27FC236}">
                <a16:creationId xmlns:a16="http://schemas.microsoft.com/office/drawing/2014/main" id="{FE0087DB-588C-4F06-9439-3EC35EA8225D}"/>
              </a:ext>
            </a:extLst>
          </p:cNvPr>
          <p:cNvCxnSpPr>
            <a:stCxn xmlns:a="http://schemas.openxmlformats.org/drawingml/2006/main" id="33" idx="3"/>
            <a:endCxn xmlns:a="http://schemas.openxmlformats.org/drawingml/2006/main" id="36" idx="1"/>
          </p:cNvCxnSpPr>
          <p:nvPr/>
        </p:nvCxnSpPr>
        <p:spPr>
          <a:xfrm xmlns:a="http://schemas.openxmlformats.org/drawingml/2006/main">
            <a:off x="12001500" y="7929563"/>
            <a:ext cx="1095375" cy="0"/>
          </a:xfrm>
          <a:prstGeom xmlns:a="http://schemas.openxmlformats.org/drawingml/2006/main" prst="straightConnector1">
            <a:avLst/>
          </a:prstGeom>
          <a:ln xmlns:a="http://schemas.openxmlformats.org/drawingml/2006/main" w="28575">
            <a:solidFill>
              <a:srgbClr val="8FA4C1"/>
            </a:solidFill>
            <a:tailEnd type="triangle" w="med" len="med"/>
          </a:ln>
        </p:spPr>
      </p:cxnSp>
      <p:sp>
        <p:nvSpPr>
          <p:cNvPr id="42" name="Privacy decision: files and vectors stay local. Cloud inference receiv">
            <a:extLst xmlns:a="http://schemas.openxmlformats.org/drawingml/2006/main">
              <a:ext uri="{FF2B5EF4-FFF2-40B4-BE49-F238E27FC236}">
                <a16:creationId xmlns:a16="http://schemas.microsoft.com/office/drawing/2014/main" id="{048A55AE-D868-43D9-A4CD-0BDAAE3D5827}"/>
              </a:ext>
            </a:extLst>
          </p:cNvPr>
          <p:cNvSpPr>
            <a:spLocks xmlns:a="http://schemas.openxmlformats.org/drawingml/2006/main" noGrp="1"/>
          </p:cNvSpPr>
          <p:nvPr/>
        </p:nvSpPr>
        <p:spPr>
          <a:xfrm xmlns:a="http://schemas.openxmlformats.org/drawingml/2006/main">
            <a:off x="1238250" y="9086850"/>
            <a:ext cx="15668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Privacy decision: files and vectors stay local. Cloud inference receives the selected context and any submitted image.</a:t>
            </a:r>
          </a:p>
        </p:txBody>
      </p:sp>
    </p:spTree>
    <p:extLst>
      <p:ext uri="{BB962C8B-B14F-4D97-AF65-F5344CB8AC3E}">
        <p14:creationId xmlns:p14="http://schemas.microsoft.com/office/powerpoint/2010/main" val="1977874978"/>
      </p:ext>
    </p:extLst>
  </p:cSld>
</p:sld>
</file>

<file path=ppt/slides/slide9.xml><?xml version="1.0" encoding="utf-8"?>
<p:sld xmlns:p="http://schemas.openxmlformats.org/presentationml/2006/main">
  <p:cSld>
    <p:bg>
      <p:bgPr>
        <a:solidFill xmlns:a="http://schemas.openxmlformats.org/drawingml/2006/main">
          <a:srgbClr val="F1F1F1"/>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ED631D5E-5F22-4A1A-B72F-2448906067F6}"/>
              </a:ext>
            </a:extLst>
          </p:cNvPr>
          <p:cNvSpPr>
            <a:spLocks xmlns:a="http://schemas.openxmlformats.org/drawingml/2006/main" noGrp="1"/>
          </p:cNvSpPr>
          <p:nvPr/>
        </p:nvSpPr>
        <p:spPr>
          <a:xfrm xmlns:a="http://schemas.openxmlformats.org/drawingml/2006/main" rot="0" flipH="0" flipV="0">
            <a:off x="4410075" y="514350"/>
            <a:ext cx="9467850" cy="819150"/>
          </a:xfrm>
          <a:custGeom xmlns:a="http://schemas.openxmlformats.org/drawingml/2006/main">
            <a:rect l="l" t="t" r="r" b="b"/>
            <a:pathLst>
              <a:path w="2494114" h="214543">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xmlns:a="http://schemas.openxmlformats.org/drawingml/2006/main" w="38100" cap="rnd">
            <a:solidFill>
              <a:srgbClr val="101B40"/>
            </a:solidFill>
            <a:prstDash val="solid"/>
            <a:round/>
          </a:ln>
        </p:spPr>
      </p:sp>
      <p:sp>
        <p:nvSpPr>
          <p:cNvPr id="4" name="TextBox 4">
            <a:extLst xmlns:a="http://schemas.openxmlformats.org/drawingml/2006/main">
              <a:ext uri="{FF2B5EF4-FFF2-40B4-BE49-F238E27FC236}">
                <a16:creationId xmlns:a16="http://schemas.microsoft.com/office/drawing/2014/main" id="{2AEF9D59-DA31-446F-938E-8F80B41CB509}"/>
              </a:ext>
            </a:extLst>
          </p:cNvPr>
          <p:cNvSpPr>
            <a:spLocks xmlns:a="http://schemas.openxmlformats.org/drawingml/2006/main" noGrp="1"/>
          </p:cNvSpPr>
          <p:nvPr/>
        </p:nvSpPr>
        <p:spPr>
          <a:xfrm xmlns:a="http://schemas.openxmlformats.org/drawingml/2006/main" rot="0" flipH="0" flipV="0">
            <a:off x="4409081" y="370811"/>
            <a:ext cx="9469839" cy="95925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p>
        </p:txBody>
      </p:sp>
      <p:sp>
        <p:nvSpPr>
          <p:cNvPr id="6" name="Freeform 6">
            <a:extLst xmlns:a="http://schemas.openxmlformats.org/drawingml/2006/main">
              <a:ext uri="{FF2B5EF4-FFF2-40B4-BE49-F238E27FC236}">
                <a16:creationId xmlns:a16="http://schemas.microsoft.com/office/drawing/2014/main" id="{66A4A1F3-25A5-4E8C-93FE-C7B55A30B33B}"/>
              </a:ext>
            </a:extLst>
          </p:cNvPr>
          <p:cNvSpPr>
            <a:spLocks xmlns:a="http://schemas.openxmlformats.org/drawingml/2006/main" noGrp="1"/>
          </p:cNvSpPr>
          <p:nvPr/>
        </p:nvSpPr>
        <p:spPr>
          <a:xfrm xmlns:a="http://schemas.openxmlformats.org/drawingml/2006/main" rot="0" flipH="0" flipV="0">
            <a:off x="9458325" y="628650"/>
            <a:ext cx="1666875" cy="590550"/>
          </a:xfrm>
          <a:custGeom xmlns:a="http://schemas.openxmlformats.org/drawingml/2006/main">
            <a:rect l="l" t="t" r="r" b="b"/>
            <a:pathLst>
              <a:path w="438737" h="155110">
                <a:moveTo>
                  <a:pt x="77555" y="0"/>
                </a:moveTo>
                <a:lnTo>
                  <a:pt x="361182" y="0"/>
                </a:lnTo>
                <a:cubicBezTo>
                  <a:pt x="404015" y="0"/>
                  <a:pt x="438737" y="34722"/>
                  <a:pt x="438737" y="77555"/>
                </a:cubicBezTo>
                <a:lnTo>
                  <a:pt x="438737" y="77555"/>
                </a:lnTo>
                <a:cubicBezTo>
                  <a:pt x="438737" y="120387"/>
                  <a:pt x="404015" y="155110"/>
                  <a:pt x="361182" y="155110"/>
                </a:cubicBezTo>
                <a:lnTo>
                  <a:pt x="77555" y="155110"/>
                </a:lnTo>
                <a:cubicBezTo>
                  <a:pt x="34722" y="155110"/>
                  <a:pt x="0" y="120387"/>
                  <a:pt x="0" y="77555"/>
                </a:cubicBezTo>
                <a:lnTo>
                  <a:pt x="0" y="77555"/>
                </a:lnTo>
                <a:cubicBezTo>
                  <a:pt x="0" y="34722"/>
                  <a:pt x="34722" y="0"/>
                  <a:pt x="77555" y="0"/>
                </a:cubicBezTo>
                <a:close/>
              </a:path>
            </a:pathLst>
          </a:custGeom>
          <a:solidFill xmlns:a="http://schemas.openxmlformats.org/drawingml/2006/main">
            <a:srgbClr val="101B40"/>
          </a:solidFill>
          <a:ln xmlns:a="http://schemas.openxmlformats.org/drawingml/2006/main" cap="rnd">
            <a:noFill/>
            <a:prstDash val="solid"/>
            <a:round/>
          </a:ln>
        </p:spPr>
      </p:sp>
      <p:sp>
        <p:nvSpPr>
          <p:cNvPr id="7" name="TextBox 7">
            <a:extLst xmlns:a="http://schemas.openxmlformats.org/drawingml/2006/main">
              <a:ext uri="{FF2B5EF4-FFF2-40B4-BE49-F238E27FC236}">
                <a16:creationId xmlns:a16="http://schemas.microsoft.com/office/drawing/2014/main" id="{A133CF64-0320-46F4-B9CE-50068B61021C}"/>
              </a:ext>
            </a:extLst>
          </p:cNvPr>
          <p:cNvSpPr>
            <a:spLocks xmlns:a="http://schemas.openxmlformats.org/drawingml/2006/main" noGrp="1"/>
          </p:cNvSpPr>
          <p:nvPr/>
        </p:nvSpPr>
        <p:spPr>
          <a:xfrm xmlns:a="http://schemas.openxmlformats.org/drawingml/2006/main" rot="0" flipH="0" flipV="0">
            <a:off x="9460786" y="483641"/>
            <a:ext cx="1665830" cy="73359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p>
        </p:txBody>
      </p:sp>
      <p:sp>
        <p:nvSpPr>
          <p:cNvPr id="9" name="TextBox 9">
            <a:extLst xmlns:a="http://schemas.openxmlformats.org/drawingml/2006/main">
              <a:ext uri="{FF2B5EF4-FFF2-40B4-BE49-F238E27FC236}">
                <a16:creationId xmlns:a16="http://schemas.microsoft.com/office/drawing/2014/main" id="{44D83A55-2006-4691-B3DD-2D637A7DDDC8}"/>
              </a:ext>
            </a:extLst>
          </p:cNvPr>
          <p:cNvSpPr>
            <a:spLocks xmlns:a="http://schemas.openxmlformats.org/drawingml/2006/main" noGrp="1"/>
          </p:cNvSpPr>
          <p:nvPr/>
        </p:nvSpPr>
        <p:spPr>
          <a:xfrm xmlns:a="http://schemas.openxmlformats.org/drawingml/2006/main" rot="0">
            <a:off x="4438650" y="733425"/>
            <a:ext cx="16668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VISION</a:t>
            </a:r>
          </a:p>
        </p:txBody>
      </p:sp>
      <p:sp>
        <p:nvSpPr>
          <p:cNvPr id="10" name="TextBox 10">
            <a:extLst xmlns:a="http://schemas.openxmlformats.org/drawingml/2006/main">
              <a:ext uri="{FF2B5EF4-FFF2-40B4-BE49-F238E27FC236}">
                <a16:creationId xmlns:a16="http://schemas.microsoft.com/office/drawing/2014/main" id="{54694FC0-9039-4073-8B58-2133C06FE37F}"/>
              </a:ext>
            </a:extLst>
          </p:cNvPr>
          <p:cNvSpPr>
            <a:spLocks xmlns:a="http://schemas.openxmlformats.org/drawingml/2006/main" noGrp="1"/>
          </p:cNvSpPr>
          <p:nvPr/>
        </p:nvSpPr>
        <p:spPr>
          <a:xfrm xmlns:a="http://schemas.openxmlformats.org/drawingml/2006/main" rot="0">
            <a:off x="6829425" y="733425"/>
            <a:ext cx="190500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DESIGN</a:t>
            </a:r>
          </a:p>
        </p:txBody>
      </p:sp>
      <p:sp>
        <p:nvSpPr>
          <p:cNvPr id="11" name="TextBox 11">
            <a:extLst xmlns:a="http://schemas.openxmlformats.org/drawingml/2006/main">
              <a:ext uri="{FF2B5EF4-FFF2-40B4-BE49-F238E27FC236}">
                <a16:creationId xmlns:a16="http://schemas.microsoft.com/office/drawing/2014/main" id="{E4696CDF-33C5-4C82-9090-E6A090CF962E}"/>
              </a:ext>
            </a:extLst>
          </p:cNvPr>
          <p:cNvSpPr>
            <a:spLocks xmlns:a="http://schemas.openxmlformats.org/drawingml/2006/main" noGrp="1"/>
          </p:cNvSpPr>
          <p:nvPr/>
        </p:nvSpPr>
        <p:spPr>
          <a:xfrm xmlns:a="http://schemas.openxmlformats.org/drawingml/2006/main" rot="0">
            <a:off x="9496425" y="733425"/>
            <a:ext cx="15906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1">
                <a:solidFill>
                  <a:srgbClr val="FFFFFF"/>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1">
                <a:solidFill>
                  <a:srgbClr val="FFFFFF"/>
                </a:solidFill>
                <a:latin typeface="Montserrat"/>
                <a:ea typeface="Montserrat"/>
                <a:cs typeface="Montserrat"/>
              </a:defRPr>
            </a:pPr>
            <a:r>
              <a:rPr sz="1800" b="1" spc="3">
                <a:solidFill>
                  <a:srgbClr val="FFFFFF"/>
                </a:solidFill>
                <a:latin typeface="Montserrat"/>
                <a:ea typeface="Montserrat"/>
                <a:cs typeface="Montserrat"/>
              </a:rPr>
              <a:t>SYSTEM</a:t>
            </a:r>
          </a:p>
        </p:txBody>
      </p:sp>
      <p:sp>
        <p:nvSpPr>
          <p:cNvPr id="12" name="TextBox 12">
            <a:extLst xmlns:a="http://schemas.openxmlformats.org/drawingml/2006/main">
              <a:ext uri="{FF2B5EF4-FFF2-40B4-BE49-F238E27FC236}">
                <a16:creationId xmlns:a16="http://schemas.microsoft.com/office/drawing/2014/main" id="{5BBB5C4C-656B-4D02-AB0A-B71E37790AEB}"/>
              </a:ext>
            </a:extLst>
          </p:cNvPr>
          <p:cNvSpPr>
            <a:spLocks xmlns:a="http://schemas.openxmlformats.org/drawingml/2006/main" noGrp="1"/>
          </p:cNvSpPr>
          <p:nvPr/>
        </p:nvSpPr>
        <p:spPr>
          <a:xfrm xmlns:a="http://schemas.openxmlformats.org/drawingml/2006/main" rot="0">
            <a:off x="11591925" y="733425"/>
            <a:ext cx="222885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REVIEW</a:t>
            </a:r>
          </a:p>
        </p:txBody>
      </p:sp>
      <p:sp>
        <p:nvSpPr>
          <p:cNvPr id="13" name="TextBox 13">
            <a:extLst xmlns:a="http://schemas.openxmlformats.org/drawingml/2006/main">
              <a:ext uri="{FF2B5EF4-FFF2-40B4-BE49-F238E27FC236}">
                <a16:creationId xmlns:a16="http://schemas.microsoft.com/office/drawing/2014/main" id="{0F6A38E6-592A-4080-B0EA-E2B355C431C7}"/>
              </a:ext>
            </a:extLst>
          </p:cNvPr>
          <p:cNvSpPr>
            <a:spLocks xmlns:a="http://schemas.openxmlformats.org/drawingml/2006/main" noGrp="1"/>
          </p:cNvSpPr>
          <p:nvPr/>
        </p:nvSpPr>
        <p:spPr>
          <a:xfrm xmlns:a="http://schemas.openxmlformats.org/drawingml/2006/main" rot="0">
            <a:off x="800100" y="628650"/>
            <a:ext cx="2381250" cy="56769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defRPr sz="1800" b="1">
                <a:solidFill>
                  <a:srgbClr val="101B40"/>
                </a:solidFill>
                <a:latin typeface="Montserrat"/>
                <a:ea typeface="Montserrat"/>
                <a:cs typeface="Montserrat"/>
              </a:defRPr>
            </a:defPPr>
          </a:lstStyle>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PDF</a:t>
            </a:r>
          </a:p>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GALAXAI</a:t>
            </a:r>
          </a:p>
        </p:txBody>
      </p:sp>
      <p:sp>
        <p:nvSpPr>
          <p:cNvPr id="14" name="09">
            <a:extLst xmlns:a="http://schemas.openxmlformats.org/drawingml/2006/main">
              <a:ext uri="{FF2B5EF4-FFF2-40B4-BE49-F238E27FC236}">
                <a16:creationId xmlns:a16="http://schemas.microsoft.com/office/drawing/2014/main" id="{667138C3-4A2C-4649-990A-93957EB6B934}"/>
              </a:ext>
            </a:extLst>
          </p:cNvPr>
          <p:cNvSpPr>
            <a:spLocks xmlns:a="http://schemas.openxmlformats.org/drawingml/2006/main" noGrp="1"/>
          </p:cNvSpPr>
          <p:nvPr/>
        </p:nvSpPr>
        <p:spPr>
          <a:xfrm xmlns:a="http://schemas.openxmlformats.org/drawingml/2006/main">
            <a:off x="16735425" y="73342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1">
                <a:solidFill>
                  <a:srgbClr val="101B40"/>
                </a:solidFill>
                <a:latin typeface="Montserrat Bold"/>
                <a:ea typeface="Montserrat Bold"/>
                <a:cs typeface="Montserrat Bold"/>
              </a:defRPr>
            </a:defPPr>
          </a:lstStyle>
          <a:p xmlns:a="http://schemas.openxmlformats.org/drawingml/2006/main">
            <a:pPr algn="r">
              <a:buNone/>
              <a:defRPr sz="1875" b="1">
                <a:solidFill>
                  <a:srgbClr val="101B40"/>
                </a:solidFill>
                <a:latin typeface="Montserrat Bold"/>
                <a:ea typeface="Montserrat Bold"/>
                <a:cs typeface="Montserrat Bold"/>
              </a:defRPr>
            </a:pPr>
            <a:r>
              <a:rPr sz="1875" b="1">
                <a:solidFill>
                  <a:srgbClr val="101B40"/>
                </a:solidFill>
                <a:latin typeface="Montserrat Bold"/>
                <a:ea typeface="Montserrat Bold"/>
                <a:cs typeface="Montserrat Bold"/>
              </a:rPr>
              <a:t>09</a:t>
            </a:r>
          </a:p>
        </p:txBody>
      </p:sp>
      <p:sp>
        <p:nvSpPr>
          <p:cNvPr id="15" name="PDF-GalaxAI">
            <a:extLst xmlns:a="http://schemas.openxmlformats.org/drawingml/2006/main">
              <a:ext uri="{FF2B5EF4-FFF2-40B4-BE49-F238E27FC236}">
                <a16:creationId xmlns:a16="http://schemas.microsoft.com/office/drawing/2014/main" id="{205D69A9-479B-4C7F-9DC3-787E275C2567}"/>
              </a:ext>
            </a:extLst>
          </p:cNvPr>
          <p:cNvSpPr>
            <a:spLocks xmlns:a="http://schemas.openxmlformats.org/drawingml/2006/main" noGrp="1"/>
          </p:cNvSpPr>
          <p:nvPr/>
        </p:nvSpPr>
        <p:spPr>
          <a:xfrm xmlns:a="http://schemas.openxmlformats.org/drawingml/2006/main">
            <a:off x="1238250" y="96202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681"/>
                </a:solidFill>
                <a:latin typeface="Montserrat"/>
                <a:ea typeface="Montserrat"/>
                <a:cs typeface="Montserrat"/>
              </a:defRPr>
            </a:defPPr>
          </a:lstStyle>
          <a:p xmlns:a="http://schemas.openxmlformats.org/drawingml/2006/main">
            <a:pPr algn="l">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PDF-GalaxAI</a:t>
            </a:r>
          </a:p>
        </p:txBody>
      </p:sp>
      <p:sp>
        <p:nvSpPr>
          <p:cNvPr id="16" name="09 / 12">
            <a:extLst xmlns:a="http://schemas.openxmlformats.org/drawingml/2006/main">
              <a:ext uri="{FF2B5EF4-FFF2-40B4-BE49-F238E27FC236}">
                <a16:creationId xmlns:a16="http://schemas.microsoft.com/office/drawing/2014/main" id="{6CCF80CF-1AA2-4450-B29D-AE5A98270371}"/>
              </a:ext>
            </a:extLst>
          </p:cNvPr>
          <p:cNvSpPr>
            <a:spLocks xmlns:a="http://schemas.openxmlformats.org/drawingml/2006/main" noGrp="1"/>
          </p:cNvSpPr>
          <p:nvPr/>
        </p:nvSpPr>
        <p:spPr>
          <a:xfrm xmlns:a="http://schemas.openxmlformats.org/drawingml/2006/main">
            <a:off x="15430500" y="9620250"/>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536681"/>
                </a:solidFill>
                <a:latin typeface="Montserrat"/>
                <a:ea typeface="Montserrat"/>
                <a:cs typeface="Montserrat"/>
              </a:defRPr>
            </a:defPPr>
          </a:lstStyle>
          <a:p xmlns:a="http://schemas.openxmlformats.org/drawingml/2006/main">
            <a:pPr algn="r">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09 / 12</a:t>
            </a:r>
          </a:p>
        </p:txBody>
      </p:sp>
      <p:sp>
        <p:nvSpPr>
          <p:cNvPr id="17" name="Interactive Workflow &amp; Model Choice">
            <a:extLst xmlns:a="http://schemas.openxmlformats.org/drawingml/2006/main">
              <a:ext uri="{FF2B5EF4-FFF2-40B4-BE49-F238E27FC236}">
                <a16:creationId xmlns:a16="http://schemas.microsoft.com/office/drawing/2014/main" id="{91F4ABDD-4E21-453F-A86C-969A276090CA}"/>
              </a:ext>
            </a:extLst>
          </p:cNvPr>
          <p:cNvSpPr>
            <a:spLocks xmlns:a="http://schemas.openxmlformats.org/drawingml/2006/main" noGrp="1"/>
          </p:cNvSpPr>
          <p:nvPr/>
        </p:nvSpPr>
        <p:spPr>
          <a:xfrm xmlns:a="http://schemas.openxmlformats.org/drawingml/2006/main">
            <a:off x="1238250" y="1952625"/>
            <a:ext cx="15668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425" b="1">
                <a:solidFill>
                  <a:srgbClr val="101B40"/>
                </a:solidFill>
                <a:latin typeface="Montserrat Bold"/>
                <a:ea typeface="Montserrat Bold"/>
                <a:cs typeface="Montserrat Bold"/>
              </a:defRPr>
            </a:defPPr>
          </a:lstStyle>
          <a:p xmlns:a="http://schemas.openxmlformats.org/drawingml/2006/main">
            <a:pPr algn="l">
              <a:buNone/>
              <a:defRPr sz="4425" b="1">
                <a:solidFill>
                  <a:srgbClr val="101B40"/>
                </a:solidFill>
                <a:latin typeface="Montserrat Bold"/>
                <a:ea typeface="Montserrat Bold"/>
                <a:cs typeface="Montserrat Bold"/>
              </a:defRPr>
            </a:pPr>
            <a:r>
              <a:rPr sz="4425" b="1">
                <a:solidFill>
                  <a:srgbClr val="101B40"/>
                </a:solidFill>
                <a:latin typeface="Montserrat Bold"/>
                <a:ea typeface="Montserrat Bold"/>
                <a:cs typeface="Montserrat Bold"/>
              </a:rPr>
              <a:t>Interactive Workflow &amp; Model Choice</a:t>
            </a:r>
          </a:p>
        </p:txBody>
      </p:sp>
      <p:sp>
        <p:nvSpPr>
          <p:cNvPr id="18" name="The same workspace supports broad discovery and focused reading with a">
            <a:extLst xmlns:a="http://schemas.openxmlformats.org/drawingml/2006/main">
              <a:ext uri="{FF2B5EF4-FFF2-40B4-BE49-F238E27FC236}">
                <a16:creationId xmlns:a16="http://schemas.microsoft.com/office/drawing/2014/main" id="{91175708-E8FB-4991-9B35-5057E78D5F71}"/>
              </a:ext>
            </a:extLst>
          </p:cNvPr>
          <p:cNvSpPr>
            <a:spLocks xmlns:a="http://schemas.openxmlformats.org/drawingml/2006/main" noGrp="1"/>
          </p:cNvSpPr>
          <p:nvPr/>
        </p:nvSpPr>
        <p:spPr>
          <a:xfrm xmlns:a="http://schemas.openxmlformats.org/drawingml/2006/main">
            <a:off x="1257300" y="2905125"/>
            <a:ext cx="15382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36681"/>
                </a:solidFill>
                <a:latin typeface="Montserrat"/>
                <a:ea typeface="Montserrat"/>
                <a:cs typeface="Montserrat"/>
              </a:defRPr>
            </a:defPPr>
          </a:lstStyle>
          <a:p xmlns:a="http://schemas.openxmlformats.org/drawingml/2006/main">
            <a:pPr algn="l">
              <a:buNone/>
              <a:defRPr sz="2250" b="0">
                <a:solidFill>
                  <a:srgbClr val="536681"/>
                </a:solidFill>
                <a:latin typeface="Montserrat"/>
                <a:ea typeface="Montserrat"/>
                <a:cs typeface="Montserrat"/>
              </a:defRPr>
            </a:pPr>
            <a:r>
              <a:rPr sz="2250" b="0">
                <a:solidFill>
                  <a:srgbClr val="536681"/>
                </a:solidFill>
                <a:latin typeface="Montserrat"/>
                <a:ea typeface="Montserrat"/>
                <a:cs typeface="Montserrat"/>
              </a:rPr>
              <a:t>The same workspace supports broad discovery and focused reading with a user-selected inference provider.</a:t>
            </a:r>
          </a:p>
        </p:txBody>
      </p:sp>
      <p:sp>
        <p:nvSpPr>
          <p:cNvPr id="19" name="01">
            <a:extLst xmlns:a="http://schemas.openxmlformats.org/drawingml/2006/main">
              <a:ext uri="{FF2B5EF4-FFF2-40B4-BE49-F238E27FC236}">
                <a16:creationId xmlns:a16="http://schemas.microsoft.com/office/drawing/2014/main" id="{F5B5BB04-D9C2-479B-9822-B6A2CFC8D90E}"/>
              </a:ext>
            </a:extLst>
          </p:cNvPr>
          <p:cNvSpPr>
            <a:spLocks xmlns:a="http://schemas.openxmlformats.org/drawingml/2006/main" noGrp="1"/>
          </p:cNvSpPr>
          <p:nvPr/>
        </p:nvSpPr>
        <p:spPr>
          <a:xfrm xmlns:a="http://schemas.openxmlformats.org/drawingml/2006/main">
            <a:off x="1238250" y="4000500"/>
            <a:ext cx="85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8FA4C1"/>
                </a:solidFill>
                <a:latin typeface="Montserrat Bold"/>
                <a:ea typeface="Montserrat Bold"/>
                <a:cs typeface="Montserrat Bold"/>
              </a:defRPr>
            </a:defPPr>
          </a:lstStyle>
          <a:p xmlns:a="http://schemas.openxmlformats.org/drawingml/2006/main">
            <a:pPr algn="l">
              <a:buNone/>
              <a:defRPr sz="3225" b="1">
                <a:solidFill>
                  <a:srgbClr val="8FA4C1"/>
                </a:solidFill>
                <a:latin typeface="Montserrat Bold"/>
                <a:ea typeface="Montserrat Bold"/>
                <a:cs typeface="Montserrat Bold"/>
              </a:defRPr>
            </a:pPr>
            <a:r>
              <a:rPr sz="3225" b="1">
                <a:solidFill>
                  <a:srgbClr val="8FA4C1"/>
                </a:solidFill>
                <a:latin typeface="Montserrat Bold"/>
                <a:ea typeface="Montserrat Bold"/>
                <a:cs typeface="Montserrat Bold"/>
              </a:rPr>
              <a:t>01</a:t>
            </a:r>
          </a:p>
        </p:txBody>
      </p:sp>
      <p:sp>
        <p:nvSpPr>
          <p:cNvPr id="20" name="Import">
            <a:extLst xmlns:a="http://schemas.openxmlformats.org/drawingml/2006/main">
              <a:ext uri="{FF2B5EF4-FFF2-40B4-BE49-F238E27FC236}">
                <a16:creationId xmlns:a16="http://schemas.microsoft.com/office/drawing/2014/main" id="{61F96455-1EBF-4C91-A1BA-2ABEB50FD2DF}"/>
              </a:ext>
            </a:extLst>
          </p:cNvPr>
          <p:cNvSpPr>
            <a:spLocks xmlns:a="http://schemas.openxmlformats.org/drawingml/2006/main" noGrp="1"/>
          </p:cNvSpPr>
          <p:nvPr/>
        </p:nvSpPr>
        <p:spPr>
          <a:xfrm xmlns:a="http://schemas.openxmlformats.org/drawingml/2006/main">
            <a:off x="2143125" y="4057650"/>
            <a:ext cx="285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01B40"/>
                </a:solidFill>
                <a:latin typeface="Montserrat Bold"/>
                <a:ea typeface="Montserrat Bold"/>
                <a:cs typeface="Montserrat Bold"/>
              </a:defRPr>
            </a:defPPr>
          </a:lstStyle>
          <a:p xmlns:a="http://schemas.openxmlformats.org/drawingml/2006/main">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Import</a:t>
            </a:r>
          </a:p>
        </p:txBody>
      </p:sp>
      <p:sp>
        <p:nvSpPr>
          <p:cNvPr id="21" name="Upload and index papers">
            <a:extLst xmlns:a="http://schemas.openxmlformats.org/drawingml/2006/main">
              <a:ext uri="{FF2B5EF4-FFF2-40B4-BE49-F238E27FC236}">
                <a16:creationId xmlns:a16="http://schemas.microsoft.com/office/drawing/2014/main" id="{42B8CBE9-85B6-42B3-A0EC-B65AC2F01963}"/>
              </a:ext>
            </a:extLst>
          </p:cNvPr>
          <p:cNvSpPr>
            <a:spLocks xmlns:a="http://schemas.openxmlformats.org/drawingml/2006/main" noGrp="1"/>
          </p:cNvSpPr>
          <p:nvPr/>
        </p:nvSpPr>
        <p:spPr>
          <a:xfrm xmlns:a="http://schemas.openxmlformats.org/drawingml/2006/main">
            <a:off x="1238250" y="4800600"/>
            <a:ext cx="3619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36681"/>
                </a:solidFill>
                <a:latin typeface="Montserrat"/>
                <a:ea typeface="Montserrat"/>
                <a:cs typeface="Montserrat"/>
              </a:defRPr>
            </a:defPPr>
          </a:lstStyle>
          <a:p xmlns:a="http://schemas.openxmlformats.org/drawingml/2006/main">
            <a:pPr algn="l">
              <a:buNone/>
              <a:defRPr sz="2025" b="0">
                <a:solidFill>
                  <a:srgbClr val="536681"/>
                </a:solidFill>
                <a:latin typeface="Montserrat"/>
                <a:ea typeface="Montserrat"/>
                <a:cs typeface="Montserrat"/>
              </a:defRPr>
            </a:pPr>
            <a:r>
              <a:rPr sz="2025" b="0">
                <a:solidFill>
                  <a:srgbClr val="536681"/>
                </a:solidFill>
                <a:latin typeface="Montserrat"/>
                <a:ea typeface="Montserrat"/>
                <a:cs typeface="Montserrat"/>
              </a:rPr>
              <a:t>Upload and index papers</a:t>
            </a:r>
          </a:p>
        </p:txBody>
      </p:sp>
      <p:sp>
        <p:nvSpPr>
          <p:cNvPr id="22" name="02">
            <a:extLst xmlns:a="http://schemas.openxmlformats.org/drawingml/2006/main">
              <a:ext uri="{FF2B5EF4-FFF2-40B4-BE49-F238E27FC236}">
                <a16:creationId xmlns:a16="http://schemas.microsoft.com/office/drawing/2014/main" id="{D3813BDD-7DC8-4A09-BD9F-B3790DA352B4}"/>
              </a:ext>
            </a:extLst>
          </p:cNvPr>
          <p:cNvSpPr>
            <a:spLocks xmlns:a="http://schemas.openxmlformats.org/drawingml/2006/main" noGrp="1"/>
          </p:cNvSpPr>
          <p:nvPr/>
        </p:nvSpPr>
        <p:spPr>
          <a:xfrm xmlns:a="http://schemas.openxmlformats.org/drawingml/2006/main">
            <a:off x="5286375" y="4000500"/>
            <a:ext cx="85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8FA4C1"/>
                </a:solidFill>
                <a:latin typeface="Montserrat Bold"/>
                <a:ea typeface="Montserrat Bold"/>
                <a:cs typeface="Montserrat Bold"/>
              </a:defRPr>
            </a:defPPr>
          </a:lstStyle>
          <a:p xmlns:a="http://schemas.openxmlformats.org/drawingml/2006/main">
            <a:pPr algn="l">
              <a:buNone/>
              <a:defRPr sz="3225" b="1">
                <a:solidFill>
                  <a:srgbClr val="8FA4C1"/>
                </a:solidFill>
                <a:latin typeface="Montserrat Bold"/>
                <a:ea typeface="Montserrat Bold"/>
                <a:cs typeface="Montserrat Bold"/>
              </a:defRPr>
            </a:pPr>
            <a:r>
              <a:rPr sz="3225" b="1">
                <a:solidFill>
                  <a:srgbClr val="8FA4C1"/>
                </a:solidFill>
                <a:latin typeface="Montserrat Bold"/>
                <a:ea typeface="Montserrat Bold"/>
                <a:cs typeface="Montserrat Bold"/>
              </a:rPr>
              <a:t>02</a:t>
            </a:r>
          </a:p>
        </p:txBody>
      </p:sp>
      <p:sp>
        <p:nvSpPr>
          <p:cNvPr id="23" name="Explore">
            <a:extLst xmlns:a="http://schemas.openxmlformats.org/drawingml/2006/main">
              <a:ext uri="{FF2B5EF4-FFF2-40B4-BE49-F238E27FC236}">
                <a16:creationId xmlns:a16="http://schemas.microsoft.com/office/drawing/2014/main" id="{4A17FA18-6AC2-450D-A513-79EDD643A336}"/>
              </a:ext>
            </a:extLst>
          </p:cNvPr>
          <p:cNvSpPr>
            <a:spLocks xmlns:a="http://schemas.openxmlformats.org/drawingml/2006/main" noGrp="1"/>
          </p:cNvSpPr>
          <p:nvPr/>
        </p:nvSpPr>
        <p:spPr>
          <a:xfrm xmlns:a="http://schemas.openxmlformats.org/drawingml/2006/main">
            <a:off x="6191250" y="4057650"/>
            <a:ext cx="285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01B40"/>
                </a:solidFill>
                <a:latin typeface="Montserrat Bold"/>
                <a:ea typeface="Montserrat Bold"/>
                <a:cs typeface="Montserrat Bold"/>
              </a:defRPr>
            </a:defPPr>
          </a:lstStyle>
          <a:p xmlns:a="http://schemas.openxmlformats.org/drawingml/2006/main">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Explore</a:t>
            </a:r>
          </a:p>
        </p:txBody>
      </p:sp>
      <p:sp>
        <p:nvSpPr>
          <p:cNvPr id="24" name="Select or search a paper">
            <a:extLst xmlns:a="http://schemas.openxmlformats.org/drawingml/2006/main">
              <a:ext uri="{FF2B5EF4-FFF2-40B4-BE49-F238E27FC236}">
                <a16:creationId xmlns:a16="http://schemas.microsoft.com/office/drawing/2014/main" id="{5704C074-95A8-4DD2-82F9-402FC11909BF}"/>
              </a:ext>
            </a:extLst>
          </p:cNvPr>
          <p:cNvSpPr>
            <a:spLocks xmlns:a="http://schemas.openxmlformats.org/drawingml/2006/main" noGrp="1"/>
          </p:cNvSpPr>
          <p:nvPr/>
        </p:nvSpPr>
        <p:spPr>
          <a:xfrm xmlns:a="http://schemas.openxmlformats.org/drawingml/2006/main">
            <a:off x="5286375" y="4800600"/>
            <a:ext cx="3619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36681"/>
                </a:solidFill>
                <a:latin typeface="Montserrat"/>
                <a:ea typeface="Montserrat"/>
                <a:cs typeface="Montserrat"/>
              </a:defRPr>
            </a:defPPr>
          </a:lstStyle>
          <a:p xmlns:a="http://schemas.openxmlformats.org/drawingml/2006/main">
            <a:pPr algn="l">
              <a:buNone/>
              <a:defRPr sz="2025" b="0">
                <a:solidFill>
                  <a:srgbClr val="536681"/>
                </a:solidFill>
                <a:latin typeface="Montserrat"/>
                <a:ea typeface="Montserrat"/>
                <a:cs typeface="Montserrat"/>
              </a:defRPr>
            </a:pPr>
            <a:r>
              <a:rPr sz="2025" b="0">
                <a:solidFill>
                  <a:srgbClr val="536681"/>
                </a:solidFill>
                <a:latin typeface="Montserrat"/>
                <a:ea typeface="Montserrat"/>
                <a:cs typeface="Montserrat"/>
              </a:rPr>
              <a:t>Select or search a paper</a:t>
            </a:r>
          </a:p>
        </p:txBody>
      </p:sp>
      <p:sp>
        <p:nvSpPr>
          <p:cNvPr id="25" name="03">
            <a:extLst xmlns:a="http://schemas.openxmlformats.org/drawingml/2006/main">
              <a:ext uri="{FF2B5EF4-FFF2-40B4-BE49-F238E27FC236}">
                <a16:creationId xmlns:a16="http://schemas.microsoft.com/office/drawing/2014/main" id="{F9550F7A-ADD1-4F9E-A8AB-D2698B779F8E}"/>
              </a:ext>
            </a:extLst>
          </p:cNvPr>
          <p:cNvSpPr>
            <a:spLocks xmlns:a="http://schemas.openxmlformats.org/drawingml/2006/main" noGrp="1"/>
          </p:cNvSpPr>
          <p:nvPr/>
        </p:nvSpPr>
        <p:spPr>
          <a:xfrm xmlns:a="http://schemas.openxmlformats.org/drawingml/2006/main">
            <a:off x="9334500" y="4000500"/>
            <a:ext cx="85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8FA4C1"/>
                </a:solidFill>
                <a:latin typeface="Montserrat Bold"/>
                <a:ea typeface="Montserrat Bold"/>
                <a:cs typeface="Montserrat Bold"/>
              </a:defRPr>
            </a:defPPr>
          </a:lstStyle>
          <a:p xmlns:a="http://schemas.openxmlformats.org/drawingml/2006/main">
            <a:pPr algn="l">
              <a:buNone/>
              <a:defRPr sz="3225" b="1">
                <a:solidFill>
                  <a:srgbClr val="8FA4C1"/>
                </a:solidFill>
                <a:latin typeface="Montserrat Bold"/>
                <a:ea typeface="Montserrat Bold"/>
                <a:cs typeface="Montserrat Bold"/>
              </a:defRPr>
            </a:pPr>
            <a:r>
              <a:rPr sz="3225" b="1">
                <a:solidFill>
                  <a:srgbClr val="8FA4C1"/>
                </a:solidFill>
                <a:latin typeface="Montserrat Bold"/>
                <a:ea typeface="Montserrat Bold"/>
                <a:cs typeface="Montserrat Bold"/>
              </a:rPr>
              <a:t>03</a:t>
            </a:r>
          </a:p>
        </p:txBody>
      </p:sp>
      <p:sp>
        <p:nvSpPr>
          <p:cNvPr id="26" name="Question">
            <a:extLst xmlns:a="http://schemas.openxmlformats.org/drawingml/2006/main">
              <a:ext uri="{FF2B5EF4-FFF2-40B4-BE49-F238E27FC236}">
                <a16:creationId xmlns:a16="http://schemas.microsoft.com/office/drawing/2014/main" id="{BED2ACF7-92A1-4B26-AF4C-27F88111B196}"/>
              </a:ext>
            </a:extLst>
          </p:cNvPr>
          <p:cNvSpPr>
            <a:spLocks xmlns:a="http://schemas.openxmlformats.org/drawingml/2006/main" noGrp="1"/>
          </p:cNvSpPr>
          <p:nvPr/>
        </p:nvSpPr>
        <p:spPr>
          <a:xfrm xmlns:a="http://schemas.openxmlformats.org/drawingml/2006/main">
            <a:off x="10239375" y="4057650"/>
            <a:ext cx="285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01B40"/>
                </a:solidFill>
                <a:latin typeface="Montserrat Bold"/>
                <a:ea typeface="Montserrat Bold"/>
                <a:cs typeface="Montserrat Bold"/>
              </a:defRPr>
            </a:defPPr>
          </a:lstStyle>
          <a:p xmlns:a="http://schemas.openxmlformats.org/drawingml/2006/main">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Question</a:t>
            </a:r>
          </a:p>
        </p:txBody>
      </p:sp>
      <p:sp>
        <p:nvSpPr>
          <p:cNvPr id="27" name="Choose context and mode">
            <a:extLst xmlns:a="http://schemas.openxmlformats.org/drawingml/2006/main">
              <a:ext uri="{FF2B5EF4-FFF2-40B4-BE49-F238E27FC236}">
                <a16:creationId xmlns:a16="http://schemas.microsoft.com/office/drawing/2014/main" id="{68BBC3A0-C75F-4D4A-8ABF-A15749B57920}"/>
              </a:ext>
            </a:extLst>
          </p:cNvPr>
          <p:cNvSpPr>
            <a:spLocks xmlns:a="http://schemas.openxmlformats.org/drawingml/2006/main" noGrp="1"/>
          </p:cNvSpPr>
          <p:nvPr/>
        </p:nvSpPr>
        <p:spPr>
          <a:xfrm xmlns:a="http://schemas.openxmlformats.org/drawingml/2006/main">
            <a:off x="9334500" y="4800600"/>
            <a:ext cx="3619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36681"/>
                </a:solidFill>
                <a:latin typeface="Montserrat"/>
                <a:ea typeface="Montserrat"/>
                <a:cs typeface="Montserrat"/>
              </a:defRPr>
            </a:defPPr>
          </a:lstStyle>
          <a:p xmlns:a="http://schemas.openxmlformats.org/drawingml/2006/main">
            <a:pPr algn="l">
              <a:buNone/>
              <a:defRPr sz="2025" b="0">
                <a:solidFill>
                  <a:srgbClr val="536681"/>
                </a:solidFill>
                <a:latin typeface="Montserrat"/>
                <a:ea typeface="Montserrat"/>
                <a:cs typeface="Montserrat"/>
              </a:defRPr>
            </a:pPr>
            <a:r>
              <a:rPr sz="2025" b="0">
                <a:solidFill>
                  <a:srgbClr val="536681"/>
                </a:solidFill>
                <a:latin typeface="Montserrat"/>
                <a:ea typeface="Montserrat"/>
                <a:cs typeface="Montserrat"/>
              </a:rPr>
              <a:t>Choose context and mode</a:t>
            </a:r>
          </a:p>
        </p:txBody>
      </p:sp>
      <p:sp>
        <p:nvSpPr>
          <p:cNvPr id="28" name="04">
            <a:extLst xmlns:a="http://schemas.openxmlformats.org/drawingml/2006/main">
              <a:ext uri="{FF2B5EF4-FFF2-40B4-BE49-F238E27FC236}">
                <a16:creationId xmlns:a16="http://schemas.microsoft.com/office/drawing/2014/main" id="{A1D755C0-3DC1-4290-BD2E-2F35B072A2CC}"/>
              </a:ext>
            </a:extLst>
          </p:cNvPr>
          <p:cNvSpPr>
            <a:spLocks xmlns:a="http://schemas.openxmlformats.org/drawingml/2006/main" noGrp="1"/>
          </p:cNvSpPr>
          <p:nvPr/>
        </p:nvSpPr>
        <p:spPr>
          <a:xfrm xmlns:a="http://schemas.openxmlformats.org/drawingml/2006/main">
            <a:off x="13382625" y="4000500"/>
            <a:ext cx="85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8FA4C1"/>
                </a:solidFill>
                <a:latin typeface="Montserrat Bold"/>
                <a:ea typeface="Montserrat Bold"/>
                <a:cs typeface="Montserrat Bold"/>
              </a:defRPr>
            </a:defPPr>
          </a:lstStyle>
          <a:p xmlns:a="http://schemas.openxmlformats.org/drawingml/2006/main">
            <a:pPr algn="l">
              <a:buNone/>
              <a:defRPr sz="3225" b="1">
                <a:solidFill>
                  <a:srgbClr val="8FA4C1"/>
                </a:solidFill>
                <a:latin typeface="Montserrat Bold"/>
                <a:ea typeface="Montserrat Bold"/>
                <a:cs typeface="Montserrat Bold"/>
              </a:defRPr>
            </a:pPr>
            <a:r>
              <a:rPr sz="3225" b="1">
                <a:solidFill>
                  <a:srgbClr val="8FA4C1"/>
                </a:solidFill>
                <a:latin typeface="Montserrat Bold"/>
                <a:ea typeface="Montserrat Bold"/>
                <a:cs typeface="Montserrat Bold"/>
              </a:rPr>
              <a:t>04</a:t>
            </a:r>
          </a:p>
        </p:txBody>
      </p:sp>
      <p:sp>
        <p:nvSpPr>
          <p:cNvPr id="29" name="Verify">
            <a:extLst xmlns:a="http://schemas.openxmlformats.org/drawingml/2006/main">
              <a:ext uri="{FF2B5EF4-FFF2-40B4-BE49-F238E27FC236}">
                <a16:creationId xmlns:a16="http://schemas.microsoft.com/office/drawing/2014/main" id="{EB93304C-A127-4293-95FB-787DBD633567}"/>
              </a:ext>
            </a:extLst>
          </p:cNvPr>
          <p:cNvSpPr>
            <a:spLocks xmlns:a="http://schemas.openxmlformats.org/drawingml/2006/main" noGrp="1"/>
          </p:cNvSpPr>
          <p:nvPr/>
        </p:nvSpPr>
        <p:spPr>
          <a:xfrm xmlns:a="http://schemas.openxmlformats.org/drawingml/2006/main">
            <a:off x="14287500" y="4057650"/>
            <a:ext cx="285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01B40"/>
                </a:solidFill>
                <a:latin typeface="Montserrat Bold"/>
                <a:ea typeface="Montserrat Bold"/>
                <a:cs typeface="Montserrat Bold"/>
              </a:defRPr>
            </a:defPPr>
          </a:lstStyle>
          <a:p xmlns:a="http://schemas.openxmlformats.org/drawingml/2006/main">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Verify</a:t>
            </a:r>
          </a:p>
        </p:txBody>
      </p:sp>
      <p:sp>
        <p:nvSpPr>
          <p:cNvPr id="30" name="Open cited source text">
            <a:extLst xmlns:a="http://schemas.openxmlformats.org/drawingml/2006/main">
              <a:ext uri="{FF2B5EF4-FFF2-40B4-BE49-F238E27FC236}">
                <a16:creationId xmlns:a16="http://schemas.microsoft.com/office/drawing/2014/main" id="{02B161DD-E5A9-4EBE-8723-E63EB761130E}"/>
              </a:ext>
            </a:extLst>
          </p:cNvPr>
          <p:cNvSpPr>
            <a:spLocks xmlns:a="http://schemas.openxmlformats.org/drawingml/2006/main" noGrp="1"/>
          </p:cNvSpPr>
          <p:nvPr/>
        </p:nvSpPr>
        <p:spPr>
          <a:xfrm xmlns:a="http://schemas.openxmlformats.org/drawingml/2006/main">
            <a:off x="13382625" y="4800600"/>
            <a:ext cx="3619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36681"/>
                </a:solidFill>
                <a:latin typeface="Montserrat"/>
                <a:ea typeface="Montserrat"/>
                <a:cs typeface="Montserrat"/>
              </a:defRPr>
            </a:defPPr>
          </a:lstStyle>
          <a:p xmlns:a="http://schemas.openxmlformats.org/drawingml/2006/main">
            <a:pPr algn="l">
              <a:buNone/>
              <a:defRPr sz="2025" b="0">
                <a:solidFill>
                  <a:srgbClr val="536681"/>
                </a:solidFill>
                <a:latin typeface="Montserrat"/>
                <a:ea typeface="Montserrat"/>
                <a:cs typeface="Montserrat"/>
              </a:defRPr>
            </a:pPr>
            <a:r>
              <a:rPr sz="2025" b="0">
                <a:solidFill>
                  <a:srgbClr val="536681"/>
                </a:solidFill>
                <a:latin typeface="Montserrat"/>
                <a:ea typeface="Montserrat"/>
                <a:cs typeface="Montserrat"/>
              </a:rPr>
              <a:t>Open cited source text</a:t>
            </a:r>
          </a:p>
        </p:txBody>
      </p:sp>
      <p:sp>
        <p:nvSpPr>
          <p:cNvPr id="34" name="Screenshot placeholder: 【此处放本地与云端模型切换截图】">
            <a:extLst xmlns:a="http://schemas.openxmlformats.org/drawingml/2006/main">
              <a:ext uri="{FF2B5EF4-FFF2-40B4-BE49-F238E27FC236}">
                <a16:creationId xmlns:a16="http://schemas.microsoft.com/office/drawing/2014/main" id="{BAC3724B-902A-48E1-A3A2-1E82A3A867EB}"/>
              </a:ext>
            </a:extLst>
          </p:cNvPr>
          <p:cNvSpPr>
            <a:spLocks xmlns:a="http://schemas.openxmlformats.org/drawingml/2006/main" noGrp="1"/>
          </p:cNvSpPr>
          <p:nvPr/>
        </p:nvSpPr>
        <p:spPr>
          <a:xfrm xmlns:a="http://schemas.openxmlformats.org/drawingml/2006/main">
            <a:off x="11811000" y="5810250"/>
            <a:ext cx="5095875" cy="3524250"/>
          </a:xfrm>
          <a:prstGeom xmlns:a="http://schemas.openxmlformats.org/drawingml/2006/main" prst="roundRect">
            <a:avLst>
              <a:gd name="adj" fmla="val 6486"/>
            </a:avLst>
          </a:prstGeom>
          <a:solidFill xmlns:a="http://schemas.openxmlformats.org/drawingml/2006/main">
            <a:srgbClr val="DCE2EB"/>
          </a:solidFill>
          <a:ln xmlns:a="http://schemas.openxmlformats.org/drawingml/2006/main" w="16193">
            <a:solidFill>
              <a:srgbClr val="8FA4C1"/>
            </a:solidFill>
          </a:ln>
        </p:spPr>
      </p:sp>
      <p:sp>
        <p:nvSpPr>
          <p:cNvPr id="35" name="【此处放本地与云端模型切换截图】">
            <a:extLst xmlns:a="http://schemas.openxmlformats.org/drawingml/2006/main">
              <a:ext uri="{FF2B5EF4-FFF2-40B4-BE49-F238E27FC236}">
                <a16:creationId xmlns:a16="http://schemas.microsoft.com/office/drawing/2014/main" id="{E40A85D0-7AAF-4575-84AE-3582222160A0}"/>
              </a:ext>
            </a:extLst>
          </p:cNvPr>
          <p:cNvSpPr>
            <a:spLocks xmlns:a="http://schemas.openxmlformats.org/drawingml/2006/main" noGrp="1"/>
          </p:cNvSpPr>
          <p:nvPr/>
        </p:nvSpPr>
        <p:spPr>
          <a:xfrm xmlns:a="http://schemas.openxmlformats.org/drawingml/2006/main">
            <a:off x="12020550" y="7286625"/>
            <a:ext cx="46767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250" b="0">
                <a:solidFill>
                  <a:srgbClr val="536681"/>
                </a:solidFill>
                <a:latin typeface="Microsoft YaHei"/>
                <a:ea typeface="Microsoft YaHei"/>
                <a:cs typeface="Microsoft YaHei"/>
              </a:defRPr>
            </a:defPPr>
          </a:lstStyle>
          <a:p xmlns:a="http://schemas.openxmlformats.org/drawingml/2006/main">
            <a:pPr algn="ctr">
              <a:buNone/>
              <a:defRPr sz="2250" b="0">
                <a:solidFill>
                  <a:srgbClr val="536681"/>
                </a:solidFill>
                <a:latin typeface="Microsoft YaHei"/>
                <a:ea typeface="Microsoft YaHei"/>
                <a:cs typeface="Microsoft YaHei"/>
              </a:defRPr>
            </a:pPr>
            <a:r>
              <a:rPr sz="2250" b="0">
                <a:solidFill>
                  <a:srgbClr val="536681"/>
                </a:solidFill>
                <a:latin typeface="Microsoft YaHei"/>
                <a:ea typeface="Microsoft YaHei"/>
                <a:cs typeface="Microsoft YaHei"/>
              </a:rPr>
              <a:t>【此处放本地与云端模型切换截图】</a:t>
            </a:r>
          </a:p>
        </p:txBody>
      </p:sp>
      <p:sp>
        <p:nvSpPr>
          <p:cNvPr id="36" name="Model panel crop">
            <a:extLst xmlns:a="http://schemas.openxmlformats.org/drawingml/2006/main">
              <a:ext uri="{FF2B5EF4-FFF2-40B4-BE49-F238E27FC236}">
                <a16:creationId xmlns:a16="http://schemas.microsoft.com/office/drawing/2014/main" id="{FEFD78E0-7D93-49BB-8358-78442BD17F28}"/>
              </a:ext>
            </a:extLst>
          </p:cNvPr>
          <p:cNvSpPr>
            <a:spLocks xmlns:a="http://schemas.openxmlformats.org/drawingml/2006/main" noGrp="1"/>
          </p:cNvSpPr>
          <p:nvPr/>
        </p:nvSpPr>
        <p:spPr>
          <a:xfrm xmlns:a="http://schemas.openxmlformats.org/drawingml/2006/main">
            <a:off x="15525750" y="5981700"/>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75" b="0">
                <a:solidFill>
                  <a:srgbClr val="536681"/>
                </a:solidFill>
                <a:latin typeface="Montserrat"/>
                <a:ea typeface="Montserrat"/>
                <a:cs typeface="Montserrat"/>
              </a:defRPr>
            </a:defPPr>
          </a:lstStyle>
          <a:p xmlns:a="http://schemas.openxmlformats.org/drawingml/2006/main">
            <a:pPr algn="r">
              <a:buNone/>
              <a:defRPr sz="1575" b="0">
                <a:solidFill>
                  <a:srgbClr val="536681"/>
                </a:solidFill>
                <a:latin typeface="Montserrat"/>
                <a:ea typeface="Montserrat"/>
                <a:cs typeface="Montserrat"/>
              </a:defRPr>
            </a:pPr>
            <a:r>
              <a:rPr sz="1575" b="0">
                <a:solidFill>
                  <a:srgbClr val="536681"/>
                </a:solidFill>
                <a:latin typeface="Montserrat"/>
                <a:ea typeface="Montserrat"/>
                <a:cs typeface="Montserrat"/>
              </a:rPr>
              <a:t>Model panel crop</a:t>
            </a:r>
          </a:p>
        </p:txBody>
      </p:sp>
      <p:sp>
        <p:nvSpPr>
          <p:cNvPr id="37" name="Data and interaction flow">
            <a:extLst xmlns:a="http://schemas.openxmlformats.org/drawingml/2006/main">
              <a:ext uri="{FF2B5EF4-FFF2-40B4-BE49-F238E27FC236}">
                <a16:creationId xmlns:a16="http://schemas.microsoft.com/office/drawing/2014/main" id="{F3559A32-BF49-4A15-B1E2-704F6B8A35B0}"/>
              </a:ext>
            </a:extLst>
          </p:cNvPr>
          <p:cNvSpPr>
            <a:spLocks xmlns:a="http://schemas.openxmlformats.org/drawingml/2006/main" noGrp="1"/>
          </p:cNvSpPr>
          <p:nvPr/>
        </p:nvSpPr>
        <p:spPr>
          <a:xfrm xmlns:a="http://schemas.openxmlformats.org/drawingml/2006/main">
            <a:off x="1238250" y="5772150"/>
            <a:ext cx="990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536681"/>
                </a:solidFill>
                <a:latin typeface="Montserrat Bold"/>
                <a:ea typeface="Montserrat Bold"/>
                <a:cs typeface="Montserrat Bold"/>
              </a:defRPr>
            </a:defPPr>
          </a:lstStyle>
          <a:p xmlns:a="http://schemas.openxmlformats.org/drawingml/2006/main">
            <a:pPr algn="l">
              <a:defRPr sz="1950" b="1">
                <a:solidFill>
                  <a:srgbClr val="536681"/>
                </a:solidFill>
                <a:latin typeface="Montserrat Bold"/>
                <a:ea typeface="Montserrat Bold"/>
                <a:cs typeface="Montserrat Bold"/>
              </a:defRPr>
            </a:pPr>
            <a:r>
              <a:rPr sz="1950" b="1">
                <a:solidFill>
                  <a:srgbClr val="536681"/>
                </a:solidFill>
                <a:latin typeface="Montserrat Bold"/>
                <a:ea typeface="Montserrat Bold"/>
                <a:cs typeface="Montserrat Bold"/>
              </a:rPr>
              <a:t>Data and interaction flow</a:t>
            </a:r>
          </a:p>
        </p:txBody>
      </p:sp>
      <p:sp>
        <p:nvSpPr>
          <p:cNvPr id="38" name="Workflow: Upload PDF">
            <a:extLst xmlns:a="http://schemas.openxmlformats.org/drawingml/2006/main">
              <a:ext uri="{FF2B5EF4-FFF2-40B4-BE49-F238E27FC236}">
                <a16:creationId xmlns:a16="http://schemas.microsoft.com/office/drawing/2014/main" id="{D6AB4F09-B6E8-4B4F-BC3F-3BFA111C2EF5}"/>
              </a:ext>
            </a:extLst>
          </p:cNvPr>
          <p:cNvSpPr>
            <a:spLocks xmlns:a="http://schemas.openxmlformats.org/drawingml/2006/main" noGrp="1"/>
          </p:cNvSpPr>
          <p:nvPr/>
        </p:nvSpPr>
        <p:spPr>
          <a:xfrm xmlns:a="http://schemas.openxmlformats.org/drawingml/2006/main">
            <a:off x="1238250" y="6238875"/>
            <a:ext cx="2857500" cy="12573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16193">
            <a:solidFill>
              <a:srgbClr val="8FA4C1"/>
            </a:solidFill>
          </a:ln>
        </p:spPr>
      </p:sp>
      <p:sp>
        <p:nvSpPr>
          <p:cNvPr id="39" name="Upload PDF">
            <a:extLst xmlns:a="http://schemas.openxmlformats.org/drawingml/2006/main">
              <a:ext uri="{FF2B5EF4-FFF2-40B4-BE49-F238E27FC236}">
                <a16:creationId xmlns:a16="http://schemas.microsoft.com/office/drawing/2014/main" id="{B4A92C1E-3C9F-4CA2-B887-92BC5FFD5C61}"/>
              </a:ext>
            </a:extLst>
          </p:cNvPr>
          <p:cNvSpPr>
            <a:spLocks xmlns:a="http://schemas.openxmlformats.org/drawingml/2006/main" noGrp="1"/>
          </p:cNvSpPr>
          <p:nvPr/>
        </p:nvSpPr>
        <p:spPr>
          <a:xfrm xmlns:a="http://schemas.openxmlformats.org/drawingml/2006/main">
            <a:off x="1409700" y="6410325"/>
            <a:ext cx="2514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01B40"/>
                </a:solidFill>
                <a:latin typeface="Montserrat Bold"/>
                <a:ea typeface="Montserrat Bold"/>
                <a:cs typeface="Montserrat Bold"/>
              </a:defRPr>
            </a:defPPr>
          </a:lstStyle>
          <a:p xmlns:a="http://schemas.openxmlformats.org/drawingml/2006/main">
            <a:pPr algn="l">
              <a:defRPr sz="2025" b="1">
                <a:solidFill>
                  <a:srgbClr val="101B40"/>
                </a:solidFill>
                <a:latin typeface="Montserrat Bold"/>
                <a:ea typeface="Montserrat Bold"/>
                <a:cs typeface="Montserrat Bold"/>
              </a:defRPr>
            </a:pPr>
            <a:r>
              <a:rPr sz="2025" b="1">
                <a:solidFill>
                  <a:srgbClr val="101B40"/>
                </a:solidFill>
                <a:latin typeface="Montserrat Bold"/>
                <a:ea typeface="Montserrat Bold"/>
                <a:cs typeface="Montserrat Bold"/>
              </a:rPr>
              <a:t>Upload PDF</a:t>
            </a:r>
          </a:p>
        </p:txBody>
      </p:sp>
      <p:sp>
        <p:nvSpPr>
          <p:cNvPr id="40" name="Save the original&#10;document">
            <a:extLst xmlns:a="http://schemas.openxmlformats.org/drawingml/2006/main">
              <a:ext uri="{FF2B5EF4-FFF2-40B4-BE49-F238E27FC236}">
                <a16:creationId xmlns:a16="http://schemas.microsoft.com/office/drawing/2014/main" id="{A472293B-CBFF-4012-AA05-5FE98B43CF65}"/>
              </a:ext>
            </a:extLst>
          </p:cNvPr>
          <p:cNvSpPr>
            <a:spLocks xmlns:a="http://schemas.openxmlformats.org/drawingml/2006/main" noGrp="1"/>
          </p:cNvSpPr>
          <p:nvPr/>
        </p:nvSpPr>
        <p:spPr>
          <a:xfrm xmlns:a="http://schemas.openxmlformats.org/drawingml/2006/main">
            <a:off x="1409700" y="6858000"/>
            <a:ext cx="2514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681"/>
                </a:solidFill>
                <a:latin typeface="Montserrat"/>
                <a:ea typeface="Montserrat"/>
                <a:cs typeface="Montserrat"/>
              </a:defRPr>
            </a:defPPr>
          </a:lstStyle>
          <a:p xmlns:a="http://schemas.openxmlformats.org/drawingml/2006/main">
            <a:pPr algn="l">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Save the original</a:t>
            </a:r>
          </a:p>
          <a:p xmlns:a="http://schemas.openxmlformats.org/drawingml/2006/main">
            <a:pPr algn="l">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document</a:t>
            </a:r>
          </a:p>
        </p:txBody>
      </p:sp>
      <p:sp>
        <p:nvSpPr>
          <p:cNvPr id="41" name="Workflow: Parse &amp; index">
            <a:extLst xmlns:a="http://schemas.openxmlformats.org/drawingml/2006/main">
              <a:ext uri="{FF2B5EF4-FFF2-40B4-BE49-F238E27FC236}">
                <a16:creationId xmlns:a16="http://schemas.microsoft.com/office/drawing/2014/main" id="{484EB244-7DDA-42AB-9AA8-B0DD3ECE8C9D}"/>
              </a:ext>
            </a:extLst>
          </p:cNvPr>
          <p:cNvSpPr>
            <a:spLocks xmlns:a="http://schemas.openxmlformats.org/drawingml/2006/main" noGrp="1"/>
          </p:cNvSpPr>
          <p:nvPr/>
        </p:nvSpPr>
        <p:spPr>
          <a:xfrm xmlns:a="http://schemas.openxmlformats.org/drawingml/2006/main">
            <a:off x="4667250" y="6238875"/>
            <a:ext cx="2857500" cy="12573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16193">
            <a:solidFill>
              <a:srgbClr val="8FA4C1"/>
            </a:solidFill>
          </a:ln>
        </p:spPr>
      </p:sp>
      <p:sp>
        <p:nvSpPr>
          <p:cNvPr id="42" name="Parse &amp; index">
            <a:extLst xmlns:a="http://schemas.openxmlformats.org/drawingml/2006/main">
              <a:ext uri="{FF2B5EF4-FFF2-40B4-BE49-F238E27FC236}">
                <a16:creationId xmlns:a16="http://schemas.microsoft.com/office/drawing/2014/main" id="{92143F33-1B38-49A5-AF11-6C4004043EB7}"/>
              </a:ext>
            </a:extLst>
          </p:cNvPr>
          <p:cNvSpPr>
            <a:spLocks xmlns:a="http://schemas.openxmlformats.org/drawingml/2006/main" noGrp="1"/>
          </p:cNvSpPr>
          <p:nvPr/>
        </p:nvSpPr>
        <p:spPr>
          <a:xfrm xmlns:a="http://schemas.openxmlformats.org/drawingml/2006/main">
            <a:off x="4838700" y="6410325"/>
            <a:ext cx="2514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01B40"/>
                </a:solidFill>
                <a:latin typeface="Montserrat Bold"/>
                <a:ea typeface="Montserrat Bold"/>
                <a:cs typeface="Montserrat Bold"/>
              </a:defRPr>
            </a:defPPr>
          </a:lstStyle>
          <a:p xmlns:a="http://schemas.openxmlformats.org/drawingml/2006/main">
            <a:pPr algn="l">
              <a:defRPr sz="2025" b="1">
                <a:solidFill>
                  <a:srgbClr val="101B40"/>
                </a:solidFill>
                <a:latin typeface="Montserrat Bold"/>
                <a:ea typeface="Montserrat Bold"/>
                <a:cs typeface="Montserrat Bold"/>
              </a:defRPr>
            </a:pPr>
            <a:r>
              <a:rPr sz="2025" b="1">
                <a:solidFill>
                  <a:srgbClr val="101B40"/>
                </a:solidFill>
                <a:latin typeface="Montserrat Bold"/>
                <a:ea typeface="Montserrat Bold"/>
                <a:cs typeface="Montserrat Bold"/>
              </a:rPr>
              <a:t>Parse &amp; index</a:t>
            </a:r>
          </a:p>
        </p:txBody>
      </p:sp>
      <p:sp>
        <p:nvSpPr>
          <p:cNvPr id="43" name="Text extraction&#10;and embeddings">
            <a:extLst xmlns:a="http://schemas.openxmlformats.org/drawingml/2006/main">
              <a:ext uri="{FF2B5EF4-FFF2-40B4-BE49-F238E27FC236}">
                <a16:creationId xmlns:a16="http://schemas.microsoft.com/office/drawing/2014/main" id="{52453174-178E-4202-B050-E6651CBF94C0}"/>
              </a:ext>
            </a:extLst>
          </p:cNvPr>
          <p:cNvSpPr>
            <a:spLocks xmlns:a="http://schemas.openxmlformats.org/drawingml/2006/main" noGrp="1"/>
          </p:cNvSpPr>
          <p:nvPr/>
        </p:nvSpPr>
        <p:spPr>
          <a:xfrm xmlns:a="http://schemas.openxmlformats.org/drawingml/2006/main">
            <a:off x="4838700" y="6858000"/>
            <a:ext cx="2514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681"/>
                </a:solidFill>
                <a:latin typeface="Montserrat"/>
                <a:ea typeface="Montserrat"/>
                <a:cs typeface="Montserrat"/>
              </a:defRPr>
            </a:defPPr>
          </a:lstStyle>
          <a:p xmlns:a="http://schemas.openxmlformats.org/drawingml/2006/main">
            <a:pPr algn="l">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Text extraction</a:t>
            </a:r>
          </a:p>
          <a:p xmlns:a="http://schemas.openxmlformats.org/drawingml/2006/main">
            <a:pPr algn="l">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and embeddings</a:t>
            </a:r>
          </a:p>
        </p:txBody>
      </p:sp>
      <p:sp>
        <p:nvSpPr>
          <p:cNvPr id="44" name="Workflow: Knowledge galaxy">
            <a:extLst xmlns:a="http://schemas.openxmlformats.org/drawingml/2006/main">
              <a:ext uri="{FF2B5EF4-FFF2-40B4-BE49-F238E27FC236}">
                <a16:creationId xmlns:a16="http://schemas.microsoft.com/office/drawing/2014/main" id="{3E53E94C-E6CA-4F50-956A-41BB4B23A77F}"/>
              </a:ext>
            </a:extLst>
          </p:cNvPr>
          <p:cNvSpPr>
            <a:spLocks xmlns:a="http://schemas.openxmlformats.org/drawingml/2006/main" noGrp="1"/>
          </p:cNvSpPr>
          <p:nvPr/>
        </p:nvSpPr>
        <p:spPr>
          <a:xfrm xmlns:a="http://schemas.openxmlformats.org/drawingml/2006/main">
            <a:off x="8096250" y="6238875"/>
            <a:ext cx="2857500" cy="12573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16193">
            <a:solidFill>
              <a:srgbClr val="8FA4C1"/>
            </a:solidFill>
          </a:ln>
        </p:spPr>
      </p:sp>
      <p:sp>
        <p:nvSpPr>
          <p:cNvPr id="45" name="Knowledge galaxy">
            <a:extLst xmlns:a="http://schemas.openxmlformats.org/drawingml/2006/main">
              <a:ext uri="{FF2B5EF4-FFF2-40B4-BE49-F238E27FC236}">
                <a16:creationId xmlns:a16="http://schemas.microsoft.com/office/drawing/2014/main" id="{D25340D2-CE82-4010-AC4F-A6A627ACB4F3}"/>
              </a:ext>
            </a:extLst>
          </p:cNvPr>
          <p:cNvSpPr>
            <a:spLocks xmlns:a="http://schemas.openxmlformats.org/drawingml/2006/main" noGrp="1"/>
          </p:cNvSpPr>
          <p:nvPr/>
        </p:nvSpPr>
        <p:spPr>
          <a:xfrm xmlns:a="http://schemas.openxmlformats.org/drawingml/2006/main">
            <a:off x="8267700" y="6410325"/>
            <a:ext cx="2514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01B40"/>
                </a:solidFill>
                <a:latin typeface="Montserrat Bold"/>
                <a:ea typeface="Montserrat Bold"/>
                <a:cs typeface="Montserrat Bold"/>
              </a:defRPr>
            </a:defPPr>
          </a:lstStyle>
          <a:p xmlns:a="http://schemas.openxmlformats.org/drawingml/2006/main">
            <a:pPr algn="l">
              <a:defRPr sz="2025" b="1">
                <a:solidFill>
                  <a:srgbClr val="101B40"/>
                </a:solidFill>
                <a:latin typeface="Montserrat Bold"/>
                <a:ea typeface="Montserrat Bold"/>
                <a:cs typeface="Montserrat Bold"/>
              </a:defRPr>
            </a:pPr>
            <a:r>
              <a:rPr sz="2025" b="1">
                <a:solidFill>
                  <a:srgbClr val="101B40"/>
                </a:solidFill>
                <a:latin typeface="Montserrat Bold"/>
                <a:ea typeface="Montserrat Bold"/>
                <a:cs typeface="Montserrat Bold"/>
              </a:rPr>
              <a:t>Knowledge galaxy</a:t>
            </a:r>
          </a:p>
        </p:txBody>
      </p:sp>
      <p:sp>
        <p:nvSpPr>
          <p:cNvPr id="46" name="Topic groups&#10;and paper nodes">
            <a:extLst xmlns:a="http://schemas.openxmlformats.org/drawingml/2006/main">
              <a:ext uri="{FF2B5EF4-FFF2-40B4-BE49-F238E27FC236}">
                <a16:creationId xmlns:a16="http://schemas.microsoft.com/office/drawing/2014/main" id="{CE737099-6FEC-4036-AECD-8B00768FE00A}"/>
              </a:ext>
            </a:extLst>
          </p:cNvPr>
          <p:cNvSpPr>
            <a:spLocks xmlns:a="http://schemas.openxmlformats.org/drawingml/2006/main" noGrp="1"/>
          </p:cNvSpPr>
          <p:nvPr/>
        </p:nvSpPr>
        <p:spPr>
          <a:xfrm xmlns:a="http://schemas.openxmlformats.org/drawingml/2006/main">
            <a:off x="8267700" y="6858000"/>
            <a:ext cx="2514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681"/>
                </a:solidFill>
                <a:latin typeface="Montserrat"/>
                <a:ea typeface="Montserrat"/>
                <a:cs typeface="Montserrat"/>
              </a:defRPr>
            </a:defPPr>
          </a:lstStyle>
          <a:p xmlns:a="http://schemas.openxmlformats.org/drawingml/2006/main">
            <a:pPr algn="l">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Topic groups</a:t>
            </a:r>
          </a:p>
          <a:p xmlns:a="http://schemas.openxmlformats.org/drawingml/2006/main">
            <a:pPr algn="l">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and paper nodes</a:t>
            </a:r>
          </a:p>
        </p:txBody>
      </p:sp>
      <p:sp>
        <p:nvSpPr>
          <p:cNvPr id="47" name="Workflow: RAG question">
            <a:extLst xmlns:a="http://schemas.openxmlformats.org/drawingml/2006/main">
              <a:ext uri="{FF2B5EF4-FFF2-40B4-BE49-F238E27FC236}">
                <a16:creationId xmlns:a16="http://schemas.microsoft.com/office/drawing/2014/main" id="{C1E6A733-1142-4265-BD23-8DEBAC3ADCA8}"/>
              </a:ext>
            </a:extLst>
          </p:cNvPr>
          <p:cNvSpPr>
            <a:spLocks xmlns:a="http://schemas.openxmlformats.org/drawingml/2006/main" noGrp="1"/>
          </p:cNvSpPr>
          <p:nvPr/>
        </p:nvSpPr>
        <p:spPr>
          <a:xfrm xmlns:a="http://schemas.openxmlformats.org/drawingml/2006/main">
            <a:off x="8096250" y="7981950"/>
            <a:ext cx="2857500" cy="12573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16193">
            <a:solidFill>
              <a:srgbClr val="8FA4C1"/>
            </a:solidFill>
          </a:ln>
        </p:spPr>
      </p:sp>
      <p:sp>
        <p:nvSpPr>
          <p:cNvPr id="48" name="RAG question">
            <a:extLst xmlns:a="http://schemas.openxmlformats.org/drawingml/2006/main">
              <a:ext uri="{FF2B5EF4-FFF2-40B4-BE49-F238E27FC236}">
                <a16:creationId xmlns:a16="http://schemas.microsoft.com/office/drawing/2014/main" id="{B8D61870-F603-4C4F-AD4A-E3760BCEBAB7}"/>
              </a:ext>
            </a:extLst>
          </p:cNvPr>
          <p:cNvSpPr>
            <a:spLocks xmlns:a="http://schemas.openxmlformats.org/drawingml/2006/main" noGrp="1"/>
          </p:cNvSpPr>
          <p:nvPr/>
        </p:nvSpPr>
        <p:spPr>
          <a:xfrm xmlns:a="http://schemas.openxmlformats.org/drawingml/2006/main">
            <a:off x="8267700" y="8153400"/>
            <a:ext cx="2514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01B40"/>
                </a:solidFill>
                <a:latin typeface="Montserrat Bold"/>
                <a:ea typeface="Montserrat Bold"/>
                <a:cs typeface="Montserrat Bold"/>
              </a:defRPr>
            </a:defPPr>
          </a:lstStyle>
          <a:p xmlns:a="http://schemas.openxmlformats.org/drawingml/2006/main">
            <a:pPr algn="l">
              <a:defRPr sz="2025" b="1">
                <a:solidFill>
                  <a:srgbClr val="101B40"/>
                </a:solidFill>
                <a:latin typeface="Montserrat Bold"/>
                <a:ea typeface="Montserrat Bold"/>
                <a:cs typeface="Montserrat Bold"/>
              </a:defRPr>
            </a:pPr>
            <a:r>
              <a:rPr sz="2025" b="1">
                <a:solidFill>
                  <a:srgbClr val="101B40"/>
                </a:solidFill>
                <a:latin typeface="Montserrat Bold"/>
                <a:ea typeface="Montserrat Bold"/>
                <a:cs typeface="Montserrat Bold"/>
              </a:rPr>
              <a:t>RAG question</a:t>
            </a:r>
          </a:p>
        </p:txBody>
      </p:sp>
      <p:sp>
        <p:nvSpPr>
          <p:cNvPr id="49" name="Retrieve passages&#10;and answer">
            <a:extLst xmlns:a="http://schemas.openxmlformats.org/drawingml/2006/main">
              <a:ext uri="{FF2B5EF4-FFF2-40B4-BE49-F238E27FC236}">
                <a16:creationId xmlns:a16="http://schemas.microsoft.com/office/drawing/2014/main" id="{A9C4CF48-6CD4-4CAD-B3B0-1E512ED8112D}"/>
              </a:ext>
            </a:extLst>
          </p:cNvPr>
          <p:cNvSpPr>
            <a:spLocks xmlns:a="http://schemas.openxmlformats.org/drawingml/2006/main" noGrp="1"/>
          </p:cNvSpPr>
          <p:nvPr/>
        </p:nvSpPr>
        <p:spPr>
          <a:xfrm xmlns:a="http://schemas.openxmlformats.org/drawingml/2006/main">
            <a:off x="8267700" y="8601075"/>
            <a:ext cx="2514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681"/>
                </a:solidFill>
                <a:latin typeface="Montserrat"/>
                <a:ea typeface="Montserrat"/>
                <a:cs typeface="Montserrat"/>
              </a:defRPr>
            </a:defPPr>
          </a:lstStyle>
          <a:p xmlns:a="http://schemas.openxmlformats.org/drawingml/2006/main">
            <a:pPr algn="l">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Retrieve passages</a:t>
            </a:r>
          </a:p>
          <a:p xmlns:a="http://schemas.openxmlformats.org/drawingml/2006/main">
            <a:pPr algn="l">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and answer</a:t>
            </a:r>
          </a:p>
        </p:txBody>
      </p:sp>
      <p:sp>
        <p:nvSpPr>
          <p:cNvPr id="50" name="Workflow: Source references">
            <a:extLst xmlns:a="http://schemas.openxmlformats.org/drawingml/2006/main">
              <a:ext uri="{FF2B5EF4-FFF2-40B4-BE49-F238E27FC236}">
                <a16:creationId xmlns:a16="http://schemas.microsoft.com/office/drawing/2014/main" id="{01DE9012-79C5-4725-8B2F-E37081006B11}"/>
              </a:ext>
            </a:extLst>
          </p:cNvPr>
          <p:cNvSpPr>
            <a:spLocks xmlns:a="http://schemas.openxmlformats.org/drawingml/2006/main" noGrp="1"/>
          </p:cNvSpPr>
          <p:nvPr/>
        </p:nvSpPr>
        <p:spPr>
          <a:xfrm xmlns:a="http://schemas.openxmlformats.org/drawingml/2006/main">
            <a:off x="4667250" y="7981950"/>
            <a:ext cx="2857500" cy="12573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16193">
            <a:solidFill>
              <a:srgbClr val="8FA4C1"/>
            </a:solidFill>
          </a:ln>
        </p:spPr>
      </p:sp>
      <p:sp>
        <p:nvSpPr>
          <p:cNvPr id="51" name="Source references">
            <a:extLst xmlns:a="http://schemas.openxmlformats.org/drawingml/2006/main">
              <a:ext uri="{FF2B5EF4-FFF2-40B4-BE49-F238E27FC236}">
                <a16:creationId xmlns:a16="http://schemas.microsoft.com/office/drawing/2014/main" id="{418E9D4C-61FE-42D3-9A50-7AB19DDC7A9E}"/>
              </a:ext>
            </a:extLst>
          </p:cNvPr>
          <p:cNvSpPr>
            <a:spLocks xmlns:a="http://schemas.openxmlformats.org/drawingml/2006/main" noGrp="1"/>
          </p:cNvSpPr>
          <p:nvPr/>
        </p:nvSpPr>
        <p:spPr>
          <a:xfrm xmlns:a="http://schemas.openxmlformats.org/drawingml/2006/main">
            <a:off x="4838700" y="8153400"/>
            <a:ext cx="2514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01B40"/>
                </a:solidFill>
                <a:latin typeface="Montserrat Bold"/>
                <a:ea typeface="Montserrat Bold"/>
                <a:cs typeface="Montserrat Bold"/>
              </a:defRPr>
            </a:defPPr>
          </a:lstStyle>
          <a:p xmlns:a="http://schemas.openxmlformats.org/drawingml/2006/main">
            <a:pPr algn="l">
              <a:defRPr sz="2025" b="1">
                <a:solidFill>
                  <a:srgbClr val="101B40"/>
                </a:solidFill>
                <a:latin typeface="Montserrat Bold"/>
                <a:ea typeface="Montserrat Bold"/>
                <a:cs typeface="Montserrat Bold"/>
              </a:defRPr>
            </a:pPr>
            <a:r>
              <a:rPr sz="2025" b="1">
                <a:solidFill>
                  <a:srgbClr val="101B40"/>
                </a:solidFill>
                <a:latin typeface="Montserrat Bold"/>
                <a:ea typeface="Montserrat Bold"/>
                <a:cs typeface="Montserrat Bold"/>
              </a:rPr>
              <a:t>Source references</a:t>
            </a:r>
          </a:p>
        </p:txBody>
      </p:sp>
      <p:sp>
        <p:nvSpPr>
          <p:cNvPr id="52" name="Paper, page and&#10;passage context">
            <a:extLst xmlns:a="http://schemas.openxmlformats.org/drawingml/2006/main">
              <a:ext uri="{FF2B5EF4-FFF2-40B4-BE49-F238E27FC236}">
                <a16:creationId xmlns:a16="http://schemas.microsoft.com/office/drawing/2014/main" id="{B71E8B62-80A9-4406-A4BE-94D6BF889539}"/>
              </a:ext>
            </a:extLst>
          </p:cNvPr>
          <p:cNvSpPr>
            <a:spLocks xmlns:a="http://schemas.openxmlformats.org/drawingml/2006/main" noGrp="1"/>
          </p:cNvSpPr>
          <p:nvPr/>
        </p:nvSpPr>
        <p:spPr>
          <a:xfrm xmlns:a="http://schemas.openxmlformats.org/drawingml/2006/main">
            <a:off x="4838700" y="8601075"/>
            <a:ext cx="2514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681"/>
                </a:solidFill>
                <a:latin typeface="Montserrat"/>
                <a:ea typeface="Montserrat"/>
                <a:cs typeface="Montserrat"/>
              </a:defRPr>
            </a:defPPr>
          </a:lstStyle>
          <a:p xmlns:a="http://schemas.openxmlformats.org/drawingml/2006/main">
            <a:pPr algn="l">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Paper, page and</a:t>
            </a:r>
          </a:p>
          <a:p xmlns:a="http://schemas.openxmlformats.org/drawingml/2006/main">
            <a:pPr algn="l">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passage context</a:t>
            </a:r>
          </a:p>
        </p:txBody>
      </p:sp>
      <p:sp>
        <p:nvSpPr>
          <p:cNvPr id="53" name="Workflow: PDF reader">
            <a:extLst xmlns:a="http://schemas.openxmlformats.org/drawingml/2006/main">
              <a:ext uri="{FF2B5EF4-FFF2-40B4-BE49-F238E27FC236}">
                <a16:creationId xmlns:a16="http://schemas.microsoft.com/office/drawing/2014/main" id="{C8CA5905-B0D8-4B3E-87F6-2E5509A2288D}"/>
              </a:ext>
            </a:extLst>
          </p:cNvPr>
          <p:cNvSpPr>
            <a:spLocks xmlns:a="http://schemas.openxmlformats.org/drawingml/2006/main" noGrp="1"/>
          </p:cNvSpPr>
          <p:nvPr/>
        </p:nvSpPr>
        <p:spPr>
          <a:xfrm xmlns:a="http://schemas.openxmlformats.org/drawingml/2006/main">
            <a:off x="1238250" y="7981950"/>
            <a:ext cx="2857500" cy="12573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16193">
            <a:solidFill>
              <a:srgbClr val="8FA4C1"/>
            </a:solidFill>
          </a:ln>
        </p:spPr>
      </p:sp>
      <p:sp>
        <p:nvSpPr>
          <p:cNvPr id="54" name="PDF reader">
            <a:extLst xmlns:a="http://schemas.openxmlformats.org/drawingml/2006/main">
              <a:ext uri="{FF2B5EF4-FFF2-40B4-BE49-F238E27FC236}">
                <a16:creationId xmlns:a16="http://schemas.microsoft.com/office/drawing/2014/main" id="{E9A3F2C1-338D-4914-86D0-1A8F614FAD24}"/>
              </a:ext>
            </a:extLst>
          </p:cNvPr>
          <p:cNvSpPr>
            <a:spLocks xmlns:a="http://schemas.openxmlformats.org/drawingml/2006/main" noGrp="1"/>
          </p:cNvSpPr>
          <p:nvPr/>
        </p:nvSpPr>
        <p:spPr>
          <a:xfrm xmlns:a="http://schemas.openxmlformats.org/drawingml/2006/main">
            <a:off x="1409700" y="8153400"/>
            <a:ext cx="2514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01B40"/>
                </a:solidFill>
                <a:latin typeface="Montserrat Bold"/>
                <a:ea typeface="Montserrat Bold"/>
                <a:cs typeface="Montserrat Bold"/>
              </a:defRPr>
            </a:defPPr>
          </a:lstStyle>
          <a:p xmlns:a="http://schemas.openxmlformats.org/drawingml/2006/main">
            <a:pPr algn="l">
              <a:defRPr sz="2025" b="1">
                <a:solidFill>
                  <a:srgbClr val="101B40"/>
                </a:solidFill>
                <a:latin typeface="Montserrat Bold"/>
                <a:ea typeface="Montserrat Bold"/>
                <a:cs typeface="Montserrat Bold"/>
              </a:defRPr>
            </a:pPr>
            <a:r>
              <a:rPr sz="2025" b="1">
                <a:solidFill>
                  <a:srgbClr val="101B40"/>
                </a:solidFill>
                <a:latin typeface="Montserrat Bold"/>
                <a:ea typeface="Montserrat Bold"/>
                <a:cs typeface="Montserrat Bold"/>
              </a:rPr>
              <a:t>PDF reader</a:t>
            </a:r>
          </a:p>
        </p:txBody>
      </p:sp>
      <p:sp>
        <p:nvSpPr>
          <p:cNvPr id="55" name="Locate the source&#10;and highlight terms">
            <a:extLst xmlns:a="http://schemas.openxmlformats.org/drawingml/2006/main">
              <a:ext uri="{FF2B5EF4-FFF2-40B4-BE49-F238E27FC236}">
                <a16:creationId xmlns:a16="http://schemas.microsoft.com/office/drawing/2014/main" id="{252F97DD-E1FC-45A9-8B82-DABFABE36EFF}"/>
              </a:ext>
            </a:extLst>
          </p:cNvPr>
          <p:cNvSpPr>
            <a:spLocks xmlns:a="http://schemas.openxmlformats.org/drawingml/2006/main" noGrp="1"/>
          </p:cNvSpPr>
          <p:nvPr/>
        </p:nvSpPr>
        <p:spPr>
          <a:xfrm xmlns:a="http://schemas.openxmlformats.org/drawingml/2006/main">
            <a:off x="1409700" y="8601075"/>
            <a:ext cx="2514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681"/>
                </a:solidFill>
                <a:latin typeface="Montserrat"/>
                <a:ea typeface="Montserrat"/>
                <a:cs typeface="Montserrat"/>
              </a:defRPr>
            </a:defPPr>
          </a:lstStyle>
          <a:p xmlns:a="http://schemas.openxmlformats.org/drawingml/2006/main">
            <a:pPr algn="l">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Locate the source</a:t>
            </a:r>
          </a:p>
          <a:p xmlns:a="http://schemas.openxmlformats.org/drawingml/2006/main">
            <a:pPr algn="l">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and highlight terms</a:t>
            </a:r>
          </a:p>
        </p:txBody>
      </p:sp>
      <p:cxnSp>
        <p:nvCxnSpPr>
          <p:cNvPr id="56" name="">
            <a:extLst xmlns:a="http://schemas.openxmlformats.org/drawingml/2006/main">
              <a:ext uri="{FF2B5EF4-FFF2-40B4-BE49-F238E27FC236}">
                <a16:creationId xmlns:a16="http://schemas.microsoft.com/office/drawing/2014/main" id="{7525E630-D2E5-4F32-A019-C3A0C247DE32}"/>
              </a:ext>
            </a:extLst>
          </p:cNvPr>
          <p:cNvCxnSpPr>
            <a:stCxn xmlns:a="http://schemas.openxmlformats.org/drawingml/2006/main" id="38" idx="3"/>
            <a:endCxn xmlns:a="http://schemas.openxmlformats.org/drawingml/2006/main" id="41" idx="1"/>
          </p:cNvCxnSpPr>
          <p:nvPr/>
        </p:nvCxnSpPr>
        <p:spPr>
          <a:xfrm xmlns:a="http://schemas.openxmlformats.org/drawingml/2006/main">
            <a:off x="4095750" y="6867525"/>
            <a:ext cx="571500" cy="0"/>
          </a:xfrm>
          <a:prstGeom xmlns:a="http://schemas.openxmlformats.org/drawingml/2006/main" prst="straightConnector1">
            <a:avLst/>
          </a:prstGeom>
          <a:ln xmlns:a="http://schemas.openxmlformats.org/drawingml/2006/main" w="28575">
            <a:solidFill>
              <a:srgbClr val="8FA4C1"/>
            </a:solidFill>
            <a:tailEnd type="triangle" w="med" len="med"/>
          </a:ln>
        </p:spPr>
      </p:cxnSp>
      <p:cxnSp>
        <p:nvCxnSpPr>
          <p:cNvPr id="57" name="">
            <a:extLst xmlns:a="http://schemas.openxmlformats.org/drawingml/2006/main">
              <a:ext uri="{FF2B5EF4-FFF2-40B4-BE49-F238E27FC236}">
                <a16:creationId xmlns:a16="http://schemas.microsoft.com/office/drawing/2014/main" id="{54D79DBA-FA03-44D1-9F7C-8AC8A22C2184}"/>
              </a:ext>
            </a:extLst>
          </p:cNvPr>
          <p:cNvCxnSpPr>
            <a:stCxn xmlns:a="http://schemas.openxmlformats.org/drawingml/2006/main" id="41" idx="3"/>
            <a:endCxn xmlns:a="http://schemas.openxmlformats.org/drawingml/2006/main" id="44" idx="1"/>
          </p:cNvCxnSpPr>
          <p:nvPr/>
        </p:nvCxnSpPr>
        <p:spPr>
          <a:xfrm xmlns:a="http://schemas.openxmlformats.org/drawingml/2006/main">
            <a:off x="7524750" y="6867525"/>
            <a:ext cx="571500" cy="0"/>
          </a:xfrm>
          <a:prstGeom xmlns:a="http://schemas.openxmlformats.org/drawingml/2006/main" prst="straightConnector1">
            <a:avLst/>
          </a:prstGeom>
          <a:ln xmlns:a="http://schemas.openxmlformats.org/drawingml/2006/main" w="28575">
            <a:solidFill>
              <a:srgbClr val="8FA4C1"/>
            </a:solidFill>
            <a:tailEnd type="triangle" w="med" len="med"/>
          </a:ln>
        </p:spPr>
      </p:cxnSp>
      <p:cxnSp>
        <p:nvCxnSpPr>
          <p:cNvPr id="58" name="">
            <a:extLst xmlns:a="http://schemas.openxmlformats.org/drawingml/2006/main">
              <a:ext uri="{FF2B5EF4-FFF2-40B4-BE49-F238E27FC236}">
                <a16:creationId xmlns:a16="http://schemas.microsoft.com/office/drawing/2014/main" id="{95DB8D0E-AF05-43A4-BA68-D91690E0B385}"/>
              </a:ext>
            </a:extLst>
          </p:cNvPr>
          <p:cNvCxnSpPr>
            <a:stCxn xmlns:a="http://schemas.openxmlformats.org/drawingml/2006/main" id="44" idx="2"/>
            <a:endCxn xmlns:a="http://schemas.openxmlformats.org/drawingml/2006/main" id="47" idx="0"/>
          </p:cNvCxnSpPr>
          <p:nvPr/>
        </p:nvCxnSpPr>
        <p:spPr>
          <a:xfrm xmlns:a="http://schemas.openxmlformats.org/drawingml/2006/main">
            <a:off x="9525000" y="7496175"/>
            <a:ext cx="0" cy="485775"/>
          </a:xfrm>
          <a:prstGeom xmlns:a="http://schemas.openxmlformats.org/drawingml/2006/main" prst="straightConnector1">
            <a:avLst/>
          </a:prstGeom>
          <a:ln xmlns:a="http://schemas.openxmlformats.org/drawingml/2006/main" w="28575">
            <a:solidFill>
              <a:srgbClr val="8FA4C1"/>
            </a:solidFill>
            <a:tailEnd type="triangle" w="med" len="med"/>
          </a:ln>
        </p:spPr>
      </p:cxnSp>
      <p:cxnSp>
        <p:nvCxnSpPr>
          <p:cNvPr id="59" name="">
            <a:extLst xmlns:a="http://schemas.openxmlformats.org/drawingml/2006/main">
              <a:ext uri="{FF2B5EF4-FFF2-40B4-BE49-F238E27FC236}">
                <a16:creationId xmlns:a16="http://schemas.microsoft.com/office/drawing/2014/main" id="{EB3B08C5-CB88-46AA-8233-26F79EA53595}"/>
              </a:ext>
            </a:extLst>
          </p:cNvPr>
          <p:cNvCxnSpPr>
            <a:stCxn xmlns:a="http://schemas.openxmlformats.org/drawingml/2006/main" id="47" idx="1"/>
            <a:endCxn xmlns:a="http://schemas.openxmlformats.org/drawingml/2006/main" id="50" idx="3"/>
          </p:cNvCxnSpPr>
          <p:nvPr/>
        </p:nvCxnSpPr>
        <p:spPr>
          <a:xfrm xmlns:a="http://schemas.openxmlformats.org/drawingml/2006/main" flipH="1">
            <a:off x="7524750" y="8610600"/>
            <a:ext cx="571500" cy="0"/>
          </a:xfrm>
          <a:prstGeom xmlns:a="http://schemas.openxmlformats.org/drawingml/2006/main" prst="straightConnector1">
            <a:avLst/>
          </a:prstGeom>
          <a:ln xmlns:a="http://schemas.openxmlformats.org/drawingml/2006/main" w="28575">
            <a:solidFill>
              <a:srgbClr val="8FA4C1"/>
            </a:solidFill>
            <a:tailEnd type="triangle" w="med" len="med"/>
          </a:ln>
        </p:spPr>
      </p:cxnSp>
      <p:cxnSp>
        <p:nvCxnSpPr>
          <p:cNvPr id="60" name="">
            <a:extLst xmlns:a="http://schemas.openxmlformats.org/drawingml/2006/main">
              <a:ext uri="{FF2B5EF4-FFF2-40B4-BE49-F238E27FC236}">
                <a16:creationId xmlns:a16="http://schemas.microsoft.com/office/drawing/2014/main" id="{45F63B04-2183-432A-8544-F6A1ACD7FF37}"/>
              </a:ext>
            </a:extLst>
          </p:cNvPr>
          <p:cNvCxnSpPr>
            <a:stCxn xmlns:a="http://schemas.openxmlformats.org/drawingml/2006/main" id="50" idx="1"/>
            <a:endCxn xmlns:a="http://schemas.openxmlformats.org/drawingml/2006/main" id="53" idx="3"/>
          </p:cNvCxnSpPr>
          <p:nvPr/>
        </p:nvCxnSpPr>
        <p:spPr>
          <a:xfrm xmlns:a="http://schemas.openxmlformats.org/drawingml/2006/main" flipH="1">
            <a:off x="4095750" y="8610600"/>
            <a:ext cx="571500" cy="0"/>
          </a:xfrm>
          <a:prstGeom xmlns:a="http://schemas.openxmlformats.org/drawingml/2006/main" prst="straightConnector1">
            <a:avLst/>
          </a:prstGeom>
          <a:ln xmlns:a="http://schemas.openxmlformats.org/drawingml/2006/main" w="28575">
            <a:solidFill>
              <a:srgbClr val="8FA4C1"/>
            </a:solidFill>
            <a:tailEnd type="triangle" w="med" len="med"/>
          </a:ln>
        </p:spPr>
      </p:cxnSp>
    </p:spTree>
    <p:extLst>
      <p:ext uri="{BB962C8B-B14F-4D97-AF65-F5344CB8AC3E}">
        <p14:creationId xmlns:p14="http://schemas.microsoft.com/office/powerpoint/2010/main" val="1459637943"/>
      </p:ext>
    </p:extLst>
  </p:cSld>
</p:sld>
</file>

<file path=ppt/slides/slide10.xml><?xml version="1.0" encoding="utf-8"?>
<p:sld xmlns:p="http://schemas.openxmlformats.org/presentationml/2006/main">
  <p:cSld>
    <p:bg>
      <p:bgPr>
        <a:solidFill xmlns:a="http://schemas.openxmlformats.org/drawingml/2006/main">
          <a:srgbClr val="F1F1F1"/>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C920F2C7-7F14-4D60-A417-6274F09C5B61}"/>
              </a:ext>
            </a:extLst>
          </p:cNvPr>
          <p:cNvSpPr>
            <a:spLocks xmlns:a="http://schemas.openxmlformats.org/drawingml/2006/main" noGrp="1"/>
          </p:cNvSpPr>
          <p:nvPr/>
        </p:nvSpPr>
        <p:spPr>
          <a:xfrm xmlns:a="http://schemas.openxmlformats.org/drawingml/2006/main" rot="0" flipH="0" flipV="0">
            <a:off x="350265" y="341540"/>
            <a:ext cx="17587469" cy="9603920"/>
          </a:xfrm>
          <a:custGeom xmlns:a="http://schemas.openxmlformats.org/drawingml/2006/main">
            <a:rect l="l" t="t" r="r" b="b"/>
            <a:pathLst>
              <a:path w="4632091" h="2529427">
                <a:moveTo>
                  <a:pt x="22450" y="0"/>
                </a:moveTo>
                <a:lnTo>
                  <a:pt x="4609641" y="0"/>
                </a:lnTo>
                <a:cubicBezTo>
                  <a:pt x="4615595" y="0"/>
                  <a:pt x="4621305" y="2365"/>
                  <a:pt x="4625515" y="6575"/>
                </a:cubicBezTo>
                <a:cubicBezTo>
                  <a:pt x="4629725" y="10786"/>
                  <a:pt x="4632091" y="16496"/>
                  <a:pt x="4632091" y="22450"/>
                </a:cubicBezTo>
                <a:lnTo>
                  <a:pt x="4632091" y="2506977"/>
                </a:lnTo>
                <a:cubicBezTo>
                  <a:pt x="4632091" y="2519376"/>
                  <a:pt x="4622039" y="2529427"/>
                  <a:pt x="4609641" y="2529427"/>
                </a:cubicBezTo>
                <a:lnTo>
                  <a:pt x="22450" y="2529427"/>
                </a:lnTo>
                <a:cubicBezTo>
                  <a:pt x="10051" y="2529427"/>
                  <a:pt x="0" y="2519376"/>
                  <a:pt x="0" y="2506977"/>
                </a:cubicBezTo>
                <a:lnTo>
                  <a:pt x="0" y="22450"/>
                </a:lnTo>
                <a:cubicBezTo>
                  <a:pt x="0" y="10051"/>
                  <a:pt x="10051" y="0"/>
                  <a:pt x="22450" y="0"/>
                </a:cubicBezTo>
                <a:close/>
              </a:path>
            </a:pathLst>
          </a:custGeom>
          <a:solidFill xmlns:a="http://schemas.openxmlformats.org/drawingml/2006/main">
            <a:srgbClr val="DCE2EB"/>
          </a:solidFill>
        </p:spPr>
      </p:sp>
      <p:sp>
        <p:nvSpPr>
          <p:cNvPr id="6" name="Freeform 6">
            <a:extLst xmlns:a="http://schemas.openxmlformats.org/drawingml/2006/main">
              <a:ext uri="{FF2B5EF4-FFF2-40B4-BE49-F238E27FC236}">
                <a16:creationId xmlns:a16="http://schemas.microsoft.com/office/drawing/2014/main" id="{85EED528-DCB8-4BAD-AACC-47944D2E34DB}"/>
              </a:ext>
            </a:extLst>
          </p:cNvPr>
          <p:cNvSpPr>
            <a:spLocks xmlns:a="http://schemas.openxmlformats.org/drawingml/2006/main" noGrp="1"/>
          </p:cNvSpPr>
          <p:nvPr/>
        </p:nvSpPr>
        <p:spPr>
          <a:xfrm xmlns:a="http://schemas.openxmlformats.org/drawingml/2006/main" rot="0" flipH="0" flipV="0">
            <a:off x="4410075" y="514350"/>
            <a:ext cx="9467850" cy="819150"/>
          </a:xfrm>
          <a:custGeom xmlns:a="http://schemas.openxmlformats.org/drawingml/2006/main">
            <a:rect l="l" t="t" r="r" b="b"/>
            <a:pathLst>
              <a:path w="2494114" h="214543">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xmlns:a="http://schemas.openxmlformats.org/drawingml/2006/main" w="38100" cap="rnd">
            <a:solidFill>
              <a:srgbClr val="101B40"/>
            </a:solidFill>
            <a:prstDash val="solid"/>
            <a:round/>
          </a:ln>
        </p:spPr>
      </p:sp>
      <p:sp>
        <p:nvSpPr>
          <p:cNvPr id="7" name="TextBox 7">
            <a:extLst xmlns:a="http://schemas.openxmlformats.org/drawingml/2006/main">
              <a:ext uri="{FF2B5EF4-FFF2-40B4-BE49-F238E27FC236}">
                <a16:creationId xmlns:a16="http://schemas.microsoft.com/office/drawing/2014/main" id="{E02053D9-6A79-4A94-B3A0-6B831B814550}"/>
              </a:ext>
            </a:extLst>
          </p:cNvPr>
          <p:cNvSpPr>
            <a:spLocks xmlns:a="http://schemas.openxmlformats.org/drawingml/2006/main" noGrp="1"/>
          </p:cNvSpPr>
          <p:nvPr/>
        </p:nvSpPr>
        <p:spPr>
          <a:xfrm xmlns:a="http://schemas.openxmlformats.org/drawingml/2006/main" rot="0" flipH="0" flipV="0">
            <a:off x="4409081" y="617340"/>
            <a:ext cx="9469839" cy="95925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p>
        </p:txBody>
      </p:sp>
      <p:sp>
        <p:nvSpPr>
          <p:cNvPr id="9" name="Freeform 9">
            <a:extLst xmlns:a="http://schemas.openxmlformats.org/drawingml/2006/main">
              <a:ext uri="{FF2B5EF4-FFF2-40B4-BE49-F238E27FC236}">
                <a16:creationId xmlns:a16="http://schemas.microsoft.com/office/drawing/2014/main" id="{3A4DB3B2-6561-42C9-B572-B0BB7C421802}"/>
              </a:ext>
            </a:extLst>
          </p:cNvPr>
          <p:cNvSpPr>
            <a:spLocks xmlns:a="http://schemas.openxmlformats.org/drawingml/2006/main" noGrp="1"/>
          </p:cNvSpPr>
          <p:nvPr/>
        </p:nvSpPr>
        <p:spPr>
          <a:xfrm xmlns:a="http://schemas.openxmlformats.org/drawingml/2006/main" rot="0" flipH="0" flipV="0">
            <a:off x="9458325" y="628650"/>
            <a:ext cx="1666875" cy="590550"/>
          </a:xfrm>
          <a:custGeom xmlns:a="http://schemas.openxmlformats.org/drawingml/2006/main">
            <a:rect l="l" t="t" r="r" b="b"/>
            <a:pathLst>
              <a:path w="438737" h="155110">
                <a:moveTo>
                  <a:pt x="77555" y="0"/>
                </a:moveTo>
                <a:lnTo>
                  <a:pt x="361182" y="0"/>
                </a:lnTo>
                <a:cubicBezTo>
                  <a:pt x="404015" y="0"/>
                  <a:pt x="438737" y="34722"/>
                  <a:pt x="438737" y="77555"/>
                </a:cubicBezTo>
                <a:lnTo>
                  <a:pt x="438737" y="77555"/>
                </a:lnTo>
                <a:cubicBezTo>
                  <a:pt x="438737" y="120387"/>
                  <a:pt x="404015" y="155110"/>
                  <a:pt x="361182" y="155110"/>
                </a:cubicBezTo>
                <a:lnTo>
                  <a:pt x="77555" y="155110"/>
                </a:lnTo>
                <a:cubicBezTo>
                  <a:pt x="34722" y="155110"/>
                  <a:pt x="0" y="120387"/>
                  <a:pt x="0" y="77555"/>
                </a:cubicBezTo>
                <a:lnTo>
                  <a:pt x="0" y="77555"/>
                </a:lnTo>
                <a:cubicBezTo>
                  <a:pt x="0" y="34722"/>
                  <a:pt x="34722" y="0"/>
                  <a:pt x="77555" y="0"/>
                </a:cubicBezTo>
                <a:close/>
              </a:path>
            </a:pathLst>
          </a:custGeom>
          <a:solidFill xmlns:a="http://schemas.openxmlformats.org/drawingml/2006/main">
            <a:srgbClr val="101B40"/>
          </a:solidFill>
          <a:ln xmlns:a="http://schemas.openxmlformats.org/drawingml/2006/main" cap="rnd">
            <a:noFill/>
            <a:prstDash val="solid"/>
            <a:round/>
          </a:ln>
        </p:spPr>
      </p:sp>
      <p:sp>
        <p:nvSpPr>
          <p:cNvPr id="10" name="TextBox 10">
            <a:extLst xmlns:a="http://schemas.openxmlformats.org/drawingml/2006/main">
              <a:ext uri="{FF2B5EF4-FFF2-40B4-BE49-F238E27FC236}">
                <a16:creationId xmlns:a16="http://schemas.microsoft.com/office/drawing/2014/main" id="{1E533097-F34B-4477-96E4-06B881A7FEF9}"/>
              </a:ext>
            </a:extLst>
          </p:cNvPr>
          <p:cNvSpPr>
            <a:spLocks xmlns:a="http://schemas.openxmlformats.org/drawingml/2006/main" noGrp="1"/>
          </p:cNvSpPr>
          <p:nvPr/>
        </p:nvSpPr>
        <p:spPr>
          <a:xfrm xmlns:a="http://schemas.openxmlformats.org/drawingml/2006/main" rot="0" flipH="0" flipV="0">
            <a:off x="9460786" y="730170"/>
            <a:ext cx="1665830" cy="73359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p>
        </p:txBody>
      </p:sp>
      <p:sp>
        <p:nvSpPr>
          <p:cNvPr id="50" name="TextBox 50">
            <a:extLst xmlns:a="http://schemas.openxmlformats.org/drawingml/2006/main">
              <a:ext uri="{FF2B5EF4-FFF2-40B4-BE49-F238E27FC236}">
                <a16:creationId xmlns:a16="http://schemas.microsoft.com/office/drawing/2014/main" id="{895BCC7A-6881-483E-932F-B61A2679877F}"/>
              </a:ext>
            </a:extLst>
          </p:cNvPr>
          <p:cNvSpPr>
            <a:spLocks xmlns:a="http://schemas.openxmlformats.org/drawingml/2006/main" noGrp="1"/>
          </p:cNvSpPr>
          <p:nvPr/>
        </p:nvSpPr>
        <p:spPr>
          <a:xfrm xmlns:a="http://schemas.openxmlformats.org/drawingml/2006/main" rot="0">
            <a:off x="4438650" y="733425"/>
            <a:ext cx="16668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VISION</a:t>
            </a:r>
          </a:p>
        </p:txBody>
      </p:sp>
      <p:sp>
        <p:nvSpPr>
          <p:cNvPr id="51" name="TextBox 51">
            <a:extLst xmlns:a="http://schemas.openxmlformats.org/drawingml/2006/main">
              <a:ext uri="{FF2B5EF4-FFF2-40B4-BE49-F238E27FC236}">
                <a16:creationId xmlns:a16="http://schemas.microsoft.com/office/drawing/2014/main" id="{B4F69C6D-2F5E-4E66-BF00-E7FD361766F4}"/>
              </a:ext>
            </a:extLst>
          </p:cNvPr>
          <p:cNvSpPr>
            <a:spLocks xmlns:a="http://schemas.openxmlformats.org/drawingml/2006/main" noGrp="1"/>
          </p:cNvSpPr>
          <p:nvPr/>
        </p:nvSpPr>
        <p:spPr>
          <a:xfrm xmlns:a="http://schemas.openxmlformats.org/drawingml/2006/main" rot="0">
            <a:off x="6829425" y="733425"/>
            <a:ext cx="190500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DESIGN</a:t>
            </a:r>
          </a:p>
        </p:txBody>
      </p:sp>
      <p:sp>
        <p:nvSpPr>
          <p:cNvPr id="52" name="TextBox 52">
            <a:extLst xmlns:a="http://schemas.openxmlformats.org/drawingml/2006/main">
              <a:ext uri="{FF2B5EF4-FFF2-40B4-BE49-F238E27FC236}">
                <a16:creationId xmlns:a16="http://schemas.microsoft.com/office/drawing/2014/main" id="{ED64CD2A-0B13-4227-A754-AC91C1920263}"/>
              </a:ext>
            </a:extLst>
          </p:cNvPr>
          <p:cNvSpPr>
            <a:spLocks xmlns:a="http://schemas.openxmlformats.org/drawingml/2006/main" noGrp="1"/>
          </p:cNvSpPr>
          <p:nvPr/>
        </p:nvSpPr>
        <p:spPr>
          <a:xfrm xmlns:a="http://schemas.openxmlformats.org/drawingml/2006/main" rot="0">
            <a:off x="9496425" y="733425"/>
            <a:ext cx="15906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1">
                <a:solidFill>
                  <a:srgbClr val="FFFFFF"/>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1">
                <a:solidFill>
                  <a:srgbClr val="FFFFFF"/>
                </a:solidFill>
                <a:latin typeface="Montserrat"/>
                <a:ea typeface="Montserrat"/>
                <a:cs typeface="Montserrat"/>
              </a:defRPr>
            </a:pPr>
            <a:r>
              <a:rPr sz="1800" b="1" spc="3">
                <a:solidFill>
                  <a:srgbClr val="FFFFFF"/>
                </a:solidFill>
                <a:latin typeface="Montserrat"/>
                <a:ea typeface="Montserrat"/>
                <a:cs typeface="Montserrat"/>
              </a:rPr>
              <a:t>SYSTEM</a:t>
            </a:r>
          </a:p>
        </p:txBody>
      </p:sp>
      <p:sp>
        <p:nvSpPr>
          <p:cNvPr id="53" name="TextBox 53">
            <a:extLst xmlns:a="http://schemas.openxmlformats.org/drawingml/2006/main">
              <a:ext uri="{FF2B5EF4-FFF2-40B4-BE49-F238E27FC236}">
                <a16:creationId xmlns:a16="http://schemas.microsoft.com/office/drawing/2014/main" id="{6AC844EA-1E85-4885-B17D-075CE187DCAD}"/>
              </a:ext>
            </a:extLst>
          </p:cNvPr>
          <p:cNvSpPr>
            <a:spLocks xmlns:a="http://schemas.openxmlformats.org/drawingml/2006/main" noGrp="1"/>
          </p:cNvSpPr>
          <p:nvPr/>
        </p:nvSpPr>
        <p:spPr>
          <a:xfrm xmlns:a="http://schemas.openxmlformats.org/drawingml/2006/main" rot="0">
            <a:off x="11591925" y="733425"/>
            <a:ext cx="222885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REVIEW</a:t>
            </a:r>
          </a:p>
        </p:txBody>
      </p:sp>
      <p:sp>
        <p:nvSpPr>
          <p:cNvPr id="54" name="TextBox 54">
            <a:extLst xmlns:a="http://schemas.openxmlformats.org/drawingml/2006/main">
              <a:ext uri="{FF2B5EF4-FFF2-40B4-BE49-F238E27FC236}">
                <a16:creationId xmlns:a16="http://schemas.microsoft.com/office/drawing/2014/main" id="{06C9C5BE-06CD-4F89-8344-682E121917E0}"/>
              </a:ext>
            </a:extLst>
          </p:cNvPr>
          <p:cNvSpPr>
            <a:spLocks xmlns:a="http://schemas.openxmlformats.org/drawingml/2006/main" noGrp="1"/>
          </p:cNvSpPr>
          <p:nvPr/>
        </p:nvSpPr>
        <p:spPr>
          <a:xfrm xmlns:a="http://schemas.openxmlformats.org/drawingml/2006/main" rot="0">
            <a:off x="800100" y="628650"/>
            <a:ext cx="2381250" cy="56769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defRPr sz="1800" b="1">
                <a:solidFill>
                  <a:srgbClr val="101B40"/>
                </a:solidFill>
                <a:latin typeface="Montserrat"/>
                <a:ea typeface="Montserrat"/>
                <a:cs typeface="Montserrat"/>
              </a:defRPr>
            </a:defPPr>
          </a:lstStyle>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PDF</a:t>
            </a:r>
          </a:p>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GALAXAI</a:t>
            </a:r>
          </a:p>
        </p:txBody>
      </p:sp>
      <p:sp>
        <p:nvSpPr>
          <p:cNvPr id="55" name="10">
            <a:extLst xmlns:a="http://schemas.openxmlformats.org/drawingml/2006/main">
              <a:ext uri="{FF2B5EF4-FFF2-40B4-BE49-F238E27FC236}">
                <a16:creationId xmlns:a16="http://schemas.microsoft.com/office/drawing/2014/main" id="{A72DA1A9-5C12-4349-9104-22DC0E71FDE8}"/>
              </a:ext>
            </a:extLst>
          </p:cNvPr>
          <p:cNvSpPr>
            <a:spLocks xmlns:a="http://schemas.openxmlformats.org/drawingml/2006/main" noGrp="1"/>
          </p:cNvSpPr>
          <p:nvPr/>
        </p:nvSpPr>
        <p:spPr>
          <a:xfrm xmlns:a="http://schemas.openxmlformats.org/drawingml/2006/main">
            <a:off x="16735425" y="73342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1">
                <a:solidFill>
                  <a:srgbClr val="101B40"/>
                </a:solidFill>
                <a:latin typeface="Montserrat Bold"/>
                <a:ea typeface="Montserrat Bold"/>
                <a:cs typeface="Montserrat Bold"/>
              </a:defRPr>
            </a:defPPr>
          </a:lstStyle>
          <a:p xmlns:a="http://schemas.openxmlformats.org/drawingml/2006/main">
            <a:pPr algn="r">
              <a:buNone/>
              <a:defRPr sz="1875" b="1">
                <a:solidFill>
                  <a:srgbClr val="101B40"/>
                </a:solidFill>
                <a:latin typeface="Montserrat Bold"/>
                <a:ea typeface="Montserrat Bold"/>
                <a:cs typeface="Montserrat Bold"/>
              </a:defRPr>
            </a:pPr>
            <a:r>
              <a:rPr sz="1875" b="1">
                <a:solidFill>
                  <a:srgbClr val="101B40"/>
                </a:solidFill>
                <a:latin typeface="Montserrat Bold"/>
                <a:ea typeface="Montserrat Bold"/>
                <a:cs typeface="Montserrat Bold"/>
              </a:rPr>
              <a:t>10</a:t>
            </a:r>
          </a:p>
        </p:txBody>
      </p:sp>
      <p:sp>
        <p:nvSpPr>
          <p:cNvPr id="56" name="PDF-GalaxAI">
            <a:extLst xmlns:a="http://schemas.openxmlformats.org/drawingml/2006/main">
              <a:ext uri="{FF2B5EF4-FFF2-40B4-BE49-F238E27FC236}">
                <a16:creationId xmlns:a16="http://schemas.microsoft.com/office/drawing/2014/main" id="{022E15D2-4591-4EC2-AA14-655E8FBEFCD4}"/>
              </a:ext>
            </a:extLst>
          </p:cNvPr>
          <p:cNvSpPr>
            <a:spLocks xmlns:a="http://schemas.openxmlformats.org/drawingml/2006/main" noGrp="1"/>
          </p:cNvSpPr>
          <p:nvPr/>
        </p:nvSpPr>
        <p:spPr>
          <a:xfrm xmlns:a="http://schemas.openxmlformats.org/drawingml/2006/main">
            <a:off x="1238250" y="96202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681"/>
                </a:solidFill>
                <a:latin typeface="Montserrat"/>
                <a:ea typeface="Montserrat"/>
                <a:cs typeface="Montserrat"/>
              </a:defRPr>
            </a:defPPr>
          </a:lstStyle>
          <a:p xmlns:a="http://schemas.openxmlformats.org/drawingml/2006/main">
            <a:pPr algn="l">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PDF-GalaxAI</a:t>
            </a:r>
          </a:p>
        </p:txBody>
      </p:sp>
      <p:sp>
        <p:nvSpPr>
          <p:cNvPr id="57" name="10 / 12">
            <a:extLst xmlns:a="http://schemas.openxmlformats.org/drawingml/2006/main">
              <a:ext uri="{FF2B5EF4-FFF2-40B4-BE49-F238E27FC236}">
                <a16:creationId xmlns:a16="http://schemas.microsoft.com/office/drawing/2014/main" id="{10394BA7-D5FA-41D9-B1B0-0D9A03CCA644}"/>
              </a:ext>
            </a:extLst>
          </p:cNvPr>
          <p:cNvSpPr>
            <a:spLocks xmlns:a="http://schemas.openxmlformats.org/drawingml/2006/main" noGrp="1"/>
          </p:cNvSpPr>
          <p:nvPr/>
        </p:nvSpPr>
        <p:spPr>
          <a:xfrm xmlns:a="http://schemas.openxmlformats.org/drawingml/2006/main">
            <a:off x="15430500" y="9620250"/>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536681"/>
                </a:solidFill>
                <a:latin typeface="Montserrat"/>
                <a:ea typeface="Montserrat"/>
                <a:cs typeface="Montserrat"/>
              </a:defRPr>
            </a:defPPr>
          </a:lstStyle>
          <a:p xmlns:a="http://schemas.openxmlformats.org/drawingml/2006/main">
            <a:pPr algn="r">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10 / 12</a:t>
            </a:r>
          </a:p>
        </p:txBody>
      </p:sp>
      <p:sp>
        <p:nvSpPr>
          <p:cNvPr id="58" name="Engineering Challenges &amp; Design Decisions">
            <a:extLst xmlns:a="http://schemas.openxmlformats.org/drawingml/2006/main">
              <a:ext uri="{FF2B5EF4-FFF2-40B4-BE49-F238E27FC236}">
                <a16:creationId xmlns:a16="http://schemas.microsoft.com/office/drawing/2014/main" id="{D6F190E9-E6FE-4E3C-A366-0368C86689F5}"/>
              </a:ext>
            </a:extLst>
          </p:cNvPr>
          <p:cNvSpPr>
            <a:spLocks xmlns:a="http://schemas.openxmlformats.org/drawingml/2006/main" noGrp="1"/>
          </p:cNvSpPr>
          <p:nvPr/>
        </p:nvSpPr>
        <p:spPr>
          <a:xfrm xmlns:a="http://schemas.openxmlformats.org/drawingml/2006/main">
            <a:off x="1238250" y="1952625"/>
            <a:ext cx="15668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425" b="1">
                <a:solidFill>
                  <a:srgbClr val="101B40"/>
                </a:solidFill>
                <a:latin typeface="Montserrat Bold"/>
                <a:ea typeface="Montserrat Bold"/>
                <a:cs typeface="Montserrat Bold"/>
              </a:defRPr>
            </a:defPPr>
          </a:lstStyle>
          <a:p xmlns:a="http://schemas.openxmlformats.org/drawingml/2006/main">
            <a:pPr algn="l">
              <a:buNone/>
              <a:defRPr sz="4425" b="1">
                <a:solidFill>
                  <a:srgbClr val="101B40"/>
                </a:solidFill>
                <a:latin typeface="Montserrat Bold"/>
                <a:ea typeface="Montserrat Bold"/>
                <a:cs typeface="Montserrat Bold"/>
              </a:defRPr>
            </a:pPr>
            <a:r>
              <a:rPr sz="4425" b="1">
                <a:solidFill>
                  <a:srgbClr val="101B40"/>
                </a:solidFill>
                <a:latin typeface="Montserrat Bold"/>
                <a:ea typeface="Montserrat Bold"/>
                <a:cs typeface="Montserrat Bold"/>
              </a:rPr>
              <a:t>Engineering Challenges &amp; Design Decisions</a:t>
            </a:r>
          </a:p>
        </p:txBody>
      </p:sp>
      <p:sp>
        <p:nvSpPr>
          <p:cNvPr id="59" name="I translated interaction failures into explicit rendering, retrieval a">
            <a:extLst xmlns:a="http://schemas.openxmlformats.org/drawingml/2006/main">
              <a:ext uri="{FF2B5EF4-FFF2-40B4-BE49-F238E27FC236}">
                <a16:creationId xmlns:a16="http://schemas.microsoft.com/office/drawing/2014/main" id="{31D8B20D-8B14-4305-A36C-C876CD6606AD}"/>
              </a:ext>
            </a:extLst>
          </p:cNvPr>
          <p:cNvSpPr>
            <a:spLocks xmlns:a="http://schemas.openxmlformats.org/drawingml/2006/main" noGrp="1"/>
          </p:cNvSpPr>
          <p:nvPr/>
        </p:nvSpPr>
        <p:spPr>
          <a:xfrm xmlns:a="http://schemas.openxmlformats.org/drawingml/2006/main">
            <a:off x="1257300" y="2905125"/>
            <a:ext cx="15382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36681"/>
                </a:solidFill>
                <a:latin typeface="Montserrat"/>
                <a:ea typeface="Montserrat"/>
                <a:cs typeface="Montserrat"/>
              </a:defRPr>
            </a:defPPr>
          </a:lstStyle>
          <a:p xmlns:a="http://schemas.openxmlformats.org/drawingml/2006/main">
            <a:pPr algn="l">
              <a:buNone/>
              <a:defRPr sz="2250" b="0">
                <a:solidFill>
                  <a:srgbClr val="536681"/>
                </a:solidFill>
                <a:latin typeface="Montserrat"/>
                <a:ea typeface="Montserrat"/>
                <a:cs typeface="Montserrat"/>
              </a:defRPr>
            </a:pPr>
            <a:r>
              <a:rPr sz="2250" b="0">
                <a:solidFill>
                  <a:srgbClr val="536681"/>
                </a:solidFill>
                <a:latin typeface="Montserrat"/>
                <a:ea typeface="Montserrat"/>
                <a:cs typeface="Montserrat"/>
              </a:rPr>
              <a:t>I translated interaction failures into explicit rendering, retrieval and recovery rules.</a:t>
            </a:r>
          </a:p>
        </p:txBody>
      </p:sp>
      <p:sp>
        <p:nvSpPr>
          <p:cNvPr id="60" name="OBSERVED PROBLEM">
            <a:extLst xmlns:a="http://schemas.openxmlformats.org/drawingml/2006/main">
              <a:ext uri="{FF2B5EF4-FFF2-40B4-BE49-F238E27FC236}">
                <a16:creationId xmlns:a16="http://schemas.microsoft.com/office/drawing/2014/main" id="{C625A27F-A625-420D-98E4-E37F415C995B}"/>
              </a:ext>
            </a:extLst>
          </p:cNvPr>
          <p:cNvSpPr>
            <a:spLocks xmlns:a="http://schemas.openxmlformats.org/drawingml/2006/main" noGrp="1"/>
          </p:cNvSpPr>
          <p:nvPr/>
        </p:nvSpPr>
        <p:spPr>
          <a:xfrm xmlns:a="http://schemas.openxmlformats.org/drawingml/2006/main">
            <a:off x="1238250" y="3990975"/>
            <a:ext cx="419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36681"/>
                </a:solidFill>
                <a:latin typeface="Montserrat Bold"/>
                <a:ea typeface="Montserrat Bold"/>
                <a:cs typeface="Montserrat Bold"/>
              </a:defRPr>
            </a:defPPr>
          </a:lstStyle>
          <a:p xmlns:a="http://schemas.openxmlformats.org/drawingml/2006/main">
            <a:pPr algn="l">
              <a:buNone/>
              <a:defRPr sz="1800" b="1">
                <a:solidFill>
                  <a:srgbClr val="536681"/>
                </a:solidFill>
                <a:latin typeface="Montserrat Bold"/>
                <a:ea typeface="Montserrat Bold"/>
                <a:cs typeface="Montserrat Bold"/>
              </a:defRPr>
            </a:pPr>
            <a:r>
              <a:rPr sz="1800" b="1">
                <a:solidFill>
                  <a:srgbClr val="536681"/>
                </a:solidFill>
                <a:latin typeface="Montserrat Bold"/>
                <a:ea typeface="Montserrat Bold"/>
                <a:cs typeface="Montserrat Bold"/>
              </a:rPr>
              <a:t>OBSERVED PROBLEM</a:t>
            </a:r>
          </a:p>
        </p:txBody>
      </p:sp>
      <p:sp>
        <p:nvSpPr>
          <p:cNvPr id="61" name="IMPLEMENTATION DECISION">
            <a:extLst xmlns:a="http://schemas.openxmlformats.org/drawingml/2006/main">
              <a:ext uri="{FF2B5EF4-FFF2-40B4-BE49-F238E27FC236}">
                <a16:creationId xmlns:a16="http://schemas.microsoft.com/office/drawing/2014/main" id="{E9B55179-C145-4207-95D4-7D4A320F34D3}"/>
              </a:ext>
            </a:extLst>
          </p:cNvPr>
          <p:cNvSpPr>
            <a:spLocks xmlns:a="http://schemas.openxmlformats.org/drawingml/2006/main" noGrp="1"/>
          </p:cNvSpPr>
          <p:nvPr/>
        </p:nvSpPr>
        <p:spPr>
          <a:xfrm xmlns:a="http://schemas.openxmlformats.org/drawingml/2006/main">
            <a:off x="6000750" y="3990975"/>
            <a:ext cx="657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36681"/>
                </a:solidFill>
                <a:latin typeface="Montserrat Bold"/>
                <a:ea typeface="Montserrat Bold"/>
                <a:cs typeface="Montserrat Bold"/>
              </a:defRPr>
            </a:defPPr>
          </a:lstStyle>
          <a:p xmlns:a="http://schemas.openxmlformats.org/drawingml/2006/main">
            <a:pPr algn="l">
              <a:buNone/>
              <a:defRPr sz="1800" b="1">
                <a:solidFill>
                  <a:srgbClr val="536681"/>
                </a:solidFill>
                <a:latin typeface="Montserrat Bold"/>
                <a:ea typeface="Montserrat Bold"/>
                <a:cs typeface="Montserrat Bold"/>
              </a:defRPr>
            </a:pPr>
            <a:r>
              <a:rPr sz="1800" b="1">
                <a:solidFill>
                  <a:srgbClr val="536681"/>
                </a:solidFill>
                <a:latin typeface="Montserrat Bold"/>
                <a:ea typeface="Montserrat Bold"/>
                <a:cs typeface="Montserrat Bold"/>
              </a:rPr>
              <a:t>IMPLEMENTATION DECISION</a:t>
            </a:r>
          </a:p>
        </p:txBody>
      </p:sp>
      <p:sp>
        <p:nvSpPr>
          <p:cNvPr id="62" name="EVIDENCE / LIMIT">
            <a:extLst xmlns:a="http://schemas.openxmlformats.org/drawingml/2006/main">
              <a:ext uri="{FF2B5EF4-FFF2-40B4-BE49-F238E27FC236}">
                <a16:creationId xmlns:a16="http://schemas.microsoft.com/office/drawing/2014/main" id="{EF411080-1670-4F3D-91DF-34C899C75596}"/>
              </a:ext>
            </a:extLst>
          </p:cNvPr>
          <p:cNvSpPr>
            <a:spLocks xmlns:a="http://schemas.openxmlformats.org/drawingml/2006/main" noGrp="1"/>
          </p:cNvSpPr>
          <p:nvPr/>
        </p:nvSpPr>
        <p:spPr>
          <a:xfrm xmlns:a="http://schemas.openxmlformats.org/drawingml/2006/main">
            <a:off x="13144500" y="3990975"/>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36681"/>
                </a:solidFill>
                <a:latin typeface="Montserrat Bold"/>
                <a:ea typeface="Montserrat Bold"/>
                <a:cs typeface="Montserrat Bold"/>
              </a:defRPr>
            </a:defPPr>
          </a:lstStyle>
          <a:p xmlns:a="http://schemas.openxmlformats.org/drawingml/2006/main">
            <a:pPr algn="l">
              <a:buNone/>
              <a:defRPr sz="1800" b="1">
                <a:solidFill>
                  <a:srgbClr val="536681"/>
                </a:solidFill>
                <a:latin typeface="Montserrat Bold"/>
                <a:ea typeface="Montserrat Bold"/>
                <a:cs typeface="Montserrat Bold"/>
              </a:defRPr>
            </a:pPr>
            <a:r>
              <a:rPr sz="1800" b="1">
                <a:solidFill>
                  <a:srgbClr val="536681"/>
                </a:solidFill>
                <a:latin typeface="Montserrat Bold"/>
                <a:ea typeface="Montserrat Bold"/>
                <a:cs typeface="Montserrat Bold"/>
              </a:rPr>
              <a:t>EVIDENCE / LIMIT</a:t>
            </a:r>
          </a:p>
        </p:txBody>
      </p:sp>
      <p:sp>
        <p:nvSpPr>
          <p:cNvPr id="63" name="Occlusion and&#10;navigation friction">
            <a:extLst xmlns:a="http://schemas.openxmlformats.org/drawingml/2006/main">
              <a:ext uri="{FF2B5EF4-FFF2-40B4-BE49-F238E27FC236}">
                <a16:creationId xmlns:a16="http://schemas.microsoft.com/office/drawing/2014/main" id="{2C522306-A15F-452E-92E8-34C170354711}"/>
              </a:ext>
            </a:extLst>
          </p:cNvPr>
          <p:cNvSpPr>
            <a:spLocks xmlns:a="http://schemas.openxmlformats.org/drawingml/2006/main" noGrp="1"/>
          </p:cNvSpPr>
          <p:nvPr/>
        </p:nvSpPr>
        <p:spPr>
          <a:xfrm xmlns:a="http://schemas.openxmlformats.org/drawingml/2006/main">
            <a:off x="1238250" y="4695825"/>
            <a:ext cx="419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01B40"/>
                </a:solidFill>
                <a:latin typeface="Montserrat Bold"/>
                <a:ea typeface="Montserrat Bold"/>
                <a:cs typeface="Montserrat Bold"/>
              </a:defRPr>
            </a:defPPr>
          </a:lstStyle>
          <a:p xmlns:a="http://schemas.openxmlformats.org/drawingml/2006/main">
            <a:pPr algn="l">
              <a:buNone/>
              <a:defRPr sz="2325" b="1">
                <a:solidFill>
                  <a:srgbClr val="101B40"/>
                </a:solidFill>
                <a:latin typeface="Montserrat Bold"/>
                <a:ea typeface="Montserrat Bold"/>
                <a:cs typeface="Montserrat Bold"/>
              </a:defRPr>
            </a:pPr>
            <a:r>
              <a:rPr sz="2325" b="1">
                <a:solidFill>
                  <a:srgbClr val="101B40"/>
                </a:solidFill>
                <a:latin typeface="Montserrat Bold"/>
                <a:ea typeface="Montserrat Bold"/>
                <a:cs typeface="Montserrat Bold"/>
              </a:rPr>
              <a:t>Occlusion and</a:t>
            </a:r>
          </a:p>
          <a:p xmlns:a="http://schemas.openxmlformats.org/drawingml/2006/main">
            <a:pPr algn="l">
              <a:buNone/>
              <a:defRPr sz="2325" b="1">
                <a:solidFill>
                  <a:srgbClr val="101B40"/>
                </a:solidFill>
                <a:latin typeface="Montserrat Bold"/>
                <a:ea typeface="Montserrat Bold"/>
                <a:cs typeface="Montserrat Bold"/>
              </a:defRPr>
            </a:pPr>
            <a:r>
              <a:rPr sz="2325" b="1">
                <a:solidFill>
                  <a:srgbClr val="101B40"/>
                </a:solidFill>
                <a:latin typeface="Montserrat Bold"/>
                <a:ea typeface="Montserrat Bold"/>
                <a:cs typeface="Montserrat Bold"/>
              </a:rPr>
              <a:t>navigation friction</a:t>
            </a:r>
          </a:p>
        </p:txBody>
      </p:sp>
      <p:sp>
        <p:nvSpPr>
          <p:cNvPr id="64" name="Quality presets adjust volume samples, particle count and DPR. OrbitCo">
            <a:extLst xmlns:a="http://schemas.openxmlformats.org/drawingml/2006/main">
              <a:ext uri="{FF2B5EF4-FFF2-40B4-BE49-F238E27FC236}">
                <a16:creationId xmlns:a16="http://schemas.microsoft.com/office/drawing/2014/main" id="{5F61D5F1-B29D-4C86-A002-0873EF1D1128}"/>
              </a:ext>
            </a:extLst>
          </p:cNvPr>
          <p:cNvSpPr>
            <a:spLocks xmlns:a="http://schemas.openxmlformats.org/drawingml/2006/main" noGrp="1"/>
          </p:cNvSpPr>
          <p:nvPr/>
        </p:nvSpPr>
        <p:spPr>
          <a:xfrm xmlns:a="http://schemas.openxmlformats.org/drawingml/2006/main">
            <a:off x="6000750" y="4695825"/>
            <a:ext cx="65722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36681"/>
                </a:solidFill>
                <a:latin typeface="Montserrat"/>
                <a:ea typeface="Montserrat"/>
                <a:cs typeface="Montserrat"/>
              </a:defRPr>
            </a:defPPr>
          </a:lstStyle>
          <a:p xmlns:a="http://schemas.openxmlformats.org/drawingml/2006/main">
            <a:pPr algn="l">
              <a:buNone/>
              <a:defRPr sz="2100" b="0">
                <a:solidFill>
                  <a:srgbClr val="536681"/>
                </a:solidFill>
                <a:latin typeface="Montserrat"/>
                <a:ea typeface="Montserrat"/>
                <a:cs typeface="Montserrat"/>
              </a:defRPr>
            </a:pPr>
            <a:r>
              <a:rPr sz="2100" b="0">
                <a:solidFill>
                  <a:srgbClr val="536681"/>
                </a:solidFill>
                <a:latin typeface="Montserrat"/>
                <a:ea typeface="Montserrat"/>
                <a:cs typeface="Montserrat"/>
              </a:rPr>
              <a:t>Quality presets adjust volume samples, particle count and DPR. OrbitControls bounds zoom.</a:t>
            </a:r>
          </a:p>
        </p:txBody>
      </p:sp>
      <p:sp>
        <p:nvSpPr>
          <p:cNvPr id="65" name="Earlier manual report records improved occlusion. Large-scale FPS rema">
            <a:extLst xmlns:a="http://schemas.openxmlformats.org/drawingml/2006/main">
              <a:ext uri="{FF2B5EF4-FFF2-40B4-BE49-F238E27FC236}">
                <a16:creationId xmlns:a16="http://schemas.microsoft.com/office/drawing/2014/main" id="{6E5FC667-10BD-4960-9929-8DCC1886CDAF}"/>
              </a:ext>
            </a:extLst>
          </p:cNvPr>
          <p:cNvSpPr>
            <a:spLocks xmlns:a="http://schemas.openxmlformats.org/drawingml/2006/main" noGrp="1"/>
          </p:cNvSpPr>
          <p:nvPr/>
        </p:nvSpPr>
        <p:spPr>
          <a:xfrm xmlns:a="http://schemas.openxmlformats.org/drawingml/2006/main">
            <a:off x="13144500" y="4695825"/>
            <a:ext cx="4095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Earlier manual report records improved occlusion. Large-scale FPS remains unmeasured.</a:t>
            </a:r>
          </a:p>
        </p:txBody>
      </p:sp>
      <p:sp>
        <p:nvSpPr>
          <p:cNvPr id="66" name="">
            <a:extLst xmlns:a="http://schemas.openxmlformats.org/drawingml/2006/main">
              <a:ext uri="{FF2B5EF4-FFF2-40B4-BE49-F238E27FC236}">
                <a16:creationId xmlns:a16="http://schemas.microsoft.com/office/drawing/2014/main" id="{E545C968-BD8D-452F-9126-56D90BF442AB}"/>
              </a:ext>
            </a:extLst>
          </p:cNvPr>
          <p:cNvSpPr>
            <a:spLocks xmlns:a="http://schemas.openxmlformats.org/drawingml/2006/main" noGrp="1"/>
          </p:cNvSpPr>
          <p:nvPr/>
        </p:nvSpPr>
        <p:spPr>
          <a:xfrm xmlns:a="http://schemas.openxmlformats.org/drawingml/2006/main">
            <a:off x="1238250" y="6029325"/>
            <a:ext cx="15668625" cy="0"/>
          </a:xfrm>
          <a:prstGeom xmlns:a="http://schemas.openxmlformats.org/drawingml/2006/main" prst="line">
            <a:avLst/>
          </a:prstGeom>
          <a:noFill xmlns:a="http://schemas.openxmlformats.org/drawingml/2006/main"/>
          <a:ln xmlns:a="http://schemas.openxmlformats.org/drawingml/2006/main" w="13335">
            <a:solidFill>
              <a:srgbClr val="8FA4C1"/>
            </a:solidFill>
          </a:ln>
        </p:spPr>
      </p:sp>
      <p:sp>
        <p:nvSpPr>
          <p:cNvPr id="67" name="Weak keywords and&#10;unreadable PDF text">
            <a:extLst xmlns:a="http://schemas.openxmlformats.org/drawingml/2006/main">
              <a:ext uri="{FF2B5EF4-FFF2-40B4-BE49-F238E27FC236}">
                <a16:creationId xmlns:a16="http://schemas.microsoft.com/office/drawing/2014/main" id="{EE38C130-B76F-43BF-BD5A-E5FACCA678CD}"/>
              </a:ext>
            </a:extLst>
          </p:cNvPr>
          <p:cNvSpPr>
            <a:spLocks xmlns:a="http://schemas.openxmlformats.org/drawingml/2006/main" noGrp="1"/>
          </p:cNvSpPr>
          <p:nvPr/>
        </p:nvSpPr>
        <p:spPr>
          <a:xfrm xmlns:a="http://schemas.openxmlformats.org/drawingml/2006/main">
            <a:off x="1238250" y="6191250"/>
            <a:ext cx="419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01B40"/>
                </a:solidFill>
                <a:latin typeface="Montserrat Bold"/>
                <a:ea typeface="Montserrat Bold"/>
                <a:cs typeface="Montserrat Bold"/>
              </a:defRPr>
            </a:defPPr>
          </a:lstStyle>
          <a:p xmlns:a="http://schemas.openxmlformats.org/drawingml/2006/main">
            <a:pPr algn="l">
              <a:buNone/>
              <a:defRPr sz="2325" b="1">
                <a:solidFill>
                  <a:srgbClr val="101B40"/>
                </a:solidFill>
                <a:latin typeface="Montserrat Bold"/>
                <a:ea typeface="Montserrat Bold"/>
                <a:cs typeface="Montserrat Bold"/>
              </a:defRPr>
            </a:pPr>
            <a:r>
              <a:rPr sz="2325" b="1">
                <a:solidFill>
                  <a:srgbClr val="101B40"/>
                </a:solidFill>
                <a:latin typeface="Montserrat Bold"/>
                <a:ea typeface="Montserrat Bold"/>
                <a:cs typeface="Montserrat Bold"/>
              </a:rPr>
              <a:t>Weak keywords and</a:t>
            </a:r>
          </a:p>
          <a:p xmlns:a="http://schemas.openxmlformats.org/drawingml/2006/main">
            <a:pPr algn="l">
              <a:buNone/>
              <a:defRPr sz="2325" b="1">
                <a:solidFill>
                  <a:srgbClr val="101B40"/>
                </a:solidFill>
                <a:latin typeface="Montserrat Bold"/>
                <a:ea typeface="Montserrat Bold"/>
                <a:cs typeface="Montserrat Bold"/>
              </a:defRPr>
            </a:pPr>
            <a:r>
              <a:rPr sz="2325" b="1">
                <a:solidFill>
                  <a:srgbClr val="101B40"/>
                </a:solidFill>
                <a:latin typeface="Montserrat Bold"/>
                <a:ea typeface="Montserrat Bold"/>
                <a:cs typeface="Montserrat Bold"/>
              </a:rPr>
              <a:t>unreadable PDF text</a:t>
            </a:r>
          </a:p>
        </p:txBody>
      </p:sp>
      <p:sp>
        <p:nvSpPr>
          <p:cNvPr id="68" name="Preserve declared keywords. Apply stop-word filtering, corpus TF-IDF a">
            <a:extLst xmlns:a="http://schemas.openxmlformats.org/drawingml/2006/main">
              <a:ext uri="{FF2B5EF4-FFF2-40B4-BE49-F238E27FC236}">
                <a16:creationId xmlns:a16="http://schemas.microsoft.com/office/drawing/2014/main" id="{5EB7E966-C78E-443E-B3A9-D8D8378166E6}"/>
              </a:ext>
            </a:extLst>
          </p:cNvPr>
          <p:cNvSpPr>
            <a:spLocks xmlns:a="http://schemas.openxmlformats.org/drawingml/2006/main" noGrp="1"/>
          </p:cNvSpPr>
          <p:nvPr/>
        </p:nvSpPr>
        <p:spPr>
          <a:xfrm xmlns:a="http://schemas.openxmlformats.org/drawingml/2006/main">
            <a:off x="6000750" y="6191250"/>
            <a:ext cx="65722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36681"/>
                </a:solidFill>
                <a:latin typeface="Montserrat"/>
                <a:ea typeface="Montserrat"/>
                <a:cs typeface="Montserrat"/>
              </a:defRPr>
            </a:defPPr>
          </a:lstStyle>
          <a:p xmlns:a="http://schemas.openxmlformats.org/drawingml/2006/main">
            <a:pPr algn="l">
              <a:buNone/>
              <a:defRPr sz="2100" b="0">
                <a:solidFill>
                  <a:srgbClr val="536681"/>
                </a:solidFill>
                <a:latin typeface="Montserrat"/>
                <a:ea typeface="Montserrat"/>
                <a:cs typeface="Montserrat"/>
              </a:defRPr>
            </a:pPr>
            <a:r>
              <a:rPr sz="2100" b="0">
                <a:solidFill>
                  <a:srgbClr val="536681"/>
                </a:solidFill>
                <a:latin typeface="Montserrat"/>
                <a:ea typeface="Montserrat"/>
                <a:cs typeface="Montserrat"/>
              </a:rPr>
              <a:t>Preserve declared keywords. Apply stop-word filtering, corpus TF-IDF and diverse selection. Use OCR when needed.</a:t>
            </a:r>
          </a:p>
        </p:txBody>
      </p:sp>
      <p:sp>
        <p:nvSpPr>
          <p:cNvPr id="69" name="Code implements the pipeline. OCR and layout quality vary across docum">
            <a:extLst xmlns:a="http://schemas.openxmlformats.org/drawingml/2006/main">
              <a:ext uri="{FF2B5EF4-FFF2-40B4-BE49-F238E27FC236}">
                <a16:creationId xmlns:a16="http://schemas.microsoft.com/office/drawing/2014/main" id="{7285340C-FF37-4289-A5B4-F17C69178FC6}"/>
              </a:ext>
            </a:extLst>
          </p:cNvPr>
          <p:cNvSpPr>
            <a:spLocks xmlns:a="http://schemas.openxmlformats.org/drawingml/2006/main" noGrp="1"/>
          </p:cNvSpPr>
          <p:nvPr/>
        </p:nvSpPr>
        <p:spPr>
          <a:xfrm xmlns:a="http://schemas.openxmlformats.org/drawingml/2006/main">
            <a:off x="13144500" y="6191250"/>
            <a:ext cx="4095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Code implements the pipeline. OCR and layout quality vary across documents.</a:t>
            </a:r>
          </a:p>
        </p:txBody>
      </p:sp>
      <p:sp>
        <p:nvSpPr>
          <p:cNvPr id="70" name="">
            <a:extLst xmlns:a="http://schemas.openxmlformats.org/drawingml/2006/main">
              <a:ext uri="{FF2B5EF4-FFF2-40B4-BE49-F238E27FC236}">
                <a16:creationId xmlns:a16="http://schemas.microsoft.com/office/drawing/2014/main" id="{1E3DC9E0-4FB1-4939-8BF4-6E2154D020FF}"/>
              </a:ext>
            </a:extLst>
          </p:cNvPr>
          <p:cNvSpPr>
            <a:spLocks xmlns:a="http://schemas.openxmlformats.org/drawingml/2006/main" noGrp="1"/>
          </p:cNvSpPr>
          <p:nvPr/>
        </p:nvSpPr>
        <p:spPr>
          <a:xfrm xmlns:a="http://schemas.openxmlformats.org/drawingml/2006/main">
            <a:off x="1238250" y="7524750"/>
            <a:ext cx="15668625" cy="0"/>
          </a:xfrm>
          <a:prstGeom xmlns:a="http://schemas.openxmlformats.org/drawingml/2006/main" prst="line">
            <a:avLst/>
          </a:prstGeom>
          <a:noFill xmlns:a="http://schemas.openxmlformats.org/drawingml/2006/main"/>
          <a:ln xmlns:a="http://schemas.openxmlformats.org/drawingml/2006/main" w="13335">
            <a:solidFill>
              <a:srgbClr val="8FA4C1"/>
            </a:solidFill>
          </a:ln>
        </p:spPr>
      </p:sp>
      <p:sp>
        <p:nvSpPr>
          <p:cNvPr id="71" name="Unverifiable answers&#10;and disconnected views">
            <a:extLst xmlns:a="http://schemas.openxmlformats.org/drawingml/2006/main">
              <a:ext uri="{FF2B5EF4-FFF2-40B4-BE49-F238E27FC236}">
                <a16:creationId xmlns:a16="http://schemas.microsoft.com/office/drawing/2014/main" id="{628DCCDA-4A66-4EBE-A824-92472737096D}"/>
              </a:ext>
            </a:extLst>
          </p:cNvPr>
          <p:cNvSpPr>
            <a:spLocks xmlns:a="http://schemas.openxmlformats.org/drawingml/2006/main" noGrp="1"/>
          </p:cNvSpPr>
          <p:nvPr/>
        </p:nvSpPr>
        <p:spPr>
          <a:xfrm xmlns:a="http://schemas.openxmlformats.org/drawingml/2006/main">
            <a:off x="1238250" y="7686675"/>
            <a:ext cx="419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01B40"/>
                </a:solidFill>
                <a:latin typeface="Montserrat Bold"/>
                <a:ea typeface="Montserrat Bold"/>
                <a:cs typeface="Montserrat Bold"/>
              </a:defRPr>
            </a:defPPr>
          </a:lstStyle>
          <a:p xmlns:a="http://schemas.openxmlformats.org/drawingml/2006/main">
            <a:pPr algn="l">
              <a:buNone/>
              <a:defRPr sz="2325" b="1">
                <a:solidFill>
                  <a:srgbClr val="101B40"/>
                </a:solidFill>
                <a:latin typeface="Montserrat Bold"/>
                <a:ea typeface="Montserrat Bold"/>
                <a:cs typeface="Montserrat Bold"/>
              </a:defRPr>
            </a:pPr>
            <a:r>
              <a:rPr sz="2325" b="1">
                <a:solidFill>
                  <a:srgbClr val="101B40"/>
                </a:solidFill>
                <a:latin typeface="Montserrat Bold"/>
                <a:ea typeface="Montserrat Bold"/>
                <a:cs typeface="Montserrat Bold"/>
              </a:rPr>
              <a:t>Unverifiable answers</a:t>
            </a:r>
          </a:p>
          <a:p xmlns:a="http://schemas.openxmlformats.org/drawingml/2006/main">
            <a:pPr algn="l">
              <a:buNone/>
              <a:defRPr sz="2325" b="1">
                <a:solidFill>
                  <a:srgbClr val="101B40"/>
                </a:solidFill>
                <a:latin typeface="Montserrat Bold"/>
                <a:ea typeface="Montserrat Bold"/>
                <a:cs typeface="Montserrat Bold"/>
              </a:defRPr>
            </a:pPr>
            <a:r>
              <a:rPr sz="2325" b="1">
                <a:solidFill>
                  <a:srgbClr val="101B40"/>
                </a:solidFill>
                <a:latin typeface="Montserrat Bold"/>
                <a:ea typeface="Montserrat Bold"/>
                <a:cs typeface="Montserrat Bold"/>
              </a:rPr>
              <a:t>and disconnected views</a:t>
            </a:r>
          </a:p>
        </p:txBody>
      </p:sp>
      <p:sp>
        <p:nvSpPr>
          <p:cNvPr id="72" name="Return source snippets and candidate pages. Propagate paper identity i">
            <a:extLst xmlns:a="http://schemas.openxmlformats.org/drawingml/2006/main">
              <a:ext uri="{FF2B5EF4-FFF2-40B4-BE49-F238E27FC236}">
                <a16:creationId xmlns:a16="http://schemas.microsoft.com/office/drawing/2014/main" id="{E4BDE8CF-001F-470C-BDCD-E335389FCB5A}"/>
              </a:ext>
            </a:extLst>
          </p:cNvPr>
          <p:cNvSpPr>
            <a:spLocks xmlns:a="http://schemas.openxmlformats.org/drawingml/2006/main" noGrp="1"/>
          </p:cNvSpPr>
          <p:nvPr/>
        </p:nvSpPr>
        <p:spPr>
          <a:xfrm xmlns:a="http://schemas.openxmlformats.org/drawingml/2006/main">
            <a:off x="6000750" y="7686675"/>
            <a:ext cx="65722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36681"/>
                </a:solidFill>
                <a:latin typeface="Montserrat"/>
                <a:ea typeface="Montserrat"/>
                <a:cs typeface="Montserrat"/>
              </a:defRPr>
            </a:defPPr>
          </a:lstStyle>
          <a:p xmlns:a="http://schemas.openxmlformats.org/drawingml/2006/main">
            <a:pPr algn="l">
              <a:buNone/>
              <a:defRPr sz="2100" b="0">
                <a:solidFill>
                  <a:srgbClr val="536681"/>
                </a:solidFill>
                <a:latin typeface="Montserrat"/>
                <a:ea typeface="Montserrat"/>
                <a:cs typeface="Montserrat"/>
              </a:defRPr>
            </a:pPr>
            <a:r>
              <a:rPr sz="2100" b="0">
                <a:solidFill>
                  <a:srgbClr val="536681"/>
                </a:solidFill>
                <a:latin typeface="Montserrat"/>
                <a:ea typeface="Montserrat"/>
                <a:cs typeface="Montserrat"/>
              </a:rPr>
              <a:t>Return source snippets and candidate pages. Propagate paper identity into galaxy highlights and the PDF reader.</a:t>
            </a:r>
          </a:p>
        </p:txBody>
      </p:sp>
      <p:sp>
        <p:nvSpPr>
          <p:cNvPr id="73" name="Source linking exists in code. Matching is heuristic and needs end-to-">
            <a:extLst xmlns:a="http://schemas.openxmlformats.org/drawingml/2006/main">
              <a:ext uri="{FF2B5EF4-FFF2-40B4-BE49-F238E27FC236}">
                <a16:creationId xmlns:a16="http://schemas.microsoft.com/office/drawing/2014/main" id="{C3AC312C-0726-4707-A3EF-D110F3BC1D6C}"/>
              </a:ext>
            </a:extLst>
          </p:cNvPr>
          <p:cNvSpPr>
            <a:spLocks xmlns:a="http://schemas.openxmlformats.org/drawingml/2006/main" noGrp="1"/>
          </p:cNvSpPr>
          <p:nvPr/>
        </p:nvSpPr>
        <p:spPr>
          <a:xfrm xmlns:a="http://schemas.openxmlformats.org/drawingml/2006/main">
            <a:off x="13144500" y="7686675"/>
            <a:ext cx="4095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Source linking exists in code. Matching is heuristic and needs end-to-end validation.</a:t>
            </a:r>
          </a:p>
        </p:txBody>
      </p:sp>
      <p:sp>
        <p:nvSpPr>
          <p:cNvPr id="74" name="">
            <a:extLst xmlns:a="http://schemas.openxmlformats.org/drawingml/2006/main">
              <a:ext uri="{FF2B5EF4-FFF2-40B4-BE49-F238E27FC236}">
                <a16:creationId xmlns:a16="http://schemas.microsoft.com/office/drawing/2014/main" id="{63F5F11D-E4A8-430A-824D-A6F3C1BE543C}"/>
              </a:ext>
            </a:extLst>
          </p:cNvPr>
          <p:cNvSpPr>
            <a:spLocks xmlns:a="http://schemas.openxmlformats.org/drawingml/2006/main" noGrp="1"/>
          </p:cNvSpPr>
          <p:nvPr/>
        </p:nvSpPr>
        <p:spPr>
          <a:xfrm xmlns:a="http://schemas.openxmlformats.org/drawingml/2006/main">
            <a:off x="1238250" y="9020175"/>
            <a:ext cx="15668625" cy="0"/>
          </a:xfrm>
          <a:prstGeom xmlns:a="http://schemas.openxmlformats.org/drawingml/2006/main" prst="line">
            <a:avLst/>
          </a:prstGeom>
          <a:noFill xmlns:a="http://schemas.openxmlformats.org/drawingml/2006/main"/>
          <a:ln xmlns:a="http://schemas.openxmlformats.org/drawingml/2006/main" w="13335">
            <a:solidFill>
              <a:srgbClr val="8FA4C1"/>
            </a:solidFill>
          </a:ln>
        </p:spPr>
      </p:sp>
      <p:sp>
        <p:nvSpPr>
          <p:cNvPr id="75" name="Reliability: connection checks, index warnings, parser fallback and gr">
            <a:extLst xmlns:a="http://schemas.openxmlformats.org/drawingml/2006/main">
              <a:ext uri="{FF2B5EF4-FFF2-40B4-BE49-F238E27FC236}">
                <a16:creationId xmlns:a16="http://schemas.microsoft.com/office/drawing/2014/main" id="{0DBA5FC5-AE29-4002-83E7-0BB8FFD39B23}"/>
              </a:ext>
            </a:extLst>
          </p:cNvPr>
          <p:cNvSpPr>
            <a:spLocks xmlns:a="http://schemas.openxmlformats.org/drawingml/2006/main" noGrp="1"/>
          </p:cNvSpPr>
          <p:nvPr/>
        </p:nvSpPr>
        <p:spPr>
          <a:xfrm xmlns:a="http://schemas.openxmlformats.org/drawingml/2006/main">
            <a:off x="1238250" y="9324975"/>
            <a:ext cx="15668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681"/>
                </a:solidFill>
                <a:latin typeface="Montserrat"/>
                <a:ea typeface="Montserrat"/>
                <a:cs typeface="Montserrat"/>
              </a:defRPr>
            </a:defPPr>
          </a:lstStyle>
          <a:p xmlns:a="http://schemas.openxmlformats.org/drawingml/2006/main">
            <a:pPr algn="l">
              <a:buNone/>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Reliability: connection checks, index warnings, parser fallback and graph-refresh retries support recovery.</a:t>
            </a:r>
          </a:p>
        </p:txBody>
      </p:sp>
    </p:spTree>
    <p:extLst>
      <p:ext uri="{BB962C8B-B14F-4D97-AF65-F5344CB8AC3E}">
        <p14:creationId xmlns:p14="http://schemas.microsoft.com/office/powerpoint/2010/main" val="447674980"/>
      </p:ext>
    </p:extLst>
  </p:cSld>
</p:sld>
</file>

<file path=ppt/slides/slide11.xml><?xml version="1.0" encoding="utf-8"?>
<p:sld xmlns:p="http://schemas.openxmlformats.org/presentationml/2006/main">
  <p:cSld>
    <p:bg>
      <p:bgPr>
        <a:solidFill xmlns:a="http://schemas.openxmlformats.org/drawingml/2006/main">
          <a:srgbClr val="F1F1F1"/>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1EF1386A-B871-434E-B9E0-ADB51A83F63B}"/>
              </a:ext>
            </a:extLst>
          </p:cNvPr>
          <p:cNvSpPr>
            <a:spLocks xmlns:a="http://schemas.openxmlformats.org/drawingml/2006/main" noGrp="1"/>
          </p:cNvSpPr>
          <p:nvPr/>
        </p:nvSpPr>
        <p:spPr>
          <a:xfrm xmlns:a="http://schemas.openxmlformats.org/drawingml/2006/main" rot="0" flipH="0" flipV="0">
            <a:off x="4410075" y="514350"/>
            <a:ext cx="9467850" cy="819150"/>
          </a:xfrm>
          <a:custGeom xmlns:a="http://schemas.openxmlformats.org/drawingml/2006/main">
            <a:rect l="l" t="t" r="r" b="b"/>
            <a:pathLst>
              <a:path w="2494114" h="214543">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xmlns:a="http://schemas.openxmlformats.org/drawingml/2006/main" w="38100" cap="rnd">
            <a:solidFill>
              <a:srgbClr val="101B40"/>
            </a:solidFill>
            <a:prstDash val="solid"/>
            <a:round/>
          </a:ln>
        </p:spPr>
      </p:sp>
      <p:sp>
        <p:nvSpPr>
          <p:cNvPr id="4" name="TextBox 4">
            <a:extLst xmlns:a="http://schemas.openxmlformats.org/drawingml/2006/main">
              <a:ext uri="{FF2B5EF4-FFF2-40B4-BE49-F238E27FC236}">
                <a16:creationId xmlns:a16="http://schemas.microsoft.com/office/drawing/2014/main" id="{8FA2FF8A-FF93-4AB4-BF87-6CA549027389}"/>
              </a:ext>
            </a:extLst>
          </p:cNvPr>
          <p:cNvSpPr>
            <a:spLocks xmlns:a="http://schemas.openxmlformats.org/drawingml/2006/main" noGrp="1"/>
          </p:cNvSpPr>
          <p:nvPr/>
        </p:nvSpPr>
        <p:spPr>
          <a:xfrm xmlns:a="http://schemas.openxmlformats.org/drawingml/2006/main" rot="0" flipH="0" flipV="0">
            <a:off x="4409081" y="370811"/>
            <a:ext cx="9469839" cy="95925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p>
        </p:txBody>
      </p:sp>
      <p:sp>
        <p:nvSpPr>
          <p:cNvPr id="6" name="Freeform 6">
            <a:extLst xmlns:a="http://schemas.openxmlformats.org/drawingml/2006/main">
              <a:ext uri="{FF2B5EF4-FFF2-40B4-BE49-F238E27FC236}">
                <a16:creationId xmlns:a16="http://schemas.microsoft.com/office/drawing/2014/main" id="{E3F06451-2542-4216-B6E6-4F3E7FB559C2}"/>
              </a:ext>
            </a:extLst>
          </p:cNvPr>
          <p:cNvSpPr>
            <a:spLocks xmlns:a="http://schemas.openxmlformats.org/drawingml/2006/main" noGrp="1"/>
          </p:cNvSpPr>
          <p:nvPr/>
        </p:nvSpPr>
        <p:spPr>
          <a:xfrm xmlns:a="http://schemas.openxmlformats.org/drawingml/2006/main" rot="0" flipH="0" flipV="0">
            <a:off x="11849100" y="628650"/>
            <a:ext cx="1704975" cy="590550"/>
          </a:xfrm>
          <a:custGeom xmlns:a="http://schemas.openxmlformats.org/drawingml/2006/main">
            <a:rect l="l" t="t" r="r" b="b"/>
            <a:pathLst>
              <a:path w="438737" h="155110">
                <a:moveTo>
                  <a:pt x="77555" y="0"/>
                </a:moveTo>
                <a:lnTo>
                  <a:pt x="361182" y="0"/>
                </a:lnTo>
                <a:cubicBezTo>
                  <a:pt x="404015" y="0"/>
                  <a:pt x="438737" y="34722"/>
                  <a:pt x="438737" y="77555"/>
                </a:cubicBezTo>
                <a:lnTo>
                  <a:pt x="438737" y="77555"/>
                </a:lnTo>
                <a:cubicBezTo>
                  <a:pt x="438737" y="120387"/>
                  <a:pt x="404015" y="155110"/>
                  <a:pt x="361182" y="155110"/>
                </a:cubicBezTo>
                <a:lnTo>
                  <a:pt x="77555" y="155110"/>
                </a:lnTo>
                <a:cubicBezTo>
                  <a:pt x="34722" y="155110"/>
                  <a:pt x="0" y="120387"/>
                  <a:pt x="0" y="77555"/>
                </a:cubicBezTo>
                <a:lnTo>
                  <a:pt x="0" y="77555"/>
                </a:lnTo>
                <a:cubicBezTo>
                  <a:pt x="0" y="34722"/>
                  <a:pt x="34722" y="0"/>
                  <a:pt x="77555" y="0"/>
                </a:cubicBezTo>
                <a:close/>
              </a:path>
            </a:pathLst>
          </a:custGeom>
          <a:solidFill xmlns:a="http://schemas.openxmlformats.org/drawingml/2006/main">
            <a:srgbClr val="101B40"/>
          </a:solidFill>
          <a:ln xmlns:a="http://schemas.openxmlformats.org/drawingml/2006/main" cap="rnd">
            <a:noFill/>
            <a:prstDash val="solid"/>
            <a:round/>
          </a:ln>
        </p:spPr>
      </p:sp>
      <p:sp>
        <p:nvSpPr>
          <p:cNvPr id="7" name="TextBox 7">
            <a:extLst xmlns:a="http://schemas.openxmlformats.org/drawingml/2006/main">
              <a:ext uri="{FF2B5EF4-FFF2-40B4-BE49-F238E27FC236}">
                <a16:creationId xmlns:a16="http://schemas.microsoft.com/office/drawing/2014/main" id="{B31EC481-B235-4631-837D-DF2DADFF8880}"/>
              </a:ext>
            </a:extLst>
          </p:cNvPr>
          <p:cNvSpPr>
            <a:spLocks xmlns:a="http://schemas.openxmlformats.org/drawingml/2006/main" noGrp="1"/>
          </p:cNvSpPr>
          <p:nvPr/>
        </p:nvSpPr>
        <p:spPr>
          <a:xfrm xmlns:a="http://schemas.openxmlformats.org/drawingml/2006/main" rot="0" flipH="0" flipV="0">
            <a:off x="9460786" y="483641"/>
            <a:ext cx="1665830" cy="73359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p>
        </p:txBody>
      </p:sp>
      <p:sp>
        <p:nvSpPr>
          <p:cNvPr id="21" name="TextBox 21">
            <a:extLst xmlns:a="http://schemas.openxmlformats.org/drawingml/2006/main">
              <a:ext uri="{FF2B5EF4-FFF2-40B4-BE49-F238E27FC236}">
                <a16:creationId xmlns:a16="http://schemas.microsoft.com/office/drawing/2014/main" id="{98029099-95C8-456E-A7D8-AECE49B0F095}"/>
              </a:ext>
            </a:extLst>
          </p:cNvPr>
          <p:cNvSpPr>
            <a:spLocks xmlns:a="http://schemas.openxmlformats.org/drawingml/2006/main" noGrp="1"/>
          </p:cNvSpPr>
          <p:nvPr/>
        </p:nvSpPr>
        <p:spPr>
          <a:xfrm xmlns:a="http://schemas.openxmlformats.org/drawingml/2006/main" rot="0">
            <a:off x="4438650" y="733425"/>
            <a:ext cx="16668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VISION</a:t>
            </a:r>
          </a:p>
        </p:txBody>
      </p:sp>
      <p:sp>
        <p:nvSpPr>
          <p:cNvPr id="22" name="TextBox 22">
            <a:extLst xmlns:a="http://schemas.openxmlformats.org/drawingml/2006/main">
              <a:ext uri="{FF2B5EF4-FFF2-40B4-BE49-F238E27FC236}">
                <a16:creationId xmlns:a16="http://schemas.microsoft.com/office/drawing/2014/main" id="{F8AEB1B3-DD3F-4DDD-A65F-BB886F103FC2}"/>
              </a:ext>
            </a:extLst>
          </p:cNvPr>
          <p:cNvSpPr>
            <a:spLocks xmlns:a="http://schemas.openxmlformats.org/drawingml/2006/main" noGrp="1"/>
          </p:cNvSpPr>
          <p:nvPr/>
        </p:nvSpPr>
        <p:spPr>
          <a:xfrm xmlns:a="http://schemas.openxmlformats.org/drawingml/2006/main" rot="0">
            <a:off x="6829425" y="733425"/>
            <a:ext cx="190500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DESIGN</a:t>
            </a:r>
          </a:p>
        </p:txBody>
      </p:sp>
      <p:sp>
        <p:nvSpPr>
          <p:cNvPr id="23" name="TextBox 23">
            <a:extLst xmlns:a="http://schemas.openxmlformats.org/drawingml/2006/main">
              <a:ext uri="{FF2B5EF4-FFF2-40B4-BE49-F238E27FC236}">
                <a16:creationId xmlns:a16="http://schemas.microsoft.com/office/drawing/2014/main" id="{05E98AB3-52C2-4C5A-8936-D94021A951FD}"/>
              </a:ext>
            </a:extLst>
          </p:cNvPr>
          <p:cNvSpPr>
            <a:spLocks xmlns:a="http://schemas.openxmlformats.org/drawingml/2006/main" noGrp="1"/>
          </p:cNvSpPr>
          <p:nvPr/>
        </p:nvSpPr>
        <p:spPr>
          <a:xfrm xmlns:a="http://schemas.openxmlformats.org/drawingml/2006/main" rot="0">
            <a:off x="9496425" y="733425"/>
            <a:ext cx="15906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SYSTEM</a:t>
            </a:r>
          </a:p>
        </p:txBody>
      </p:sp>
      <p:sp>
        <p:nvSpPr>
          <p:cNvPr id="24" name="TextBox 24">
            <a:extLst xmlns:a="http://schemas.openxmlformats.org/drawingml/2006/main">
              <a:ext uri="{FF2B5EF4-FFF2-40B4-BE49-F238E27FC236}">
                <a16:creationId xmlns:a16="http://schemas.microsoft.com/office/drawing/2014/main" id="{4DDB76A6-3927-4E47-B512-52465BBF5101}"/>
              </a:ext>
            </a:extLst>
          </p:cNvPr>
          <p:cNvSpPr>
            <a:spLocks xmlns:a="http://schemas.openxmlformats.org/drawingml/2006/main" noGrp="1"/>
          </p:cNvSpPr>
          <p:nvPr/>
        </p:nvSpPr>
        <p:spPr>
          <a:xfrm xmlns:a="http://schemas.openxmlformats.org/drawingml/2006/main" rot="0">
            <a:off x="11591925" y="733425"/>
            <a:ext cx="222885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1">
                <a:solidFill>
                  <a:srgbClr val="FFFFFF"/>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1">
                <a:solidFill>
                  <a:srgbClr val="FFFFFF"/>
                </a:solidFill>
                <a:latin typeface="Montserrat"/>
                <a:ea typeface="Montserrat"/>
                <a:cs typeface="Montserrat"/>
              </a:defRPr>
            </a:pPr>
            <a:r>
              <a:rPr sz="1800" b="1" spc="3">
                <a:solidFill>
                  <a:srgbClr val="FFFFFF"/>
                </a:solidFill>
                <a:latin typeface="Montserrat"/>
                <a:ea typeface="Montserrat"/>
                <a:cs typeface="Montserrat"/>
              </a:rPr>
              <a:t>REVIEW</a:t>
            </a:r>
          </a:p>
        </p:txBody>
      </p:sp>
      <p:sp>
        <p:nvSpPr>
          <p:cNvPr id="25" name="TextBox 25">
            <a:extLst xmlns:a="http://schemas.openxmlformats.org/drawingml/2006/main">
              <a:ext uri="{FF2B5EF4-FFF2-40B4-BE49-F238E27FC236}">
                <a16:creationId xmlns:a16="http://schemas.microsoft.com/office/drawing/2014/main" id="{8394B56D-3A17-4FE1-81B1-45C5E9ADA1D5}"/>
              </a:ext>
            </a:extLst>
          </p:cNvPr>
          <p:cNvSpPr>
            <a:spLocks xmlns:a="http://schemas.openxmlformats.org/drawingml/2006/main" noGrp="1"/>
          </p:cNvSpPr>
          <p:nvPr/>
        </p:nvSpPr>
        <p:spPr>
          <a:xfrm xmlns:a="http://schemas.openxmlformats.org/drawingml/2006/main" rot="0">
            <a:off x="800100" y="628650"/>
            <a:ext cx="2381250" cy="56769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defRPr sz="1800" b="1">
                <a:solidFill>
                  <a:srgbClr val="101B40"/>
                </a:solidFill>
                <a:latin typeface="Montserrat"/>
                <a:ea typeface="Montserrat"/>
                <a:cs typeface="Montserrat"/>
              </a:defRPr>
            </a:defPPr>
          </a:lstStyle>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PDF</a:t>
            </a:r>
          </a:p>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GALAXAI</a:t>
            </a:r>
          </a:p>
        </p:txBody>
      </p:sp>
      <p:sp>
        <p:nvSpPr>
          <p:cNvPr id="26" name="11">
            <a:extLst xmlns:a="http://schemas.openxmlformats.org/drawingml/2006/main">
              <a:ext uri="{FF2B5EF4-FFF2-40B4-BE49-F238E27FC236}">
                <a16:creationId xmlns:a16="http://schemas.microsoft.com/office/drawing/2014/main" id="{B4072A97-BC5F-4536-98DA-822CE75424DD}"/>
              </a:ext>
            </a:extLst>
          </p:cNvPr>
          <p:cNvSpPr>
            <a:spLocks xmlns:a="http://schemas.openxmlformats.org/drawingml/2006/main" noGrp="1"/>
          </p:cNvSpPr>
          <p:nvPr/>
        </p:nvSpPr>
        <p:spPr>
          <a:xfrm xmlns:a="http://schemas.openxmlformats.org/drawingml/2006/main">
            <a:off x="16735425" y="73342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1">
                <a:solidFill>
                  <a:srgbClr val="101B40"/>
                </a:solidFill>
                <a:latin typeface="Montserrat Bold"/>
                <a:ea typeface="Montserrat Bold"/>
                <a:cs typeface="Montserrat Bold"/>
              </a:defRPr>
            </a:defPPr>
          </a:lstStyle>
          <a:p xmlns:a="http://schemas.openxmlformats.org/drawingml/2006/main">
            <a:pPr algn="r">
              <a:buNone/>
              <a:defRPr sz="1875" b="1">
                <a:solidFill>
                  <a:srgbClr val="101B40"/>
                </a:solidFill>
                <a:latin typeface="Montserrat Bold"/>
                <a:ea typeface="Montserrat Bold"/>
                <a:cs typeface="Montserrat Bold"/>
              </a:defRPr>
            </a:pPr>
            <a:r>
              <a:rPr sz="1875" b="1">
                <a:solidFill>
                  <a:srgbClr val="101B40"/>
                </a:solidFill>
                <a:latin typeface="Montserrat Bold"/>
                <a:ea typeface="Montserrat Bold"/>
                <a:cs typeface="Montserrat Bold"/>
              </a:rPr>
              <a:t>11</a:t>
            </a:r>
          </a:p>
        </p:txBody>
      </p:sp>
      <p:sp>
        <p:nvSpPr>
          <p:cNvPr id="27" name="PDF-GalaxAI">
            <a:extLst xmlns:a="http://schemas.openxmlformats.org/drawingml/2006/main">
              <a:ext uri="{FF2B5EF4-FFF2-40B4-BE49-F238E27FC236}">
                <a16:creationId xmlns:a16="http://schemas.microsoft.com/office/drawing/2014/main" id="{50F72F72-F716-47BF-9593-AF0C6805CC40}"/>
              </a:ext>
            </a:extLst>
          </p:cNvPr>
          <p:cNvSpPr>
            <a:spLocks xmlns:a="http://schemas.openxmlformats.org/drawingml/2006/main" noGrp="1"/>
          </p:cNvSpPr>
          <p:nvPr/>
        </p:nvSpPr>
        <p:spPr>
          <a:xfrm xmlns:a="http://schemas.openxmlformats.org/drawingml/2006/main">
            <a:off x="1238250" y="96202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681"/>
                </a:solidFill>
                <a:latin typeface="Montserrat"/>
                <a:ea typeface="Montserrat"/>
                <a:cs typeface="Montserrat"/>
              </a:defRPr>
            </a:defPPr>
          </a:lstStyle>
          <a:p xmlns:a="http://schemas.openxmlformats.org/drawingml/2006/main">
            <a:pPr algn="l">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PDF-GalaxAI</a:t>
            </a:r>
          </a:p>
        </p:txBody>
      </p:sp>
      <p:sp>
        <p:nvSpPr>
          <p:cNvPr id="28" name="11 / 12">
            <a:extLst xmlns:a="http://schemas.openxmlformats.org/drawingml/2006/main">
              <a:ext uri="{FF2B5EF4-FFF2-40B4-BE49-F238E27FC236}">
                <a16:creationId xmlns:a16="http://schemas.microsoft.com/office/drawing/2014/main" id="{9E562F95-BE07-4E1B-A0A0-F9B3FA16326E}"/>
              </a:ext>
            </a:extLst>
          </p:cNvPr>
          <p:cNvSpPr>
            <a:spLocks xmlns:a="http://schemas.openxmlformats.org/drawingml/2006/main" noGrp="1"/>
          </p:cNvSpPr>
          <p:nvPr/>
        </p:nvSpPr>
        <p:spPr>
          <a:xfrm xmlns:a="http://schemas.openxmlformats.org/drawingml/2006/main">
            <a:off x="15430500" y="9620250"/>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536681"/>
                </a:solidFill>
                <a:latin typeface="Montserrat"/>
                <a:ea typeface="Montserrat"/>
                <a:cs typeface="Montserrat"/>
              </a:defRPr>
            </a:defPPr>
          </a:lstStyle>
          <a:p xmlns:a="http://schemas.openxmlformats.org/drawingml/2006/main">
            <a:pPr algn="r">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11 / 12</a:t>
            </a:r>
          </a:p>
        </p:txBody>
      </p:sp>
      <p:sp>
        <p:nvSpPr>
          <p:cNvPr id="29" name="Product Showcase &amp; Evaluation">
            <a:extLst xmlns:a="http://schemas.openxmlformats.org/drawingml/2006/main">
              <a:ext uri="{FF2B5EF4-FFF2-40B4-BE49-F238E27FC236}">
                <a16:creationId xmlns:a16="http://schemas.microsoft.com/office/drawing/2014/main" id="{FC8F500E-CF0B-42A2-94AC-BA1B147931E4}"/>
              </a:ext>
            </a:extLst>
          </p:cNvPr>
          <p:cNvSpPr>
            <a:spLocks xmlns:a="http://schemas.openxmlformats.org/drawingml/2006/main" noGrp="1"/>
          </p:cNvSpPr>
          <p:nvPr/>
        </p:nvSpPr>
        <p:spPr>
          <a:xfrm xmlns:a="http://schemas.openxmlformats.org/drawingml/2006/main">
            <a:off x="1238250" y="1952625"/>
            <a:ext cx="15668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425" b="1">
                <a:solidFill>
                  <a:srgbClr val="101B40"/>
                </a:solidFill>
                <a:latin typeface="Montserrat Bold"/>
                <a:ea typeface="Montserrat Bold"/>
                <a:cs typeface="Montserrat Bold"/>
              </a:defRPr>
            </a:defPPr>
          </a:lstStyle>
          <a:p xmlns:a="http://schemas.openxmlformats.org/drawingml/2006/main">
            <a:pPr algn="l">
              <a:buNone/>
              <a:defRPr sz="4425" b="1">
                <a:solidFill>
                  <a:srgbClr val="101B40"/>
                </a:solidFill>
                <a:latin typeface="Montserrat Bold"/>
                <a:ea typeface="Montserrat Bold"/>
                <a:cs typeface="Montserrat Bold"/>
              </a:defRPr>
            </a:pPr>
            <a:r>
              <a:rPr sz="4425" b="1">
                <a:solidFill>
                  <a:srgbClr val="101B40"/>
                </a:solidFill>
                <a:latin typeface="Montserrat Bold"/>
                <a:ea typeface="Montserrat Bold"/>
                <a:cs typeface="Montserrat Bold"/>
              </a:rPr>
              <a:t>Product Showcase &amp; Evaluation</a:t>
            </a:r>
          </a:p>
        </p:txBody>
      </p:sp>
      <p:sp>
        <p:nvSpPr>
          <p:cNvPr id="30" name="The implementation combines the complete interface with document proce">
            <a:extLst xmlns:a="http://schemas.openxmlformats.org/drawingml/2006/main">
              <a:ext uri="{FF2B5EF4-FFF2-40B4-BE49-F238E27FC236}">
                <a16:creationId xmlns:a16="http://schemas.microsoft.com/office/drawing/2014/main" id="{0FB66143-9208-4A77-898C-A6912AAB7B20}"/>
              </a:ext>
            </a:extLst>
          </p:cNvPr>
          <p:cNvSpPr>
            <a:spLocks xmlns:a="http://schemas.openxmlformats.org/drawingml/2006/main" noGrp="1"/>
          </p:cNvSpPr>
          <p:nvPr/>
        </p:nvSpPr>
        <p:spPr>
          <a:xfrm xmlns:a="http://schemas.openxmlformats.org/drawingml/2006/main">
            <a:off x="1257300" y="2905125"/>
            <a:ext cx="15382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36681"/>
                </a:solidFill>
                <a:latin typeface="Montserrat"/>
                <a:ea typeface="Montserrat"/>
                <a:cs typeface="Montserrat"/>
              </a:defRPr>
            </a:defPPr>
          </a:lstStyle>
          <a:p xmlns:a="http://schemas.openxmlformats.org/drawingml/2006/main">
            <a:pPr algn="l">
              <a:buNone/>
              <a:defRPr sz="2250" b="0">
                <a:solidFill>
                  <a:srgbClr val="536681"/>
                </a:solidFill>
                <a:latin typeface="Montserrat"/>
                <a:ea typeface="Montserrat"/>
                <a:cs typeface="Montserrat"/>
              </a:defRPr>
            </a:pPr>
            <a:r>
              <a:rPr sz="2250" b="0">
                <a:solidFill>
                  <a:srgbClr val="536681"/>
                </a:solidFill>
                <a:latin typeface="Montserrat"/>
                <a:ea typeface="Montserrat"/>
                <a:cs typeface="Montserrat"/>
              </a:rPr>
              <a:t>The implementation combines the complete interface with document processing and model integration.</a:t>
            </a:r>
          </a:p>
        </p:txBody>
      </p:sp>
      <p:sp>
        <p:nvSpPr>
          <p:cNvPr id="31" name="Screenshot placeholder: 【此处放完整网页产品界面截图】">
            <a:extLst xmlns:a="http://schemas.openxmlformats.org/drawingml/2006/main">
              <a:ext uri="{FF2B5EF4-FFF2-40B4-BE49-F238E27FC236}">
                <a16:creationId xmlns:a16="http://schemas.microsoft.com/office/drawing/2014/main" id="{3FAE8388-199F-4663-A0DF-484F3AEBCE80}"/>
              </a:ext>
            </a:extLst>
          </p:cNvPr>
          <p:cNvSpPr>
            <a:spLocks xmlns:a="http://schemas.openxmlformats.org/drawingml/2006/main" noGrp="1"/>
          </p:cNvSpPr>
          <p:nvPr/>
        </p:nvSpPr>
        <p:spPr>
          <a:xfrm xmlns:a="http://schemas.openxmlformats.org/drawingml/2006/main">
            <a:off x="1238250" y="4048125"/>
            <a:ext cx="9906000" cy="5572125"/>
          </a:xfrm>
          <a:prstGeom xmlns:a="http://schemas.openxmlformats.org/drawingml/2006/main" prst="roundRect">
            <a:avLst>
              <a:gd name="adj" fmla="val 4103"/>
            </a:avLst>
          </a:prstGeom>
          <a:solidFill xmlns:a="http://schemas.openxmlformats.org/drawingml/2006/main">
            <a:srgbClr val="DCE2EB"/>
          </a:solidFill>
          <a:ln xmlns:a="http://schemas.openxmlformats.org/drawingml/2006/main" w="16193">
            <a:solidFill>
              <a:srgbClr val="8FA4C1"/>
            </a:solidFill>
          </a:ln>
        </p:spPr>
      </p:sp>
      <p:sp>
        <p:nvSpPr>
          <p:cNvPr id="32" name="【此处放完整网页产品界面截图】">
            <a:extLst xmlns:a="http://schemas.openxmlformats.org/drawingml/2006/main">
              <a:ext uri="{FF2B5EF4-FFF2-40B4-BE49-F238E27FC236}">
                <a16:creationId xmlns:a16="http://schemas.microsoft.com/office/drawing/2014/main" id="{EA0D16EA-AF16-4371-823A-FF8BC9E06AAF}"/>
              </a:ext>
            </a:extLst>
          </p:cNvPr>
          <p:cNvSpPr>
            <a:spLocks xmlns:a="http://schemas.openxmlformats.org/drawingml/2006/main" noGrp="1"/>
          </p:cNvSpPr>
          <p:nvPr/>
        </p:nvSpPr>
        <p:spPr>
          <a:xfrm xmlns:a="http://schemas.openxmlformats.org/drawingml/2006/main">
            <a:off x="1447800" y="6548438"/>
            <a:ext cx="94869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250" b="0">
                <a:solidFill>
                  <a:srgbClr val="536681"/>
                </a:solidFill>
                <a:latin typeface="Microsoft YaHei"/>
                <a:ea typeface="Microsoft YaHei"/>
                <a:cs typeface="Microsoft YaHei"/>
              </a:defRPr>
            </a:defPPr>
          </a:lstStyle>
          <a:p xmlns:a="http://schemas.openxmlformats.org/drawingml/2006/main">
            <a:pPr algn="ctr">
              <a:buNone/>
              <a:defRPr sz="2250" b="0">
                <a:solidFill>
                  <a:srgbClr val="536681"/>
                </a:solidFill>
                <a:latin typeface="Microsoft YaHei"/>
                <a:ea typeface="Microsoft YaHei"/>
                <a:cs typeface="Microsoft YaHei"/>
              </a:defRPr>
            </a:pPr>
            <a:r>
              <a:rPr sz="2250" b="0">
                <a:solidFill>
                  <a:srgbClr val="536681"/>
                </a:solidFill>
                <a:latin typeface="Microsoft YaHei"/>
                <a:ea typeface="Microsoft YaHei"/>
                <a:cs typeface="Microsoft YaHei"/>
              </a:rPr>
              <a:t>【此处放完整网页产品界面截图】</a:t>
            </a:r>
          </a:p>
        </p:txBody>
      </p:sp>
      <p:sp>
        <p:nvSpPr>
          <p:cNvPr id="33" name="16:9">
            <a:extLst xmlns:a="http://schemas.openxmlformats.org/drawingml/2006/main">
              <a:ext uri="{FF2B5EF4-FFF2-40B4-BE49-F238E27FC236}">
                <a16:creationId xmlns:a16="http://schemas.microsoft.com/office/drawing/2014/main" id="{B74876EB-503C-43C7-BCE0-8705277CE6C3}"/>
              </a:ext>
            </a:extLst>
          </p:cNvPr>
          <p:cNvSpPr>
            <a:spLocks xmlns:a="http://schemas.openxmlformats.org/drawingml/2006/main" noGrp="1"/>
          </p:cNvSpPr>
          <p:nvPr/>
        </p:nvSpPr>
        <p:spPr>
          <a:xfrm xmlns:a="http://schemas.openxmlformats.org/drawingml/2006/main">
            <a:off x="9763125" y="421957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75" b="0">
                <a:solidFill>
                  <a:srgbClr val="536681"/>
                </a:solidFill>
                <a:latin typeface="Montserrat"/>
                <a:ea typeface="Montserrat"/>
                <a:cs typeface="Montserrat"/>
              </a:defRPr>
            </a:defPPr>
          </a:lstStyle>
          <a:p xmlns:a="http://schemas.openxmlformats.org/drawingml/2006/main">
            <a:pPr algn="r">
              <a:buNone/>
              <a:defRPr sz="1575" b="0">
                <a:solidFill>
                  <a:srgbClr val="536681"/>
                </a:solidFill>
                <a:latin typeface="Montserrat"/>
                <a:ea typeface="Montserrat"/>
                <a:cs typeface="Montserrat"/>
              </a:defRPr>
            </a:pPr>
            <a:r>
              <a:rPr sz="1575" b="0">
                <a:solidFill>
                  <a:srgbClr val="536681"/>
                </a:solidFill>
                <a:latin typeface="Montserrat"/>
                <a:ea typeface="Montserrat"/>
                <a:cs typeface="Montserrat"/>
              </a:rPr>
              <a:t>16:9</a:t>
            </a:r>
          </a:p>
        </p:txBody>
      </p:sp>
      <p:sp>
        <p:nvSpPr>
          <p:cNvPr id="34" name="Verified evidence">
            <a:extLst xmlns:a="http://schemas.openxmlformats.org/drawingml/2006/main">
              <a:ext uri="{FF2B5EF4-FFF2-40B4-BE49-F238E27FC236}">
                <a16:creationId xmlns:a16="http://schemas.microsoft.com/office/drawing/2014/main" id="{F1B99257-B473-4D71-AF33-D04A79EA7012}"/>
              </a:ext>
            </a:extLst>
          </p:cNvPr>
          <p:cNvSpPr>
            <a:spLocks xmlns:a="http://schemas.openxmlformats.org/drawingml/2006/main" noGrp="1"/>
          </p:cNvSpPr>
          <p:nvPr/>
        </p:nvSpPr>
        <p:spPr>
          <a:xfrm xmlns:a="http://schemas.openxmlformats.org/drawingml/2006/main">
            <a:off x="11811000" y="40862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01B40"/>
                </a:solidFill>
                <a:latin typeface="Montserrat Bold"/>
                <a:ea typeface="Montserrat Bold"/>
                <a:cs typeface="Montserrat Bold"/>
              </a:defRPr>
            </a:defPPr>
          </a:lstStyle>
          <a:p xmlns:a="http://schemas.openxmlformats.org/drawingml/2006/main">
            <a:pPr algn="l">
              <a:buNone/>
              <a:defRPr sz="2625" b="1">
                <a:solidFill>
                  <a:srgbClr val="101B40"/>
                </a:solidFill>
                <a:latin typeface="Montserrat Bold"/>
                <a:ea typeface="Montserrat Bold"/>
                <a:cs typeface="Montserrat Bold"/>
              </a:defRPr>
            </a:pPr>
            <a:r>
              <a:rPr sz="2625" b="1">
                <a:solidFill>
                  <a:srgbClr val="101B40"/>
                </a:solidFill>
                <a:latin typeface="Montserrat Bold"/>
                <a:ea typeface="Montserrat Bold"/>
                <a:cs typeface="Montserrat Bold"/>
              </a:rPr>
              <a:t>Verified evidence</a:t>
            </a:r>
          </a:p>
        </p:txBody>
      </p:sp>
      <p:sp>
        <p:nvSpPr>
          <p:cNvPr id="35" name="Frontend production build passes. Earlier manual tests report working ">
            <a:extLst xmlns:a="http://schemas.openxmlformats.org/drawingml/2006/main">
              <a:ext uri="{FF2B5EF4-FFF2-40B4-BE49-F238E27FC236}">
                <a16:creationId xmlns:a16="http://schemas.microsoft.com/office/drawing/2014/main" id="{7947E07E-CBBD-42A5-B1C6-E43FB7D8B184}"/>
              </a:ext>
            </a:extLst>
          </p:cNvPr>
          <p:cNvSpPr>
            <a:spLocks xmlns:a="http://schemas.openxmlformats.org/drawingml/2006/main" noGrp="1"/>
          </p:cNvSpPr>
          <p:nvPr/>
        </p:nvSpPr>
        <p:spPr>
          <a:xfrm xmlns:a="http://schemas.openxmlformats.org/drawingml/2006/main">
            <a:off x="11811000" y="4724400"/>
            <a:ext cx="5095875"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36681"/>
                </a:solidFill>
                <a:latin typeface="Montserrat"/>
                <a:ea typeface="Montserrat"/>
                <a:cs typeface="Montserrat"/>
              </a:defRPr>
            </a:defPPr>
          </a:lstStyle>
          <a:p xmlns:a="http://schemas.openxmlformats.org/drawingml/2006/main">
            <a:pPr algn="l">
              <a:buNone/>
              <a:defRPr sz="2100" b="0">
                <a:solidFill>
                  <a:srgbClr val="536681"/>
                </a:solidFill>
                <a:latin typeface="Montserrat"/>
                <a:ea typeface="Montserrat"/>
                <a:cs typeface="Montserrat"/>
              </a:defRPr>
            </a:pPr>
            <a:r>
              <a:rPr sz="2100" b="0">
                <a:solidFill>
                  <a:srgbClr val="536681"/>
                </a:solidFill>
                <a:latin typeface="Montserrat"/>
                <a:ea typeface="Montserrat"/>
                <a:cs typeface="Montserrat"/>
              </a:rPr>
              <a:t>Frontend production build passes. Earlier manual tests report working previews, filename tooltips and improved nebula visibility.</a:t>
            </a:r>
          </a:p>
        </p:txBody>
      </p:sp>
      <p:sp>
        <p:nvSpPr>
          <p:cNvPr id="36" name="">
            <a:extLst xmlns:a="http://schemas.openxmlformats.org/drawingml/2006/main">
              <a:ext uri="{FF2B5EF4-FFF2-40B4-BE49-F238E27FC236}">
                <a16:creationId xmlns:a16="http://schemas.microsoft.com/office/drawing/2014/main" id="{12EE0C28-071A-4564-B44F-F9B8D514CFD5}"/>
              </a:ext>
            </a:extLst>
          </p:cNvPr>
          <p:cNvSpPr>
            <a:spLocks xmlns:a="http://schemas.openxmlformats.org/drawingml/2006/main" noGrp="1"/>
          </p:cNvSpPr>
          <p:nvPr/>
        </p:nvSpPr>
        <p:spPr>
          <a:xfrm xmlns:a="http://schemas.openxmlformats.org/drawingml/2006/main">
            <a:off x="11811000" y="6543675"/>
            <a:ext cx="5095875" cy="0"/>
          </a:xfrm>
          <a:prstGeom xmlns:a="http://schemas.openxmlformats.org/drawingml/2006/main" prst="line">
            <a:avLst/>
          </a:prstGeom>
          <a:noFill xmlns:a="http://schemas.openxmlformats.org/drawingml/2006/main"/>
          <a:ln xmlns:a="http://schemas.openxmlformats.org/drawingml/2006/main" w="13335">
            <a:solidFill>
              <a:srgbClr val="8FA4C1"/>
            </a:solidFill>
          </a:ln>
        </p:spPr>
      </p:sp>
      <p:sp>
        <p:nvSpPr>
          <p:cNvPr id="37" name="Current limits">
            <a:extLst xmlns:a="http://schemas.openxmlformats.org/drawingml/2006/main">
              <a:ext uri="{FF2B5EF4-FFF2-40B4-BE49-F238E27FC236}">
                <a16:creationId xmlns:a16="http://schemas.microsoft.com/office/drawing/2014/main" id="{DB41A6DB-4549-47A4-94FC-F3491B353D7B}"/>
              </a:ext>
            </a:extLst>
          </p:cNvPr>
          <p:cNvSpPr>
            <a:spLocks xmlns:a="http://schemas.openxmlformats.org/drawingml/2006/main" noGrp="1"/>
          </p:cNvSpPr>
          <p:nvPr/>
        </p:nvSpPr>
        <p:spPr>
          <a:xfrm xmlns:a="http://schemas.openxmlformats.org/drawingml/2006/main">
            <a:off x="11811000" y="6800850"/>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01B40"/>
                </a:solidFill>
                <a:latin typeface="Montserrat Bold"/>
                <a:ea typeface="Montserrat Bold"/>
                <a:cs typeface="Montserrat Bold"/>
              </a:defRPr>
            </a:defPPr>
          </a:lstStyle>
          <a:p xmlns:a="http://schemas.openxmlformats.org/drawingml/2006/main">
            <a:pPr algn="l">
              <a:buNone/>
              <a:defRPr sz="2625" b="1">
                <a:solidFill>
                  <a:srgbClr val="101B40"/>
                </a:solidFill>
                <a:latin typeface="Montserrat Bold"/>
                <a:ea typeface="Montserrat Bold"/>
                <a:cs typeface="Montserrat Bold"/>
              </a:defRPr>
            </a:pPr>
            <a:r>
              <a:rPr sz="2625" b="1">
                <a:solidFill>
                  <a:srgbClr val="101B40"/>
                </a:solidFill>
                <a:latin typeface="Montserrat Bold"/>
                <a:ea typeface="Montserrat Bold"/>
                <a:cs typeface="Montserrat Bold"/>
              </a:rPr>
              <a:t>Current limits</a:t>
            </a:r>
          </a:p>
        </p:txBody>
      </p:sp>
      <p:sp>
        <p:nvSpPr>
          <p:cNvPr id="38" name="End-to-end RAG needs a configured vector store and model. Formal usabi">
            <a:extLst xmlns:a="http://schemas.openxmlformats.org/drawingml/2006/main">
              <a:ext uri="{FF2B5EF4-FFF2-40B4-BE49-F238E27FC236}">
                <a16:creationId xmlns:a16="http://schemas.microsoft.com/office/drawing/2014/main" id="{E27AD194-AC58-48BE-90D5-71C45B96ADA9}"/>
              </a:ext>
            </a:extLst>
          </p:cNvPr>
          <p:cNvSpPr>
            <a:spLocks xmlns:a="http://schemas.openxmlformats.org/drawingml/2006/main" noGrp="1"/>
          </p:cNvSpPr>
          <p:nvPr/>
        </p:nvSpPr>
        <p:spPr>
          <a:xfrm xmlns:a="http://schemas.openxmlformats.org/drawingml/2006/main">
            <a:off x="11811000" y="7477125"/>
            <a:ext cx="5095875"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36681"/>
                </a:solidFill>
                <a:latin typeface="Montserrat"/>
                <a:ea typeface="Montserrat"/>
                <a:cs typeface="Montserrat"/>
              </a:defRPr>
            </a:defPPr>
          </a:lstStyle>
          <a:p xmlns:a="http://schemas.openxmlformats.org/drawingml/2006/main">
            <a:pPr algn="l">
              <a:buNone/>
              <a:defRPr sz="2100" b="0">
                <a:solidFill>
                  <a:srgbClr val="536681"/>
                </a:solidFill>
                <a:latin typeface="Montserrat"/>
                <a:ea typeface="Montserrat"/>
                <a:cs typeface="Montserrat"/>
              </a:defRPr>
            </a:pPr>
            <a:r>
              <a:rPr sz="2100" b="0">
                <a:solidFill>
                  <a:srgbClr val="536681"/>
                </a:solidFill>
                <a:latin typeface="Montserrat"/>
                <a:ea typeface="Montserrat"/>
                <a:cs typeface="Montserrat"/>
              </a:rPr>
              <a:t>End-to-end RAG needs a configured vector store and model. Formal usability, retrieval accuracy and rendering benchmarks remain open.</a:t>
            </a:r>
          </a:p>
        </p:txBody>
      </p:sp>
      <p:sp>
        <p:nvSpPr>
          <p:cNvPr id="39" name="Potential value: support literature mapping and original-source inspec">
            <a:extLst xmlns:a="http://schemas.openxmlformats.org/drawingml/2006/main">
              <a:ext uri="{FF2B5EF4-FFF2-40B4-BE49-F238E27FC236}">
                <a16:creationId xmlns:a16="http://schemas.microsoft.com/office/drawing/2014/main" id="{151BF73F-900B-4FD3-BC67-95BF405FB93A}"/>
              </a:ext>
            </a:extLst>
          </p:cNvPr>
          <p:cNvSpPr>
            <a:spLocks xmlns:a="http://schemas.openxmlformats.org/drawingml/2006/main" noGrp="1"/>
          </p:cNvSpPr>
          <p:nvPr/>
        </p:nvSpPr>
        <p:spPr>
          <a:xfrm xmlns:a="http://schemas.openxmlformats.org/drawingml/2006/main">
            <a:off x="11811000" y="9086850"/>
            <a:ext cx="5095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01B40"/>
                </a:solidFill>
                <a:latin typeface="Montserrat Bold"/>
                <a:ea typeface="Montserrat Bold"/>
                <a:cs typeface="Montserrat Bold"/>
              </a:defRPr>
            </a:defPPr>
          </a:lstStyle>
          <a:p xmlns:a="http://schemas.openxmlformats.org/drawingml/2006/main">
            <a:pPr algn="l">
              <a:buNone/>
              <a:defRPr sz="1950" b="1">
                <a:solidFill>
                  <a:srgbClr val="101B40"/>
                </a:solidFill>
                <a:latin typeface="Montserrat Bold"/>
                <a:ea typeface="Montserrat Bold"/>
                <a:cs typeface="Montserrat Bold"/>
              </a:defRPr>
            </a:pPr>
            <a:r>
              <a:rPr sz="1950" b="1">
                <a:solidFill>
                  <a:srgbClr val="101B40"/>
                </a:solidFill>
                <a:latin typeface="Montserrat Bold"/>
                <a:ea typeface="Montserrat Bold"/>
                <a:cs typeface="Montserrat Bold"/>
              </a:rPr>
              <a:t>Potential value: support literature mapping and original-source inspection.</a:t>
            </a:r>
          </a:p>
        </p:txBody>
      </p:sp>
    </p:spTree>
    <p:extLst>
      <p:ext uri="{BB962C8B-B14F-4D97-AF65-F5344CB8AC3E}">
        <p14:creationId xmlns:p14="http://schemas.microsoft.com/office/powerpoint/2010/main" val="2130362618"/>
      </p:ext>
    </p:extLst>
  </p:cSld>
</p:sld>
</file>

<file path=ppt/slides/slide12.xml><?xml version="1.0" encoding="utf-8"?>
<p:sld xmlns:p="http://schemas.openxmlformats.org/presentationml/2006/main">
  <p:cSld>
    <p:bg>
      <p:bgPr>
        <a:solidFill xmlns:a="http://schemas.openxmlformats.org/drawingml/2006/main">
          <a:srgbClr val="F1F1F1"/>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02340FA1-B602-4140-92CC-CC8F1112AF1D}"/>
              </a:ext>
            </a:extLst>
          </p:cNvPr>
          <p:cNvSpPr>
            <a:spLocks xmlns:a="http://schemas.openxmlformats.org/drawingml/2006/main" noGrp="1"/>
          </p:cNvSpPr>
          <p:nvPr/>
        </p:nvSpPr>
        <p:spPr>
          <a:xfrm xmlns:a="http://schemas.openxmlformats.org/drawingml/2006/main" rot="0" flipH="0" flipV="0">
            <a:off x="4410075" y="514350"/>
            <a:ext cx="9467850" cy="819150"/>
          </a:xfrm>
          <a:custGeom xmlns:a="http://schemas.openxmlformats.org/drawingml/2006/main">
            <a:rect l="l" t="t" r="r" b="b"/>
            <a:pathLst>
              <a:path w="2494114" h="214543">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xmlns:a="http://schemas.openxmlformats.org/drawingml/2006/main" w="38100" cap="rnd">
            <a:solidFill>
              <a:srgbClr val="101B40"/>
            </a:solidFill>
            <a:prstDash val="solid"/>
            <a:round/>
          </a:ln>
        </p:spPr>
      </p:sp>
      <p:sp>
        <p:nvSpPr>
          <p:cNvPr id="4" name="TextBox 4">
            <a:extLst xmlns:a="http://schemas.openxmlformats.org/drawingml/2006/main">
              <a:ext uri="{FF2B5EF4-FFF2-40B4-BE49-F238E27FC236}">
                <a16:creationId xmlns:a16="http://schemas.microsoft.com/office/drawing/2014/main" id="{2DD7587C-D23A-46D4-979F-CCBCC38F1D8E}"/>
              </a:ext>
            </a:extLst>
          </p:cNvPr>
          <p:cNvSpPr>
            <a:spLocks xmlns:a="http://schemas.openxmlformats.org/drawingml/2006/main" noGrp="1"/>
          </p:cNvSpPr>
          <p:nvPr/>
        </p:nvSpPr>
        <p:spPr>
          <a:xfrm xmlns:a="http://schemas.openxmlformats.org/drawingml/2006/main" rot="0" flipH="0" flipV="0">
            <a:off x="4409081" y="370811"/>
            <a:ext cx="9469839" cy="95925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p>
        </p:txBody>
      </p:sp>
      <p:sp>
        <p:nvSpPr>
          <p:cNvPr id="6" name="Freeform 6">
            <a:extLst xmlns:a="http://schemas.openxmlformats.org/drawingml/2006/main">
              <a:ext uri="{FF2B5EF4-FFF2-40B4-BE49-F238E27FC236}">
                <a16:creationId xmlns:a16="http://schemas.microsoft.com/office/drawing/2014/main" id="{A962661A-69B5-4DFE-95A3-B92E796C603E}"/>
              </a:ext>
            </a:extLst>
          </p:cNvPr>
          <p:cNvSpPr>
            <a:spLocks xmlns:a="http://schemas.openxmlformats.org/drawingml/2006/main" noGrp="1"/>
          </p:cNvSpPr>
          <p:nvPr/>
        </p:nvSpPr>
        <p:spPr>
          <a:xfrm xmlns:a="http://schemas.openxmlformats.org/drawingml/2006/main" rot="0" flipH="0" flipV="0">
            <a:off x="11849100" y="628650"/>
            <a:ext cx="1704975" cy="590550"/>
          </a:xfrm>
          <a:custGeom xmlns:a="http://schemas.openxmlformats.org/drawingml/2006/main">
            <a:rect l="l" t="t" r="r" b="b"/>
            <a:pathLst>
              <a:path w="449944" h="155110">
                <a:moveTo>
                  <a:pt x="77555" y="0"/>
                </a:moveTo>
                <a:lnTo>
                  <a:pt x="372389" y="0"/>
                </a:lnTo>
                <a:cubicBezTo>
                  <a:pt x="415221" y="0"/>
                  <a:pt x="449944" y="34722"/>
                  <a:pt x="449944" y="77555"/>
                </a:cubicBezTo>
                <a:lnTo>
                  <a:pt x="449944" y="77555"/>
                </a:lnTo>
                <a:cubicBezTo>
                  <a:pt x="449944" y="120387"/>
                  <a:pt x="415221" y="155110"/>
                  <a:pt x="372389" y="155110"/>
                </a:cubicBezTo>
                <a:lnTo>
                  <a:pt x="77555" y="155110"/>
                </a:lnTo>
                <a:cubicBezTo>
                  <a:pt x="34722" y="155110"/>
                  <a:pt x="0" y="120387"/>
                  <a:pt x="0" y="77555"/>
                </a:cubicBezTo>
                <a:lnTo>
                  <a:pt x="0" y="77555"/>
                </a:lnTo>
                <a:cubicBezTo>
                  <a:pt x="0" y="34722"/>
                  <a:pt x="34722" y="0"/>
                  <a:pt x="77555" y="0"/>
                </a:cubicBezTo>
                <a:close/>
              </a:path>
            </a:pathLst>
          </a:custGeom>
          <a:solidFill xmlns:a="http://schemas.openxmlformats.org/drawingml/2006/main">
            <a:srgbClr val="101B40"/>
          </a:solidFill>
          <a:ln xmlns:a="http://schemas.openxmlformats.org/drawingml/2006/main" cap="rnd">
            <a:noFill/>
            <a:prstDash val="solid"/>
            <a:round/>
          </a:ln>
        </p:spPr>
      </p:sp>
      <p:sp>
        <p:nvSpPr>
          <p:cNvPr id="7" name="TextBox 7">
            <a:extLst xmlns:a="http://schemas.openxmlformats.org/drawingml/2006/main">
              <a:ext uri="{FF2B5EF4-FFF2-40B4-BE49-F238E27FC236}">
                <a16:creationId xmlns:a16="http://schemas.microsoft.com/office/drawing/2014/main" id="{059905A8-3B2D-487C-BBCC-02A2D92F5CAA}"/>
              </a:ext>
            </a:extLst>
          </p:cNvPr>
          <p:cNvSpPr>
            <a:spLocks xmlns:a="http://schemas.openxmlformats.org/drawingml/2006/main" noGrp="1"/>
          </p:cNvSpPr>
          <p:nvPr/>
        </p:nvSpPr>
        <p:spPr>
          <a:xfrm xmlns:a="http://schemas.openxmlformats.org/drawingml/2006/main" rot="0" flipH="0" flipV="0">
            <a:off x="11850296" y="483641"/>
            <a:ext cx="1708381" cy="73359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p>
        </p:txBody>
      </p:sp>
      <p:sp>
        <p:nvSpPr>
          <p:cNvPr id="9" name="TextBox 9">
            <a:extLst xmlns:a="http://schemas.openxmlformats.org/drawingml/2006/main">
              <a:ext uri="{FF2B5EF4-FFF2-40B4-BE49-F238E27FC236}">
                <a16:creationId xmlns:a16="http://schemas.microsoft.com/office/drawing/2014/main" id="{754B61C2-9EE6-472D-A6A2-DC523688500E}"/>
              </a:ext>
            </a:extLst>
          </p:cNvPr>
          <p:cNvSpPr>
            <a:spLocks xmlns:a="http://schemas.openxmlformats.org/drawingml/2006/main" noGrp="1"/>
          </p:cNvSpPr>
          <p:nvPr/>
        </p:nvSpPr>
        <p:spPr>
          <a:xfrm xmlns:a="http://schemas.openxmlformats.org/drawingml/2006/main" rot="0">
            <a:off x="4438650" y="733425"/>
            <a:ext cx="16668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VISION</a:t>
            </a:r>
          </a:p>
        </p:txBody>
      </p:sp>
      <p:sp>
        <p:nvSpPr>
          <p:cNvPr id="10" name="TextBox 10">
            <a:extLst xmlns:a="http://schemas.openxmlformats.org/drawingml/2006/main">
              <a:ext uri="{FF2B5EF4-FFF2-40B4-BE49-F238E27FC236}">
                <a16:creationId xmlns:a16="http://schemas.microsoft.com/office/drawing/2014/main" id="{FD31696D-529F-4B60-B0C4-94E426CF172B}"/>
              </a:ext>
            </a:extLst>
          </p:cNvPr>
          <p:cNvSpPr>
            <a:spLocks xmlns:a="http://schemas.openxmlformats.org/drawingml/2006/main" noGrp="1"/>
          </p:cNvSpPr>
          <p:nvPr/>
        </p:nvSpPr>
        <p:spPr>
          <a:xfrm xmlns:a="http://schemas.openxmlformats.org/drawingml/2006/main" rot="0">
            <a:off x="6829425" y="733425"/>
            <a:ext cx="190500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DESIGN</a:t>
            </a:r>
          </a:p>
        </p:txBody>
      </p:sp>
      <p:sp>
        <p:nvSpPr>
          <p:cNvPr id="11" name="TextBox 11">
            <a:extLst xmlns:a="http://schemas.openxmlformats.org/drawingml/2006/main">
              <a:ext uri="{FF2B5EF4-FFF2-40B4-BE49-F238E27FC236}">
                <a16:creationId xmlns:a16="http://schemas.microsoft.com/office/drawing/2014/main" id="{99F32776-C8E6-42A5-BC85-E42AFE028ED4}"/>
              </a:ext>
            </a:extLst>
          </p:cNvPr>
          <p:cNvSpPr>
            <a:spLocks xmlns:a="http://schemas.openxmlformats.org/drawingml/2006/main" noGrp="1"/>
          </p:cNvSpPr>
          <p:nvPr/>
        </p:nvSpPr>
        <p:spPr>
          <a:xfrm xmlns:a="http://schemas.openxmlformats.org/drawingml/2006/main" rot="0">
            <a:off x="9496425" y="733425"/>
            <a:ext cx="15906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SYSTEM</a:t>
            </a:r>
          </a:p>
        </p:txBody>
      </p:sp>
      <p:sp>
        <p:nvSpPr>
          <p:cNvPr id="12" name="TextBox 12">
            <a:extLst xmlns:a="http://schemas.openxmlformats.org/drawingml/2006/main">
              <a:ext uri="{FF2B5EF4-FFF2-40B4-BE49-F238E27FC236}">
                <a16:creationId xmlns:a16="http://schemas.microsoft.com/office/drawing/2014/main" id="{3EA2CD63-30F7-47C9-A14F-CAEB0CFCEAA1}"/>
              </a:ext>
            </a:extLst>
          </p:cNvPr>
          <p:cNvSpPr>
            <a:spLocks xmlns:a="http://schemas.openxmlformats.org/drawingml/2006/main" noGrp="1"/>
          </p:cNvSpPr>
          <p:nvPr/>
        </p:nvSpPr>
        <p:spPr>
          <a:xfrm xmlns:a="http://schemas.openxmlformats.org/drawingml/2006/main" rot="0">
            <a:off x="11591925" y="733425"/>
            <a:ext cx="222885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1">
                <a:solidFill>
                  <a:srgbClr val="FFFFFF"/>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1">
                <a:solidFill>
                  <a:srgbClr val="FFFFFF"/>
                </a:solidFill>
                <a:latin typeface="Montserrat"/>
                <a:ea typeface="Montserrat"/>
                <a:cs typeface="Montserrat"/>
              </a:defRPr>
            </a:pPr>
            <a:r>
              <a:rPr sz="1800" b="1" spc="3">
                <a:solidFill>
                  <a:srgbClr val="FFFFFF"/>
                </a:solidFill>
                <a:latin typeface="Montserrat"/>
                <a:ea typeface="Montserrat"/>
                <a:cs typeface="Montserrat"/>
              </a:rPr>
              <a:t>REVIEW</a:t>
            </a:r>
          </a:p>
        </p:txBody>
      </p:sp>
      <p:sp>
        <p:nvSpPr>
          <p:cNvPr id="13" name="TextBox 13">
            <a:extLst xmlns:a="http://schemas.openxmlformats.org/drawingml/2006/main">
              <a:ext uri="{FF2B5EF4-FFF2-40B4-BE49-F238E27FC236}">
                <a16:creationId xmlns:a16="http://schemas.microsoft.com/office/drawing/2014/main" id="{10D73892-C280-469A-8FEB-18F5EC370843}"/>
              </a:ext>
            </a:extLst>
          </p:cNvPr>
          <p:cNvSpPr>
            <a:spLocks xmlns:a="http://schemas.openxmlformats.org/drawingml/2006/main" noGrp="1"/>
          </p:cNvSpPr>
          <p:nvPr/>
        </p:nvSpPr>
        <p:spPr>
          <a:xfrm xmlns:a="http://schemas.openxmlformats.org/drawingml/2006/main" rot="0">
            <a:off x="800100" y="628650"/>
            <a:ext cx="2381250" cy="56769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defRPr sz="1800" b="1">
                <a:solidFill>
                  <a:srgbClr val="101B40"/>
                </a:solidFill>
                <a:latin typeface="Montserrat"/>
                <a:ea typeface="Montserrat"/>
                <a:cs typeface="Montserrat"/>
              </a:defRPr>
            </a:defPPr>
          </a:lstStyle>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PDF</a:t>
            </a:r>
          </a:p>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GALAXAI</a:t>
            </a:r>
          </a:p>
        </p:txBody>
      </p:sp>
      <p:sp>
        <p:nvSpPr>
          <p:cNvPr id="14" name="12">
            <a:extLst xmlns:a="http://schemas.openxmlformats.org/drawingml/2006/main">
              <a:ext uri="{FF2B5EF4-FFF2-40B4-BE49-F238E27FC236}">
                <a16:creationId xmlns:a16="http://schemas.microsoft.com/office/drawing/2014/main" id="{86C60EE0-126D-48F0-B0E3-EF0E2BD10E51}"/>
              </a:ext>
            </a:extLst>
          </p:cNvPr>
          <p:cNvSpPr>
            <a:spLocks xmlns:a="http://schemas.openxmlformats.org/drawingml/2006/main" noGrp="1"/>
          </p:cNvSpPr>
          <p:nvPr/>
        </p:nvSpPr>
        <p:spPr>
          <a:xfrm xmlns:a="http://schemas.openxmlformats.org/drawingml/2006/main">
            <a:off x="16735425" y="73342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1">
                <a:solidFill>
                  <a:srgbClr val="101B40"/>
                </a:solidFill>
                <a:latin typeface="Montserrat Bold"/>
                <a:ea typeface="Montserrat Bold"/>
                <a:cs typeface="Montserrat Bold"/>
              </a:defRPr>
            </a:defPPr>
          </a:lstStyle>
          <a:p xmlns:a="http://schemas.openxmlformats.org/drawingml/2006/main">
            <a:pPr algn="r">
              <a:buNone/>
              <a:defRPr sz="1875" b="1">
                <a:solidFill>
                  <a:srgbClr val="101B40"/>
                </a:solidFill>
                <a:latin typeface="Montserrat Bold"/>
                <a:ea typeface="Montserrat Bold"/>
                <a:cs typeface="Montserrat Bold"/>
              </a:defRPr>
            </a:pPr>
            <a:r>
              <a:rPr sz="1875" b="1">
                <a:solidFill>
                  <a:srgbClr val="101B40"/>
                </a:solidFill>
                <a:latin typeface="Montserrat Bold"/>
                <a:ea typeface="Montserrat Bold"/>
                <a:cs typeface="Montserrat Bold"/>
              </a:rPr>
              <a:t>12</a:t>
            </a:r>
          </a:p>
        </p:txBody>
      </p:sp>
      <p:sp>
        <p:nvSpPr>
          <p:cNvPr id="15" name="PDF-GalaxAI">
            <a:extLst xmlns:a="http://schemas.openxmlformats.org/drawingml/2006/main">
              <a:ext uri="{FF2B5EF4-FFF2-40B4-BE49-F238E27FC236}">
                <a16:creationId xmlns:a16="http://schemas.microsoft.com/office/drawing/2014/main" id="{6C288DDE-6802-40FE-BD25-FBDE6B7290C4}"/>
              </a:ext>
            </a:extLst>
          </p:cNvPr>
          <p:cNvSpPr>
            <a:spLocks xmlns:a="http://schemas.openxmlformats.org/drawingml/2006/main" noGrp="1"/>
          </p:cNvSpPr>
          <p:nvPr/>
        </p:nvSpPr>
        <p:spPr>
          <a:xfrm xmlns:a="http://schemas.openxmlformats.org/drawingml/2006/main">
            <a:off x="1238250" y="96202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681"/>
                </a:solidFill>
                <a:latin typeface="Montserrat"/>
                <a:ea typeface="Montserrat"/>
                <a:cs typeface="Montserrat"/>
              </a:defRPr>
            </a:defPPr>
          </a:lstStyle>
          <a:p xmlns:a="http://schemas.openxmlformats.org/drawingml/2006/main">
            <a:pPr algn="l">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PDF-GalaxAI</a:t>
            </a:r>
          </a:p>
        </p:txBody>
      </p:sp>
      <p:sp>
        <p:nvSpPr>
          <p:cNvPr id="16" name="12 / 12">
            <a:extLst xmlns:a="http://schemas.openxmlformats.org/drawingml/2006/main">
              <a:ext uri="{FF2B5EF4-FFF2-40B4-BE49-F238E27FC236}">
                <a16:creationId xmlns:a16="http://schemas.microsoft.com/office/drawing/2014/main" id="{7AA5E54A-3585-4D2A-BF1A-1B9799A0517D}"/>
              </a:ext>
            </a:extLst>
          </p:cNvPr>
          <p:cNvSpPr>
            <a:spLocks xmlns:a="http://schemas.openxmlformats.org/drawingml/2006/main" noGrp="1"/>
          </p:cNvSpPr>
          <p:nvPr/>
        </p:nvSpPr>
        <p:spPr>
          <a:xfrm xmlns:a="http://schemas.openxmlformats.org/drawingml/2006/main">
            <a:off x="15430500" y="9620250"/>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536681"/>
                </a:solidFill>
                <a:latin typeface="Montserrat"/>
                <a:ea typeface="Montserrat"/>
                <a:cs typeface="Montserrat"/>
              </a:defRPr>
            </a:defPPr>
          </a:lstStyle>
          <a:p xmlns:a="http://schemas.openxmlformats.org/drawingml/2006/main">
            <a:pPr algn="r">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12 / 12</a:t>
            </a:r>
          </a:p>
        </p:txBody>
      </p:sp>
      <p:sp>
        <p:nvSpPr>
          <p:cNvPr id="17" name="Design-Driven&#10;Technological Innovation">
            <a:extLst xmlns:a="http://schemas.openxmlformats.org/drawingml/2006/main">
              <a:ext uri="{FF2B5EF4-FFF2-40B4-BE49-F238E27FC236}">
                <a16:creationId xmlns:a16="http://schemas.microsoft.com/office/drawing/2014/main" id="{A662C3D7-58B7-4124-974E-E1F3ADBAA015}"/>
              </a:ext>
            </a:extLst>
          </p:cNvPr>
          <p:cNvSpPr>
            <a:spLocks xmlns:a="http://schemas.openxmlformats.org/drawingml/2006/main" noGrp="1"/>
          </p:cNvSpPr>
          <p:nvPr/>
        </p:nvSpPr>
        <p:spPr>
          <a:xfrm xmlns:a="http://schemas.openxmlformats.org/drawingml/2006/main">
            <a:off x="2190750" y="2305050"/>
            <a:ext cx="13906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5400" b="1">
                <a:solidFill>
                  <a:srgbClr val="101B40"/>
                </a:solidFill>
                <a:latin typeface="Montserrat Bold"/>
                <a:ea typeface="Montserrat Bold"/>
                <a:cs typeface="Montserrat Bold"/>
              </a:defRPr>
            </a:defPPr>
          </a:lstStyle>
          <a:p xmlns:a="http://schemas.openxmlformats.org/drawingml/2006/main">
            <a:pPr algn="ctr">
              <a:buNone/>
              <a:defRPr sz="5400" b="1">
                <a:solidFill>
                  <a:srgbClr val="101B40"/>
                </a:solidFill>
                <a:latin typeface="Montserrat Bold"/>
                <a:ea typeface="Montserrat Bold"/>
                <a:cs typeface="Montserrat Bold"/>
              </a:defRPr>
            </a:pPr>
            <a:r>
              <a:rPr sz="5400" b="1">
                <a:solidFill>
                  <a:srgbClr val="101B40"/>
                </a:solidFill>
                <a:latin typeface="Montserrat Bold"/>
                <a:ea typeface="Montserrat Bold"/>
                <a:cs typeface="Montserrat Bold"/>
              </a:rPr>
              <a:t>Design-Driven</a:t>
            </a:r>
          </a:p>
          <a:p xmlns:a="http://schemas.openxmlformats.org/drawingml/2006/main">
            <a:pPr algn="ctr">
              <a:buNone/>
              <a:defRPr sz="5400" b="1">
                <a:solidFill>
                  <a:srgbClr val="101B40"/>
                </a:solidFill>
                <a:latin typeface="Montserrat Bold"/>
                <a:ea typeface="Montserrat Bold"/>
                <a:cs typeface="Montserrat Bold"/>
              </a:defRPr>
            </a:pPr>
            <a:r>
              <a:rPr sz="5400" b="1">
                <a:solidFill>
                  <a:srgbClr val="101B40"/>
                </a:solidFill>
                <a:latin typeface="Montserrat Bold"/>
                <a:ea typeface="Montserrat Bold"/>
                <a:cs typeface="Montserrat Bold"/>
              </a:rPr>
              <a:t>Technological Innovation</a:t>
            </a:r>
          </a:p>
        </p:txBody>
      </p:sp>
      <p:sp>
        <p:nvSpPr>
          <p:cNvPr id="18" name="I independently designed and developed an application that makes&#10;seman">
            <a:extLst xmlns:a="http://schemas.openxmlformats.org/drawingml/2006/main">
              <a:ext uri="{FF2B5EF4-FFF2-40B4-BE49-F238E27FC236}">
                <a16:creationId xmlns:a16="http://schemas.microsoft.com/office/drawing/2014/main" id="{FE6458D2-377A-4050-96BE-C46C0124D829}"/>
              </a:ext>
            </a:extLst>
          </p:cNvPr>
          <p:cNvSpPr>
            <a:spLocks xmlns:a="http://schemas.openxmlformats.org/drawingml/2006/main" noGrp="1"/>
          </p:cNvSpPr>
          <p:nvPr/>
        </p:nvSpPr>
        <p:spPr>
          <a:xfrm xmlns:a="http://schemas.openxmlformats.org/drawingml/2006/main">
            <a:off x="2571750" y="4457700"/>
            <a:ext cx="13144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625" b="0">
                <a:solidFill>
                  <a:srgbClr val="101B40"/>
                </a:solidFill>
                <a:latin typeface="Montserrat"/>
                <a:ea typeface="Montserrat"/>
                <a:cs typeface="Montserrat"/>
              </a:defRPr>
            </a:defPPr>
          </a:lstStyle>
          <a:p xmlns:a="http://schemas.openxmlformats.org/drawingml/2006/main">
            <a:pPr algn="ctr">
              <a:buNone/>
              <a:defRPr sz="2625" b="0">
                <a:solidFill>
                  <a:srgbClr val="101B40"/>
                </a:solidFill>
                <a:latin typeface="Montserrat"/>
                <a:ea typeface="Montserrat"/>
                <a:cs typeface="Montserrat"/>
              </a:defRPr>
            </a:pPr>
            <a:r>
              <a:rPr sz="2625" b="0">
                <a:solidFill>
                  <a:srgbClr val="101B40"/>
                </a:solidFill>
                <a:latin typeface="Montserrat"/>
                <a:ea typeface="Montserrat"/>
                <a:cs typeface="Montserrat"/>
              </a:rPr>
              <a:t>I independently designed and developed an application that makes</a:t>
            </a:r>
          </a:p>
          <a:p xmlns:a="http://schemas.openxmlformats.org/drawingml/2006/main">
            <a:pPr algn="ctr">
              <a:buNone/>
              <a:defRPr sz="2625" b="0">
                <a:solidFill>
                  <a:srgbClr val="101B40"/>
                </a:solidFill>
                <a:latin typeface="Montserrat"/>
                <a:ea typeface="Montserrat"/>
                <a:cs typeface="Montserrat"/>
              </a:defRPr>
            </a:pPr>
            <a:r>
              <a:rPr sz="2625" b="0">
                <a:solidFill>
                  <a:srgbClr val="101B40"/>
                </a:solidFill>
                <a:latin typeface="Montserrat"/>
                <a:ea typeface="Montserrat"/>
                <a:cs typeface="Montserrat"/>
              </a:rPr>
              <a:t>semantic relationships explorable and original evidence accessible.</a:t>
            </a:r>
          </a:p>
        </p:txBody>
      </p:sp>
      <p:sp>
        <p:nvSpPr>
          <p:cNvPr id="19" name="Next evaluation">
            <a:extLst xmlns:a="http://schemas.openxmlformats.org/drawingml/2006/main">
              <a:ext uri="{FF2B5EF4-FFF2-40B4-BE49-F238E27FC236}">
                <a16:creationId xmlns:a16="http://schemas.microsoft.com/office/drawing/2014/main" id="{029CE2F1-CA54-422D-BC28-4B05706A785E}"/>
              </a:ext>
            </a:extLst>
          </p:cNvPr>
          <p:cNvSpPr>
            <a:spLocks xmlns:a="http://schemas.openxmlformats.org/drawingml/2006/main" noGrp="1"/>
          </p:cNvSpPr>
          <p:nvPr/>
        </p:nvSpPr>
        <p:spPr>
          <a:xfrm xmlns:a="http://schemas.openxmlformats.org/drawingml/2006/main">
            <a:off x="2667000" y="6153150"/>
            <a:ext cx="628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01B40"/>
                </a:solidFill>
                <a:latin typeface="Montserrat Bold"/>
                <a:ea typeface="Montserrat Bold"/>
                <a:cs typeface="Montserrat Bold"/>
              </a:defRPr>
            </a:defPPr>
          </a:lstStyle>
          <a:p xmlns:a="http://schemas.openxmlformats.org/drawingml/2006/main">
            <a:pPr algn="l">
              <a:buNone/>
              <a:defRPr sz="2550" b="1">
                <a:solidFill>
                  <a:srgbClr val="101B40"/>
                </a:solidFill>
                <a:latin typeface="Montserrat Bold"/>
                <a:ea typeface="Montserrat Bold"/>
                <a:cs typeface="Montserrat Bold"/>
              </a:defRPr>
            </a:pPr>
            <a:r>
              <a:rPr sz="2550" b="1">
                <a:solidFill>
                  <a:srgbClr val="101B40"/>
                </a:solidFill>
                <a:latin typeface="Montserrat Bold"/>
                <a:ea typeface="Montserrat Bold"/>
                <a:cs typeface="Montserrat Bold"/>
              </a:rPr>
              <a:t>Next evaluation</a:t>
            </a:r>
          </a:p>
        </p:txBody>
      </p:sp>
      <p:sp>
        <p:nvSpPr>
          <p:cNvPr id="20" name="Compare 3D exploration with lists and 2D graphs. Measure task completi">
            <a:extLst xmlns:a="http://schemas.openxmlformats.org/drawingml/2006/main">
              <a:ext uri="{FF2B5EF4-FFF2-40B4-BE49-F238E27FC236}">
                <a16:creationId xmlns:a16="http://schemas.microsoft.com/office/drawing/2014/main" id="{90231FC2-F8BA-41B0-810D-5B87E467F932}"/>
              </a:ext>
            </a:extLst>
          </p:cNvPr>
          <p:cNvSpPr>
            <a:spLocks xmlns:a="http://schemas.openxmlformats.org/drawingml/2006/main" noGrp="1"/>
          </p:cNvSpPr>
          <p:nvPr/>
        </p:nvSpPr>
        <p:spPr>
          <a:xfrm xmlns:a="http://schemas.openxmlformats.org/drawingml/2006/main">
            <a:off x="2667000" y="6791325"/>
            <a:ext cx="6286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36681"/>
                </a:solidFill>
                <a:latin typeface="Montserrat"/>
                <a:ea typeface="Montserrat"/>
                <a:cs typeface="Montserrat"/>
              </a:defRPr>
            </a:defPPr>
          </a:lstStyle>
          <a:p xmlns:a="http://schemas.openxmlformats.org/drawingml/2006/main">
            <a:pPr algn="l">
              <a:buNone/>
              <a:defRPr sz="2175" b="0">
                <a:solidFill>
                  <a:srgbClr val="536681"/>
                </a:solidFill>
                <a:latin typeface="Montserrat"/>
                <a:ea typeface="Montserrat"/>
                <a:cs typeface="Montserrat"/>
              </a:defRPr>
            </a:pPr>
            <a:r>
              <a:rPr sz="2175" b="0">
                <a:solidFill>
                  <a:srgbClr val="536681"/>
                </a:solidFill>
                <a:latin typeface="Montserrat"/>
                <a:ea typeface="Montserrat"/>
                <a:cs typeface="Montserrat"/>
              </a:rPr>
              <a:t>Compare 3D exploration with lists and 2D graphs. Measure task completion time and usability.</a:t>
            </a:r>
          </a:p>
        </p:txBody>
      </p:sp>
      <p:sp>
        <p:nvSpPr>
          <p:cNvPr id="21" name="Next engineering step">
            <a:extLst xmlns:a="http://schemas.openxmlformats.org/drawingml/2006/main">
              <a:ext uri="{FF2B5EF4-FFF2-40B4-BE49-F238E27FC236}">
                <a16:creationId xmlns:a16="http://schemas.microsoft.com/office/drawing/2014/main" id="{4A65BCB0-1D9A-416C-90A1-0100E7845DE9}"/>
              </a:ext>
            </a:extLst>
          </p:cNvPr>
          <p:cNvSpPr>
            <a:spLocks xmlns:a="http://schemas.openxmlformats.org/drawingml/2006/main" noGrp="1"/>
          </p:cNvSpPr>
          <p:nvPr/>
        </p:nvSpPr>
        <p:spPr>
          <a:xfrm xmlns:a="http://schemas.openxmlformats.org/drawingml/2006/main">
            <a:off x="10001250" y="6153150"/>
            <a:ext cx="590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01B40"/>
                </a:solidFill>
                <a:latin typeface="Montserrat Bold"/>
                <a:ea typeface="Montserrat Bold"/>
                <a:cs typeface="Montserrat Bold"/>
              </a:defRPr>
            </a:defPPr>
          </a:lstStyle>
          <a:p xmlns:a="http://schemas.openxmlformats.org/drawingml/2006/main">
            <a:pPr algn="l">
              <a:buNone/>
              <a:defRPr sz="2550" b="1">
                <a:solidFill>
                  <a:srgbClr val="101B40"/>
                </a:solidFill>
                <a:latin typeface="Montserrat Bold"/>
                <a:ea typeface="Montserrat Bold"/>
                <a:cs typeface="Montserrat Bold"/>
              </a:defRPr>
            </a:pPr>
            <a:r>
              <a:rPr sz="2550" b="1">
                <a:solidFill>
                  <a:srgbClr val="101B40"/>
                </a:solidFill>
                <a:latin typeface="Montserrat Bold"/>
                <a:ea typeface="Montserrat Bold"/>
                <a:cs typeface="Montserrat Bold"/>
              </a:rPr>
              <a:t>Next engineering step</a:t>
            </a:r>
          </a:p>
        </p:txBody>
      </p:sp>
      <p:sp>
        <p:nvSpPr>
          <p:cNvPr id="22" name="Improve source alignment, test retrieval quality and profile rendering">
            <a:extLst xmlns:a="http://schemas.openxmlformats.org/drawingml/2006/main">
              <a:ext uri="{FF2B5EF4-FFF2-40B4-BE49-F238E27FC236}">
                <a16:creationId xmlns:a16="http://schemas.microsoft.com/office/drawing/2014/main" id="{981170D5-B5C7-455B-A47B-D78B0A0D3BFC}"/>
              </a:ext>
            </a:extLst>
          </p:cNvPr>
          <p:cNvSpPr>
            <a:spLocks xmlns:a="http://schemas.openxmlformats.org/drawingml/2006/main" noGrp="1"/>
          </p:cNvSpPr>
          <p:nvPr/>
        </p:nvSpPr>
        <p:spPr>
          <a:xfrm xmlns:a="http://schemas.openxmlformats.org/drawingml/2006/main">
            <a:off x="10001250" y="6791325"/>
            <a:ext cx="5905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36681"/>
                </a:solidFill>
                <a:latin typeface="Montserrat"/>
                <a:ea typeface="Montserrat"/>
                <a:cs typeface="Montserrat"/>
              </a:defRPr>
            </a:defPPr>
          </a:lstStyle>
          <a:p xmlns:a="http://schemas.openxmlformats.org/drawingml/2006/main">
            <a:pPr algn="l">
              <a:buNone/>
              <a:defRPr sz="2175" b="0">
                <a:solidFill>
                  <a:srgbClr val="536681"/>
                </a:solidFill>
                <a:latin typeface="Montserrat"/>
                <a:ea typeface="Montserrat"/>
                <a:cs typeface="Montserrat"/>
              </a:defRPr>
            </a:pPr>
            <a:r>
              <a:rPr sz="2175" b="0">
                <a:solidFill>
                  <a:srgbClr val="536681"/>
                </a:solidFill>
                <a:latin typeface="Montserrat"/>
                <a:ea typeface="Montserrat"/>
                <a:cs typeface="Montserrat"/>
              </a:rPr>
              <a:t>Improve source alignment, test retrieval quality and profile rendering with larger libraries.</a:t>
            </a:r>
          </a:p>
        </p:txBody>
      </p:sp>
      <p:sp>
        <p:nvSpPr>
          <p:cNvPr id="23" name="">
            <a:extLst xmlns:a="http://schemas.openxmlformats.org/drawingml/2006/main">
              <a:ext uri="{FF2B5EF4-FFF2-40B4-BE49-F238E27FC236}">
                <a16:creationId xmlns:a16="http://schemas.microsoft.com/office/drawing/2014/main" id="{26C7F01A-4667-4FFC-8B58-77C90C72BD10}"/>
              </a:ext>
            </a:extLst>
          </p:cNvPr>
          <p:cNvSpPr>
            <a:spLocks xmlns:a="http://schemas.openxmlformats.org/drawingml/2006/main" noGrp="1"/>
          </p:cNvSpPr>
          <p:nvPr/>
        </p:nvSpPr>
        <p:spPr>
          <a:xfrm xmlns:a="http://schemas.openxmlformats.org/drawingml/2006/main">
            <a:off x="2667000" y="8267700"/>
            <a:ext cx="13144500" cy="0"/>
          </a:xfrm>
          <a:prstGeom xmlns:a="http://schemas.openxmlformats.org/drawingml/2006/main" prst="line">
            <a:avLst/>
          </a:prstGeom>
          <a:noFill xmlns:a="http://schemas.openxmlformats.org/drawingml/2006/main"/>
          <a:ln xmlns:a="http://schemas.openxmlformats.org/drawingml/2006/main" w="13335">
            <a:solidFill>
              <a:srgbClr val="8FA4C1"/>
            </a:solidFill>
          </a:ln>
        </p:spPr>
      </p:sp>
      <p:sp>
        <p:nvSpPr>
          <p:cNvPr id="24" name="[Your Name]">
            <a:extLst xmlns:a="http://schemas.openxmlformats.org/drawingml/2006/main">
              <a:ext uri="{FF2B5EF4-FFF2-40B4-BE49-F238E27FC236}">
                <a16:creationId xmlns:a16="http://schemas.microsoft.com/office/drawing/2014/main" id="{3F751FEA-7CB6-49FC-8521-63D3411C2FC4}"/>
              </a:ext>
            </a:extLst>
          </p:cNvPr>
          <p:cNvSpPr>
            <a:spLocks xmlns:a="http://schemas.openxmlformats.org/drawingml/2006/main" noGrp="1"/>
          </p:cNvSpPr>
          <p:nvPr/>
        </p:nvSpPr>
        <p:spPr>
          <a:xfrm xmlns:a="http://schemas.openxmlformats.org/drawingml/2006/main">
            <a:off x="2667000" y="8591550"/>
            <a:ext cx="647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01B40"/>
                </a:solidFill>
                <a:latin typeface="Montserrat Bold"/>
                <a:ea typeface="Montserrat Bold"/>
                <a:cs typeface="Montserrat Bold"/>
              </a:defRPr>
            </a:defPPr>
          </a:lstStyle>
          <a:p xmlns:a="http://schemas.openxmlformats.org/drawingml/2006/main">
            <a:pPr algn="l">
              <a:buNone/>
              <a:defRPr sz="2550" b="1">
                <a:solidFill>
                  <a:srgbClr val="101B40"/>
                </a:solidFill>
                <a:latin typeface="Montserrat Bold"/>
                <a:ea typeface="Montserrat Bold"/>
                <a:cs typeface="Montserrat Bold"/>
              </a:defRPr>
            </a:pPr>
            <a:r>
              <a:rPr sz="2550" b="1">
                <a:solidFill>
                  <a:srgbClr val="101B40"/>
                </a:solidFill>
                <a:latin typeface="Montserrat Bold"/>
                <a:ea typeface="Montserrat Bold"/>
                <a:cs typeface="Montserrat Bold"/>
              </a:rPr>
              <a:t>[Your Name]</a:t>
            </a:r>
          </a:p>
        </p:txBody>
      </p:sp>
      <p:sp>
        <p:nvSpPr>
          <p:cNvPr id="25" name="GitHub">
            <a:extLst xmlns:a="http://schemas.openxmlformats.org/drawingml/2006/main">
              <a:ext uri="{FF2B5EF4-FFF2-40B4-BE49-F238E27FC236}">
                <a16:creationId xmlns:a16="http://schemas.microsoft.com/office/drawing/2014/main" id="{1154105B-6A4F-450B-97EE-54067C03DF22}"/>
              </a:ext>
            </a:extLst>
          </p:cNvPr>
          <p:cNvSpPr>
            <a:spLocks xmlns:a="http://schemas.openxmlformats.org/drawingml/2006/main" noGrp="1"/>
          </p:cNvSpPr>
          <p:nvPr/>
        </p:nvSpPr>
        <p:spPr>
          <a:xfrm xmlns:a="http://schemas.openxmlformats.org/drawingml/2006/main">
            <a:off x="10001250" y="8505825"/>
            <a:ext cx="590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36681"/>
                </a:solidFill>
                <a:latin typeface="Montserrat Bold"/>
                <a:ea typeface="Montserrat Bold"/>
                <a:cs typeface="Montserrat Bold"/>
              </a:defRPr>
            </a:defPPr>
          </a:lstStyle>
          <a:p xmlns:a="http://schemas.openxmlformats.org/drawingml/2006/main">
            <a:pPr algn="l">
              <a:buNone/>
              <a:defRPr sz="1800" b="1">
                <a:solidFill>
                  <a:srgbClr val="536681"/>
                </a:solidFill>
                <a:latin typeface="Montserrat Bold"/>
                <a:ea typeface="Montserrat Bold"/>
                <a:cs typeface="Montserrat Bold"/>
              </a:defRPr>
            </a:pPr>
            <a:r>
              <a:rPr sz="1800" b="1">
                <a:solidFill>
                  <a:srgbClr val="536681"/>
                </a:solidFill>
                <a:latin typeface="Montserrat Bold"/>
                <a:ea typeface="Montserrat Bold"/>
                <a:cs typeface="Montserrat Bold"/>
              </a:rPr>
              <a:t>GitHub</a:t>
            </a:r>
          </a:p>
        </p:txBody>
      </p:sp>
      <p:sp>
        <p:nvSpPr>
          <p:cNvPr id="26" name="[Add your GitHub URL]">
            <a:extLst xmlns:a="http://schemas.openxmlformats.org/drawingml/2006/main">
              <a:ext uri="{FF2B5EF4-FFF2-40B4-BE49-F238E27FC236}">
                <a16:creationId xmlns:a16="http://schemas.microsoft.com/office/drawing/2014/main" id="{C68A934F-CBBF-4E0C-8922-4E0FE36F8670}"/>
              </a:ext>
            </a:extLst>
          </p:cNvPr>
          <p:cNvSpPr>
            <a:spLocks xmlns:a="http://schemas.openxmlformats.org/drawingml/2006/main" noGrp="1"/>
          </p:cNvSpPr>
          <p:nvPr/>
        </p:nvSpPr>
        <p:spPr>
          <a:xfrm xmlns:a="http://schemas.openxmlformats.org/drawingml/2006/main">
            <a:off x="10001250" y="8915400"/>
            <a:ext cx="5905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01B40"/>
                </a:solidFill>
                <a:latin typeface="Montserrat"/>
                <a:ea typeface="Montserrat"/>
                <a:cs typeface="Montserrat"/>
              </a:defRPr>
            </a:defPPr>
          </a:lstStyle>
          <a:p xmlns:a="http://schemas.openxmlformats.org/drawingml/2006/main">
            <a:pPr algn="l">
              <a:buNone/>
              <a:defRPr sz="2100" b="0">
                <a:solidFill>
                  <a:srgbClr val="101B40"/>
                </a:solidFill>
                <a:latin typeface="Montserrat"/>
                <a:ea typeface="Montserrat"/>
                <a:cs typeface="Montserrat"/>
              </a:defRPr>
            </a:pPr>
            <a:r>
              <a:rPr sz="2100" b="0">
                <a:solidFill>
                  <a:srgbClr val="101B40"/>
                </a:solidFill>
                <a:latin typeface="Montserrat"/>
                <a:ea typeface="Montserrat"/>
                <a:cs typeface="Montserrat"/>
              </a:rPr>
              <a:t>[Add your GitHub URL]</a:t>
            </a:r>
          </a:p>
        </p:txBody>
      </p:sp>
    </p:spTree>
    <p:extLst>
      <p:ext uri="{BB962C8B-B14F-4D97-AF65-F5344CB8AC3E}">
        <p14:creationId xmlns:p14="http://schemas.microsoft.com/office/powerpoint/2010/main" val="1666191490"/>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2026-10-11T11:23:08.6140000Z</dcterms:created>
  <dcterms:modified xsi:type="dcterms:W3CDTF">2026-10-11T11:23:08.6140000Z</dcterms:modified>
</coreProperties>
</file>