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bbc05b1c214fd5" /><Relationship Type="http://schemas.openxmlformats.org/officeDocument/2006/relationships/extended-properties" Target="/docProps/app.xml" Id="Rfb0044c29322401c" /><Relationship Type="http://schemas.openxmlformats.org/officeDocument/2006/relationships/officeDocument" Target="/ppt/presentation.xml" Id="R5edb97e103ef440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fdbf6f6ee254cfc"/>
  </p:sldMasterIdLst>
  <p:notesMasterIdLst>
    <p:notesMasterId xmlns:r="http://schemas.openxmlformats.org/officeDocument/2006/relationships" r:id="Rc238af67ce3f4bff"/>
  </p:notesMasterIdLst>
  <p:sldIdLst>
    <p:sldId xmlns:r="http://schemas.openxmlformats.org/officeDocument/2006/relationships" id="256" r:id="Rc255f09933ef4067"/>
    <p:sldId xmlns:r="http://schemas.openxmlformats.org/officeDocument/2006/relationships" id="257" r:id="R534ef946b720496e"/>
    <p:sldId xmlns:r="http://schemas.openxmlformats.org/officeDocument/2006/relationships" id="258" r:id="R7e130074e90443c9"/>
    <p:sldId xmlns:r="http://schemas.openxmlformats.org/officeDocument/2006/relationships" id="259" r:id="R282e09dc16cc449f"/>
    <p:sldId xmlns:r="http://schemas.openxmlformats.org/officeDocument/2006/relationships" id="260" r:id="R28060d85555e4e93"/>
    <p:sldId xmlns:r="http://schemas.openxmlformats.org/officeDocument/2006/relationships" id="261" r:id="R803fc9e960b24f03"/>
    <p:sldId xmlns:r="http://schemas.openxmlformats.org/officeDocument/2006/relationships" id="262" r:id="R714512ad566d42c4"/>
    <p:sldId xmlns:r="http://schemas.openxmlformats.org/officeDocument/2006/relationships" id="263" r:id="Rf4f261df8a3b4b3d"/>
    <p:sldId xmlns:r="http://schemas.openxmlformats.org/officeDocument/2006/relationships" id="264" r:id="Rc29bf409222c498f"/>
  </p:sldIdLst>
  <p:sldSz cx="18288000" cy="10287000"/>
  <p:notesSz cx="6858000" cy="9144000"/>
  <p:embeddedFontLst>
    <p:embeddedFont>
      <p:font typeface="Montserrat"/>
      <p:regular xmlns:r="http://schemas.openxmlformats.org/officeDocument/2006/relationships" r:id="Rfcb4a41ce454432c"/>
    </p:embeddedFont>
    <p:embeddedFont>
      <p:font typeface="Montserrat Bold"/>
      <p:regular xmlns:r="http://schemas.openxmlformats.org/officeDocument/2006/relationships" r:id="R65baec824a384ceb"/>
    </p:embeddedFont>
    <p:embeddedFont>
      <p:font typeface="Montserrat Semi-Bold"/>
      <p:regular xmlns:r="http://schemas.openxmlformats.org/officeDocument/2006/relationships" r:id="Rc133c449994e4b11"/>
    </p:embeddedFont>
    <p:embeddedFont>
      <p:font typeface="Montserrat Semi-Bold Italics"/>
      <p:regular xmlns:r="http://schemas.openxmlformats.org/officeDocument/2006/relationships" r:id="R5568cf33e0e84c42"/>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6938e2770ad45c7" /><Relationship Type="http://schemas.openxmlformats.org/officeDocument/2006/relationships/slideMaster" Target="/ppt/slideMasters/slideMaster1.xml" Id="R2fdbf6f6ee254cfc" /><Relationship Type="http://schemas.openxmlformats.org/officeDocument/2006/relationships/notesMaster" Target="/ppt/notesMasters/notesMaster1.xml" Id="Rc238af67ce3f4bff" /><Relationship Type="http://schemas.openxmlformats.org/officeDocument/2006/relationships/presProps" Target="/ppt/presProps.xml" Id="R228115013c3a4ba1" /><Relationship Type="http://schemas.openxmlformats.org/officeDocument/2006/relationships/viewProps" Target="/ppt/viewProps.xml" Id="Rff7fa8fdd2a3479f" /><Relationship Type="http://schemas.openxmlformats.org/officeDocument/2006/relationships/tableStyles" Target="/ppt/tableStyles.xml" Id="Ra85a5cd08fd74eae" /><Relationship Type="http://schemas.openxmlformats.org/officeDocument/2006/relationships/font" Target="/ppt/fonts/font.dat" Id="Rfcb4a41ce454432c" /><Relationship Type="http://schemas.openxmlformats.org/officeDocument/2006/relationships/font" Target="/ppt/fonts/font2.dat" Id="R65baec824a384ceb" /><Relationship Type="http://schemas.openxmlformats.org/officeDocument/2006/relationships/font" Target="/ppt/fonts/font3.dat" Id="Rc133c449994e4b11" /><Relationship Type="http://schemas.openxmlformats.org/officeDocument/2006/relationships/font" Target="/ppt/fonts/font4.dat" Id="R5568cf33e0e84c42" /><Relationship Type="http://schemas.openxmlformats.org/officeDocument/2006/relationships/slide" Target="/ppt/slides/slide1.xml" Id="Rc255f09933ef4067" /><Relationship Type="http://schemas.openxmlformats.org/officeDocument/2006/relationships/slide" Target="/ppt/slides/slide2.xml" Id="R534ef946b720496e" /><Relationship Type="http://schemas.openxmlformats.org/officeDocument/2006/relationships/slide" Target="/ppt/slides/slide3.xml" Id="R7e130074e90443c9" /><Relationship Type="http://schemas.openxmlformats.org/officeDocument/2006/relationships/slide" Target="/ppt/slides/slide4.xml" Id="R282e09dc16cc449f" /><Relationship Type="http://schemas.openxmlformats.org/officeDocument/2006/relationships/slide" Target="/ppt/slides/slide5.xml" Id="R28060d85555e4e93" /><Relationship Type="http://schemas.openxmlformats.org/officeDocument/2006/relationships/slide" Target="/ppt/slides/slide6.xml" Id="R803fc9e960b24f03" /><Relationship Type="http://schemas.openxmlformats.org/officeDocument/2006/relationships/slide" Target="/ppt/slides/slide7.xml" Id="R714512ad566d42c4" /><Relationship Type="http://schemas.openxmlformats.org/officeDocument/2006/relationships/slide" Target="/ppt/slides/slide8.xml" Id="Rf4f261df8a3b4b3d" /><Relationship Type="http://schemas.openxmlformats.org/officeDocument/2006/relationships/slide" Target="/ppt/slides/slide9.xml" Id="Rc29bf409222c49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28e588eef343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badfefa32c416c" /><Relationship Type="http://schemas.openxmlformats.org/officeDocument/2006/relationships/notesMaster" Target="/ppt/notesMasters/notesMaster1.xml" Id="R2f35917f928a4a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186078d21a4d9d" /><Relationship Type="http://schemas.openxmlformats.org/officeDocument/2006/relationships/notesMaster" Target="/ppt/notesMasters/notesMaster1.xml" Id="Rd812313e51d94e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ebad4ca0274902" /><Relationship Type="http://schemas.openxmlformats.org/officeDocument/2006/relationships/notesMaster" Target="/ppt/notesMasters/notesMaster1.xml" Id="Rc477b7d25a0b40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d564d211b34bd5" /><Relationship Type="http://schemas.openxmlformats.org/officeDocument/2006/relationships/notesMaster" Target="/ppt/notesMasters/notesMaster1.xml" Id="Ra6d729f9d2da42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8b05ecb3f74c21" /><Relationship Type="http://schemas.openxmlformats.org/officeDocument/2006/relationships/notesMaster" Target="/ppt/notesMasters/notesMaster1.xml" Id="R1d3a0912340b40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c51aca55fd4251" /><Relationship Type="http://schemas.openxmlformats.org/officeDocument/2006/relationships/notesMaster" Target="/ppt/notesMasters/notesMaster1.xml" Id="Rfcb35a2f2ddd4c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7906f6e08b41b1" /><Relationship Type="http://schemas.openxmlformats.org/officeDocument/2006/relationships/notesMaster" Target="/ppt/notesMasters/notesMaster1.xml" Id="R1ec699cc266f49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1858bbbaf541cd" /><Relationship Type="http://schemas.openxmlformats.org/officeDocument/2006/relationships/notesMaster" Target="/ppt/notesMasters/notesMaster1.xml" Id="R13fa780879444e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9ad5a0e1d64b4b" /><Relationship Type="http://schemas.openxmlformats.org/officeDocument/2006/relationships/notesMaster" Target="/ppt/notesMasters/notesMaster1.xml" Id="Rb0057e543ca74d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independently designed and developed the application, integrating document processing, semantic retrieval, real-time 3D graphics and reading interactions. My application uses third-party frameworks and pretrained models. The independent ownership statement reflects the applicant’s explicit account of their development role.</a:t>
            </a:r>
          </a:p>
          <a:p xmlns:a="http://schemas.openxmlformats.org/drawingml/2006/main">
            <a:r>
              <a:t/>
            </a: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C:/Users/Asus/Desktop/PDF_GalaxAI/package.json</a:t>
            </a:r>
          </a:p>
          <a:p xmlns:a="http://schemas.openxmlformats.org/drawingml/2006/main">
            <a:r>
              <a:t>C:/Users/Asus/Desktop/PDF_GalaxAI/backend/store.py</a:t>
            </a:r>
          </a:p>
          <a:p xmlns:a="http://schemas.openxmlformats.org/drawingml/2006/main">
            <a:r>
              <a:t>C:/Users/Asus/Desktop/PDF_GalaxAI/frontend/src/ui/App.tsx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objectives express the product’s design rationale for research workflows. They are design hypotheses, not findings from a completed user interview study. The project materials do not document a formal user research sample.</a:t>
            </a:r>
          </a:p>
          <a:p xmlns:a="http://schemas.openxmlformats.org/drawingml/2006/main">
            <a:r>
              <a:t/>
            </a: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C:/Users/Asus/Desktop/PDF_GalaxAI/frontend/src/ui/App.tsx</a:t>
            </a:r>
          </a:p>
          <a:p xmlns:a="http://schemas.openxmlformats.org/drawingml/2006/main">
            <a:r>
              <a:t>C:/Users/Asus/Desktop/PDF_GalaxAI/frontend/src/ui/ReaderModal.tsx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App component owns selectedPaper, readerPaper, attachedPapers and activeHighlights. Search performs case-insensitive substring matching on titles, display titles, filenames and keywords. Node selection and right-click add-to-chat connect the galaxy to reading and questioning. The UI search is not a vector search.</a:t>
            </a:r>
          </a:p>
          <a:p xmlns:a="http://schemas.openxmlformats.org/drawingml/2006/main">
            <a:r>
              <a:t/>
            </a:r>
          </a:p>
          <a:p xmlns:a="http://schemas.openxmlformats.org/drawingml/2006/main">
            <a:r>
              <a:t>Project sources:</a:t>
            </a:r>
          </a:p>
          <a:p xmlns:a="http://schemas.openxmlformats.org/drawingml/2006/main">
            <a:r>
              <a:t>C:/Users/Asus/Desktop/PDF_GalaxAI/frontend/src/ui/App.tsx</a:t>
            </a:r>
          </a:p>
          <a:p xmlns:a="http://schemas.openxmlformats.org/drawingml/2006/main">
            <a:r>
              <a:t>C:/Users/Asus/Desktop/PDF_GalaxAI/frontend/src/ui/GalaxyArea.tsx</a:t>
            </a:r>
          </a:p>
          <a:p xmlns:a="http://schemas.openxmlformats.org/drawingml/2006/main">
            <a:r>
              <a:t>C:/Users/Asus/Desktop/PDF_GalaxAI/frontend/src/rendering/GalaxyRenderer.tsx</a:t>
            </a:r>
          </a:p>
          <a:p xmlns:a="http://schemas.openxmlformats.org/drawingml/2006/main">
            <a:r>
              <a:t>C:/Users/Asus/Desktop/PDF_GalaxAI/frontend/src/ui/PaperDetail.tsx</a:t>
            </a:r>
          </a:p>
          <a:p xmlns:a="http://schemas.openxmlformats.org/drawingml/2006/main">
            <a:r>
              <a:t/>
            </a:r>
          </a:p>
          <a:p xmlns:a="http://schemas.openxmlformats.org/drawingml/2006/main">
            <a:r>
              <a:t>A normal workflow is upload, graph exploration, paper context attachment, model/mode selection, question, citation and PDF reading. ModelPicker exposes built-in local/cloud and custom configurations. ModelManager offers protocol, endpoint, credentials, proxy selection and test connection. An index status warning indicates an embedding-model mismatch and offers a rebuild. Provider switching changes generation, not the local embedding representation. Vision questions require a compatible model and can use an uploaded or pasted screenshot in ReaderChat.</a:t>
            </a:r>
          </a:p>
          <a:p xmlns:a="http://schemas.openxmlformats.org/drawingml/2006/main">
            <a:r>
              <a:t/>
            </a:r>
          </a:p>
          <a:p xmlns:a="http://schemas.openxmlformats.org/drawingml/2006/main">
            <a:r>
              <a:t>Project sources:</a:t>
            </a:r>
          </a:p>
          <a:p xmlns:a="http://schemas.openxmlformats.org/drawingml/2006/main">
            <a:r>
              <a:t>C:/Users/Asus/Desktop/PDF_GalaxAI/frontend/src/ui/ModelPicker.tsx</a:t>
            </a:r>
          </a:p>
          <a:p xmlns:a="http://schemas.openxmlformats.org/drawingml/2006/main">
            <a:r>
              <a:t>C:/Users/Asus/Desktop/PDF_GalaxAI/frontend/src/ui/ModelManager.tsx</a:t>
            </a:r>
          </a:p>
          <a:p xmlns:a="http://schemas.openxmlformats.org/drawingml/2006/main">
            <a:r>
              <a:t>C:/Users/Asus/Desktop/PDF_GalaxAI/frontend/src/ui/IndexAdmin.tsx</a:t>
            </a:r>
          </a:p>
          <a:p xmlns:a="http://schemas.openxmlformats.org/drawingml/2006/main">
            <a:r>
              <a:t>C:/Users/Asus/Desktop/PDF_GalaxAI/frontend/src/ui/ReaderChat.tsx</a:t>
            </a:r>
          </a:p>
          <a:p xmlns:a="http://schemas.openxmlformats.org/drawingml/2006/main">
            <a:r>
              <a:t>C:/Users/Asus/Desktop/PDF_GalaxAI/backend/models_registry.py</a:t>
            </a:r>
          </a:p>
          <a:p xmlns:a="http://schemas.openxmlformats.org/drawingml/2006/main">
            <a:r>
              <a:t>C:/Users/Asus/Desktop/PDF_GalaxAI/backend/llm_client.py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Paper-level embeddings use the abstract and keywords. KMeans selects a cluster count using cosine silhouette scores where possible. UMAP/PCA produces three-dimensional coordinates, then store.py tightens and offsets clusters for separation. One to three papers use fixed positions. Position is an exploratory projection and not an exact semantic distance. Similarity edges use cosine top-4 neighbours and a 0.20 cutoff. The renderer currently draws edges with a common visual style, so it should not be described as encoding edge weight by line intensity. Nebula shading uses a sampled density field and a GPU particle system. 3D benefits remain a usability hypothesis pending comparison with list and 2D layouts.</a:t>
            </a:r>
          </a:p>
          <a:p xmlns:a="http://schemas.openxmlformats.org/drawingml/2006/main">
            <a:r>
              <a:t/>
            </a: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C:/Users/Asus/Desktop/PDF_GalaxAI/backend/clustering.py</a:t>
            </a:r>
          </a:p>
          <a:p xmlns:a="http://schemas.openxmlformats.org/drawingml/2006/main">
            <a:r>
              <a:t>C:/Users/Asus/Desktop/PDF_GalaxAI/backend/api.py</a:t>
            </a:r>
          </a:p>
          <a:p xmlns:a="http://schemas.openxmlformats.org/drawingml/2006/main">
            <a:r>
              <a:t>C:/Users/Asus/Desktop/PDF_GalaxAI/frontend/src/rendering/GalaxyRenderer.tsx</a:t>
            </a:r>
          </a:p>
          <a:p xmlns:a="http://schemas.openxmlformats.org/drawingml/2006/main">
            <a:r>
              <a:t>C:/Users/Asus/Desktop/PDF_GalaxAI/frontend/src/rendering/SemanticNebula.tsx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embedding model is BAAI/bge-m3, configurable through SCHOLAR_ST_MODEL. Paper embeddings use abstract and keyword text. chunk_text uses a 500-character window and 100-character overlap, preferring sentence boundaries. Indexing filters very short or poor-quality chunks. The vector store has separate scholar_papers and scholar_chunks collections with cosine distance. OCR is optional and falls back to native extraction when Tesseract is unavailable. MinerU requires a separate CLI installation. Auto keywords use corpus TF-IDF, mixed-language tokenisation and MMR diversity; declared keywords remain preserved.</a:t>
            </a:r>
          </a:p>
          <a:p xmlns:a="http://schemas.openxmlformats.org/drawingml/2006/main">
            <a:r>
              <a:t/>
            </a:r>
          </a:p>
          <a:p xmlns:a="http://schemas.openxmlformats.org/drawingml/2006/main">
            <a:r>
              <a:t>Project sources:</a:t>
            </a:r>
          </a:p>
          <a:p xmlns:a="http://schemas.openxmlformats.org/drawingml/2006/main">
            <a:r>
              <a:t>C:/Users/Asus/Desktop/PDF_GalaxAI/backend/text_processing.py</a:t>
            </a:r>
          </a:p>
          <a:p xmlns:a="http://schemas.openxmlformats.org/drawingml/2006/main">
            <a:r>
              <a:t>C:/Users/Asus/Desktop/PDF_GalaxAI/backend/chunker.py</a:t>
            </a:r>
          </a:p>
          <a:p xmlns:a="http://schemas.openxmlformats.org/drawingml/2006/main">
            <a:r>
              <a:t>C:/Users/Asus/Desktop/PDF_GalaxAI/backend/store.py</a:t>
            </a:r>
          </a:p>
          <a:p xmlns:a="http://schemas.openxmlformats.org/drawingml/2006/main">
            <a:r>
              <a:t>C:/Users/Asus/Desktop/PDF_GalaxAI/backend/vector_store.py</a:t>
            </a:r>
          </a:p>
          <a:p xmlns:a="http://schemas.openxmlformats.org/drawingml/2006/main">
            <a:r>
              <a:t>C:/Users/Asus/Desktop/PDF_GalaxAI/backend/keyword_extractor.py</a:t>
            </a:r>
          </a:p>
          <a:p xmlns:a="http://schemas.openxmlformats.org/drawingml/2006/main">
            <a:r>
              <a:t>C:/Users/Asus/Desktop/PDF_GalaxAI/backend/mineru_parser.py</a:t>
            </a:r>
          </a:p>
          <a:p xmlns:a="http://schemas.openxmlformats.org/drawingml/2006/main">
            <a:r>
              <a:t/>
            </a:r>
          </a:p>
          <a:p xmlns:a="http://schemas.openxmlformats.org/drawingml/2006/main">
            <a:r>
              <a:t>search_chunks fetches max(top_k*5,20) candidate chunks, then applies a weighted reranking score: 0.72 semantic similarity, 0.18 lexical overlap and 0.10 text quality. The main query endpoint generally selects five chunks, or six in a named-paper search. Auto routing uses retrieval quality and raw semantic scores to choose rag, rag_soft or chat. Forced RAG without chunks can use rag_soft, so the product does not implement a universal strict refusal policy. The backend sends context and recent dialogue to the chosen provider and returns answer, cite_details, provider_used and mode. RAG improves access to evidence but does not eliminate hallucination.</a:t>
            </a:r>
          </a:p>
          <a:p xmlns:a="http://schemas.openxmlformats.org/drawingml/2006/main">
            <a:r>
              <a:t/>
            </a: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C:/Users/Asus/Desktop/PDF_GalaxAI/backend/api.py</a:t>
            </a:r>
          </a:p>
          <a:p xmlns:a="http://schemas.openxmlformats.org/drawingml/2006/main">
            <a:r>
              <a:t>C:/Users/Asus/Desktop/PDF_GalaxAI/backend/llm_client.py</a:t>
            </a:r>
          </a:p>
          <a:p xmlns:a="http://schemas.openxmlformats.org/drawingml/2006/main">
            <a:r>
              <a:t>C:/Users/Asus/Desktop/PDF_GalaxAI/frontend/src/api/client.ts</a:t>
            </a:r>
          </a:p>
          <a:p xmlns:a="http://schemas.openxmlformats.org/drawingml/2006/main">
            <a:r>
              <a:t>C:/Users/Asus/Desktop/PDF_GalaxAI/frontend/src/ui/App.tsx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attaches references for the retrieved passages, then locate_snippet_page searches native PDF page text using normalised snippets and a keyword fallback. The main and reader chats render citation chips and source cards. Paragraph-to-source associations use lexical matching with a fallback, not semantic entailment verification. PdfReaderPane highlights matching PDF text-layer items and scrolls to the first hit. OCR-only pages, layout differences, or ambiguous keywords may prevent precise location. Citations expose possible supporting material; they do not prove every generated claim.</a:t>
            </a:r>
          </a:p>
          <a:p xmlns:a="http://schemas.openxmlformats.org/drawingml/2006/main">
            <a:r>
              <a:t/>
            </a:r>
          </a:p>
          <a:p xmlns:a="http://schemas.openxmlformats.org/drawingml/2006/main">
            <a:r>
              <a:t>Project sources:</a:t>
            </a:r>
          </a:p>
          <a:p xmlns:a="http://schemas.openxmlformats.org/drawingml/2006/main">
            <a:r>
              <a:t>C:/Users/Asus/Desktop/PDF_GalaxAI/backend/store.py</a:t>
            </a:r>
          </a:p>
          <a:p xmlns:a="http://schemas.openxmlformats.org/drawingml/2006/main">
            <a:r>
              <a:t>C:/Users/Asus/Desktop/PDF_GalaxAI/backend/api.py</a:t>
            </a:r>
          </a:p>
          <a:p xmlns:a="http://schemas.openxmlformats.org/drawingml/2006/main">
            <a:r>
              <a:t>C:/Users/Asus/Desktop/PDF_GalaxAI/frontend/src/ui/App.tsx</a:t>
            </a:r>
          </a:p>
          <a:p xmlns:a="http://schemas.openxmlformats.org/drawingml/2006/main">
            <a:r>
              <a:t>C:/Users/Asus/Desktop/PDF_GalaxAI/frontend/src/ui/ReaderChat.tsx</a:t>
            </a:r>
          </a:p>
          <a:p xmlns:a="http://schemas.openxmlformats.org/drawingml/2006/main">
            <a:r>
              <a:t>C:/Users/Asus/Desktop/PDF_GalaxAI/frontend/src/ui/ReaderModal.tsx</a:t>
            </a:r>
          </a:p>
          <a:p xmlns:a="http://schemas.openxmlformats.org/drawingml/2006/main">
            <a:r>
              <a:t>C:/Users/Asus/Desktop/PDF_GalaxAI/frontend/src/ui/PdfReaderPane.tsx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uses REST fetch calls, not a streaming websocket RAG channel. Vite development proxies /api and /files to 127.0.0.1:8000. Backend startup imports inbox PDFs and restores/checks indexes. Files and metadata use local directories and JSON. Chroma telemetry is disabled in VectorStore. Local Ollama is a built-in OpenAI-compatible provider; Gemini and custom providers share the model registry and HTTP client. Cloud inference receives prompt context and vision images when used. Embedding model acquisition may require network access initially. The project is a local research application and does not document production authentication or deployment hardening.</a:t>
            </a:r>
          </a:p>
          <a:p xmlns:a="http://schemas.openxmlformats.org/drawingml/2006/main">
            <a:r>
              <a:t/>
            </a:r>
          </a:p>
          <a:p xmlns:a="http://schemas.openxmlformats.org/drawingml/2006/main">
            <a:r>
              <a:t>Project sources:</a:t>
            </a:r>
          </a:p>
          <a:p xmlns:a="http://schemas.openxmlformats.org/drawingml/2006/main">
            <a:r>
              <a:t>C:/Users/Asus/Desktop/PDF_GalaxAI/vite.config.ts</a:t>
            </a:r>
          </a:p>
          <a:p xmlns:a="http://schemas.openxmlformats.org/drawingml/2006/main">
            <a:r>
              <a:t>C:/Users/Asus/Desktop/PDF_GalaxAI/backend/main.py</a:t>
            </a:r>
          </a:p>
          <a:p xmlns:a="http://schemas.openxmlformats.org/drawingml/2006/main">
            <a:r>
              <a:t>C:/Users/Asus/Desktop/PDF_GalaxAI/backend/api.py</a:t>
            </a:r>
          </a:p>
          <a:p xmlns:a="http://schemas.openxmlformats.org/drawingml/2006/main">
            <a:r>
              <a:t>C:/Users/Asus/Desktop/PDF_GalaxAI/backend/store.py</a:t>
            </a:r>
          </a:p>
          <a:p xmlns:a="http://schemas.openxmlformats.org/drawingml/2006/main">
            <a:r>
              <a:t>C:/Users/Asus/Desktop/PDF_GalaxAI/backend/vector_store.py</a:t>
            </a:r>
          </a:p>
          <a:p xmlns:a="http://schemas.openxmlformats.org/drawingml/2006/main">
            <a:r>
              <a:t>C:/Users/Asus/Desktop/PDF_GalaxAI/backend/models_registry.py</a:t>
            </a:r>
          </a:p>
          <a:p xmlns:a="http://schemas.openxmlformats.org/drawingml/2006/main">
            <a:r>
              <a:t>C:/Users/Asus/Desktop/PDF_GalaxAI/backend/llm_client.py</a:t>
            </a:r>
          </a:p>
          <a:p xmlns:a="http://schemas.openxmlformats.org/drawingml/2006/main">
            <a:r>
              <a:t>C:/Users/Asus/Desktop/PDF_GalaxAI/frontend/src/ui/App.tsx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 reports: DEMO records occlusion, responsiveness and directory sync issues; v1.1.1 records a pass for filename hover, nebula occlusion improvement and preview. The v1.2 folder report labels itself v1.1.1 and records keyboard/preview layout issues without a final resolution table. The current code includes bounded OrbitControls, adaptive rendering presets, quality-aware chunk reranking, keyword filtering, OCR/parser fallbacks, PDF viewer fallback, index warnings, model tests and graph refresh retries. Do not equate code presence with a completed regression pass. No benchmark supports a speed improvement percentage.</a:t>
            </a:r>
          </a:p>
          <a:p xmlns:a="http://schemas.openxmlformats.org/drawingml/2006/main">
            <a:r>
              <a:t/>
            </a:r>
          </a:p>
          <a:p xmlns:a="http://schemas.openxmlformats.org/drawingml/2006/main">
            <a:r>
              <a:t>Project sources:</a:t>
            </a:r>
          </a:p>
          <a:p xmlns:a="http://schemas.openxmlformats.org/drawingml/2006/main">
            <a:r>
              <a:t>C:/Users/Asus/Desktop/PDF_GalaxAI/tests/test_v1/Test_report_v1.md</a:t>
            </a:r>
          </a:p>
          <a:p xmlns:a="http://schemas.openxmlformats.org/drawingml/2006/main">
            <a:r>
              <a:t>C:/Users/Asus/Desktop/PDF_GalaxAI/tests/test_v1.1.1/Test_report_v1.1.1.md</a:t>
            </a:r>
          </a:p>
          <a:p xmlns:a="http://schemas.openxmlformats.org/drawingml/2006/main">
            <a:r>
              <a:t>C:/Users/Asus/Desktop/PDF_GalaxAI/tests/test_v1.2/Test_report_v1.2.md</a:t>
            </a:r>
          </a:p>
          <a:p xmlns:a="http://schemas.openxmlformats.org/drawingml/2006/main">
            <a:r>
              <a:t>C:/Users/Asus/Desktop/PDF_GalaxAI/frontend/src/rendering/GalaxyRenderer.tsx</a:t>
            </a:r>
          </a:p>
          <a:p xmlns:a="http://schemas.openxmlformats.org/drawingml/2006/main">
            <a:r>
              <a:t>C:/Users/Asus/Desktop/PDF_GalaxAI/frontend/src/rendering/SemanticNebula.tsx</a:t>
            </a:r>
          </a:p>
          <a:p xmlns:a="http://schemas.openxmlformats.org/drawingml/2006/main">
            <a:r>
              <a:t>C:/Users/Asus/Desktop/PDF_GalaxAI/frontend/src/ui/App.tsx</a:t>
            </a:r>
          </a:p>
          <a:p xmlns:a="http://schemas.openxmlformats.org/drawingml/2006/main">
            <a:r>
              <a:t>C:/Users/Asus/Desktop/PDF_GalaxAI/backend/keyword_extractor.py</a:t>
            </a:r>
          </a:p>
          <a:p xmlns:a="http://schemas.openxmlformats.org/drawingml/2006/main">
            <a:r>
              <a:t/>
            </a:r>
          </a:p>
          <a:p xmlns:a="http://schemas.openxmlformats.org/drawingml/2006/main">
            <a:r>
              <a:t>The frontend production build completes and emits a large-bundle warning. The project’s manual test reports cover earlier versions, including preview, tooltip and nebula occlusion checks. A working end-to-end RAG setup requires Chroma, the embedding model and a configured inference provider. Build success does not establish retrieval accuracy or user-efficiency gains. Formal user studies and rendering performance benchmarks remain future evaluation work.</a:t>
            </a:r>
          </a:p>
          <a:p xmlns:a="http://schemas.openxmlformats.org/drawingml/2006/main">
            <a:r>
              <a:t/>
            </a:r>
          </a:p>
          <a:p xmlns:a="http://schemas.openxmlformats.org/drawingml/2006/main">
            <a:r>
              <a:t>Project sources:</a:t>
            </a:r>
          </a:p>
          <a:p xmlns:a="http://schemas.openxmlformats.org/drawingml/2006/main">
            <a:r>
              <a:t>C:/Users/Asus/Desktop/PDF_GalaxAI/package.json</a:t>
            </a:r>
          </a:p>
          <a:p xmlns:a="http://schemas.openxmlformats.org/drawingml/2006/main">
            <a:r>
              <a:t>C:/Users/Asus/Desktop/PDF_GalaxAI/backend/requirements.txt</a:t>
            </a:r>
          </a:p>
          <a:p xmlns:a="http://schemas.openxmlformats.org/drawingml/2006/main">
            <a:r>
              <a:t>C:/Users/Asus/Desktop/PDF_GalaxAI/tests/test_v1.1.1/Test_report_v1.1.1.md</a:t>
            </a:r>
          </a:p>
          <a:p xmlns:a="http://schemas.openxmlformats.org/drawingml/2006/main">
            <a:r>
              <a:t>C:/Users/Asus/Desktop/PDF_GalaxAI/GRAPHICS_RESEARCH.md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contribution: independent application-level product design and development, according to the applicant’s explicit statement. Third-party foundations include React, Vite, Three.js, FastAPI, Chroma, PDF.js, BGE-M3 and selected inference models. Proposed evaluations are future work: list/2D/3D comparisons, task completion and usability, retrieval precision and source-alignment accuracy, and graphics performance. No planned metric appears as a completed result.</a:t>
            </a:r>
          </a:p>
          <a:p xmlns:a="http://schemas.openxmlformats.org/drawingml/2006/main">
            <a:r>
              <a:t/>
            </a:r>
          </a:p>
          <a:p xmlns:a="http://schemas.openxmlformats.org/drawingml/2006/main">
            <a:r>
              <a:t>Project sources:</a:t>
            </a:r>
          </a:p>
          <a:p xmlns:a="http://schemas.openxmlformats.org/drawingml/2006/main">
            <a:r>
              <a:t>C:/Users/Asus/Desktop/PDF_GalaxAI/README.md</a:t>
            </a:r>
          </a:p>
          <a:p xmlns:a="http://schemas.openxmlformats.org/drawingml/2006/main">
            <a:r>
              <a:t>C:/Users/Asus/Desktop/PDF_GalaxAI/package.json</a:t>
            </a:r>
          </a:p>
          <a:p xmlns:a="http://schemas.openxmlformats.org/drawingml/2006/main">
            <a:r>
              <a:t>C:/Users/Asus/Desktop/PDF_GalaxAI/backend/requirements.txt</a:t>
            </a:r>
          </a:p>
          <a:p xmlns:a="http://schemas.openxmlformats.org/drawingml/2006/main">
            <a:r>
              <a:t>C:/Users/Asus/Desktop/PDF_GalaxAI/GRAPHICS_RESEARCH.md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83f7166c3947b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88f7926f62465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44203adc754c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ba6a37707a4b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f951509b744fb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d14d9a7f9f4e5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a73ab7c5ec94bb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ca1e0ffaf15464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ee909f65c4346e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91f31c4c07549f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2494862c82145f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E6BE68-7E6C-48BA-BC89-38892C1B582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672D54D-174B-4FC9-B282-1C9BAFF0B72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9E112ADC-F8B3-497F-AC0D-665C39ACE8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E15E4D2-9F45-4653-85C2-54C55EB083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BC7BBE7-F96C-4B01-8157-5A179C2ECD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97B283-9DB8-46B3-B075-3A0F5BC45E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31B51F9-4D5C-41F8-A344-D53AAFEFBE4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3ACDA34-0620-4447-B567-94A912730E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A10948F3-B3B0-43F9-ADDE-9950155E45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77D04C7-4FAC-4747-BDA7-6F3976321BE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8F26CA-3948-4244-8000-29FB4BC50E6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91F7F1E-A79E-454C-AF41-1A2B16E9B001}"/>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673E446-07E0-4CD7-9751-3A644F54B8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BB89834F-8E6D-46A0-B820-66703DC460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E54659-CE98-4158-A615-29326691E3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75CFAF-7219-4C09-8AA3-2023086540D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7CAF852-7459-4966-8461-619B8C81C06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CE88E3B-C13C-440C-B90A-A07F4E031D0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71AF3322-0354-4A60-BA03-FC7C86DA0E4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F8CA2BA9-3096-441D-9B97-0C6461128D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A65A5CF-AEB2-48E4-8C25-8AF3A833E5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2AA5819-A2B5-4530-9679-1A824D41A10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4FBA993-212D-4877-AAB5-BF31DA0E3FFC}"/>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8F34BA19-0321-4149-89D5-EDC70F80EBC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6D9253-7587-47B5-BA0A-E32231AF463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E0C06EE-D744-4D7C-AB41-FED43C58887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5E48E741-5DBF-4CF9-AA02-D620E79DD5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08B2EDD8-068A-4E78-AC92-FA368AA69C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CCFFBEA6-31BB-46BB-80B3-FC79F11C8C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04829E3-08B7-4056-A4B9-364D4913BE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1247904-AD95-447D-8515-4DEB461A32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E5FFD0FF-5FC8-4924-80BA-5E5A9F2984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EA5A70C-9FA0-4668-AF6A-05F8C23DB7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9C35B9C-C82F-4ECF-AB68-879C63F663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241F768A-E66D-4D87-ACFB-FF50E01855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E945404-B6AF-4396-8EDC-E7C283E1EE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DA4E40-E22A-49F3-8BA0-EF33A7BDB22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7508BE4-212D-4FA7-9A0E-390A9A20FB2B}"/>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AFDA61B-A59E-4449-81AB-6767A8DC6A3C}"/>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969CBD7-1792-49CC-BE28-AC5EDE7864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220C8C85-FF69-428E-A25E-EBF4E7DC68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3A229C0-D6EA-4979-A9DF-ECA7834521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69666D-8398-40D3-B4A4-7762EE95F20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93AE2A39-93EF-4891-8133-5E15AE338FC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887378E3-2D86-4FCF-A33A-631F00A3F4F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EB1E882-9457-4398-86B0-B955E0A721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871D3594-FA5F-4CE6-B298-FC48391D53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51E2E28-A206-418F-90C8-BA69FF5488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F0B75E-50D2-421D-8007-393877B66B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9DD224C-A671-43E8-8508-7ED6C7D578C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8B7573F-2216-4D7C-A115-C82E659AFD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BE26CD74-E36A-4FB6-B0B9-ED3D76E46C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110655C-41C4-4B32-BBA8-FE4ED09C19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7230D47-830C-456F-AF54-B7AA8354E95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D92DE7C6-CE2B-4866-9612-CABE7545A10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79F1420-A8D4-4070-B6B1-F7F9BB9291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184DAD47-C95D-43B8-A112-84F22FE23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7E49F8F-4552-40D1-8842-E29CDF7468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b13e65b7c14384" /><Relationship Type="http://schemas.openxmlformats.org/officeDocument/2006/relationships/slideLayout" Target="/ppt/slideLayouts/slideLayout1.xml" Id="R0658998561ca4b48" /><Relationship Type="http://schemas.openxmlformats.org/officeDocument/2006/relationships/slideLayout" Target="/ppt/slideLayouts/slideLayout2.xml" Id="R736c7e3f5a3a42be" /><Relationship Type="http://schemas.openxmlformats.org/officeDocument/2006/relationships/slideLayout" Target="/ppt/slideLayouts/slideLayout3.xml" Id="Rdfec21dcaf864cf5" /><Relationship Type="http://schemas.openxmlformats.org/officeDocument/2006/relationships/slideLayout" Target="/ppt/slideLayouts/slideLayout4.xml" Id="Rd14be3271a584426" /><Relationship Type="http://schemas.openxmlformats.org/officeDocument/2006/relationships/slideLayout" Target="/ppt/slideLayouts/slideLayout5.xml" Id="Rc45938647d32405f" /><Relationship Type="http://schemas.openxmlformats.org/officeDocument/2006/relationships/slideLayout" Target="/ppt/slideLayouts/slideLayout6.xml" Id="R7af77bd28f03443a" /><Relationship Type="http://schemas.openxmlformats.org/officeDocument/2006/relationships/slideLayout" Target="/ppt/slideLayouts/slideLayout7.xml" Id="R4a6141a4f7834b53" /><Relationship Type="http://schemas.openxmlformats.org/officeDocument/2006/relationships/slideLayout" Target="/ppt/slideLayouts/slideLayout8.xml" Id="Rd4b6cb08982c4dc6" /><Relationship Type="http://schemas.openxmlformats.org/officeDocument/2006/relationships/slideLayout" Target="/ppt/slideLayouts/slideLayout9.xml" Id="R8b7360f53edd495a" /><Relationship Type="http://schemas.openxmlformats.org/officeDocument/2006/relationships/slideLayout" Target="/ppt/slideLayouts/slideLayout10.xml" Id="Rce86c0a40da34d80" /><Relationship Type="http://schemas.openxmlformats.org/officeDocument/2006/relationships/slideLayout" Target="/ppt/slideLayouts/slideLayout11.xml" Id="R9fdd7c97f9c64ad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D0AE11C-D2C6-41A1-8D62-1883AA0766C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CBF994F-C8A5-4668-B117-969FE9A232F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FCC7E13-2971-4DA7-A300-AEB9006D70EE}"/>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82F2C6A-631B-4A9F-922B-122608EC32C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FD5AF99-D4C5-4BE0-B985-CE6664E7F55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58998561ca4b48"/>
    <p:sldLayoutId xmlns:r="http://schemas.openxmlformats.org/officeDocument/2006/relationships" id="2147483650" r:id="R736c7e3f5a3a42be"/>
    <p:sldLayoutId xmlns:r="http://schemas.openxmlformats.org/officeDocument/2006/relationships" id="2147483651" r:id="Rdfec21dcaf864cf5"/>
    <p:sldLayoutId xmlns:r="http://schemas.openxmlformats.org/officeDocument/2006/relationships" id="2147483652" r:id="Rd14be3271a584426"/>
    <p:sldLayoutId xmlns:r="http://schemas.openxmlformats.org/officeDocument/2006/relationships" id="2147483653" r:id="Rc45938647d32405f"/>
    <p:sldLayoutId xmlns:r="http://schemas.openxmlformats.org/officeDocument/2006/relationships" id="2147483654" r:id="R7af77bd28f03443a"/>
    <p:sldLayoutId xmlns:r="http://schemas.openxmlformats.org/officeDocument/2006/relationships" id="2147483655" r:id="R4a6141a4f7834b53"/>
    <p:sldLayoutId xmlns:r="http://schemas.openxmlformats.org/officeDocument/2006/relationships" id="2147483656" r:id="Rd4b6cb08982c4dc6"/>
    <p:sldLayoutId xmlns:r="http://schemas.openxmlformats.org/officeDocument/2006/relationships" id="2147483657" r:id="R8b7360f53edd495a"/>
    <p:sldLayoutId xmlns:r="http://schemas.openxmlformats.org/officeDocument/2006/relationships" id="2147483658" r:id="Rce86c0a40da34d80"/>
    <p:sldLayoutId xmlns:r="http://schemas.openxmlformats.org/officeDocument/2006/relationships" id="2147483659" r:id="R9fdd7c97f9c64ad3"/>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674cb1d168d4b2f" /><Relationship Type="http://schemas.openxmlformats.org/officeDocument/2006/relationships/notesSlide" Target="/ppt/notesSlides/notesSlide1.xml" Id="R00a83c40a73f41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6790c37724184642" /><Relationship Type="http://schemas.openxmlformats.org/officeDocument/2006/relationships/notesSlide" Target="/ppt/notesSlides/notesSlide2.xml" Id="R49ce0a9946c243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d53e970eef64aed" /><Relationship Type="http://schemas.openxmlformats.org/officeDocument/2006/relationships/notesSlide" Target="/ppt/notesSlides/notesSlide3.xml" Id="Rfd8674f51c8a44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a3affec3fc78485f" /><Relationship Type="http://schemas.openxmlformats.org/officeDocument/2006/relationships/notesSlide" Target="/ppt/notesSlides/notesSlide4.xml" Id="R01d79c06db2b4f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307d4ede685447e" /><Relationship Type="http://schemas.openxmlformats.org/officeDocument/2006/relationships/notesSlide" Target="/ppt/notesSlides/notesSlide5.xml" Id="R8658d799ad354b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02ad97e63e954896" /><Relationship Type="http://schemas.openxmlformats.org/officeDocument/2006/relationships/notesSlide" Target="/ppt/notesSlides/notesSlide6.xml" Id="Ra71aea1690f34d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7f0436ce6e044111" /><Relationship Type="http://schemas.openxmlformats.org/officeDocument/2006/relationships/notesSlide" Target="/ppt/notesSlides/notesSlide7.xml" Id="R4dd442a916754c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3df179bc53fe46c3" /><Relationship Type="http://schemas.openxmlformats.org/officeDocument/2006/relationships/notesSlide" Target="/ppt/notesSlides/notesSlide8.xml" Id="Rfe23dbbc4dee47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0ffcbfc1526490c" /><Relationship Type="http://schemas.openxmlformats.org/officeDocument/2006/relationships/notesSlide" Target="/ppt/notesSlides/notesSlide9.xml" Id="Rc12e9f4b55644388" /></Relationships>
</file>

<file path=ppt/slides/slide1.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69563D75-79FA-46ED-AD79-ADD757CDE894}"/>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867E9453-733C-48DE-B217-7CB68E2EA1D6}"/>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FB3A289C-6478-4D0C-8E17-6569A6767E63}"/>
              </a:ext>
            </a:extLst>
          </p:cNvPr>
          <p:cNvSpPr>
            <a:spLocks xmlns:a="http://schemas.openxmlformats.org/drawingml/2006/main" noGrp="1"/>
          </p:cNvSpPr>
          <p:nvPr/>
        </p:nvSpPr>
        <p:spPr>
          <a:xfrm xmlns:a="http://schemas.openxmlformats.org/drawingml/2006/main" rot="0" flipH="0" flipV="0">
            <a:off x="4543425" y="628650"/>
            <a:ext cx="1466850" cy="590550"/>
          </a:xfrm>
          <a:custGeom xmlns:a="http://schemas.openxmlformats.org/drawingml/2006/main">
            <a:rect l="l" t="t" r="r" b="b"/>
            <a:pathLst>
              <a:path w="385586" h="155110">
                <a:moveTo>
                  <a:pt x="77555" y="0"/>
                </a:moveTo>
                <a:lnTo>
                  <a:pt x="308031" y="0"/>
                </a:lnTo>
                <a:cubicBezTo>
                  <a:pt x="350864" y="0"/>
                  <a:pt x="385586" y="34722"/>
                  <a:pt x="385586" y="77555"/>
                </a:cubicBezTo>
                <a:lnTo>
                  <a:pt x="385586" y="77555"/>
                </a:lnTo>
                <a:cubicBezTo>
                  <a:pt x="385586" y="120387"/>
                  <a:pt x="350864" y="155110"/>
                  <a:pt x="308031"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DC43F693-9031-4555-99A5-99E46EC97DDF}"/>
              </a:ext>
            </a:extLst>
          </p:cNvPr>
          <p:cNvSpPr>
            <a:spLocks xmlns:a="http://schemas.openxmlformats.org/drawingml/2006/main" noGrp="1"/>
          </p:cNvSpPr>
          <p:nvPr/>
        </p:nvSpPr>
        <p:spPr>
          <a:xfrm xmlns:a="http://schemas.openxmlformats.org/drawingml/2006/main" rot="0" flipH="0" flipV="0">
            <a:off x="4541120" y="485855"/>
            <a:ext cx="1464022"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Freeform 9">
            <a:extLst xmlns:a="http://schemas.openxmlformats.org/drawingml/2006/main">
              <a:ext uri="{FF2B5EF4-FFF2-40B4-BE49-F238E27FC236}">
                <a16:creationId xmlns:a16="http://schemas.microsoft.com/office/drawing/2014/main" id="{9AB6C1C3-395E-4E7E-8E50-44AD8E3E51AE}"/>
              </a:ext>
            </a:extLst>
          </p:cNvPr>
          <p:cNvSpPr>
            <a:spLocks xmlns:a="http://schemas.openxmlformats.org/drawingml/2006/main" noGrp="1"/>
          </p:cNvSpPr>
          <p:nvPr/>
        </p:nvSpPr>
        <p:spPr>
          <a:xfrm xmlns:a="http://schemas.openxmlformats.org/drawingml/2006/main" rot="0" flipH="0" flipV="0">
            <a:off x="14679019" y="0"/>
            <a:ext cx="3608981" cy="10287000"/>
          </a:xfrm>
          <a:custGeom xmlns:a="http://schemas.openxmlformats.org/drawingml/2006/main">
            <a:rect l="l" t="t" r="r" b="b"/>
            <a:pathLst>
              <a:path w="1123044" h="2709333">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xmlns:a="http://schemas.openxmlformats.org/drawingml/2006/main">
            <a:srgbClr val="DCE2EB"/>
          </a:solidFill>
        </p:spPr>
      </p:sp>
      <p:sp>
        <p:nvSpPr>
          <p:cNvPr id="26" name="TextBox 26">
            <a:extLst xmlns:a="http://schemas.openxmlformats.org/drawingml/2006/main">
              <a:ext uri="{FF2B5EF4-FFF2-40B4-BE49-F238E27FC236}">
                <a16:creationId xmlns:a16="http://schemas.microsoft.com/office/drawing/2014/main" id="{B2368DAF-F960-4F2F-A83E-7C3DA4114C24}"/>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VISION</a:t>
            </a:r>
          </a:p>
        </p:txBody>
      </p:sp>
      <p:sp>
        <p:nvSpPr>
          <p:cNvPr id="27" name="TextBox 27">
            <a:extLst xmlns:a="http://schemas.openxmlformats.org/drawingml/2006/main">
              <a:ext uri="{FF2B5EF4-FFF2-40B4-BE49-F238E27FC236}">
                <a16:creationId xmlns:a16="http://schemas.microsoft.com/office/drawing/2014/main" id="{9B24F0BA-9F4C-4710-9D53-DD68996F339D}"/>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28" name="TextBox 28">
            <a:extLst xmlns:a="http://schemas.openxmlformats.org/drawingml/2006/main">
              <a:ext uri="{FF2B5EF4-FFF2-40B4-BE49-F238E27FC236}">
                <a16:creationId xmlns:a16="http://schemas.microsoft.com/office/drawing/2014/main" id="{2594C8F0-63EF-433D-ADDD-BFDD867EC47B}"/>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9" name="TextBox 29">
            <a:extLst xmlns:a="http://schemas.openxmlformats.org/drawingml/2006/main">
              <a:ext uri="{FF2B5EF4-FFF2-40B4-BE49-F238E27FC236}">
                <a16:creationId xmlns:a16="http://schemas.microsoft.com/office/drawing/2014/main" id="{FC4200B8-F07A-4ECA-9DB8-BD51CE664499}"/>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30" name="TextBox 30">
            <a:extLst xmlns:a="http://schemas.openxmlformats.org/drawingml/2006/main">
              <a:ext uri="{FF2B5EF4-FFF2-40B4-BE49-F238E27FC236}">
                <a16:creationId xmlns:a16="http://schemas.microsoft.com/office/drawing/2014/main" id="{94B29ADB-453E-4E9F-A846-135519A6AAF0}"/>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31" name="01">
            <a:extLst xmlns:a="http://schemas.openxmlformats.org/drawingml/2006/main">
              <a:ext uri="{FF2B5EF4-FFF2-40B4-BE49-F238E27FC236}">
                <a16:creationId xmlns:a16="http://schemas.microsoft.com/office/drawing/2014/main" id="{BEBA0D98-3A98-4613-ACE6-AA0CA1EBCA8D}"/>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01</a:t>
            </a:r>
          </a:p>
        </p:txBody>
      </p:sp>
      <p:sp>
        <p:nvSpPr>
          <p:cNvPr id="32" name="PDF-GalaxAI">
            <a:extLst xmlns:a="http://schemas.openxmlformats.org/drawingml/2006/main">
              <a:ext uri="{FF2B5EF4-FFF2-40B4-BE49-F238E27FC236}">
                <a16:creationId xmlns:a16="http://schemas.microsoft.com/office/drawing/2014/main" id="{9C476DF5-CD7C-4CC3-8947-66BFD6074685}"/>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33" name="01 / 12">
            <a:extLst xmlns:a="http://schemas.openxmlformats.org/drawingml/2006/main">
              <a:ext uri="{FF2B5EF4-FFF2-40B4-BE49-F238E27FC236}">
                <a16:creationId xmlns:a16="http://schemas.microsoft.com/office/drawing/2014/main" id="{9C6C5FC8-21F0-4214-9726-65B5AD063879}"/>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01 / 09</a:t>
            </a:r>
          </a:p>
        </p:txBody>
      </p:sp>
      <p:sp>
        <p:nvSpPr>
          <p:cNvPr id="34" name="PDF-GalaxAI">
            <a:extLst xmlns:a="http://schemas.openxmlformats.org/drawingml/2006/main">
              <a:ext uri="{FF2B5EF4-FFF2-40B4-BE49-F238E27FC236}">
                <a16:creationId xmlns:a16="http://schemas.microsoft.com/office/drawing/2014/main" id="{93499F55-0FFA-4A04-9BCC-E484B5A34BED}"/>
              </a:ext>
            </a:extLst>
          </p:cNvPr>
          <p:cNvSpPr>
            <a:spLocks xmlns:a="http://schemas.openxmlformats.org/drawingml/2006/main" noGrp="1"/>
          </p:cNvSpPr>
          <p:nvPr/>
        </p:nvSpPr>
        <p:spPr>
          <a:xfrm xmlns:a="http://schemas.openxmlformats.org/drawingml/2006/main">
            <a:off x="1238250" y="2324100"/>
            <a:ext cx="15335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101B40"/>
                </a:solidFill>
                <a:latin typeface="Montserrat Bold"/>
                <a:ea typeface="Montserrat Bold"/>
                <a:cs typeface="Montserrat Bold"/>
              </a:defRPr>
            </a:defPPr>
          </a:lstStyle>
          <a:p xmlns:a="http://schemas.openxmlformats.org/drawingml/2006/main">
            <a:pPr algn="l">
              <a:buNone/>
              <a:defRPr sz="7500" b="1">
                <a:solidFill>
                  <a:srgbClr val="101B40"/>
                </a:solidFill>
                <a:latin typeface="Montserrat Bold"/>
                <a:ea typeface="Montserrat Bold"/>
                <a:cs typeface="Montserrat Bold"/>
              </a:defRPr>
            </a:pPr>
            <a:r>
              <a:rPr sz="7500" b="1">
                <a:solidFill>
                  <a:srgbClr val="101B40"/>
                </a:solidFill>
                <a:latin typeface="Montserrat Bold"/>
                <a:ea typeface="Montserrat Bold"/>
                <a:cs typeface="Montserrat Bold"/>
              </a:rPr>
              <a:t>PDF-GalaxAI</a:t>
            </a:r>
          </a:p>
        </p:txBody>
      </p:sp>
      <p:sp>
        <p:nvSpPr>
          <p:cNvPr id="35" name="An AI-Driven Interactive&#10;Knowledge Exploration Platform">
            <a:extLst xmlns:a="http://schemas.openxmlformats.org/drawingml/2006/main">
              <a:ext uri="{FF2B5EF4-FFF2-40B4-BE49-F238E27FC236}">
                <a16:creationId xmlns:a16="http://schemas.microsoft.com/office/drawing/2014/main" id="{453D3808-6C95-4C7D-8572-835D67D25883}"/>
              </a:ext>
            </a:extLst>
          </p:cNvPr>
          <p:cNvSpPr>
            <a:spLocks xmlns:a="http://schemas.openxmlformats.org/drawingml/2006/main" noGrp="1"/>
          </p:cNvSpPr>
          <p:nvPr/>
        </p:nvSpPr>
        <p:spPr>
          <a:xfrm xmlns:a="http://schemas.openxmlformats.org/drawingml/2006/main">
            <a:off x="1276350" y="3714750"/>
            <a:ext cx="714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101B40"/>
                </a:solidFill>
                <a:latin typeface="Montserrat"/>
                <a:ea typeface="Montserrat"/>
                <a:cs typeface="Montserrat"/>
              </a:defRPr>
            </a:defPPr>
          </a:lstStyle>
          <a:p xmlns:a="http://schemas.openxmlformats.org/drawingml/2006/main">
            <a:pPr algn="l">
              <a:buNone/>
              <a:defRPr sz="3450" b="0">
                <a:solidFill>
                  <a:srgbClr val="101B40"/>
                </a:solidFill>
                <a:latin typeface="Montserrat"/>
                <a:ea typeface="Montserrat"/>
                <a:cs typeface="Montserrat"/>
              </a:defRPr>
            </a:pPr>
            <a:r>
              <a:rPr sz="3450" b="0">
                <a:solidFill>
                  <a:srgbClr val="101B40"/>
                </a:solidFill>
                <a:latin typeface="Montserrat"/>
                <a:ea typeface="Montserrat"/>
                <a:cs typeface="Montserrat"/>
              </a:rPr>
              <a:t>An AI-Driven Interactive</a:t>
            </a:r>
          </a:p>
          <a:p xmlns:a="http://schemas.openxmlformats.org/drawingml/2006/main">
            <a:pPr algn="l">
              <a:buNone/>
              <a:defRPr sz="3450" b="0">
                <a:solidFill>
                  <a:srgbClr val="101B40"/>
                </a:solidFill>
                <a:latin typeface="Montserrat"/>
                <a:ea typeface="Montserrat"/>
                <a:cs typeface="Montserrat"/>
              </a:defRPr>
            </a:pPr>
            <a:r>
              <a:rPr sz="3450" b="0">
                <a:solidFill>
                  <a:srgbClr val="101B40"/>
                </a:solidFill>
                <a:latin typeface="Montserrat"/>
                <a:ea typeface="Montserrat"/>
                <a:cs typeface="Montserrat"/>
              </a:rPr>
              <a:t>Knowledge Exploration Platform</a:t>
            </a:r>
          </a:p>
        </p:txBody>
      </p:sp>
      <p:sp>
        <p:nvSpPr>
          <p:cNvPr id="36" name="Independently Designed and Developed">
            <a:extLst xmlns:a="http://schemas.openxmlformats.org/drawingml/2006/main">
              <a:ext uri="{FF2B5EF4-FFF2-40B4-BE49-F238E27FC236}">
                <a16:creationId xmlns:a16="http://schemas.microsoft.com/office/drawing/2014/main" id="{4D53854F-A02D-47B2-AA8D-1633C734A23D}"/>
              </a:ext>
            </a:extLst>
          </p:cNvPr>
          <p:cNvSpPr>
            <a:spLocks xmlns:a="http://schemas.openxmlformats.org/drawingml/2006/main" noGrp="1"/>
          </p:cNvSpPr>
          <p:nvPr/>
        </p:nvSpPr>
        <p:spPr>
          <a:xfrm xmlns:a="http://schemas.openxmlformats.org/drawingml/2006/main">
            <a:off x="1276350" y="55245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01B40"/>
                </a:solidFill>
                <a:latin typeface="Montserrat Bold"/>
                <a:ea typeface="Montserrat Bold"/>
                <a:cs typeface="Montserrat Bold"/>
              </a:defRPr>
            </a:defPPr>
          </a:lstStyle>
          <a:p xmlns:a="http://schemas.openxmlformats.org/drawingml/2006/main">
            <a:pPr algn="l">
              <a:buNone/>
              <a:defRPr sz="2250" b="1">
                <a:solidFill>
                  <a:srgbClr val="101B40"/>
                </a:solidFill>
                <a:latin typeface="Montserrat Bold"/>
                <a:ea typeface="Montserrat Bold"/>
                <a:cs typeface="Montserrat Bold"/>
              </a:defRPr>
            </a:pPr>
            <a:r>
              <a:rPr sz="2250" b="1">
                <a:solidFill>
                  <a:srgbClr val="101B40"/>
                </a:solidFill>
                <a:latin typeface="Montserrat Bold"/>
                <a:ea typeface="Montserrat Bold"/>
                <a:cs typeface="Montserrat Bold"/>
              </a:rPr>
              <a:t>Independently Designed and Developed</a:t>
            </a:r>
          </a:p>
        </p:txBody>
      </p:sp>
      <p:sp>
        <p:nvSpPr>
          <p:cNvPr id="37" name="[Your Name]">
            <a:extLst xmlns:a="http://schemas.openxmlformats.org/drawingml/2006/main">
              <a:ext uri="{FF2B5EF4-FFF2-40B4-BE49-F238E27FC236}">
                <a16:creationId xmlns:a16="http://schemas.microsoft.com/office/drawing/2014/main" id="{8FE629DA-ADFB-45D1-BD0D-0D0DCCF7EBF9}"/>
              </a:ext>
            </a:extLst>
          </p:cNvPr>
          <p:cNvSpPr>
            <a:spLocks xmlns:a="http://schemas.openxmlformats.org/drawingml/2006/main" noGrp="1"/>
          </p:cNvSpPr>
          <p:nvPr/>
        </p:nvSpPr>
        <p:spPr>
          <a:xfrm xmlns:a="http://schemas.openxmlformats.org/drawingml/2006/main">
            <a:off x="1276350" y="6457950"/>
            <a:ext cx="690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01B40"/>
                </a:solidFill>
                <a:latin typeface="Montserrat Bold"/>
                <a:ea typeface="Montserrat Bold"/>
                <a:cs typeface="Montserrat Bold"/>
              </a:defRPr>
            </a:defPPr>
          </a:lstStyle>
          <a:p xmlns:a="http://schemas.openxmlformats.org/drawingml/2006/main">
            <a:pPr algn="l">
              <a:buNone/>
              <a:defRPr sz="3150" b="1">
                <a:solidFill>
                  <a:srgbClr val="101B40"/>
                </a:solidFill>
                <a:latin typeface="Montserrat Bold"/>
                <a:ea typeface="Montserrat Bold"/>
                <a:cs typeface="Montserrat Bold"/>
              </a:defRPr>
            </a:pPr>
            <a:r>
              <a:rPr sz="3150" b="1">
                <a:solidFill>
                  <a:srgbClr val="101B40"/>
                </a:solidFill>
                <a:latin typeface="Montserrat Bold"/>
                <a:ea typeface="Montserrat Bold"/>
                <a:cs typeface="Montserrat Bold"/>
              </a:rPr>
              <a:t>[Your Name]</a:t>
            </a:r>
          </a:p>
        </p:txBody>
      </p:sp>
      <p:sp>
        <p:nvSpPr>
          <p:cNvPr id="38" name="Application Portfolio&#10;HKU MSc(Eng) Innovative Design and Technology">
            <a:extLst xmlns:a="http://schemas.openxmlformats.org/drawingml/2006/main">
              <a:ext uri="{FF2B5EF4-FFF2-40B4-BE49-F238E27FC236}">
                <a16:creationId xmlns:a16="http://schemas.microsoft.com/office/drawing/2014/main" id="{F5782908-C960-4DD7-B1B3-B1A4F2213A1F}"/>
              </a:ext>
            </a:extLst>
          </p:cNvPr>
          <p:cNvSpPr>
            <a:spLocks xmlns:a="http://schemas.openxmlformats.org/drawingml/2006/main" noGrp="1"/>
          </p:cNvSpPr>
          <p:nvPr/>
        </p:nvSpPr>
        <p:spPr>
          <a:xfrm xmlns:a="http://schemas.openxmlformats.org/drawingml/2006/main">
            <a:off x="1276350" y="7467600"/>
            <a:ext cx="695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Application Portfolio</a:t>
            </a:r>
          </a:p>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HKU MSc(Eng) Innovative Design and Technology</a:t>
            </a:r>
          </a:p>
        </p:txBody>
      </p:sp>
      <p:sp>
        <p:nvSpPr>
          <p:cNvPr id="39" name="Screenshot placeholder: 【此处放网页平台首页截图】">
            <a:extLst xmlns:a="http://schemas.openxmlformats.org/drawingml/2006/main">
              <a:ext uri="{FF2B5EF4-FFF2-40B4-BE49-F238E27FC236}">
                <a16:creationId xmlns:a16="http://schemas.microsoft.com/office/drawing/2014/main" id="{14402313-CC8F-44E2-9123-AE3FDD6C331E}"/>
              </a:ext>
            </a:extLst>
          </p:cNvPr>
          <p:cNvSpPr>
            <a:spLocks xmlns:a="http://schemas.openxmlformats.org/drawingml/2006/main" noGrp="1"/>
          </p:cNvSpPr>
          <p:nvPr/>
        </p:nvSpPr>
        <p:spPr>
          <a:xfrm xmlns:a="http://schemas.openxmlformats.org/drawingml/2006/main">
            <a:off x="9001125" y="3762375"/>
            <a:ext cx="7924800" cy="4457700"/>
          </a:xfrm>
          <a:prstGeom xmlns:a="http://schemas.openxmlformats.org/drawingml/2006/main" prst="roundRect">
            <a:avLst>
              <a:gd name="adj" fmla="val 5128"/>
            </a:avLst>
          </a:prstGeom>
          <a:solidFill xmlns:a="http://schemas.openxmlformats.org/drawingml/2006/main">
            <a:srgbClr val="DCE2EB"/>
          </a:solidFill>
          <a:ln xmlns:a="http://schemas.openxmlformats.org/drawingml/2006/main" w="16193">
            <a:solidFill>
              <a:srgbClr val="8FA4C1"/>
            </a:solidFill>
          </a:ln>
        </p:spPr>
      </p:sp>
      <p:sp>
        <p:nvSpPr>
          <p:cNvPr id="40" name="【此处放网页平台首页截图】">
            <a:extLst xmlns:a="http://schemas.openxmlformats.org/drawingml/2006/main">
              <a:ext uri="{FF2B5EF4-FFF2-40B4-BE49-F238E27FC236}">
                <a16:creationId xmlns:a16="http://schemas.microsoft.com/office/drawing/2014/main" id="{4B9C6F9D-D8D8-4453-9885-F513CF4691D6}"/>
              </a:ext>
            </a:extLst>
          </p:cNvPr>
          <p:cNvSpPr>
            <a:spLocks xmlns:a="http://schemas.openxmlformats.org/drawingml/2006/main" noGrp="1"/>
          </p:cNvSpPr>
          <p:nvPr/>
        </p:nvSpPr>
        <p:spPr>
          <a:xfrm xmlns:a="http://schemas.openxmlformats.org/drawingml/2006/main">
            <a:off x="9210675" y="5705475"/>
            <a:ext cx="7505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【此处放网页平台首页截图】</a:t>
            </a:r>
          </a:p>
        </p:txBody>
      </p:sp>
      <p:sp>
        <p:nvSpPr>
          <p:cNvPr id="41" name="16:9">
            <a:extLst xmlns:a="http://schemas.openxmlformats.org/drawingml/2006/main">
              <a:ext uri="{FF2B5EF4-FFF2-40B4-BE49-F238E27FC236}">
                <a16:creationId xmlns:a16="http://schemas.microsoft.com/office/drawing/2014/main" id="{F299C09F-D0BA-453A-8B53-934D0DC4907D}"/>
              </a:ext>
            </a:extLst>
          </p:cNvPr>
          <p:cNvSpPr>
            <a:spLocks xmlns:a="http://schemas.openxmlformats.org/drawingml/2006/main" noGrp="1"/>
          </p:cNvSpPr>
          <p:nvPr/>
        </p:nvSpPr>
        <p:spPr>
          <a:xfrm xmlns:a="http://schemas.openxmlformats.org/drawingml/2006/main">
            <a:off x="15544800" y="393382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Tree>
    <p:extLst>
      <p:ext uri="{BB962C8B-B14F-4D97-AF65-F5344CB8AC3E}">
        <p14:creationId xmlns:p14="http://schemas.microsoft.com/office/powerpoint/2010/main" val="753561399"/>
      </p:ext>
    </p:extLst>
  </p:cSld>
</p:sld>
</file>

<file path=ppt/slides/slide2.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451DB41B-06B9-47D3-9E88-1D1F65C82D28}"/>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C73E431D-CAA6-4C80-89A4-80ABDAC3F28A}"/>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14AF1670-6876-4024-9ECF-E2D643B9CD1D}"/>
              </a:ext>
            </a:extLst>
          </p:cNvPr>
          <p:cNvSpPr>
            <a:spLocks xmlns:a="http://schemas.openxmlformats.org/drawingml/2006/main" noGrp="1"/>
          </p:cNvSpPr>
          <p:nvPr/>
        </p:nvSpPr>
        <p:spPr>
          <a:xfrm xmlns:a="http://schemas.openxmlformats.org/drawingml/2006/main" rot="0" flipH="0" flipV="0">
            <a:off x="7048500" y="628650"/>
            <a:ext cx="1466850" cy="590550"/>
          </a:xfrm>
          <a:custGeom xmlns:a="http://schemas.openxmlformats.org/drawingml/2006/main">
            <a:rect l="l" t="t" r="r" b="b"/>
            <a:pathLst>
              <a:path w="385586" h="155110">
                <a:moveTo>
                  <a:pt x="77555" y="0"/>
                </a:moveTo>
                <a:lnTo>
                  <a:pt x="308031" y="0"/>
                </a:lnTo>
                <a:cubicBezTo>
                  <a:pt x="350864" y="0"/>
                  <a:pt x="385586" y="34722"/>
                  <a:pt x="385586" y="77555"/>
                </a:cubicBezTo>
                <a:lnTo>
                  <a:pt x="385586" y="77555"/>
                </a:lnTo>
                <a:cubicBezTo>
                  <a:pt x="385586" y="120387"/>
                  <a:pt x="350864" y="155110"/>
                  <a:pt x="308031"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AEADC97D-4CF2-46A6-BCE1-95034A882F1F}"/>
              </a:ext>
            </a:extLst>
          </p:cNvPr>
          <p:cNvSpPr>
            <a:spLocks xmlns:a="http://schemas.openxmlformats.org/drawingml/2006/main" noGrp="1"/>
          </p:cNvSpPr>
          <p:nvPr/>
        </p:nvSpPr>
        <p:spPr>
          <a:xfrm xmlns:a="http://schemas.openxmlformats.org/drawingml/2006/main" rot="0" flipH="0" flipV="0">
            <a:off x="7051333" y="483641"/>
            <a:ext cx="1464022"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31" name="TextBox 31">
            <a:extLst xmlns:a="http://schemas.openxmlformats.org/drawingml/2006/main">
              <a:ext uri="{FF2B5EF4-FFF2-40B4-BE49-F238E27FC236}">
                <a16:creationId xmlns:a16="http://schemas.microsoft.com/office/drawing/2014/main" id="{A9E0484D-DC82-4E2F-9230-E8E009F719AE}"/>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32" name="TextBox 32">
            <a:extLst xmlns:a="http://schemas.openxmlformats.org/drawingml/2006/main">
              <a:ext uri="{FF2B5EF4-FFF2-40B4-BE49-F238E27FC236}">
                <a16:creationId xmlns:a16="http://schemas.microsoft.com/office/drawing/2014/main" id="{8A0C8032-06CF-4912-A00E-FE356871323C}"/>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33" name="TextBox 33">
            <a:extLst xmlns:a="http://schemas.openxmlformats.org/drawingml/2006/main">
              <a:ext uri="{FF2B5EF4-FFF2-40B4-BE49-F238E27FC236}">
                <a16:creationId xmlns:a16="http://schemas.microsoft.com/office/drawing/2014/main" id="{D40F2FAD-511A-4CAC-A19C-D7EAA3329FFC}"/>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34" name="TextBox 34">
            <a:extLst xmlns:a="http://schemas.openxmlformats.org/drawingml/2006/main">
              <a:ext uri="{FF2B5EF4-FFF2-40B4-BE49-F238E27FC236}">
                <a16:creationId xmlns:a16="http://schemas.microsoft.com/office/drawing/2014/main" id="{8CED178F-B4CC-437D-91BD-6F3C099E14B9}"/>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35" name="TextBox 35">
            <a:extLst xmlns:a="http://schemas.openxmlformats.org/drawingml/2006/main">
              <a:ext uri="{FF2B5EF4-FFF2-40B4-BE49-F238E27FC236}">
                <a16:creationId xmlns:a16="http://schemas.microsoft.com/office/drawing/2014/main" id="{8B21B1CB-CA5C-4BF0-AC17-99BD7C789B0A}"/>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36" name="02">
            <a:extLst xmlns:a="http://schemas.openxmlformats.org/drawingml/2006/main">
              <a:ext uri="{FF2B5EF4-FFF2-40B4-BE49-F238E27FC236}">
                <a16:creationId xmlns:a16="http://schemas.microsoft.com/office/drawing/2014/main" id="{71757E11-53B8-414B-AAB1-9A81303B9F03}"/>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02</a:t>
            </a:r>
          </a:p>
        </p:txBody>
      </p:sp>
      <p:sp>
        <p:nvSpPr>
          <p:cNvPr id="37" name="PDF-GalaxAI">
            <a:extLst xmlns:a="http://schemas.openxmlformats.org/drawingml/2006/main">
              <a:ext uri="{FF2B5EF4-FFF2-40B4-BE49-F238E27FC236}">
                <a16:creationId xmlns:a16="http://schemas.microsoft.com/office/drawing/2014/main" id="{58C96FCE-7EB1-415A-A793-A1845630B8CA}"/>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38" name="02 / 12">
            <a:extLst xmlns:a="http://schemas.openxmlformats.org/drawingml/2006/main">
              <a:ext uri="{FF2B5EF4-FFF2-40B4-BE49-F238E27FC236}">
                <a16:creationId xmlns:a16="http://schemas.microsoft.com/office/drawing/2014/main" id="{4A1FF8FE-A8D3-450A-8242-6842E89BD6DE}"/>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02 / 09</a:t>
            </a:r>
          </a:p>
        </p:txBody>
      </p:sp>
      <p:sp>
        <p:nvSpPr>
          <p:cNvPr id="39" name="User Problems &amp; Design Objectives">
            <a:extLst xmlns:a="http://schemas.openxmlformats.org/drawingml/2006/main">
              <a:ext uri="{FF2B5EF4-FFF2-40B4-BE49-F238E27FC236}">
                <a16:creationId xmlns:a16="http://schemas.microsoft.com/office/drawing/2014/main" id="{8F375502-DAC4-41E8-A407-F0B23FF2EF5F}"/>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User Problems &amp; Design Objectives</a:t>
            </a:r>
          </a:p>
        </p:txBody>
      </p:sp>
      <p:sp>
        <p:nvSpPr>
          <p:cNvPr id="40" name="Designed for researchers exploring relationships across a growing coll">
            <a:extLst xmlns:a="http://schemas.openxmlformats.org/drawingml/2006/main">
              <a:ext uri="{FF2B5EF4-FFF2-40B4-BE49-F238E27FC236}">
                <a16:creationId xmlns:a16="http://schemas.microsoft.com/office/drawing/2014/main" id="{1C1841D4-1A7D-41B2-BC0E-11401715AB59}"/>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Designed for researchers exploring relationships across a growing collection of papers.</a:t>
            </a:r>
          </a:p>
        </p:txBody>
      </p:sp>
      <p:sp>
        <p:nvSpPr>
          <p:cNvPr id="41" name="RESEARCH TASK">
            <a:extLst xmlns:a="http://schemas.openxmlformats.org/drawingml/2006/main">
              <a:ext uri="{FF2B5EF4-FFF2-40B4-BE49-F238E27FC236}">
                <a16:creationId xmlns:a16="http://schemas.microsoft.com/office/drawing/2014/main" id="{170D77D2-EFCB-4EC1-ACEF-B04E0AC7A8A5}"/>
              </a:ext>
            </a:extLst>
          </p:cNvPr>
          <p:cNvSpPr>
            <a:spLocks xmlns:a="http://schemas.openxmlformats.org/drawingml/2006/main" noGrp="1"/>
          </p:cNvSpPr>
          <p:nvPr/>
        </p:nvSpPr>
        <p:spPr>
          <a:xfrm xmlns:a="http://schemas.openxmlformats.org/drawingml/2006/main">
            <a:off x="1285875" y="40290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RESEARCH TASK</a:t>
            </a:r>
          </a:p>
        </p:txBody>
      </p:sp>
      <p:sp>
        <p:nvSpPr>
          <p:cNvPr id="42" name="PRODUCT RESPONSE">
            <a:extLst xmlns:a="http://schemas.openxmlformats.org/drawingml/2006/main">
              <a:ext uri="{FF2B5EF4-FFF2-40B4-BE49-F238E27FC236}">
                <a16:creationId xmlns:a16="http://schemas.microsoft.com/office/drawing/2014/main" id="{185D7574-1B58-4B10-8256-5265FB3074A6}"/>
              </a:ext>
            </a:extLst>
          </p:cNvPr>
          <p:cNvSpPr>
            <a:spLocks xmlns:a="http://schemas.openxmlformats.org/drawingml/2006/main" noGrp="1"/>
          </p:cNvSpPr>
          <p:nvPr/>
        </p:nvSpPr>
        <p:spPr>
          <a:xfrm xmlns:a="http://schemas.openxmlformats.org/drawingml/2006/main">
            <a:off x="9286875" y="4029075"/>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PRODUCT RESPONSE</a:t>
            </a:r>
          </a:p>
        </p:txBody>
      </p:sp>
      <p:sp>
        <p:nvSpPr>
          <p:cNvPr id="43" name="Fragmented knowledge">
            <a:extLst xmlns:a="http://schemas.openxmlformats.org/drawingml/2006/main">
              <a:ext uri="{FF2B5EF4-FFF2-40B4-BE49-F238E27FC236}">
                <a16:creationId xmlns:a16="http://schemas.microsoft.com/office/drawing/2014/main" id="{44F669A3-35B0-44EE-BEBB-461759DA8206}"/>
              </a:ext>
            </a:extLst>
          </p:cNvPr>
          <p:cNvSpPr>
            <a:spLocks xmlns:a="http://schemas.openxmlformats.org/drawingml/2006/main" noGrp="1"/>
          </p:cNvSpPr>
          <p:nvPr/>
        </p:nvSpPr>
        <p:spPr>
          <a:xfrm xmlns:a="http://schemas.openxmlformats.org/drawingml/2006/main">
            <a:off x="1285875" y="46672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Fragmented knowledge</a:t>
            </a:r>
          </a:p>
        </p:txBody>
      </p:sp>
      <p:sp>
        <p:nvSpPr>
          <p:cNvPr id="44" name="Individual PDFs hide connections across a collection.">
            <a:extLst xmlns:a="http://schemas.openxmlformats.org/drawingml/2006/main">
              <a:ext uri="{FF2B5EF4-FFF2-40B4-BE49-F238E27FC236}">
                <a16:creationId xmlns:a16="http://schemas.microsoft.com/office/drawing/2014/main" id="{B0FA2008-5FF8-4212-8F3B-F125002BABF8}"/>
              </a:ext>
            </a:extLst>
          </p:cNvPr>
          <p:cNvSpPr>
            <a:spLocks xmlns:a="http://schemas.openxmlformats.org/drawingml/2006/main" noGrp="1"/>
          </p:cNvSpPr>
          <p:nvPr/>
        </p:nvSpPr>
        <p:spPr>
          <a:xfrm xmlns:a="http://schemas.openxmlformats.org/drawingml/2006/main">
            <a:off x="1285875" y="51149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Individual PDFs hide connections across a collection.</a:t>
            </a:r>
          </a:p>
        </p:txBody>
      </p:sp>
      <p:sp>
        <p:nvSpPr>
          <p:cNvPr id="45" name="A semantic knowledge galaxy">
            <a:extLst xmlns:a="http://schemas.openxmlformats.org/drawingml/2006/main">
              <a:ext uri="{FF2B5EF4-FFF2-40B4-BE49-F238E27FC236}">
                <a16:creationId xmlns:a16="http://schemas.microsoft.com/office/drawing/2014/main" id="{5EC37D8B-29C1-43F7-99F4-A01188B1F5B2}"/>
              </a:ext>
            </a:extLst>
          </p:cNvPr>
          <p:cNvSpPr>
            <a:spLocks xmlns:a="http://schemas.openxmlformats.org/drawingml/2006/main" noGrp="1"/>
          </p:cNvSpPr>
          <p:nvPr/>
        </p:nvSpPr>
        <p:spPr>
          <a:xfrm xmlns:a="http://schemas.openxmlformats.org/drawingml/2006/main">
            <a:off x="9286875" y="46672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semantic knowledge galaxy</a:t>
            </a:r>
          </a:p>
        </p:txBody>
      </p:sp>
      <p:sp>
        <p:nvSpPr>
          <p:cNvPr id="46" name="Organise papers by topic and expose related documents.">
            <a:extLst xmlns:a="http://schemas.openxmlformats.org/drawingml/2006/main">
              <a:ext uri="{FF2B5EF4-FFF2-40B4-BE49-F238E27FC236}">
                <a16:creationId xmlns:a16="http://schemas.microsoft.com/office/drawing/2014/main" id="{A0A610E1-A4EE-413D-9104-169D9394D3BB}"/>
              </a:ext>
            </a:extLst>
          </p:cNvPr>
          <p:cNvSpPr>
            <a:spLocks xmlns:a="http://schemas.openxmlformats.org/drawingml/2006/main" noGrp="1"/>
          </p:cNvSpPr>
          <p:nvPr/>
        </p:nvSpPr>
        <p:spPr>
          <a:xfrm xmlns:a="http://schemas.openxmlformats.org/drawingml/2006/main">
            <a:off x="9286875" y="51149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Organise papers by topic and expose related documents.</a:t>
            </a:r>
          </a:p>
        </p:txBody>
      </p:sp>
      <p:sp>
        <p:nvSpPr>
          <p:cNvPr id="47" name="">
            <a:extLst xmlns:a="http://schemas.openxmlformats.org/drawingml/2006/main">
              <a:ext uri="{FF2B5EF4-FFF2-40B4-BE49-F238E27FC236}">
                <a16:creationId xmlns:a16="http://schemas.microsoft.com/office/drawing/2014/main" id="{168B8A35-F408-46AF-9408-DD4E87D90F01}"/>
              </a:ext>
            </a:extLst>
          </p:cNvPr>
          <p:cNvSpPr>
            <a:spLocks xmlns:a="http://schemas.openxmlformats.org/drawingml/2006/main" noGrp="1"/>
          </p:cNvSpPr>
          <p:nvPr/>
        </p:nvSpPr>
        <p:spPr>
          <a:xfrm xmlns:a="http://schemas.openxmlformats.org/drawingml/2006/main">
            <a:off x="1285875" y="56483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48" name="Slow changes of context">
            <a:extLst xmlns:a="http://schemas.openxmlformats.org/drawingml/2006/main">
              <a:ext uri="{FF2B5EF4-FFF2-40B4-BE49-F238E27FC236}">
                <a16:creationId xmlns:a16="http://schemas.microsoft.com/office/drawing/2014/main" id="{2670FC71-3BDA-4C0D-B672-6C4AA7A278F8}"/>
              </a:ext>
            </a:extLst>
          </p:cNvPr>
          <p:cNvSpPr>
            <a:spLocks xmlns:a="http://schemas.openxmlformats.org/drawingml/2006/main" noGrp="1"/>
          </p:cNvSpPr>
          <p:nvPr/>
        </p:nvSpPr>
        <p:spPr>
          <a:xfrm xmlns:a="http://schemas.openxmlformats.org/drawingml/2006/main">
            <a:off x="1285875" y="57340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Slow changes of context</a:t>
            </a:r>
          </a:p>
        </p:txBody>
      </p:sp>
      <p:sp>
        <p:nvSpPr>
          <p:cNvPr id="49" name="Finding, reading and questioning require separate steps.">
            <a:extLst xmlns:a="http://schemas.openxmlformats.org/drawingml/2006/main">
              <a:ext uri="{FF2B5EF4-FFF2-40B4-BE49-F238E27FC236}">
                <a16:creationId xmlns:a16="http://schemas.microsoft.com/office/drawing/2014/main" id="{E8987A4A-C12F-476A-96D8-60F5B3B35B49}"/>
              </a:ext>
            </a:extLst>
          </p:cNvPr>
          <p:cNvSpPr>
            <a:spLocks xmlns:a="http://schemas.openxmlformats.org/drawingml/2006/main" noGrp="1"/>
          </p:cNvSpPr>
          <p:nvPr/>
        </p:nvSpPr>
        <p:spPr>
          <a:xfrm xmlns:a="http://schemas.openxmlformats.org/drawingml/2006/main">
            <a:off x="1285875" y="61817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Finding, reading and questioning require separate steps.</a:t>
            </a:r>
          </a:p>
        </p:txBody>
      </p:sp>
      <p:sp>
        <p:nvSpPr>
          <p:cNvPr id="50" name="A connected reading workspace">
            <a:extLst xmlns:a="http://schemas.openxmlformats.org/drawingml/2006/main">
              <a:ext uri="{FF2B5EF4-FFF2-40B4-BE49-F238E27FC236}">
                <a16:creationId xmlns:a16="http://schemas.microsoft.com/office/drawing/2014/main" id="{84F61FBA-7AFD-4CA0-B9BF-AD8EB160B74E}"/>
              </a:ext>
            </a:extLst>
          </p:cNvPr>
          <p:cNvSpPr>
            <a:spLocks xmlns:a="http://schemas.openxmlformats.org/drawingml/2006/main" noGrp="1"/>
          </p:cNvSpPr>
          <p:nvPr/>
        </p:nvSpPr>
        <p:spPr>
          <a:xfrm xmlns:a="http://schemas.openxmlformats.org/drawingml/2006/main">
            <a:off x="9286875" y="57340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connected reading workspace</a:t>
            </a:r>
          </a:p>
        </p:txBody>
      </p:sp>
      <p:sp>
        <p:nvSpPr>
          <p:cNvPr id="51" name="Carry the selected paper into AI dialogue and PDF reading.">
            <a:extLst xmlns:a="http://schemas.openxmlformats.org/drawingml/2006/main">
              <a:ext uri="{FF2B5EF4-FFF2-40B4-BE49-F238E27FC236}">
                <a16:creationId xmlns:a16="http://schemas.microsoft.com/office/drawing/2014/main" id="{D71E4259-5C78-48AA-A488-E35A9AA584E3}"/>
              </a:ext>
            </a:extLst>
          </p:cNvPr>
          <p:cNvSpPr>
            <a:spLocks xmlns:a="http://schemas.openxmlformats.org/drawingml/2006/main" noGrp="1"/>
          </p:cNvSpPr>
          <p:nvPr/>
        </p:nvSpPr>
        <p:spPr>
          <a:xfrm xmlns:a="http://schemas.openxmlformats.org/drawingml/2006/main">
            <a:off x="9286875" y="61817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Carry the selected paper into AI dialogue and PDF reading.</a:t>
            </a:r>
          </a:p>
        </p:txBody>
      </p:sp>
      <p:sp>
        <p:nvSpPr>
          <p:cNvPr id="52" name="">
            <a:extLst xmlns:a="http://schemas.openxmlformats.org/drawingml/2006/main">
              <a:ext uri="{FF2B5EF4-FFF2-40B4-BE49-F238E27FC236}">
                <a16:creationId xmlns:a16="http://schemas.microsoft.com/office/drawing/2014/main" id="{E3BB4CEE-D4AB-444B-B02F-6B7B877D5781}"/>
              </a:ext>
            </a:extLst>
          </p:cNvPr>
          <p:cNvSpPr>
            <a:spLocks xmlns:a="http://schemas.openxmlformats.org/drawingml/2006/main" noGrp="1"/>
          </p:cNvSpPr>
          <p:nvPr/>
        </p:nvSpPr>
        <p:spPr>
          <a:xfrm xmlns:a="http://schemas.openxmlformats.org/drawingml/2006/main">
            <a:off x="1285875" y="67151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53" name="Unclear AI provenance">
            <a:extLst xmlns:a="http://schemas.openxmlformats.org/drawingml/2006/main">
              <a:ext uri="{FF2B5EF4-FFF2-40B4-BE49-F238E27FC236}">
                <a16:creationId xmlns:a16="http://schemas.microsoft.com/office/drawing/2014/main" id="{755C0692-B348-4B82-AE4C-037D793078CF}"/>
              </a:ext>
            </a:extLst>
          </p:cNvPr>
          <p:cNvSpPr>
            <a:spLocks xmlns:a="http://schemas.openxmlformats.org/drawingml/2006/main" noGrp="1"/>
          </p:cNvSpPr>
          <p:nvPr/>
        </p:nvSpPr>
        <p:spPr>
          <a:xfrm xmlns:a="http://schemas.openxmlformats.org/drawingml/2006/main">
            <a:off x="1285875" y="68008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Unclear AI provenance</a:t>
            </a:r>
          </a:p>
        </p:txBody>
      </p:sp>
      <p:sp>
        <p:nvSpPr>
          <p:cNvPr id="54" name="A fluent answer can be difficult to verify.">
            <a:extLst xmlns:a="http://schemas.openxmlformats.org/drawingml/2006/main">
              <a:ext uri="{FF2B5EF4-FFF2-40B4-BE49-F238E27FC236}">
                <a16:creationId xmlns:a16="http://schemas.microsoft.com/office/drawing/2014/main" id="{CBC842B0-204C-47C1-A676-BE47156B5152}"/>
              </a:ext>
            </a:extLst>
          </p:cNvPr>
          <p:cNvSpPr>
            <a:spLocks xmlns:a="http://schemas.openxmlformats.org/drawingml/2006/main" noGrp="1"/>
          </p:cNvSpPr>
          <p:nvPr/>
        </p:nvSpPr>
        <p:spPr>
          <a:xfrm xmlns:a="http://schemas.openxmlformats.org/drawingml/2006/main">
            <a:off x="1285875" y="72485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A fluent answer can be difficult to verify.</a:t>
            </a:r>
          </a:p>
        </p:txBody>
      </p:sp>
      <p:sp>
        <p:nvSpPr>
          <p:cNvPr id="55" name="Accessible source evidence">
            <a:extLst xmlns:a="http://schemas.openxmlformats.org/drawingml/2006/main">
              <a:ext uri="{FF2B5EF4-FFF2-40B4-BE49-F238E27FC236}">
                <a16:creationId xmlns:a16="http://schemas.microsoft.com/office/drawing/2014/main" id="{D7092214-36C0-41D8-B939-C866B972E639}"/>
              </a:ext>
            </a:extLst>
          </p:cNvPr>
          <p:cNvSpPr>
            <a:spLocks xmlns:a="http://schemas.openxmlformats.org/drawingml/2006/main" noGrp="1"/>
          </p:cNvSpPr>
          <p:nvPr/>
        </p:nvSpPr>
        <p:spPr>
          <a:xfrm xmlns:a="http://schemas.openxmlformats.org/drawingml/2006/main">
            <a:off x="9286875" y="68008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Accessible source evidence</a:t>
            </a:r>
          </a:p>
        </p:txBody>
      </p:sp>
      <p:sp>
        <p:nvSpPr>
          <p:cNvPr id="56" name="Return retrieved passages and links to original PDF pages.">
            <a:extLst xmlns:a="http://schemas.openxmlformats.org/drawingml/2006/main">
              <a:ext uri="{FF2B5EF4-FFF2-40B4-BE49-F238E27FC236}">
                <a16:creationId xmlns:a16="http://schemas.microsoft.com/office/drawing/2014/main" id="{5DD90FCF-CAED-406F-B87B-81703936B096}"/>
              </a:ext>
            </a:extLst>
          </p:cNvPr>
          <p:cNvSpPr>
            <a:spLocks xmlns:a="http://schemas.openxmlformats.org/drawingml/2006/main" noGrp="1"/>
          </p:cNvSpPr>
          <p:nvPr/>
        </p:nvSpPr>
        <p:spPr>
          <a:xfrm xmlns:a="http://schemas.openxmlformats.org/drawingml/2006/main">
            <a:off x="9286875" y="72485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Return retrieved passages and links to original PDF pages.</a:t>
            </a:r>
          </a:p>
        </p:txBody>
      </p:sp>
      <p:sp>
        <p:nvSpPr>
          <p:cNvPr id="57" name="">
            <a:extLst xmlns:a="http://schemas.openxmlformats.org/drawingml/2006/main">
              <a:ext uri="{FF2B5EF4-FFF2-40B4-BE49-F238E27FC236}">
                <a16:creationId xmlns:a16="http://schemas.microsoft.com/office/drawing/2014/main" id="{DE10E1FB-C698-4060-99BD-28B727F0ED5E}"/>
              </a:ext>
            </a:extLst>
          </p:cNvPr>
          <p:cNvSpPr>
            <a:spLocks xmlns:a="http://schemas.openxmlformats.org/drawingml/2006/main" noGrp="1"/>
          </p:cNvSpPr>
          <p:nvPr/>
        </p:nvSpPr>
        <p:spPr>
          <a:xfrm xmlns:a="http://schemas.openxmlformats.org/drawingml/2006/main">
            <a:off x="1285875" y="7781925"/>
            <a:ext cx="1552575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58" name="Different privacy needs">
            <a:extLst xmlns:a="http://schemas.openxmlformats.org/drawingml/2006/main">
              <a:ext uri="{FF2B5EF4-FFF2-40B4-BE49-F238E27FC236}">
                <a16:creationId xmlns:a16="http://schemas.microsoft.com/office/drawing/2014/main" id="{1189DF5F-7460-4486-82D1-86DE9407A0F1}"/>
              </a:ext>
            </a:extLst>
          </p:cNvPr>
          <p:cNvSpPr>
            <a:spLocks xmlns:a="http://schemas.openxmlformats.org/drawingml/2006/main" noGrp="1"/>
          </p:cNvSpPr>
          <p:nvPr/>
        </p:nvSpPr>
        <p:spPr>
          <a:xfrm xmlns:a="http://schemas.openxmlformats.org/drawingml/2006/main">
            <a:off x="1285875" y="78676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Different privacy needs</a:t>
            </a:r>
          </a:p>
        </p:txBody>
      </p:sp>
      <p:sp>
        <p:nvSpPr>
          <p:cNvPr id="59" name="Cloud capability and local processing involve trade-offs.">
            <a:extLst xmlns:a="http://schemas.openxmlformats.org/drawingml/2006/main">
              <a:ext uri="{FF2B5EF4-FFF2-40B4-BE49-F238E27FC236}">
                <a16:creationId xmlns:a16="http://schemas.microsoft.com/office/drawing/2014/main" id="{80243FC1-1627-498A-A272-FB56C9662445}"/>
              </a:ext>
            </a:extLst>
          </p:cNvPr>
          <p:cNvSpPr>
            <a:spLocks xmlns:a="http://schemas.openxmlformats.org/drawingml/2006/main" noGrp="1"/>
          </p:cNvSpPr>
          <p:nvPr/>
        </p:nvSpPr>
        <p:spPr>
          <a:xfrm xmlns:a="http://schemas.openxmlformats.org/drawingml/2006/main">
            <a:off x="1285875" y="8315325"/>
            <a:ext cx="709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Cloud capability and local processing involve trade-offs.</a:t>
            </a:r>
          </a:p>
        </p:txBody>
      </p:sp>
      <p:sp>
        <p:nvSpPr>
          <p:cNvPr id="60" name="A visible model choice">
            <a:extLst xmlns:a="http://schemas.openxmlformats.org/drawingml/2006/main">
              <a:ext uri="{FF2B5EF4-FFF2-40B4-BE49-F238E27FC236}">
                <a16:creationId xmlns:a16="http://schemas.microsoft.com/office/drawing/2014/main" id="{8E3399A2-DFD0-4899-9F4A-5E8C2C7BB73A}"/>
              </a:ext>
            </a:extLst>
          </p:cNvPr>
          <p:cNvSpPr>
            <a:spLocks xmlns:a="http://schemas.openxmlformats.org/drawingml/2006/main" noGrp="1"/>
          </p:cNvSpPr>
          <p:nvPr/>
        </p:nvSpPr>
        <p:spPr>
          <a:xfrm xmlns:a="http://schemas.openxmlformats.org/drawingml/2006/main">
            <a:off x="9286875" y="78676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A visible model choice</a:t>
            </a:r>
          </a:p>
        </p:txBody>
      </p:sp>
      <p:sp>
        <p:nvSpPr>
          <p:cNvPr id="61" name="Let users choose local or cloud inference in the same interface.">
            <a:extLst xmlns:a="http://schemas.openxmlformats.org/drawingml/2006/main">
              <a:ext uri="{FF2B5EF4-FFF2-40B4-BE49-F238E27FC236}">
                <a16:creationId xmlns:a16="http://schemas.microsoft.com/office/drawing/2014/main" id="{397CE679-B059-43C3-B910-7897A7E06A13}"/>
              </a:ext>
            </a:extLst>
          </p:cNvPr>
          <p:cNvSpPr>
            <a:spLocks xmlns:a="http://schemas.openxmlformats.org/drawingml/2006/main" noGrp="1"/>
          </p:cNvSpPr>
          <p:nvPr/>
        </p:nvSpPr>
        <p:spPr>
          <a:xfrm xmlns:a="http://schemas.openxmlformats.org/drawingml/2006/main">
            <a:off x="9286875" y="8315325"/>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Let users choose local or cloud inference in the same interface.</a:t>
            </a:r>
          </a:p>
        </p:txBody>
      </p:sp>
    </p:spTree>
    <p:extLst>
      <p:ext uri="{BB962C8B-B14F-4D97-AF65-F5344CB8AC3E}">
        <p14:creationId xmlns:p14="http://schemas.microsoft.com/office/powerpoint/2010/main" val="807220767"/>
      </p:ext>
    </p:extLst>
  </p:cSld>
</p:sld>
</file>

<file path=ppt/slides/slide3.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ED631D5E-5F22-4A1A-B72F-2448906067F6}"/>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2AEF9D59-DA31-446F-938E-8F80B41CB509}"/>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66A4A1F3-25A5-4E8C-93FE-C7B55A30B33B}"/>
              </a:ext>
            </a:extLst>
          </p:cNvPr>
          <p:cNvSpPr>
            <a:spLocks xmlns:a="http://schemas.openxmlformats.org/drawingml/2006/main" noGrp="1"/>
          </p:cNvSpPr>
          <p:nvPr/>
        </p:nvSpPr>
        <p:spPr>
          <a:xfrm xmlns:a="http://schemas.openxmlformats.org/drawingml/2006/main" rot="0" flipH="0" flipV="0">
            <a:off x="7048500" y="628650"/>
            <a:ext cx="1466850"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A133CF64-0320-46F4-B9CE-50068B61021C}"/>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TextBox 9">
            <a:extLst xmlns:a="http://schemas.openxmlformats.org/drawingml/2006/main">
              <a:ext uri="{FF2B5EF4-FFF2-40B4-BE49-F238E27FC236}">
                <a16:creationId xmlns:a16="http://schemas.microsoft.com/office/drawing/2014/main" id="{44D83A55-2006-4691-B3DD-2D637A7DDDC8}"/>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54694FC0-9039-4073-8B58-2133C06FE37F}"/>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E4696CDF-33C5-4C82-9090-E6A090CF962E}"/>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5BBB5C4C-656B-4D02-AB0A-B71E37790AEB}"/>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0F6A38E6-592A-4080-B0EA-E2B355C431C7}"/>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09">
            <a:extLst xmlns:a="http://schemas.openxmlformats.org/drawingml/2006/main">
              <a:ext uri="{FF2B5EF4-FFF2-40B4-BE49-F238E27FC236}">
                <a16:creationId xmlns:a16="http://schemas.microsoft.com/office/drawing/2014/main" id="{667138C3-4A2C-4649-990A-93957EB6B934}"/>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03</a:t>
            </a:r>
          </a:p>
        </p:txBody>
      </p:sp>
      <p:sp>
        <p:nvSpPr>
          <p:cNvPr id="15" name="PDF-GalaxAI">
            <a:extLst xmlns:a="http://schemas.openxmlformats.org/drawingml/2006/main">
              <a:ext uri="{FF2B5EF4-FFF2-40B4-BE49-F238E27FC236}">
                <a16:creationId xmlns:a16="http://schemas.microsoft.com/office/drawing/2014/main" id="{205D69A9-479B-4C7F-9DC3-787E275C2567}"/>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09 / 12">
            <a:extLst xmlns:a="http://schemas.openxmlformats.org/drawingml/2006/main">
              <a:ext uri="{FF2B5EF4-FFF2-40B4-BE49-F238E27FC236}">
                <a16:creationId xmlns:a16="http://schemas.microsoft.com/office/drawing/2014/main" id="{6CCF80CF-1AA2-4450-B29D-AE5A98270371}"/>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03 / 09</a:t>
            </a:r>
          </a:p>
        </p:txBody>
      </p:sp>
      <p:sp>
        <p:nvSpPr>
          <p:cNvPr id="17" name="Interactive Workflow &amp; Model Choice">
            <a:extLst xmlns:a="http://schemas.openxmlformats.org/drawingml/2006/main">
              <a:ext uri="{FF2B5EF4-FFF2-40B4-BE49-F238E27FC236}">
                <a16:creationId xmlns:a16="http://schemas.microsoft.com/office/drawing/2014/main" id="{91F4ABDD-4E21-453F-A86C-969A276090CA}"/>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Product Concept &amp; Workflow</a:t>
            </a:r>
          </a:p>
        </p:txBody>
      </p:sp>
      <p:sp>
        <p:nvSpPr>
          <p:cNvPr id="18" name="The same workspace supports broad discovery and focused reading with a">
            <a:extLst xmlns:a="http://schemas.openxmlformats.org/drawingml/2006/main">
              <a:ext uri="{FF2B5EF4-FFF2-40B4-BE49-F238E27FC236}">
                <a16:creationId xmlns:a16="http://schemas.microsoft.com/office/drawing/2014/main" id="{91175708-E8FB-4991-9B35-5057E78D5F71}"/>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selected paper links galaxy exploration, contextual questions and original-source reading.</a:t>
            </a:r>
          </a:p>
        </p:txBody>
      </p:sp>
      <p:sp>
        <p:nvSpPr>
          <p:cNvPr id="19" name="01">
            <a:extLst xmlns:a="http://schemas.openxmlformats.org/drawingml/2006/main">
              <a:ext uri="{FF2B5EF4-FFF2-40B4-BE49-F238E27FC236}">
                <a16:creationId xmlns:a16="http://schemas.microsoft.com/office/drawing/2014/main" id="{F5B5BB04-D9C2-479B-9822-B6A2CFC8D90E}"/>
              </a:ext>
            </a:extLst>
          </p:cNvPr>
          <p:cNvSpPr>
            <a:spLocks xmlns:a="http://schemas.openxmlformats.org/drawingml/2006/main" noGrp="1"/>
          </p:cNvSpPr>
          <p:nvPr/>
        </p:nvSpPr>
        <p:spPr>
          <a:xfrm xmlns:a="http://schemas.openxmlformats.org/drawingml/2006/main">
            <a:off x="1238250"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01</a:t>
            </a:r>
          </a:p>
        </p:txBody>
      </p:sp>
      <p:sp>
        <p:nvSpPr>
          <p:cNvPr id="20" name="Import">
            <a:extLst xmlns:a="http://schemas.openxmlformats.org/drawingml/2006/main">
              <a:ext uri="{FF2B5EF4-FFF2-40B4-BE49-F238E27FC236}">
                <a16:creationId xmlns:a16="http://schemas.microsoft.com/office/drawing/2014/main" id="{61F96455-1EBF-4C91-A1BA-2ABEB50FD2DF}"/>
              </a:ext>
            </a:extLst>
          </p:cNvPr>
          <p:cNvSpPr>
            <a:spLocks xmlns:a="http://schemas.openxmlformats.org/drawingml/2006/main" noGrp="1"/>
          </p:cNvSpPr>
          <p:nvPr/>
        </p:nvSpPr>
        <p:spPr>
          <a:xfrm xmlns:a="http://schemas.openxmlformats.org/drawingml/2006/main">
            <a:off x="2143125"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Import</a:t>
            </a:r>
          </a:p>
        </p:txBody>
      </p:sp>
      <p:sp>
        <p:nvSpPr>
          <p:cNvPr id="21" name="Upload and index papers">
            <a:extLst xmlns:a="http://schemas.openxmlformats.org/drawingml/2006/main">
              <a:ext uri="{FF2B5EF4-FFF2-40B4-BE49-F238E27FC236}">
                <a16:creationId xmlns:a16="http://schemas.microsoft.com/office/drawing/2014/main" id="{42B8CBE9-85B6-42B3-A0EC-B65AC2F01963}"/>
              </a:ext>
            </a:extLst>
          </p:cNvPr>
          <p:cNvSpPr>
            <a:spLocks xmlns:a="http://schemas.openxmlformats.org/drawingml/2006/main" noGrp="1"/>
          </p:cNvSpPr>
          <p:nvPr/>
        </p:nvSpPr>
        <p:spPr>
          <a:xfrm xmlns:a="http://schemas.openxmlformats.org/drawingml/2006/main">
            <a:off x="1238250"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Upload and index papers</a:t>
            </a:r>
          </a:p>
        </p:txBody>
      </p:sp>
      <p:sp>
        <p:nvSpPr>
          <p:cNvPr id="22" name="02">
            <a:extLst xmlns:a="http://schemas.openxmlformats.org/drawingml/2006/main">
              <a:ext uri="{FF2B5EF4-FFF2-40B4-BE49-F238E27FC236}">
                <a16:creationId xmlns:a16="http://schemas.microsoft.com/office/drawing/2014/main" id="{D3813BDD-7DC8-4A09-BD9F-B3790DA352B4}"/>
              </a:ext>
            </a:extLst>
          </p:cNvPr>
          <p:cNvSpPr>
            <a:spLocks xmlns:a="http://schemas.openxmlformats.org/drawingml/2006/main" noGrp="1"/>
          </p:cNvSpPr>
          <p:nvPr/>
        </p:nvSpPr>
        <p:spPr>
          <a:xfrm xmlns:a="http://schemas.openxmlformats.org/drawingml/2006/main">
            <a:off x="5286375"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02</a:t>
            </a:r>
          </a:p>
        </p:txBody>
      </p:sp>
      <p:sp>
        <p:nvSpPr>
          <p:cNvPr id="23" name="Explore">
            <a:extLst xmlns:a="http://schemas.openxmlformats.org/drawingml/2006/main">
              <a:ext uri="{FF2B5EF4-FFF2-40B4-BE49-F238E27FC236}">
                <a16:creationId xmlns:a16="http://schemas.microsoft.com/office/drawing/2014/main" id="{4A17FA18-6AC2-450D-A513-79EDD643A336}"/>
              </a:ext>
            </a:extLst>
          </p:cNvPr>
          <p:cNvSpPr>
            <a:spLocks xmlns:a="http://schemas.openxmlformats.org/drawingml/2006/main" noGrp="1"/>
          </p:cNvSpPr>
          <p:nvPr/>
        </p:nvSpPr>
        <p:spPr>
          <a:xfrm xmlns:a="http://schemas.openxmlformats.org/drawingml/2006/main">
            <a:off x="6191250"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Explore</a:t>
            </a:r>
          </a:p>
        </p:txBody>
      </p:sp>
      <p:sp>
        <p:nvSpPr>
          <p:cNvPr id="24" name="Select or search a paper">
            <a:extLst xmlns:a="http://schemas.openxmlformats.org/drawingml/2006/main">
              <a:ext uri="{FF2B5EF4-FFF2-40B4-BE49-F238E27FC236}">
                <a16:creationId xmlns:a16="http://schemas.microsoft.com/office/drawing/2014/main" id="{5704C074-95A8-4DD2-82F9-402FC11909BF}"/>
              </a:ext>
            </a:extLst>
          </p:cNvPr>
          <p:cNvSpPr>
            <a:spLocks xmlns:a="http://schemas.openxmlformats.org/drawingml/2006/main" noGrp="1"/>
          </p:cNvSpPr>
          <p:nvPr/>
        </p:nvSpPr>
        <p:spPr>
          <a:xfrm xmlns:a="http://schemas.openxmlformats.org/drawingml/2006/main">
            <a:off x="5286375"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Select a paper in the galaxy</a:t>
            </a:r>
          </a:p>
        </p:txBody>
      </p:sp>
      <p:sp>
        <p:nvSpPr>
          <p:cNvPr id="25" name="03">
            <a:extLst xmlns:a="http://schemas.openxmlformats.org/drawingml/2006/main">
              <a:ext uri="{FF2B5EF4-FFF2-40B4-BE49-F238E27FC236}">
                <a16:creationId xmlns:a16="http://schemas.microsoft.com/office/drawing/2014/main" id="{F9550F7A-ADD1-4F9E-A8AB-D2698B779F8E}"/>
              </a:ext>
            </a:extLst>
          </p:cNvPr>
          <p:cNvSpPr>
            <a:spLocks xmlns:a="http://schemas.openxmlformats.org/drawingml/2006/main" noGrp="1"/>
          </p:cNvSpPr>
          <p:nvPr/>
        </p:nvSpPr>
        <p:spPr>
          <a:xfrm xmlns:a="http://schemas.openxmlformats.org/drawingml/2006/main">
            <a:off x="9334500"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03</a:t>
            </a:r>
          </a:p>
        </p:txBody>
      </p:sp>
      <p:sp>
        <p:nvSpPr>
          <p:cNvPr id="26" name="Question">
            <a:extLst xmlns:a="http://schemas.openxmlformats.org/drawingml/2006/main">
              <a:ext uri="{FF2B5EF4-FFF2-40B4-BE49-F238E27FC236}">
                <a16:creationId xmlns:a16="http://schemas.microsoft.com/office/drawing/2014/main" id="{BED2ACF7-92A1-4B26-AF4C-27F88111B196}"/>
              </a:ext>
            </a:extLst>
          </p:cNvPr>
          <p:cNvSpPr>
            <a:spLocks xmlns:a="http://schemas.openxmlformats.org/drawingml/2006/main" noGrp="1"/>
          </p:cNvSpPr>
          <p:nvPr/>
        </p:nvSpPr>
        <p:spPr>
          <a:xfrm xmlns:a="http://schemas.openxmlformats.org/drawingml/2006/main">
            <a:off x="10239375"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Question</a:t>
            </a:r>
          </a:p>
        </p:txBody>
      </p:sp>
      <p:sp>
        <p:nvSpPr>
          <p:cNvPr id="27" name="Choose context and mode">
            <a:extLst xmlns:a="http://schemas.openxmlformats.org/drawingml/2006/main">
              <a:ext uri="{FF2B5EF4-FFF2-40B4-BE49-F238E27FC236}">
                <a16:creationId xmlns:a16="http://schemas.microsoft.com/office/drawing/2014/main" id="{68BBC3A0-C75F-4D4A-8ABF-A15749B57920}"/>
              </a:ext>
            </a:extLst>
          </p:cNvPr>
          <p:cNvSpPr>
            <a:spLocks xmlns:a="http://schemas.openxmlformats.org/drawingml/2006/main" noGrp="1"/>
          </p:cNvSpPr>
          <p:nvPr/>
        </p:nvSpPr>
        <p:spPr>
          <a:xfrm xmlns:a="http://schemas.openxmlformats.org/drawingml/2006/main">
            <a:off x="9334500"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Add a reference and choose a model</a:t>
            </a:r>
          </a:p>
        </p:txBody>
      </p:sp>
      <p:sp>
        <p:nvSpPr>
          <p:cNvPr id="28" name="04">
            <a:extLst xmlns:a="http://schemas.openxmlformats.org/drawingml/2006/main">
              <a:ext uri="{FF2B5EF4-FFF2-40B4-BE49-F238E27FC236}">
                <a16:creationId xmlns:a16="http://schemas.microsoft.com/office/drawing/2014/main" id="{A1D755C0-3DC1-4290-BD2E-2F35B072A2CC}"/>
              </a:ext>
            </a:extLst>
          </p:cNvPr>
          <p:cNvSpPr>
            <a:spLocks xmlns:a="http://schemas.openxmlformats.org/drawingml/2006/main" noGrp="1"/>
          </p:cNvSpPr>
          <p:nvPr/>
        </p:nvSpPr>
        <p:spPr>
          <a:xfrm xmlns:a="http://schemas.openxmlformats.org/drawingml/2006/main">
            <a:off x="13382625" y="400050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8FA4C1"/>
                </a:solidFill>
                <a:latin typeface="Montserrat Bold"/>
                <a:ea typeface="Montserrat Bold"/>
                <a:cs typeface="Montserrat Bold"/>
              </a:defRPr>
            </a:defPPr>
          </a:lstStyle>
          <a:p xmlns:a="http://schemas.openxmlformats.org/drawingml/2006/main">
            <a:pPr algn="l">
              <a:buNone/>
              <a:defRPr sz="3225" b="1">
                <a:solidFill>
                  <a:srgbClr val="8FA4C1"/>
                </a:solidFill>
                <a:latin typeface="Montserrat Bold"/>
                <a:ea typeface="Montserrat Bold"/>
                <a:cs typeface="Montserrat Bold"/>
              </a:defRPr>
            </a:pPr>
            <a:r>
              <a:rPr sz="3225" b="1">
                <a:solidFill>
                  <a:srgbClr val="8FA4C1"/>
                </a:solidFill>
                <a:latin typeface="Montserrat Bold"/>
                <a:ea typeface="Montserrat Bold"/>
                <a:cs typeface="Montserrat Bold"/>
              </a:rPr>
              <a:t>04</a:t>
            </a:r>
          </a:p>
        </p:txBody>
      </p:sp>
      <p:sp>
        <p:nvSpPr>
          <p:cNvPr id="29" name="Verify">
            <a:extLst xmlns:a="http://schemas.openxmlformats.org/drawingml/2006/main">
              <a:ext uri="{FF2B5EF4-FFF2-40B4-BE49-F238E27FC236}">
                <a16:creationId xmlns:a16="http://schemas.microsoft.com/office/drawing/2014/main" id="{EB93304C-A127-4293-95FB-787DBD633567}"/>
              </a:ext>
            </a:extLst>
          </p:cNvPr>
          <p:cNvSpPr>
            <a:spLocks xmlns:a="http://schemas.openxmlformats.org/drawingml/2006/main" noGrp="1"/>
          </p:cNvSpPr>
          <p:nvPr/>
        </p:nvSpPr>
        <p:spPr>
          <a:xfrm xmlns:a="http://schemas.openxmlformats.org/drawingml/2006/main">
            <a:off x="14287500" y="4057650"/>
            <a:ext cx="285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01B40"/>
                </a:solidFill>
                <a:latin typeface="Montserrat Bold"/>
                <a:ea typeface="Montserrat Bold"/>
                <a:cs typeface="Montserrat Bold"/>
              </a:defRPr>
            </a:defPPr>
          </a:lstStyle>
          <a:p xmlns:a="http://schemas.openxmlformats.org/drawingml/2006/main">
            <a:pPr algn="l">
              <a:buNone/>
              <a:defRPr sz="2400" b="1">
                <a:solidFill>
                  <a:srgbClr val="101B40"/>
                </a:solidFill>
                <a:latin typeface="Montserrat Bold"/>
                <a:ea typeface="Montserrat Bold"/>
                <a:cs typeface="Montserrat Bold"/>
              </a:defRPr>
            </a:pPr>
            <a:r>
              <a:rPr sz="2400" b="1">
                <a:solidFill>
                  <a:srgbClr val="101B40"/>
                </a:solidFill>
                <a:latin typeface="Montserrat Bold"/>
                <a:ea typeface="Montserrat Bold"/>
                <a:cs typeface="Montserrat Bold"/>
              </a:rPr>
              <a:t>Verify</a:t>
            </a:r>
          </a:p>
        </p:txBody>
      </p:sp>
      <p:sp>
        <p:nvSpPr>
          <p:cNvPr id="30" name="Open cited source text">
            <a:extLst xmlns:a="http://schemas.openxmlformats.org/drawingml/2006/main">
              <a:ext uri="{FF2B5EF4-FFF2-40B4-BE49-F238E27FC236}">
                <a16:creationId xmlns:a16="http://schemas.microsoft.com/office/drawing/2014/main" id="{02B161DD-E5A9-4EBE-8723-E63EB761130E}"/>
              </a:ext>
            </a:extLst>
          </p:cNvPr>
          <p:cNvSpPr>
            <a:spLocks xmlns:a="http://schemas.openxmlformats.org/drawingml/2006/main" noGrp="1"/>
          </p:cNvSpPr>
          <p:nvPr/>
        </p:nvSpPr>
        <p:spPr>
          <a:xfrm xmlns:a="http://schemas.openxmlformats.org/drawingml/2006/main">
            <a:off x="13382625" y="48006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681"/>
                </a:solidFill>
                <a:latin typeface="Montserrat"/>
                <a:ea typeface="Montserrat"/>
                <a:cs typeface="Montserrat"/>
              </a:defRPr>
            </a:defPPr>
          </a:lstStyle>
          <a:p xmlns:a="http://schemas.openxmlformats.org/drawingml/2006/main">
            <a:pPr algn="l">
              <a:buNone/>
              <a:defRPr sz="2025" b="0">
                <a:solidFill>
                  <a:srgbClr val="536681"/>
                </a:solidFill>
                <a:latin typeface="Montserrat"/>
                <a:ea typeface="Montserrat"/>
                <a:cs typeface="Montserrat"/>
              </a:defRPr>
            </a:pPr>
            <a:r>
              <a:rPr sz="2025" b="0">
                <a:solidFill>
                  <a:srgbClr val="536681"/>
                </a:solidFill>
                <a:latin typeface="Montserrat"/>
                <a:ea typeface="Montserrat"/>
                <a:cs typeface="Montserrat"/>
              </a:rPr>
              <a:t>Open the cited page in the reader</a:t>
            </a:r>
          </a:p>
        </p:txBody>
      </p:sp>
      <p:sp>
        <p:nvSpPr>
          <p:cNvPr id="34" name="Screenshot placeholder: 【此处放本地与云端模型切换截图】">
            <a:extLst xmlns:a="http://schemas.openxmlformats.org/drawingml/2006/main">
              <a:ext uri="{FF2B5EF4-FFF2-40B4-BE49-F238E27FC236}">
                <a16:creationId xmlns:a16="http://schemas.microsoft.com/office/drawing/2014/main" id="{BAC3724B-902A-48E1-A3A2-1E82A3A867EB}"/>
              </a:ext>
            </a:extLst>
          </p:cNvPr>
          <p:cNvSpPr>
            <a:spLocks xmlns:a="http://schemas.openxmlformats.org/drawingml/2006/main" noGrp="1"/>
          </p:cNvSpPr>
          <p:nvPr/>
        </p:nvSpPr>
        <p:spPr>
          <a:xfrm xmlns:a="http://schemas.openxmlformats.org/drawingml/2006/main">
            <a:off x="11811000" y="5810250"/>
            <a:ext cx="5095875" cy="3524250"/>
          </a:xfrm>
          <a:prstGeom xmlns:a="http://schemas.openxmlformats.org/drawingml/2006/main" prst="roundRect">
            <a:avLst>
              <a:gd name="adj" fmla="val 6486"/>
            </a:avLst>
          </a:prstGeom>
          <a:solidFill xmlns:a="http://schemas.openxmlformats.org/drawingml/2006/main">
            <a:srgbClr val="DCE2EB"/>
          </a:solidFill>
          <a:ln xmlns:a="http://schemas.openxmlformats.org/drawingml/2006/main" w="16193">
            <a:solidFill>
              <a:srgbClr val="8FA4C1"/>
            </a:solidFill>
          </a:ln>
        </p:spPr>
      </p:sp>
      <p:sp>
        <p:nvSpPr>
          <p:cNvPr id="35" name="【此处放本地与云端模型切换截图】">
            <a:extLst xmlns:a="http://schemas.openxmlformats.org/drawingml/2006/main">
              <a:ext uri="{FF2B5EF4-FFF2-40B4-BE49-F238E27FC236}">
                <a16:creationId xmlns:a16="http://schemas.microsoft.com/office/drawing/2014/main" id="{E40A85D0-7AAF-4575-84AE-3582222160A0}"/>
              </a:ext>
            </a:extLst>
          </p:cNvPr>
          <p:cNvSpPr>
            <a:spLocks xmlns:a="http://schemas.openxmlformats.org/drawingml/2006/main" noGrp="1"/>
          </p:cNvSpPr>
          <p:nvPr/>
        </p:nvSpPr>
        <p:spPr>
          <a:xfrm xmlns:a="http://schemas.openxmlformats.org/drawingml/2006/main">
            <a:off x="12020550" y="7286625"/>
            <a:ext cx="4676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【此处放本地与云端模型切换截图】</a:t>
            </a:r>
          </a:p>
        </p:txBody>
      </p:sp>
      <p:sp>
        <p:nvSpPr>
          <p:cNvPr id="36" name="Model panel crop">
            <a:extLst xmlns:a="http://schemas.openxmlformats.org/drawingml/2006/main">
              <a:ext uri="{FF2B5EF4-FFF2-40B4-BE49-F238E27FC236}">
                <a16:creationId xmlns:a16="http://schemas.microsoft.com/office/drawing/2014/main" id="{FEFD78E0-7D93-49BB-8358-78442BD17F28}"/>
              </a:ext>
            </a:extLst>
          </p:cNvPr>
          <p:cNvSpPr>
            <a:spLocks xmlns:a="http://schemas.openxmlformats.org/drawingml/2006/main" noGrp="1"/>
          </p:cNvSpPr>
          <p:nvPr/>
        </p:nvSpPr>
        <p:spPr>
          <a:xfrm xmlns:a="http://schemas.openxmlformats.org/drawingml/2006/main">
            <a:off x="15525750" y="59817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Model panel crop</a:t>
            </a:r>
          </a:p>
        </p:txBody>
      </p:sp>
      <p:sp>
        <p:nvSpPr>
          <p:cNvPr id="37" name="Data and interaction flow">
            <a:extLst xmlns:a="http://schemas.openxmlformats.org/drawingml/2006/main">
              <a:ext uri="{FF2B5EF4-FFF2-40B4-BE49-F238E27FC236}">
                <a16:creationId xmlns:a16="http://schemas.microsoft.com/office/drawing/2014/main" id="{F3559A32-BF49-4A15-B1E2-704F6B8A35B0}"/>
              </a:ext>
            </a:extLst>
          </p:cNvPr>
          <p:cNvSpPr>
            <a:spLocks xmlns:a="http://schemas.openxmlformats.org/drawingml/2006/main" noGrp="1"/>
          </p:cNvSpPr>
          <p:nvPr/>
        </p:nvSpPr>
        <p:spPr>
          <a:xfrm xmlns:a="http://schemas.openxmlformats.org/drawingml/2006/main">
            <a:off x="1238250" y="5772150"/>
            <a:ext cx="990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536681"/>
                </a:solidFill>
                <a:latin typeface="Montserrat Bold"/>
                <a:ea typeface="Montserrat Bold"/>
                <a:cs typeface="Montserrat Bold"/>
              </a:defRPr>
            </a:defPPr>
          </a:lstStyle>
          <a:p xmlns:a="http://schemas.openxmlformats.org/drawingml/2006/main">
            <a:pPr algn="l">
              <a:buNone/>
              <a:defRPr sz="1950" b="1">
                <a:solidFill>
                  <a:srgbClr val="536681"/>
                </a:solidFill>
                <a:latin typeface="Montserrat Bold"/>
                <a:ea typeface="Montserrat Bold"/>
                <a:cs typeface="Montserrat Bold"/>
              </a:defRPr>
            </a:pPr>
            <a:r>
              <a:rPr sz="1950" b="1">
                <a:solidFill>
                  <a:srgbClr val="536681"/>
                </a:solidFill>
                <a:latin typeface="Montserrat Bold"/>
                <a:ea typeface="Montserrat Bold"/>
                <a:cs typeface="Montserrat Bold"/>
              </a:rPr>
              <a:t>Data and interaction flow</a:t>
            </a:r>
          </a:p>
        </p:txBody>
      </p:sp>
      <p:sp>
        <p:nvSpPr>
          <p:cNvPr id="38" name="Workflow: Upload PDF">
            <a:extLst xmlns:a="http://schemas.openxmlformats.org/drawingml/2006/main">
              <a:ext uri="{FF2B5EF4-FFF2-40B4-BE49-F238E27FC236}">
                <a16:creationId xmlns:a16="http://schemas.microsoft.com/office/drawing/2014/main" id="{D6AB4F09-B6E8-4B4F-BC3F-3BFA111C2EF5}"/>
              </a:ext>
            </a:extLst>
          </p:cNvPr>
          <p:cNvSpPr>
            <a:spLocks xmlns:a="http://schemas.openxmlformats.org/drawingml/2006/main" noGrp="1"/>
          </p:cNvSpPr>
          <p:nvPr/>
        </p:nvSpPr>
        <p:spPr>
          <a:xfrm xmlns:a="http://schemas.openxmlformats.org/drawingml/2006/main">
            <a:off x="1238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39" name="Upload PDF">
            <a:extLst xmlns:a="http://schemas.openxmlformats.org/drawingml/2006/main">
              <a:ext uri="{FF2B5EF4-FFF2-40B4-BE49-F238E27FC236}">
                <a16:creationId xmlns:a16="http://schemas.microsoft.com/office/drawing/2014/main" id="{B4A92C1E-3C9F-4CA2-B887-92BC5FFD5C61}"/>
              </a:ext>
            </a:extLst>
          </p:cNvPr>
          <p:cNvSpPr>
            <a:spLocks xmlns:a="http://schemas.openxmlformats.org/drawingml/2006/main" noGrp="1"/>
          </p:cNvSpPr>
          <p:nvPr/>
        </p:nvSpPr>
        <p:spPr>
          <a:xfrm xmlns:a="http://schemas.openxmlformats.org/drawingml/2006/main">
            <a:off x="1409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Upload PDF</a:t>
            </a:r>
          </a:p>
        </p:txBody>
      </p:sp>
      <p:sp>
        <p:nvSpPr>
          <p:cNvPr id="40" name="Save the original&#10;document">
            <a:extLst xmlns:a="http://schemas.openxmlformats.org/drawingml/2006/main">
              <a:ext uri="{FF2B5EF4-FFF2-40B4-BE49-F238E27FC236}">
                <a16:creationId xmlns:a16="http://schemas.microsoft.com/office/drawing/2014/main" id="{A472293B-CBFF-4012-AA05-5FE98B43CF65}"/>
              </a:ext>
            </a:extLst>
          </p:cNvPr>
          <p:cNvSpPr>
            <a:spLocks xmlns:a="http://schemas.openxmlformats.org/drawingml/2006/main" noGrp="1"/>
          </p:cNvSpPr>
          <p:nvPr/>
        </p:nvSpPr>
        <p:spPr>
          <a:xfrm xmlns:a="http://schemas.openxmlformats.org/drawingml/2006/main">
            <a:off x="1409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Save the original</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document</a:t>
            </a:r>
          </a:p>
        </p:txBody>
      </p:sp>
      <p:sp>
        <p:nvSpPr>
          <p:cNvPr id="41" name="Workflow: Parse &amp; index">
            <a:extLst xmlns:a="http://schemas.openxmlformats.org/drawingml/2006/main">
              <a:ext uri="{FF2B5EF4-FFF2-40B4-BE49-F238E27FC236}">
                <a16:creationId xmlns:a16="http://schemas.microsoft.com/office/drawing/2014/main" id="{484EB244-7DDA-42AB-9AA8-B0DD3ECE8C9D}"/>
              </a:ext>
            </a:extLst>
          </p:cNvPr>
          <p:cNvSpPr>
            <a:spLocks xmlns:a="http://schemas.openxmlformats.org/drawingml/2006/main" noGrp="1"/>
          </p:cNvSpPr>
          <p:nvPr/>
        </p:nvSpPr>
        <p:spPr>
          <a:xfrm xmlns:a="http://schemas.openxmlformats.org/drawingml/2006/main">
            <a:off x="4667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2" name="Parse &amp; index">
            <a:extLst xmlns:a="http://schemas.openxmlformats.org/drawingml/2006/main">
              <a:ext uri="{FF2B5EF4-FFF2-40B4-BE49-F238E27FC236}">
                <a16:creationId xmlns:a16="http://schemas.microsoft.com/office/drawing/2014/main" id="{92143F33-1B38-49A5-AF11-6C4004043EB7}"/>
              </a:ext>
            </a:extLst>
          </p:cNvPr>
          <p:cNvSpPr>
            <a:spLocks xmlns:a="http://schemas.openxmlformats.org/drawingml/2006/main" noGrp="1"/>
          </p:cNvSpPr>
          <p:nvPr/>
        </p:nvSpPr>
        <p:spPr>
          <a:xfrm xmlns:a="http://schemas.openxmlformats.org/drawingml/2006/main">
            <a:off x="4838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Parse &amp; index</a:t>
            </a:r>
          </a:p>
        </p:txBody>
      </p:sp>
      <p:sp>
        <p:nvSpPr>
          <p:cNvPr id="43" name="Text extraction&#10;and embeddings">
            <a:extLst xmlns:a="http://schemas.openxmlformats.org/drawingml/2006/main">
              <a:ext uri="{FF2B5EF4-FFF2-40B4-BE49-F238E27FC236}">
                <a16:creationId xmlns:a16="http://schemas.microsoft.com/office/drawing/2014/main" id="{52453174-178E-4202-B050-E6651CBF94C0}"/>
              </a:ext>
            </a:extLst>
          </p:cNvPr>
          <p:cNvSpPr>
            <a:spLocks xmlns:a="http://schemas.openxmlformats.org/drawingml/2006/main" noGrp="1"/>
          </p:cNvSpPr>
          <p:nvPr/>
        </p:nvSpPr>
        <p:spPr>
          <a:xfrm xmlns:a="http://schemas.openxmlformats.org/drawingml/2006/main">
            <a:off x="4838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Text extraction</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embeddings</a:t>
            </a:r>
          </a:p>
        </p:txBody>
      </p:sp>
      <p:sp>
        <p:nvSpPr>
          <p:cNvPr id="44" name="Workflow: Knowledge galaxy">
            <a:extLst xmlns:a="http://schemas.openxmlformats.org/drawingml/2006/main">
              <a:ext uri="{FF2B5EF4-FFF2-40B4-BE49-F238E27FC236}">
                <a16:creationId xmlns:a16="http://schemas.microsoft.com/office/drawing/2014/main" id="{3E53E94C-E6CA-4F50-956A-41BB4B23A77F}"/>
              </a:ext>
            </a:extLst>
          </p:cNvPr>
          <p:cNvSpPr>
            <a:spLocks xmlns:a="http://schemas.openxmlformats.org/drawingml/2006/main" noGrp="1"/>
          </p:cNvSpPr>
          <p:nvPr/>
        </p:nvSpPr>
        <p:spPr>
          <a:xfrm xmlns:a="http://schemas.openxmlformats.org/drawingml/2006/main">
            <a:off x="8096250" y="6238875"/>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5" name="Knowledge galaxy">
            <a:extLst xmlns:a="http://schemas.openxmlformats.org/drawingml/2006/main">
              <a:ext uri="{FF2B5EF4-FFF2-40B4-BE49-F238E27FC236}">
                <a16:creationId xmlns:a16="http://schemas.microsoft.com/office/drawing/2014/main" id="{D25340D2-CE82-4010-AC4F-A6A627ACB4F3}"/>
              </a:ext>
            </a:extLst>
          </p:cNvPr>
          <p:cNvSpPr>
            <a:spLocks xmlns:a="http://schemas.openxmlformats.org/drawingml/2006/main" noGrp="1"/>
          </p:cNvSpPr>
          <p:nvPr/>
        </p:nvSpPr>
        <p:spPr>
          <a:xfrm xmlns:a="http://schemas.openxmlformats.org/drawingml/2006/main">
            <a:off x="8267700" y="6410325"/>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Knowledge galaxy</a:t>
            </a:r>
          </a:p>
        </p:txBody>
      </p:sp>
      <p:sp>
        <p:nvSpPr>
          <p:cNvPr id="46" name="Topic groups&#10;and paper nodes">
            <a:extLst xmlns:a="http://schemas.openxmlformats.org/drawingml/2006/main">
              <a:ext uri="{FF2B5EF4-FFF2-40B4-BE49-F238E27FC236}">
                <a16:creationId xmlns:a16="http://schemas.microsoft.com/office/drawing/2014/main" id="{CE737099-6FEC-4036-AECD-8B00768FE00A}"/>
              </a:ext>
            </a:extLst>
          </p:cNvPr>
          <p:cNvSpPr>
            <a:spLocks xmlns:a="http://schemas.openxmlformats.org/drawingml/2006/main" noGrp="1"/>
          </p:cNvSpPr>
          <p:nvPr/>
        </p:nvSpPr>
        <p:spPr>
          <a:xfrm xmlns:a="http://schemas.openxmlformats.org/drawingml/2006/main">
            <a:off x="8267700" y="6858000"/>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Topic groups</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paper nodes</a:t>
            </a:r>
          </a:p>
        </p:txBody>
      </p:sp>
      <p:sp>
        <p:nvSpPr>
          <p:cNvPr id="47" name="Workflow: RAG question">
            <a:extLst xmlns:a="http://schemas.openxmlformats.org/drawingml/2006/main">
              <a:ext uri="{FF2B5EF4-FFF2-40B4-BE49-F238E27FC236}">
                <a16:creationId xmlns:a16="http://schemas.microsoft.com/office/drawing/2014/main" id="{C1E6A733-1142-4265-BD23-8DEBAC3ADCA8}"/>
              </a:ext>
            </a:extLst>
          </p:cNvPr>
          <p:cNvSpPr>
            <a:spLocks xmlns:a="http://schemas.openxmlformats.org/drawingml/2006/main" noGrp="1"/>
          </p:cNvSpPr>
          <p:nvPr/>
        </p:nvSpPr>
        <p:spPr>
          <a:xfrm xmlns:a="http://schemas.openxmlformats.org/drawingml/2006/main">
            <a:off x="8096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48" name="RAG question">
            <a:extLst xmlns:a="http://schemas.openxmlformats.org/drawingml/2006/main">
              <a:ext uri="{FF2B5EF4-FFF2-40B4-BE49-F238E27FC236}">
                <a16:creationId xmlns:a16="http://schemas.microsoft.com/office/drawing/2014/main" id="{B8D61870-F603-4C4F-AD4A-E3760BCEBAB7}"/>
              </a:ext>
            </a:extLst>
          </p:cNvPr>
          <p:cNvSpPr>
            <a:spLocks xmlns:a="http://schemas.openxmlformats.org/drawingml/2006/main" noGrp="1"/>
          </p:cNvSpPr>
          <p:nvPr/>
        </p:nvSpPr>
        <p:spPr>
          <a:xfrm xmlns:a="http://schemas.openxmlformats.org/drawingml/2006/main">
            <a:off x="8267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RAG question</a:t>
            </a:r>
          </a:p>
        </p:txBody>
      </p:sp>
      <p:sp>
        <p:nvSpPr>
          <p:cNvPr id="49" name="Retrieve passages&#10;and answer">
            <a:extLst xmlns:a="http://schemas.openxmlformats.org/drawingml/2006/main">
              <a:ext uri="{FF2B5EF4-FFF2-40B4-BE49-F238E27FC236}">
                <a16:creationId xmlns:a16="http://schemas.microsoft.com/office/drawing/2014/main" id="{A9C4CF48-6CD4-4CAD-B3B0-1E512ED8112D}"/>
              </a:ext>
            </a:extLst>
          </p:cNvPr>
          <p:cNvSpPr>
            <a:spLocks xmlns:a="http://schemas.openxmlformats.org/drawingml/2006/main" noGrp="1"/>
          </p:cNvSpPr>
          <p:nvPr/>
        </p:nvSpPr>
        <p:spPr>
          <a:xfrm xmlns:a="http://schemas.openxmlformats.org/drawingml/2006/main">
            <a:off x="8267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Retrieve passages</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answer</a:t>
            </a:r>
          </a:p>
        </p:txBody>
      </p:sp>
      <p:sp>
        <p:nvSpPr>
          <p:cNvPr id="50" name="Workflow: Source references">
            <a:extLst xmlns:a="http://schemas.openxmlformats.org/drawingml/2006/main">
              <a:ext uri="{FF2B5EF4-FFF2-40B4-BE49-F238E27FC236}">
                <a16:creationId xmlns:a16="http://schemas.microsoft.com/office/drawing/2014/main" id="{01DE9012-79C5-4725-8B2F-E37081006B11}"/>
              </a:ext>
            </a:extLst>
          </p:cNvPr>
          <p:cNvSpPr>
            <a:spLocks xmlns:a="http://schemas.openxmlformats.org/drawingml/2006/main" noGrp="1"/>
          </p:cNvSpPr>
          <p:nvPr/>
        </p:nvSpPr>
        <p:spPr>
          <a:xfrm xmlns:a="http://schemas.openxmlformats.org/drawingml/2006/main">
            <a:off x="4667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51" name="Source references">
            <a:extLst xmlns:a="http://schemas.openxmlformats.org/drawingml/2006/main">
              <a:ext uri="{FF2B5EF4-FFF2-40B4-BE49-F238E27FC236}">
                <a16:creationId xmlns:a16="http://schemas.microsoft.com/office/drawing/2014/main" id="{418E9D4C-61FE-42D3-9A50-7AB19DDC7A9E}"/>
              </a:ext>
            </a:extLst>
          </p:cNvPr>
          <p:cNvSpPr>
            <a:spLocks xmlns:a="http://schemas.openxmlformats.org/drawingml/2006/main" noGrp="1"/>
          </p:cNvSpPr>
          <p:nvPr/>
        </p:nvSpPr>
        <p:spPr>
          <a:xfrm xmlns:a="http://schemas.openxmlformats.org/drawingml/2006/main">
            <a:off x="4838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Source references</a:t>
            </a:r>
          </a:p>
        </p:txBody>
      </p:sp>
      <p:sp>
        <p:nvSpPr>
          <p:cNvPr id="52" name="Paper, page and&#10;passage context">
            <a:extLst xmlns:a="http://schemas.openxmlformats.org/drawingml/2006/main">
              <a:ext uri="{FF2B5EF4-FFF2-40B4-BE49-F238E27FC236}">
                <a16:creationId xmlns:a16="http://schemas.microsoft.com/office/drawing/2014/main" id="{B71E8B62-80A9-4406-A4BE-94D6BF889539}"/>
              </a:ext>
            </a:extLst>
          </p:cNvPr>
          <p:cNvSpPr>
            <a:spLocks xmlns:a="http://schemas.openxmlformats.org/drawingml/2006/main" noGrp="1"/>
          </p:cNvSpPr>
          <p:nvPr/>
        </p:nvSpPr>
        <p:spPr>
          <a:xfrm xmlns:a="http://schemas.openxmlformats.org/drawingml/2006/main">
            <a:off x="4838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Paper, page and</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passage context</a:t>
            </a:r>
          </a:p>
        </p:txBody>
      </p:sp>
      <p:sp>
        <p:nvSpPr>
          <p:cNvPr id="53" name="Workflow: PDF reader">
            <a:extLst xmlns:a="http://schemas.openxmlformats.org/drawingml/2006/main">
              <a:ext uri="{FF2B5EF4-FFF2-40B4-BE49-F238E27FC236}">
                <a16:creationId xmlns:a16="http://schemas.microsoft.com/office/drawing/2014/main" id="{C8CA5905-B0D8-4B3E-87F6-2E5509A2288D}"/>
              </a:ext>
            </a:extLst>
          </p:cNvPr>
          <p:cNvSpPr>
            <a:spLocks xmlns:a="http://schemas.openxmlformats.org/drawingml/2006/main" noGrp="1"/>
          </p:cNvSpPr>
          <p:nvPr/>
        </p:nvSpPr>
        <p:spPr>
          <a:xfrm xmlns:a="http://schemas.openxmlformats.org/drawingml/2006/main">
            <a:off x="1238250" y="7981950"/>
            <a:ext cx="2857500" cy="12573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6193">
            <a:solidFill>
              <a:srgbClr val="8FA4C1"/>
            </a:solidFill>
          </a:ln>
        </p:spPr>
      </p:sp>
      <p:sp>
        <p:nvSpPr>
          <p:cNvPr id="54" name="PDF reader">
            <a:extLst xmlns:a="http://schemas.openxmlformats.org/drawingml/2006/main">
              <a:ext uri="{FF2B5EF4-FFF2-40B4-BE49-F238E27FC236}">
                <a16:creationId xmlns:a16="http://schemas.microsoft.com/office/drawing/2014/main" id="{E9A3F2C1-338D-4914-86D0-1A8F614FAD24}"/>
              </a:ext>
            </a:extLst>
          </p:cNvPr>
          <p:cNvSpPr>
            <a:spLocks xmlns:a="http://schemas.openxmlformats.org/drawingml/2006/main" noGrp="1"/>
          </p:cNvSpPr>
          <p:nvPr/>
        </p:nvSpPr>
        <p:spPr>
          <a:xfrm xmlns:a="http://schemas.openxmlformats.org/drawingml/2006/main">
            <a:off x="1409700" y="8153400"/>
            <a:ext cx="2514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1B40"/>
                </a:solidFill>
                <a:latin typeface="Montserrat Bold"/>
                <a:ea typeface="Montserrat Bold"/>
                <a:cs typeface="Montserrat Bold"/>
              </a:defRPr>
            </a:defPPr>
          </a:lstStyle>
          <a:p xmlns:a="http://schemas.openxmlformats.org/drawingml/2006/main">
            <a:pPr algn="l">
              <a:buNone/>
              <a:defRPr sz="2025" b="1">
                <a:solidFill>
                  <a:srgbClr val="101B40"/>
                </a:solidFill>
                <a:latin typeface="Montserrat Bold"/>
                <a:ea typeface="Montserrat Bold"/>
                <a:cs typeface="Montserrat Bold"/>
              </a:defRPr>
            </a:pPr>
            <a:r>
              <a:rPr sz="2025" b="1">
                <a:solidFill>
                  <a:srgbClr val="101B40"/>
                </a:solidFill>
                <a:latin typeface="Montserrat Bold"/>
                <a:ea typeface="Montserrat Bold"/>
                <a:cs typeface="Montserrat Bold"/>
              </a:rPr>
              <a:t>PDF reader</a:t>
            </a:r>
          </a:p>
        </p:txBody>
      </p:sp>
      <p:sp>
        <p:nvSpPr>
          <p:cNvPr id="55" name="Locate the source&#10;and highlight terms">
            <a:extLst xmlns:a="http://schemas.openxmlformats.org/drawingml/2006/main">
              <a:ext uri="{FF2B5EF4-FFF2-40B4-BE49-F238E27FC236}">
                <a16:creationId xmlns:a16="http://schemas.microsoft.com/office/drawing/2014/main" id="{252F97DD-E1FC-45A9-8B82-DABFABE36EFF}"/>
              </a:ext>
            </a:extLst>
          </p:cNvPr>
          <p:cNvSpPr>
            <a:spLocks xmlns:a="http://schemas.openxmlformats.org/drawingml/2006/main" noGrp="1"/>
          </p:cNvSpPr>
          <p:nvPr/>
        </p:nvSpPr>
        <p:spPr>
          <a:xfrm xmlns:a="http://schemas.openxmlformats.org/drawingml/2006/main">
            <a:off x="1409700" y="8601075"/>
            <a:ext cx="251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Locate the source</a:t>
            </a:r>
          </a:p>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and highlight terms</a:t>
            </a:r>
          </a:p>
        </p:txBody>
      </p:sp>
      <p:cxnSp>
        <p:nvCxnSpPr>
          <p:cNvPr id="56" name="">
            <a:extLst xmlns:a="http://schemas.openxmlformats.org/drawingml/2006/main">
              <a:ext uri="{FF2B5EF4-FFF2-40B4-BE49-F238E27FC236}">
                <a16:creationId xmlns:a16="http://schemas.microsoft.com/office/drawing/2014/main" id="{40BFE325-CA95-4469-95C5-B5440B6D26B2}"/>
              </a:ext>
            </a:extLst>
          </p:cNvPr>
          <p:cNvCxnSpPr>
            <a:stCxn xmlns:a="http://schemas.openxmlformats.org/drawingml/2006/main" id="38" idx="3"/>
            <a:endCxn xmlns:a="http://schemas.openxmlformats.org/drawingml/2006/main" id="41" idx="1"/>
          </p:cNvCxnSpPr>
          <p:nvPr/>
        </p:nvCxnSpPr>
        <p:spPr>
          <a:xfrm xmlns:a="http://schemas.openxmlformats.org/drawingml/2006/main">
            <a:off x="4095750" y="68675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7" name="">
            <a:extLst xmlns:a="http://schemas.openxmlformats.org/drawingml/2006/main">
              <a:ext uri="{FF2B5EF4-FFF2-40B4-BE49-F238E27FC236}">
                <a16:creationId xmlns:a16="http://schemas.microsoft.com/office/drawing/2014/main" id="{AA65C0E6-AE3D-490D-967D-B1C92106A215}"/>
              </a:ext>
            </a:extLst>
          </p:cNvPr>
          <p:cNvCxnSpPr>
            <a:stCxn xmlns:a="http://schemas.openxmlformats.org/drawingml/2006/main" id="41" idx="3"/>
            <a:endCxn xmlns:a="http://schemas.openxmlformats.org/drawingml/2006/main" id="44" idx="1"/>
          </p:cNvCxnSpPr>
          <p:nvPr/>
        </p:nvCxnSpPr>
        <p:spPr>
          <a:xfrm xmlns:a="http://schemas.openxmlformats.org/drawingml/2006/main">
            <a:off x="7524750" y="68675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8" name="">
            <a:extLst xmlns:a="http://schemas.openxmlformats.org/drawingml/2006/main">
              <a:ext uri="{FF2B5EF4-FFF2-40B4-BE49-F238E27FC236}">
                <a16:creationId xmlns:a16="http://schemas.microsoft.com/office/drawing/2014/main" id="{490252A0-A7A5-499F-B6E6-128A6540BD24}"/>
              </a:ext>
            </a:extLst>
          </p:cNvPr>
          <p:cNvCxnSpPr>
            <a:stCxn xmlns:a="http://schemas.openxmlformats.org/drawingml/2006/main" id="44" idx="2"/>
            <a:endCxn xmlns:a="http://schemas.openxmlformats.org/drawingml/2006/main" id="47" idx="0"/>
          </p:cNvCxnSpPr>
          <p:nvPr/>
        </p:nvCxnSpPr>
        <p:spPr>
          <a:xfrm xmlns:a="http://schemas.openxmlformats.org/drawingml/2006/main">
            <a:off x="9525000" y="7496175"/>
            <a:ext cx="0" cy="485775"/>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59" name="">
            <a:extLst xmlns:a="http://schemas.openxmlformats.org/drawingml/2006/main">
              <a:ext uri="{FF2B5EF4-FFF2-40B4-BE49-F238E27FC236}">
                <a16:creationId xmlns:a16="http://schemas.microsoft.com/office/drawing/2014/main" id="{95A646C1-C122-476C-9413-A893E77FFF9B}"/>
              </a:ext>
            </a:extLst>
          </p:cNvPr>
          <p:cNvCxnSpPr>
            <a:stCxn xmlns:a="http://schemas.openxmlformats.org/drawingml/2006/main" id="47" idx="1"/>
            <a:endCxn xmlns:a="http://schemas.openxmlformats.org/drawingml/2006/main" id="50" idx="3"/>
          </p:cNvCxnSpPr>
          <p:nvPr/>
        </p:nvCxnSpPr>
        <p:spPr>
          <a:xfrm xmlns:a="http://schemas.openxmlformats.org/drawingml/2006/main" flipH="1">
            <a:off x="7524750" y="8610600"/>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60" name="">
            <a:extLst xmlns:a="http://schemas.openxmlformats.org/drawingml/2006/main">
              <a:ext uri="{FF2B5EF4-FFF2-40B4-BE49-F238E27FC236}">
                <a16:creationId xmlns:a16="http://schemas.microsoft.com/office/drawing/2014/main" id="{CECB9434-E351-4C01-B052-3D4694F3EA76}"/>
              </a:ext>
            </a:extLst>
          </p:cNvPr>
          <p:cNvCxnSpPr>
            <a:stCxn xmlns:a="http://schemas.openxmlformats.org/drawingml/2006/main" id="50" idx="1"/>
            <a:endCxn xmlns:a="http://schemas.openxmlformats.org/drawingml/2006/main" id="53" idx="3"/>
          </p:cNvCxnSpPr>
          <p:nvPr/>
        </p:nvCxnSpPr>
        <p:spPr>
          <a:xfrm xmlns:a="http://schemas.openxmlformats.org/drawingml/2006/main" flipH="1">
            <a:off x="4095750" y="8610600"/>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spTree>
    <p:extLst>
      <p:ext uri="{BB962C8B-B14F-4D97-AF65-F5344CB8AC3E}">
        <p14:creationId xmlns:p14="http://schemas.microsoft.com/office/powerpoint/2010/main" val="1459637943"/>
      </p:ext>
    </p:extLst>
  </p:cSld>
</p:sld>
</file>

<file path=ppt/slides/slide4.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9AA10A0F-7D88-49E2-8A1B-ECE45ED032C1}"/>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1C2336E7-29B6-4D98-83F7-1FC4BBDFAA01}"/>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A630BADD-12B3-4EF4-B753-2CC3D3F2813F}"/>
              </a:ext>
            </a:extLst>
          </p:cNvPr>
          <p:cNvSpPr>
            <a:spLocks xmlns:a="http://schemas.openxmlformats.org/drawingml/2006/main" noGrp="1"/>
          </p:cNvSpPr>
          <p:nvPr/>
        </p:nvSpPr>
        <p:spPr>
          <a:xfrm xmlns:a="http://schemas.openxmlformats.org/drawingml/2006/main" rot="0" flipH="0" flipV="0">
            <a:off x="7048500" y="628650"/>
            <a:ext cx="1466850"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55CEEA1C-4E62-4A32-98B5-5E5243D81B53}"/>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10" name="Freeform 10">
            <a:extLst xmlns:a="http://schemas.openxmlformats.org/drawingml/2006/main">
              <a:ext uri="{FF2B5EF4-FFF2-40B4-BE49-F238E27FC236}">
                <a16:creationId xmlns:a16="http://schemas.microsoft.com/office/drawing/2014/main" id="{9E2AD183-00CB-4EF9-8F72-AC52313C56A4}"/>
              </a:ext>
            </a:extLst>
          </p:cNvPr>
          <p:cNvSpPr>
            <a:spLocks xmlns:a="http://schemas.openxmlformats.org/drawingml/2006/main" noGrp="1"/>
          </p:cNvSpPr>
          <p:nvPr/>
        </p:nvSpPr>
        <p:spPr>
          <a:xfrm xmlns:a="http://schemas.openxmlformats.org/drawingml/2006/main" rot="0" flipH="0" flipV="0">
            <a:off x="0" y="0"/>
            <a:ext cx="4264059" cy="10287000"/>
          </a:xfrm>
          <a:custGeom xmlns:a="http://schemas.openxmlformats.org/drawingml/2006/main">
            <a:rect l="l" t="t" r="r" b="b"/>
            <a:pathLst>
              <a:path w="1123044" h="2709333">
                <a:moveTo>
                  <a:pt x="92597" y="0"/>
                </a:moveTo>
                <a:lnTo>
                  <a:pt x="1030448" y="0"/>
                </a:lnTo>
                <a:cubicBezTo>
                  <a:pt x="1081587" y="0"/>
                  <a:pt x="1123044" y="41457"/>
                  <a:pt x="1123044" y="92597"/>
                </a:cubicBezTo>
                <a:lnTo>
                  <a:pt x="1123044" y="2616737"/>
                </a:lnTo>
                <a:cubicBezTo>
                  <a:pt x="1123044" y="2667876"/>
                  <a:pt x="1081587" y="2709333"/>
                  <a:pt x="1030448" y="2709333"/>
                </a:cubicBezTo>
                <a:lnTo>
                  <a:pt x="92597" y="2709333"/>
                </a:lnTo>
                <a:cubicBezTo>
                  <a:pt x="41457" y="2709333"/>
                  <a:pt x="0" y="2667876"/>
                  <a:pt x="0" y="2616737"/>
                </a:cubicBezTo>
                <a:lnTo>
                  <a:pt x="0" y="92597"/>
                </a:lnTo>
                <a:cubicBezTo>
                  <a:pt x="0" y="41457"/>
                  <a:pt x="41457" y="0"/>
                  <a:pt x="92597" y="0"/>
                </a:cubicBezTo>
                <a:close/>
              </a:path>
            </a:pathLst>
          </a:custGeom>
          <a:solidFill xmlns:a="http://schemas.openxmlformats.org/drawingml/2006/main">
            <a:srgbClr val="DCE2EB"/>
          </a:solidFill>
        </p:spPr>
      </p:sp>
      <p:sp>
        <p:nvSpPr>
          <p:cNvPr id="21" name="TextBox 21">
            <a:extLst xmlns:a="http://schemas.openxmlformats.org/drawingml/2006/main">
              <a:ext uri="{FF2B5EF4-FFF2-40B4-BE49-F238E27FC236}">
                <a16:creationId xmlns:a16="http://schemas.microsoft.com/office/drawing/2014/main" id="{1086C460-7E75-4BC4-9084-A24B08066940}"/>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2" name="TextBox 22">
            <a:extLst xmlns:a="http://schemas.openxmlformats.org/drawingml/2006/main">
              <a:ext uri="{FF2B5EF4-FFF2-40B4-BE49-F238E27FC236}">
                <a16:creationId xmlns:a16="http://schemas.microsoft.com/office/drawing/2014/main" id="{F85F5EF7-8F9F-46C6-8E66-74A638DC90E1}"/>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DESIGN</a:t>
            </a:r>
          </a:p>
        </p:txBody>
      </p:sp>
      <p:sp>
        <p:nvSpPr>
          <p:cNvPr id="23" name="TextBox 23">
            <a:extLst xmlns:a="http://schemas.openxmlformats.org/drawingml/2006/main">
              <a:ext uri="{FF2B5EF4-FFF2-40B4-BE49-F238E27FC236}">
                <a16:creationId xmlns:a16="http://schemas.microsoft.com/office/drawing/2014/main" id="{4B602223-28EE-42A0-8C21-7066C1DCEF18}"/>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24" name="TextBox 24">
            <a:extLst xmlns:a="http://schemas.openxmlformats.org/drawingml/2006/main">
              <a:ext uri="{FF2B5EF4-FFF2-40B4-BE49-F238E27FC236}">
                <a16:creationId xmlns:a16="http://schemas.microsoft.com/office/drawing/2014/main" id="{89390289-E777-4074-A2C3-C861630BF8A2}"/>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25" name="TextBox 25">
            <a:extLst xmlns:a="http://schemas.openxmlformats.org/drawingml/2006/main">
              <a:ext uri="{FF2B5EF4-FFF2-40B4-BE49-F238E27FC236}">
                <a16:creationId xmlns:a16="http://schemas.microsoft.com/office/drawing/2014/main" id="{8A8C5C0A-5E34-46D2-B6D7-AE34073906E7}"/>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6" name="04">
            <a:extLst xmlns:a="http://schemas.openxmlformats.org/drawingml/2006/main">
              <a:ext uri="{FF2B5EF4-FFF2-40B4-BE49-F238E27FC236}">
                <a16:creationId xmlns:a16="http://schemas.microsoft.com/office/drawing/2014/main" id="{7CABA642-C0BA-4EFF-8216-161817ABD2D5}"/>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04</a:t>
            </a:r>
          </a:p>
        </p:txBody>
      </p:sp>
      <p:sp>
        <p:nvSpPr>
          <p:cNvPr id="27" name="PDF-GalaxAI">
            <a:extLst xmlns:a="http://schemas.openxmlformats.org/drawingml/2006/main">
              <a:ext uri="{FF2B5EF4-FFF2-40B4-BE49-F238E27FC236}">
                <a16:creationId xmlns:a16="http://schemas.microsoft.com/office/drawing/2014/main" id="{179A747C-F522-4A72-AF31-D4B2018EDFCC}"/>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28" name="04 / 12">
            <a:extLst xmlns:a="http://schemas.openxmlformats.org/drawingml/2006/main">
              <a:ext uri="{FF2B5EF4-FFF2-40B4-BE49-F238E27FC236}">
                <a16:creationId xmlns:a16="http://schemas.microsoft.com/office/drawing/2014/main" id="{2CD5C878-C2BA-432B-A681-33EE67F6F770}"/>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04 / 09</a:t>
            </a:r>
          </a:p>
        </p:txBody>
      </p:sp>
      <p:sp>
        <p:nvSpPr>
          <p:cNvPr id="29" name="3D Semantic Knowledge Visualisation">
            <a:extLst xmlns:a="http://schemas.openxmlformats.org/drawingml/2006/main">
              <a:ext uri="{FF2B5EF4-FFF2-40B4-BE49-F238E27FC236}">
                <a16:creationId xmlns:a16="http://schemas.microsoft.com/office/drawing/2014/main" id="{744B5083-AEF0-4EC1-92D8-7E8D7E63417C}"/>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3D Semantic Knowledge Visualisation</a:t>
            </a:r>
          </a:p>
        </p:txBody>
      </p:sp>
      <p:sp>
        <p:nvSpPr>
          <p:cNvPr id="30" name="3D topic groups provide a collection overview with direct access to in">
            <a:extLst xmlns:a="http://schemas.openxmlformats.org/drawingml/2006/main">
              <a:ext uri="{FF2B5EF4-FFF2-40B4-BE49-F238E27FC236}">
                <a16:creationId xmlns:a16="http://schemas.microsoft.com/office/drawing/2014/main" id="{230BE1FE-5ADD-4C4E-9216-A61F0BB2176A}"/>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3D topic groups provide a collection overview with direct access to individual papers.</a:t>
            </a:r>
          </a:p>
        </p:txBody>
      </p:sp>
      <p:sp>
        <p:nvSpPr>
          <p:cNvPr id="31" name="Screenshot placeholder: 【此处放三维语义知识星云截图】">
            <a:extLst xmlns:a="http://schemas.openxmlformats.org/drawingml/2006/main">
              <a:ext uri="{FF2B5EF4-FFF2-40B4-BE49-F238E27FC236}">
                <a16:creationId xmlns:a16="http://schemas.microsoft.com/office/drawing/2014/main" id="{FB82EB11-92C8-4184-BD65-9783655D3A0D}"/>
              </a:ext>
            </a:extLst>
          </p:cNvPr>
          <p:cNvSpPr>
            <a:spLocks xmlns:a="http://schemas.openxmlformats.org/drawingml/2006/main" noGrp="1"/>
          </p:cNvSpPr>
          <p:nvPr/>
        </p:nvSpPr>
        <p:spPr>
          <a:xfrm xmlns:a="http://schemas.openxmlformats.org/drawingml/2006/main">
            <a:off x="1238250" y="4076700"/>
            <a:ext cx="9906000" cy="5572125"/>
          </a:xfrm>
          <a:prstGeom xmlns:a="http://schemas.openxmlformats.org/drawingml/2006/main" prst="roundRect">
            <a:avLst>
              <a:gd name="adj" fmla="val 4103"/>
            </a:avLst>
          </a:prstGeom>
          <a:solidFill xmlns:a="http://schemas.openxmlformats.org/drawingml/2006/main">
            <a:srgbClr val="DCE2EB"/>
          </a:solidFill>
          <a:ln xmlns:a="http://schemas.openxmlformats.org/drawingml/2006/main" w="16193">
            <a:solidFill>
              <a:srgbClr val="8FA4C1"/>
            </a:solidFill>
          </a:ln>
        </p:spPr>
      </p:sp>
      <p:sp>
        <p:nvSpPr>
          <p:cNvPr id="32" name="【此处放三维语义知识星云截图】">
            <a:extLst xmlns:a="http://schemas.openxmlformats.org/drawingml/2006/main">
              <a:ext uri="{FF2B5EF4-FFF2-40B4-BE49-F238E27FC236}">
                <a16:creationId xmlns:a16="http://schemas.microsoft.com/office/drawing/2014/main" id="{7329C4CE-7344-4CB9-A71F-6F6B396FAB4C}"/>
              </a:ext>
            </a:extLst>
          </p:cNvPr>
          <p:cNvSpPr>
            <a:spLocks xmlns:a="http://schemas.openxmlformats.org/drawingml/2006/main" noGrp="1"/>
          </p:cNvSpPr>
          <p:nvPr/>
        </p:nvSpPr>
        <p:spPr>
          <a:xfrm xmlns:a="http://schemas.openxmlformats.org/drawingml/2006/main">
            <a:off x="1447800" y="6577013"/>
            <a:ext cx="9486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【此处放三维语义知识星云截图】</a:t>
            </a:r>
          </a:p>
        </p:txBody>
      </p:sp>
      <p:sp>
        <p:nvSpPr>
          <p:cNvPr id="33" name="16:9">
            <a:extLst xmlns:a="http://schemas.openxmlformats.org/drawingml/2006/main">
              <a:ext uri="{FF2B5EF4-FFF2-40B4-BE49-F238E27FC236}">
                <a16:creationId xmlns:a16="http://schemas.microsoft.com/office/drawing/2014/main" id="{D58989B8-B243-4285-AD73-93E147948F09}"/>
              </a:ext>
            </a:extLst>
          </p:cNvPr>
          <p:cNvSpPr>
            <a:spLocks xmlns:a="http://schemas.openxmlformats.org/drawingml/2006/main" noGrp="1"/>
          </p:cNvSpPr>
          <p:nvPr/>
        </p:nvSpPr>
        <p:spPr>
          <a:xfrm xmlns:a="http://schemas.openxmlformats.org/drawingml/2006/main">
            <a:off x="9763125" y="424815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4" name="Colour">
            <a:extLst xmlns:a="http://schemas.openxmlformats.org/drawingml/2006/main">
              <a:ext uri="{FF2B5EF4-FFF2-40B4-BE49-F238E27FC236}">
                <a16:creationId xmlns:a16="http://schemas.microsoft.com/office/drawing/2014/main" id="{5AEDAB65-2013-4E9D-AA7A-B8FED2A6381F}"/>
              </a:ext>
            </a:extLst>
          </p:cNvPr>
          <p:cNvSpPr>
            <a:spLocks xmlns:a="http://schemas.openxmlformats.org/drawingml/2006/main" noGrp="1"/>
          </p:cNvSpPr>
          <p:nvPr/>
        </p:nvSpPr>
        <p:spPr>
          <a:xfrm xmlns:a="http://schemas.openxmlformats.org/drawingml/2006/main">
            <a:off x="11811000" y="40671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Colour</a:t>
            </a:r>
          </a:p>
        </p:txBody>
      </p:sp>
      <p:sp>
        <p:nvSpPr>
          <p:cNvPr id="35" name="KMeans topic cluster">
            <a:extLst xmlns:a="http://schemas.openxmlformats.org/drawingml/2006/main">
              <a:ext uri="{FF2B5EF4-FFF2-40B4-BE49-F238E27FC236}">
                <a16:creationId xmlns:a16="http://schemas.microsoft.com/office/drawing/2014/main" id="{87111CA3-A8B7-4E33-98CB-2C310E5EF977}"/>
              </a:ext>
            </a:extLst>
          </p:cNvPr>
          <p:cNvSpPr>
            <a:spLocks xmlns:a="http://schemas.openxmlformats.org/drawingml/2006/main" noGrp="1"/>
          </p:cNvSpPr>
          <p:nvPr/>
        </p:nvSpPr>
        <p:spPr>
          <a:xfrm xmlns:a="http://schemas.openxmlformats.org/drawingml/2006/main">
            <a:off x="11811000" y="44862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KMeans topic cluster</a:t>
            </a:r>
          </a:p>
        </p:txBody>
      </p:sp>
      <p:sp>
        <p:nvSpPr>
          <p:cNvPr id="36" name="Position">
            <a:extLst xmlns:a="http://schemas.openxmlformats.org/drawingml/2006/main">
              <a:ext uri="{FF2B5EF4-FFF2-40B4-BE49-F238E27FC236}">
                <a16:creationId xmlns:a16="http://schemas.microsoft.com/office/drawing/2014/main" id="{E8D76CAA-C777-46FA-8C16-4C4D919EDE7B}"/>
              </a:ext>
            </a:extLst>
          </p:cNvPr>
          <p:cNvSpPr>
            <a:spLocks xmlns:a="http://schemas.openxmlformats.org/drawingml/2006/main" noGrp="1"/>
          </p:cNvSpPr>
          <p:nvPr/>
        </p:nvSpPr>
        <p:spPr>
          <a:xfrm xmlns:a="http://schemas.openxmlformats.org/drawingml/2006/main">
            <a:off x="11811000" y="50958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Position</a:t>
            </a:r>
          </a:p>
        </p:txBody>
      </p:sp>
      <p:sp>
        <p:nvSpPr>
          <p:cNvPr id="37" name="UMAP/PCA coordinates with additional cluster separation">
            <a:extLst xmlns:a="http://schemas.openxmlformats.org/drawingml/2006/main">
              <a:ext uri="{FF2B5EF4-FFF2-40B4-BE49-F238E27FC236}">
                <a16:creationId xmlns:a16="http://schemas.microsoft.com/office/drawing/2014/main" id="{4EC049C2-BE98-4753-8FDF-9EDEF43B30E7}"/>
              </a:ext>
            </a:extLst>
          </p:cNvPr>
          <p:cNvSpPr>
            <a:spLocks xmlns:a="http://schemas.openxmlformats.org/drawingml/2006/main" noGrp="1"/>
          </p:cNvSpPr>
          <p:nvPr/>
        </p:nvSpPr>
        <p:spPr>
          <a:xfrm xmlns:a="http://schemas.openxmlformats.org/drawingml/2006/main">
            <a:off x="11811000" y="55149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UMAP/PCA coordinates with additional cluster separation</a:t>
            </a:r>
          </a:p>
        </p:txBody>
      </p:sp>
      <p:sp>
        <p:nvSpPr>
          <p:cNvPr id="38" name="Node size">
            <a:extLst xmlns:a="http://schemas.openxmlformats.org/drawingml/2006/main">
              <a:ext uri="{FF2B5EF4-FFF2-40B4-BE49-F238E27FC236}">
                <a16:creationId xmlns:a16="http://schemas.microsoft.com/office/drawing/2014/main" id="{C11D0391-68C1-490A-ADEC-F8E8312FCC71}"/>
              </a:ext>
            </a:extLst>
          </p:cNvPr>
          <p:cNvSpPr>
            <a:spLocks xmlns:a="http://schemas.openxmlformats.org/drawingml/2006/main" noGrp="1"/>
          </p:cNvSpPr>
          <p:nvPr/>
        </p:nvSpPr>
        <p:spPr>
          <a:xfrm xmlns:a="http://schemas.openxmlformats.org/drawingml/2006/main">
            <a:off x="11811000" y="61245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Node size</a:t>
            </a:r>
          </a:p>
        </p:txBody>
      </p:sp>
      <p:sp>
        <p:nvSpPr>
          <p:cNvPr id="39" name="Similarity to the assigned cluster centre">
            <a:extLst xmlns:a="http://schemas.openxmlformats.org/drawingml/2006/main">
              <a:ext uri="{FF2B5EF4-FFF2-40B4-BE49-F238E27FC236}">
                <a16:creationId xmlns:a16="http://schemas.microsoft.com/office/drawing/2014/main" id="{2E6E4DA3-B91E-442C-82E2-9AFB7F318CA2}"/>
              </a:ext>
            </a:extLst>
          </p:cNvPr>
          <p:cNvSpPr>
            <a:spLocks xmlns:a="http://schemas.openxmlformats.org/drawingml/2006/main" noGrp="1"/>
          </p:cNvSpPr>
          <p:nvPr/>
        </p:nvSpPr>
        <p:spPr>
          <a:xfrm xmlns:a="http://schemas.openxmlformats.org/drawingml/2006/main">
            <a:off x="11811000" y="65436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Similarity to the assigned cluster centre</a:t>
            </a:r>
          </a:p>
        </p:txBody>
      </p:sp>
      <p:sp>
        <p:nvSpPr>
          <p:cNvPr id="40" name="Nebula density">
            <a:extLst xmlns:a="http://schemas.openxmlformats.org/drawingml/2006/main">
              <a:ext uri="{FF2B5EF4-FFF2-40B4-BE49-F238E27FC236}">
                <a16:creationId xmlns:a16="http://schemas.microsoft.com/office/drawing/2014/main" id="{C17E0C83-D629-4EBE-A60A-C52811D0A6E9}"/>
              </a:ext>
            </a:extLst>
          </p:cNvPr>
          <p:cNvSpPr>
            <a:spLocks xmlns:a="http://schemas.openxmlformats.org/drawingml/2006/main" noGrp="1"/>
          </p:cNvSpPr>
          <p:nvPr/>
        </p:nvSpPr>
        <p:spPr>
          <a:xfrm xmlns:a="http://schemas.openxmlformats.org/drawingml/2006/main">
            <a:off x="11811000" y="71532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Nebula density</a:t>
            </a:r>
          </a:p>
        </p:txBody>
      </p:sp>
      <p:sp>
        <p:nvSpPr>
          <p:cNvPr id="41" name="Number of papers in the cluster">
            <a:extLst xmlns:a="http://schemas.openxmlformats.org/drawingml/2006/main">
              <a:ext uri="{FF2B5EF4-FFF2-40B4-BE49-F238E27FC236}">
                <a16:creationId xmlns:a16="http://schemas.microsoft.com/office/drawing/2014/main" id="{997F3C1F-6482-4E10-8275-353035900C88}"/>
              </a:ext>
            </a:extLst>
          </p:cNvPr>
          <p:cNvSpPr>
            <a:spLocks xmlns:a="http://schemas.openxmlformats.org/drawingml/2006/main" noGrp="1"/>
          </p:cNvSpPr>
          <p:nvPr/>
        </p:nvSpPr>
        <p:spPr>
          <a:xfrm xmlns:a="http://schemas.openxmlformats.org/drawingml/2006/main">
            <a:off x="11811000" y="75723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Number of papers in the cluster</a:t>
            </a:r>
          </a:p>
        </p:txBody>
      </p:sp>
      <p:sp>
        <p:nvSpPr>
          <p:cNvPr id="42" name="Visual emphasis">
            <a:extLst xmlns:a="http://schemas.openxmlformats.org/drawingml/2006/main">
              <a:ext uri="{FF2B5EF4-FFF2-40B4-BE49-F238E27FC236}">
                <a16:creationId xmlns:a16="http://schemas.microsoft.com/office/drawing/2014/main" id="{8A6166DE-A0F0-4A34-B73A-AD786A56573F}"/>
              </a:ext>
            </a:extLst>
          </p:cNvPr>
          <p:cNvSpPr>
            <a:spLocks xmlns:a="http://schemas.openxmlformats.org/drawingml/2006/main" noGrp="1"/>
          </p:cNvSpPr>
          <p:nvPr/>
        </p:nvSpPr>
        <p:spPr>
          <a:xfrm xmlns:a="http://schemas.openxmlformats.org/drawingml/2006/main">
            <a:off x="11811000" y="81819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Visual emphasis</a:t>
            </a:r>
          </a:p>
        </p:txBody>
      </p:sp>
      <p:sp>
        <p:nvSpPr>
          <p:cNvPr id="43" name="Retrieved papers and selected search results">
            <a:extLst xmlns:a="http://schemas.openxmlformats.org/drawingml/2006/main">
              <a:ext uri="{FF2B5EF4-FFF2-40B4-BE49-F238E27FC236}">
                <a16:creationId xmlns:a16="http://schemas.microsoft.com/office/drawing/2014/main" id="{4A353A7B-2720-4F80-BD9A-DD06B577F06B}"/>
              </a:ext>
            </a:extLst>
          </p:cNvPr>
          <p:cNvSpPr>
            <a:spLocks xmlns:a="http://schemas.openxmlformats.org/drawingml/2006/main" noGrp="1"/>
          </p:cNvSpPr>
          <p:nvPr/>
        </p:nvSpPr>
        <p:spPr>
          <a:xfrm xmlns:a="http://schemas.openxmlformats.org/drawingml/2006/main">
            <a:off x="11811000" y="8601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buNone/>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Retrieved papers and selected search results</a:t>
            </a:r>
          </a:p>
        </p:txBody>
      </p:sp>
    </p:spTree>
    <p:extLst>
      <p:ext uri="{BB962C8B-B14F-4D97-AF65-F5344CB8AC3E}">
        <p14:creationId xmlns:p14="http://schemas.microsoft.com/office/powerpoint/2010/main" val="826168617"/>
      </p:ext>
    </p:extLst>
  </p:cSld>
</p:sld>
</file>

<file path=ppt/slides/slide5.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920F2C7-7F14-4D60-A417-6274F09C5B61}"/>
              </a:ext>
            </a:extLst>
          </p:cNvPr>
          <p:cNvSpPr>
            <a:spLocks xmlns:a="http://schemas.openxmlformats.org/drawingml/2006/main" noGrp="1"/>
          </p:cNvSpPr>
          <p:nvPr/>
        </p:nvSpPr>
        <p:spPr>
          <a:xfrm xmlns:a="http://schemas.openxmlformats.org/drawingml/2006/main" rot="0" flipH="0" flipV="0">
            <a:off x="350265" y="341540"/>
            <a:ext cx="17587469" cy="9603920"/>
          </a:xfrm>
          <a:custGeom xmlns:a="http://schemas.openxmlformats.org/drawingml/2006/main">
            <a:rect l="l" t="t" r="r" b="b"/>
            <a:pathLst>
              <a:path w="4632091" h="2529427">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xmlns:a="http://schemas.openxmlformats.org/drawingml/2006/main">
            <a:srgbClr val="DCE2EB"/>
          </a:solidFill>
        </p:spPr>
      </p:sp>
      <p:sp>
        <p:nvSpPr>
          <p:cNvPr id="6" name="Freeform 6">
            <a:extLst xmlns:a="http://schemas.openxmlformats.org/drawingml/2006/main">
              <a:ext uri="{FF2B5EF4-FFF2-40B4-BE49-F238E27FC236}">
                <a16:creationId xmlns:a16="http://schemas.microsoft.com/office/drawing/2014/main" id="{85EED528-DCB8-4BAD-AACC-47944D2E34DB}"/>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7" name="TextBox 7">
            <a:extLst xmlns:a="http://schemas.openxmlformats.org/drawingml/2006/main">
              <a:ext uri="{FF2B5EF4-FFF2-40B4-BE49-F238E27FC236}">
                <a16:creationId xmlns:a16="http://schemas.microsoft.com/office/drawing/2014/main" id="{E02053D9-6A79-4A94-B3A0-6B831B814550}"/>
              </a:ext>
            </a:extLst>
          </p:cNvPr>
          <p:cNvSpPr>
            <a:spLocks xmlns:a="http://schemas.openxmlformats.org/drawingml/2006/main" noGrp="1"/>
          </p:cNvSpPr>
          <p:nvPr/>
        </p:nvSpPr>
        <p:spPr>
          <a:xfrm xmlns:a="http://schemas.openxmlformats.org/drawingml/2006/main" rot="0" flipH="0" flipV="0">
            <a:off x="4409081" y="617340"/>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Freeform 9">
            <a:extLst xmlns:a="http://schemas.openxmlformats.org/drawingml/2006/main">
              <a:ext uri="{FF2B5EF4-FFF2-40B4-BE49-F238E27FC236}">
                <a16:creationId xmlns:a16="http://schemas.microsoft.com/office/drawing/2014/main" id="{3A4DB3B2-6561-42C9-B572-B0BB7C421802}"/>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10" name="TextBox 10">
            <a:extLst xmlns:a="http://schemas.openxmlformats.org/drawingml/2006/main">
              <a:ext uri="{FF2B5EF4-FFF2-40B4-BE49-F238E27FC236}">
                <a16:creationId xmlns:a16="http://schemas.microsoft.com/office/drawing/2014/main" id="{1E533097-F34B-4477-96E4-06B881A7FEF9}"/>
              </a:ext>
            </a:extLst>
          </p:cNvPr>
          <p:cNvSpPr>
            <a:spLocks xmlns:a="http://schemas.openxmlformats.org/drawingml/2006/main" noGrp="1"/>
          </p:cNvSpPr>
          <p:nvPr/>
        </p:nvSpPr>
        <p:spPr>
          <a:xfrm xmlns:a="http://schemas.openxmlformats.org/drawingml/2006/main" rot="0" flipH="0" flipV="0">
            <a:off x="9460786" y="730170"/>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50" name="TextBox 50">
            <a:extLst xmlns:a="http://schemas.openxmlformats.org/drawingml/2006/main">
              <a:ext uri="{FF2B5EF4-FFF2-40B4-BE49-F238E27FC236}">
                <a16:creationId xmlns:a16="http://schemas.microsoft.com/office/drawing/2014/main" id="{895BCC7A-6881-483E-932F-B61A2679877F}"/>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51" name="TextBox 51">
            <a:extLst xmlns:a="http://schemas.openxmlformats.org/drawingml/2006/main">
              <a:ext uri="{FF2B5EF4-FFF2-40B4-BE49-F238E27FC236}">
                <a16:creationId xmlns:a16="http://schemas.microsoft.com/office/drawing/2014/main" id="{B4F69C6D-2F5E-4E66-BF00-E7FD361766F4}"/>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52" name="TextBox 52">
            <a:extLst xmlns:a="http://schemas.openxmlformats.org/drawingml/2006/main">
              <a:ext uri="{FF2B5EF4-FFF2-40B4-BE49-F238E27FC236}">
                <a16:creationId xmlns:a16="http://schemas.microsoft.com/office/drawing/2014/main" id="{ED64CD2A-0B13-4227-A754-AC91C1920263}"/>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53" name="TextBox 53">
            <a:extLst xmlns:a="http://schemas.openxmlformats.org/drawingml/2006/main">
              <a:ext uri="{FF2B5EF4-FFF2-40B4-BE49-F238E27FC236}">
                <a16:creationId xmlns:a16="http://schemas.microsoft.com/office/drawing/2014/main" id="{6AC844EA-1E85-4885-B17D-075CE187DCAD}"/>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54" name="TextBox 54">
            <a:extLst xmlns:a="http://schemas.openxmlformats.org/drawingml/2006/main">
              <a:ext uri="{FF2B5EF4-FFF2-40B4-BE49-F238E27FC236}">
                <a16:creationId xmlns:a16="http://schemas.microsoft.com/office/drawing/2014/main" id="{06C9C5BE-06CD-4F89-8344-682E121917E0}"/>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55" name="06">
            <a:extLst xmlns:a="http://schemas.openxmlformats.org/drawingml/2006/main">
              <a:ext uri="{FF2B5EF4-FFF2-40B4-BE49-F238E27FC236}">
                <a16:creationId xmlns:a16="http://schemas.microsoft.com/office/drawing/2014/main" id="{F4E53DA8-7E67-47A6-825F-5B260499B5AB}"/>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05</a:t>
            </a:r>
          </a:p>
        </p:txBody>
      </p:sp>
      <p:sp>
        <p:nvSpPr>
          <p:cNvPr id="56" name="PDF-GalaxAI">
            <a:extLst xmlns:a="http://schemas.openxmlformats.org/drawingml/2006/main">
              <a:ext uri="{FF2B5EF4-FFF2-40B4-BE49-F238E27FC236}">
                <a16:creationId xmlns:a16="http://schemas.microsoft.com/office/drawing/2014/main" id="{A3A53FC7-28E6-4F5A-9190-CA8854917045}"/>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57" name="06 / 12">
            <a:extLst xmlns:a="http://schemas.openxmlformats.org/drawingml/2006/main">
              <a:ext uri="{FF2B5EF4-FFF2-40B4-BE49-F238E27FC236}">
                <a16:creationId xmlns:a16="http://schemas.microsoft.com/office/drawing/2014/main" id="{8FC43387-89F8-43FA-855A-2E1C59BF306A}"/>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05 / 09</a:t>
            </a:r>
          </a:p>
        </p:txBody>
      </p:sp>
      <p:sp>
        <p:nvSpPr>
          <p:cNvPr id="75" name="Screenshot placeholder: 【此处放智能文献问答截图】">
            <a:extLst xmlns:a="http://schemas.openxmlformats.org/drawingml/2006/main">
              <a:ext uri="{FF2B5EF4-FFF2-40B4-BE49-F238E27FC236}">
                <a16:creationId xmlns:a16="http://schemas.microsoft.com/office/drawing/2014/main" id="{1D53F1C3-3AD5-439E-BD59-FEA40C627FE5}"/>
              </a:ext>
            </a:extLst>
          </p:cNvPr>
          <p:cNvSpPr>
            <a:spLocks xmlns:a="http://schemas.openxmlformats.org/drawingml/2006/main" noGrp="1"/>
          </p:cNvSpPr>
          <p:nvPr/>
        </p:nvSpPr>
        <p:spPr>
          <a:xfrm xmlns:a="http://schemas.openxmlformats.org/drawingml/2006/main">
            <a:off x="11430000" y="4048125"/>
            <a:ext cx="5476875" cy="5143500"/>
          </a:xfrm>
          <a:prstGeom xmlns:a="http://schemas.openxmlformats.org/drawingml/2006/main" prst="roundRect">
            <a:avLst>
              <a:gd name="adj" fmla="val 7385"/>
            </a:avLst>
          </a:prstGeom>
          <a:solidFill xmlns:a="http://schemas.openxmlformats.org/drawingml/2006/main">
            <a:srgbClr val="DCE2EB"/>
          </a:solidFill>
          <a:ln xmlns:a="http://schemas.openxmlformats.org/drawingml/2006/main" w="16193">
            <a:solidFill>
              <a:srgbClr val="8FA4C1"/>
            </a:solidFill>
          </a:ln>
        </p:spPr>
      </p:sp>
      <p:sp>
        <p:nvSpPr>
          <p:cNvPr id="76" name="【此处放智能文献问答截图】">
            <a:extLst xmlns:a="http://schemas.openxmlformats.org/drawingml/2006/main">
              <a:ext uri="{FF2B5EF4-FFF2-40B4-BE49-F238E27FC236}">
                <a16:creationId xmlns:a16="http://schemas.microsoft.com/office/drawing/2014/main" id="{BDD55CCE-41B4-46BD-ACA5-F3011209AB63}"/>
              </a:ext>
            </a:extLst>
          </p:cNvPr>
          <p:cNvSpPr>
            <a:spLocks xmlns:a="http://schemas.openxmlformats.org/drawingml/2006/main" noGrp="1"/>
          </p:cNvSpPr>
          <p:nvPr/>
        </p:nvSpPr>
        <p:spPr>
          <a:xfrm xmlns:a="http://schemas.openxmlformats.org/drawingml/2006/main">
            <a:off x="11639550" y="6191250"/>
            <a:ext cx="5057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【此处放智能文献问答截图】</a:t>
            </a:r>
          </a:p>
        </p:txBody>
      </p:sp>
      <p:sp>
        <p:nvSpPr>
          <p:cNvPr id="77" name="Interface crop">
            <a:extLst xmlns:a="http://schemas.openxmlformats.org/drawingml/2006/main">
              <a:ext uri="{FF2B5EF4-FFF2-40B4-BE49-F238E27FC236}">
                <a16:creationId xmlns:a16="http://schemas.microsoft.com/office/drawing/2014/main" id="{E4704FC4-C58B-454D-9155-DFE8DDA7D1D5}"/>
              </a:ext>
            </a:extLst>
          </p:cNvPr>
          <p:cNvSpPr>
            <a:spLocks xmlns:a="http://schemas.openxmlformats.org/drawingml/2006/main" noGrp="1"/>
          </p:cNvSpPr>
          <p:nvPr/>
        </p:nvSpPr>
        <p:spPr>
          <a:xfrm xmlns:a="http://schemas.openxmlformats.org/drawingml/2006/main">
            <a:off x="15192375" y="4219575"/>
            <a:ext cx="1476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Chat panel crop</a:t>
            </a:r>
          </a:p>
        </p:txBody>
      </p:sp>
      <p:sp>
        <p:nvSpPr>
          <p:cNvPr id="78" name="PDF Processing &amp; RAG Engineering">
            <a:extLst xmlns:a="http://schemas.openxmlformats.org/drawingml/2006/main">
              <a:ext uri="{FF2B5EF4-FFF2-40B4-BE49-F238E27FC236}">
                <a16:creationId xmlns:a16="http://schemas.microsoft.com/office/drawing/2014/main" id="{82487830-C069-4975-8D00-260A9F724F49}"/>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PDF Processing &amp; RAG Engineering</a:t>
            </a:r>
          </a:p>
        </p:txBody>
      </p:sp>
      <p:sp>
        <p:nvSpPr>
          <p:cNvPr id="79" name="Paper vectors organise the collection. Passage vectors support context">
            <a:extLst xmlns:a="http://schemas.openxmlformats.org/drawingml/2006/main">
              <a:ext uri="{FF2B5EF4-FFF2-40B4-BE49-F238E27FC236}">
                <a16:creationId xmlns:a16="http://schemas.microsoft.com/office/drawing/2014/main" id="{79097B3F-E354-4D84-BA4B-1E90291297A4}"/>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Paper vectors organise the collection. Passage vectors support contextual question answering.</a:t>
            </a:r>
          </a:p>
        </p:txBody>
      </p:sp>
      <p:sp>
        <p:nvSpPr>
          <p:cNvPr id="80" name="Parse PDF">
            <a:extLst xmlns:a="http://schemas.openxmlformats.org/drawingml/2006/main">
              <a:ext uri="{FF2B5EF4-FFF2-40B4-BE49-F238E27FC236}">
                <a16:creationId xmlns:a16="http://schemas.microsoft.com/office/drawing/2014/main" id="{9BCF3E73-37C8-4A89-92A4-FF16315AABB3}"/>
              </a:ext>
            </a:extLst>
          </p:cNvPr>
          <p:cNvSpPr>
            <a:spLocks xmlns:a="http://schemas.openxmlformats.org/drawingml/2006/main" noGrp="1"/>
          </p:cNvSpPr>
          <p:nvPr/>
        </p:nvSpPr>
        <p:spPr>
          <a:xfrm xmlns:a="http://schemas.openxmlformats.org/drawingml/2006/main">
            <a:off x="1238250" y="4048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81" name="Parse PDF">
            <a:extLst xmlns:a="http://schemas.openxmlformats.org/drawingml/2006/main">
              <a:ext uri="{FF2B5EF4-FFF2-40B4-BE49-F238E27FC236}">
                <a16:creationId xmlns:a16="http://schemas.microsoft.com/office/drawing/2014/main" id="{71EDED52-69DF-4106-8F94-ED0FF338E81A}"/>
              </a:ext>
            </a:extLst>
          </p:cNvPr>
          <p:cNvSpPr>
            <a:spLocks xmlns:a="http://schemas.openxmlformats.org/drawingml/2006/main" noGrp="1"/>
          </p:cNvSpPr>
          <p:nvPr/>
        </p:nvSpPr>
        <p:spPr>
          <a:xfrm xmlns:a="http://schemas.openxmlformats.org/drawingml/2006/main">
            <a:off x="1400175" y="4229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Parse PDF</a:t>
            </a:r>
          </a:p>
        </p:txBody>
      </p:sp>
      <p:sp>
        <p:nvSpPr>
          <p:cNvPr id="82" name="Native text / OCR&#10;Optional MinerU">
            <a:extLst xmlns:a="http://schemas.openxmlformats.org/drawingml/2006/main">
              <a:ext uri="{FF2B5EF4-FFF2-40B4-BE49-F238E27FC236}">
                <a16:creationId xmlns:a16="http://schemas.microsoft.com/office/drawing/2014/main" id="{B8951780-5989-4E42-B20C-46762B69508D}"/>
              </a:ext>
            </a:extLst>
          </p:cNvPr>
          <p:cNvSpPr>
            <a:spLocks xmlns:a="http://schemas.openxmlformats.org/drawingml/2006/main" noGrp="1"/>
          </p:cNvSpPr>
          <p:nvPr/>
        </p:nvSpPr>
        <p:spPr>
          <a:xfrm xmlns:a="http://schemas.openxmlformats.org/drawingml/2006/main">
            <a:off x="1400175" y="4791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Native text / OCR</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Optional MinerU</a:t>
            </a:r>
          </a:p>
        </p:txBody>
      </p:sp>
      <p:sp>
        <p:nvSpPr>
          <p:cNvPr id="83" name="Prepare text">
            <a:extLst xmlns:a="http://schemas.openxmlformats.org/drawingml/2006/main">
              <a:ext uri="{FF2B5EF4-FFF2-40B4-BE49-F238E27FC236}">
                <a16:creationId xmlns:a16="http://schemas.microsoft.com/office/drawing/2014/main" id="{461C2BF6-4B8D-416D-83F2-A6A0D95FFB36}"/>
              </a:ext>
            </a:extLst>
          </p:cNvPr>
          <p:cNvSpPr>
            <a:spLocks xmlns:a="http://schemas.openxmlformats.org/drawingml/2006/main" noGrp="1"/>
          </p:cNvSpPr>
          <p:nvPr/>
        </p:nvSpPr>
        <p:spPr>
          <a:xfrm xmlns:a="http://schemas.openxmlformats.org/drawingml/2006/main">
            <a:off x="4667250" y="4048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84" name="Prepare text">
            <a:extLst xmlns:a="http://schemas.openxmlformats.org/drawingml/2006/main">
              <a:ext uri="{FF2B5EF4-FFF2-40B4-BE49-F238E27FC236}">
                <a16:creationId xmlns:a16="http://schemas.microsoft.com/office/drawing/2014/main" id="{7F6069A5-55C9-46E0-A7DD-0C6C79D6B593}"/>
              </a:ext>
            </a:extLst>
          </p:cNvPr>
          <p:cNvSpPr>
            <a:spLocks xmlns:a="http://schemas.openxmlformats.org/drawingml/2006/main" noGrp="1"/>
          </p:cNvSpPr>
          <p:nvPr/>
        </p:nvSpPr>
        <p:spPr>
          <a:xfrm xmlns:a="http://schemas.openxmlformats.org/drawingml/2006/main">
            <a:off x="4829175" y="4229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Prepare text</a:t>
            </a:r>
          </a:p>
        </p:txBody>
      </p:sp>
      <p:sp>
        <p:nvSpPr>
          <p:cNvPr id="85" name="Abstract + keywords&#10;Overlapping chunks">
            <a:extLst xmlns:a="http://schemas.openxmlformats.org/drawingml/2006/main">
              <a:ext uri="{FF2B5EF4-FFF2-40B4-BE49-F238E27FC236}">
                <a16:creationId xmlns:a16="http://schemas.microsoft.com/office/drawing/2014/main" id="{35AFAFB9-52E0-4E99-8F68-B3C5E4739FE2}"/>
              </a:ext>
            </a:extLst>
          </p:cNvPr>
          <p:cNvSpPr>
            <a:spLocks xmlns:a="http://schemas.openxmlformats.org/drawingml/2006/main" noGrp="1"/>
          </p:cNvSpPr>
          <p:nvPr/>
        </p:nvSpPr>
        <p:spPr>
          <a:xfrm xmlns:a="http://schemas.openxmlformats.org/drawingml/2006/main">
            <a:off x="4829175" y="4791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Abstract + keywords</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Overlapping chunks</a:t>
            </a:r>
          </a:p>
        </p:txBody>
      </p:sp>
      <p:sp>
        <p:nvSpPr>
          <p:cNvPr id="86" name="BGE-M3 + Chroma">
            <a:extLst xmlns:a="http://schemas.openxmlformats.org/drawingml/2006/main">
              <a:ext uri="{FF2B5EF4-FFF2-40B4-BE49-F238E27FC236}">
                <a16:creationId xmlns:a16="http://schemas.microsoft.com/office/drawing/2014/main" id="{DD683E5A-CFFC-4B71-AA0C-48323707A286}"/>
              </a:ext>
            </a:extLst>
          </p:cNvPr>
          <p:cNvSpPr>
            <a:spLocks xmlns:a="http://schemas.openxmlformats.org/drawingml/2006/main" noGrp="1"/>
          </p:cNvSpPr>
          <p:nvPr/>
        </p:nvSpPr>
        <p:spPr>
          <a:xfrm xmlns:a="http://schemas.openxmlformats.org/drawingml/2006/main">
            <a:off x="8096250" y="4048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87" name="BGE-M3 + Chroma">
            <a:extLst xmlns:a="http://schemas.openxmlformats.org/drawingml/2006/main">
              <a:ext uri="{FF2B5EF4-FFF2-40B4-BE49-F238E27FC236}">
                <a16:creationId xmlns:a16="http://schemas.microsoft.com/office/drawing/2014/main" id="{A89BB907-B0EC-4727-AC8C-AE6B955A229E}"/>
              </a:ext>
            </a:extLst>
          </p:cNvPr>
          <p:cNvSpPr>
            <a:spLocks xmlns:a="http://schemas.openxmlformats.org/drawingml/2006/main" noGrp="1"/>
          </p:cNvSpPr>
          <p:nvPr/>
        </p:nvSpPr>
        <p:spPr>
          <a:xfrm xmlns:a="http://schemas.openxmlformats.org/drawingml/2006/main">
            <a:off x="8258175" y="4229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BGE-M3 + Chroma</a:t>
            </a:r>
          </a:p>
        </p:txBody>
      </p:sp>
      <p:sp>
        <p:nvSpPr>
          <p:cNvPr id="88" name="Two vector indexes&#10;Local Chroma store">
            <a:extLst xmlns:a="http://schemas.openxmlformats.org/drawingml/2006/main">
              <a:ext uri="{FF2B5EF4-FFF2-40B4-BE49-F238E27FC236}">
                <a16:creationId xmlns:a16="http://schemas.microsoft.com/office/drawing/2014/main" id="{09BF9C2C-25A6-4067-8171-FE2BE1744905}"/>
              </a:ext>
            </a:extLst>
          </p:cNvPr>
          <p:cNvSpPr>
            <a:spLocks xmlns:a="http://schemas.openxmlformats.org/drawingml/2006/main" noGrp="1"/>
          </p:cNvSpPr>
          <p:nvPr/>
        </p:nvSpPr>
        <p:spPr>
          <a:xfrm xmlns:a="http://schemas.openxmlformats.org/drawingml/2006/main">
            <a:off x="8258175" y="4791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Two vector indexes</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Chroma store</a:t>
            </a:r>
          </a:p>
        </p:txBody>
      </p:sp>
      <p:sp>
        <p:nvSpPr>
          <p:cNvPr id="89" name="Retrieve passages">
            <a:extLst xmlns:a="http://schemas.openxmlformats.org/drawingml/2006/main">
              <a:ext uri="{FF2B5EF4-FFF2-40B4-BE49-F238E27FC236}">
                <a16:creationId xmlns:a16="http://schemas.microsoft.com/office/drawing/2014/main" id="{209A4A1D-7CBB-41DE-8082-9C893E3F3FF3}"/>
              </a:ext>
            </a:extLst>
          </p:cNvPr>
          <p:cNvSpPr>
            <a:spLocks xmlns:a="http://schemas.openxmlformats.org/drawingml/2006/main" noGrp="1"/>
          </p:cNvSpPr>
          <p:nvPr/>
        </p:nvSpPr>
        <p:spPr>
          <a:xfrm xmlns:a="http://schemas.openxmlformats.org/drawingml/2006/main">
            <a:off x="8096250" y="6334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90" name="Retrieve passages">
            <a:extLst xmlns:a="http://schemas.openxmlformats.org/drawingml/2006/main">
              <a:ext uri="{FF2B5EF4-FFF2-40B4-BE49-F238E27FC236}">
                <a16:creationId xmlns:a16="http://schemas.microsoft.com/office/drawing/2014/main" id="{1D9C70C2-9BE8-4178-A8CE-A695B7F700B4}"/>
              </a:ext>
            </a:extLst>
          </p:cNvPr>
          <p:cNvSpPr>
            <a:spLocks xmlns:a="http://schemas.openxmlformats.org/drawingml/2006/main" noGrp="1"/>
          </p:cNvSpPr>
          <p:nvPr/>
        </p:nvSpPr>
        <p:spPr>
          <a:xfrm xmlns:a="http://schemas.openxmlformats.org/drawingml/2006/main">
            <a:off x="8258175" y="6515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Retrieve passages</a:t>
            </a:r>
          </a:p>
        </p:txBody>
      </p:sp>
      <p:sp>
        <p:nvSpPr>
          <p:cNvPr id="91" name="Question vector&#10;Paper context">
            <a:extLst xmlns:a="http://schemas.openxmlformats.org/drawingml/2006/main">
              <a:ext uri="{FF2B5EF4-FFF2-40B4-BE49-F238E27FC236}">
                <a16:creationId xmlns:a16="http://schemas.microsoft.com/office/drawing/2014/main" id="{432AEE28-5C14-4D43-AC67-D4DE7CAD521C}"/>
              </a:ext>
            </a:extLst>
          </p:cNvPr>
          <p:cNvSpPr>
            <a:spLocks xmlns:a="http://schemas.openxmlformats.org/drawingml/2006/main" noGrp="1"/>
          </p:cNvSpPr>
          <p:nvPr/>
        </p:nvSpPr>
        <p:spPr>
          <a:xfrm xmlns:a="http://schemas.openxmlformats.org/drawingml/2006/main">
            <a:off x="8258175" y="7077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Question vector</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Paper context</a:t>
            </a:r>
          </a:p>
        </p:txBody>
      </p:sp>
      <p:sp>
        <p:nvSpPr>
          <p:cNvPr id="92" name="Rerank evidence">
            <a:extLst xmlns:a="http://schemas.openxmlformats.org/drawingml/2006/main">
              <a:ext uri="{FF2B5EF4-FFF2-40B4-BE49-F238E27FC236}">
                <a16:creationId xmlns:a16="http://schemas.microsoft.com/office/drawing/2014/main" id="{A4310826-63BC-467F-BE60-BA1D9362B01B}"/>
              </a:ext>
            </a:extLst>
          </p:cNvPr>
          <p:cNvSpPr>
            <a:spLocks xmlns:a="http://schemas.openxmlformats.org/drawingml/2006/main" noGrp="1"/>
          </p:cNvSpPr>
          <p:nvPr/>
        </p:nvSpPr>
        <p:spPr>
          <a:xfrm xmlns:a="http://schemas.openxmlformats.org/drawingml/2006/main">
            <a:off x="4667250" y="6334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93" name="Rerank evidence">
            <a:extLst xmlns:a="http://schemas.openxmlformats.org/drawingml/2006/main">
              <a:ext uri="{FF2B5EF4-FFF2-40B4-BE49-F238E27FC236}">
                <a16:creationId xmlns:a16="http://schemas.microsoft.com/office/drawing/2014/main" id="{F741BA57-5C9B-47F8-8A60-E289A7E6BB9E}"/>
              </a:ext>
            </a:extLst>
          </p:cNvPr>
          <p:cNvSpPr>
            <a:spLocks xmlns:a="http://schemas.openxmlformats.org/drawingml/2006/main" noGrp="1"/>
          </p:cNvSpPr>
          <p:nvPr/>
        </p:nvSpPr>
        <p:spPr>
          <a:xfrm xmlns:a="http://schemas.openxmlformats.org/drawingml/2006/main">
            <a:off x="4829175" y="6515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Rerank evidence</a:t>
            </a:r>
          </a:p>
        </p:txBody>
      </p:sp>
      <p:sp>
        <p:nvSpPr>
          <p:cNvPr id="94" name="Semantic + lexical&#10;Text quality">
            <a:extLst xmlns:a="http://schemas.openxmlformats.org/drawingml/2006/main">
              <a:ext uri="{FF2B5EF4-FFF2-40B4-BE49-F238E27FC236}">
                <a16:creationId xmlns:a16="http://schemas.microsoft.com/office/drawing/2014/main" id="{D3BE1855-9596-47A1-A57F-6D5F1E6DA805}"/>
              </a:ext>
            </a:extLst>
          </p:cNvPr>
          <p:cNvSpPr>
            <a:spLocks xmlns:a="http://schemas.openxmlformats.org/drawingml/2006/main" noGrp="1"/>
          </p:cNvSpPr>
          <p:nvPr/>
        </p:nvSpPr>
        <p:spPr>
          <a:xfrm xmlns:a="http://schemas.openxmlformats.org/drawingml/2006/main">
            <a:off x="4829175" y="7077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Semantic + lexical</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Text quality</a:t>
            </a:r>
          </a:p>
        </p:txBody>
      </p:sp>
      <p:sp>
        <p:nvSpPr>
          <p:cNvPr id="95" name="Generate answer">
            <a:extLst xmlns:a="http://schemas.openxmlformats.org/drawingml/2006/main">
              <a:ext uri="{FF2B5EF4-FFF2-40B4-BE49-F238E27FC236}">
                <a16:creationId xmlns:a16="http://schemas.microsoft.com/office/drawing/2014/main" id="{0FA9AC4E-66C4-495F-B59F-0B091BDFB3C8}"/>
              </a:ext>
            </a:extLst>
          </p:cNvPr>
          <p:cNvSpPr>
            <a:spLocks xmlns:a="http://schemas.openxmlformats.org/drawingml/2006/main" noGrp="1"/>
          </p:cNvSpPr>
          <p:nvPr/>
        </p:nvSpPr>
        <p:spPr>
          <a:xfrm xmlns:a="http://schemas.openxmlformats.org/drawingml/2006/main">
            <a:off x="1238250" y="6334125"/>
            <a:ext cx="2857500" cy="1524000"/>
          </a:xfrm>
          <a:prstGeom xmlns:a="http://schemas.openxmlformats.org/drawingml/2006/main" prst="roundRect">
            <a:avLst>
              <a:gd name="adj" fmla="val 11250"/>
            </a:avLst>
          </a:prstGeom>
          <a:solidFill xmlns:a="http://schemas.openxmlformats.org/drawingml/2006/main">
            <a:srgbClr val="FFFFFF"/>
          </a:solidFill>
          <a:ln xmlns:a="http://schemas.openxmlformats.org/drawingml/2006/main" w="16193">
            <a:solidFill>
              <a:srgbClr val="8FA4C1"/>
            </a:solidFill>
          </a:ln>
        </p:spPr>
      </p:sp>
      <p:sp>
        <p:nvSpPr>
          <p:cNvPr id="96" name="Generate answer">
            <a:extLst xmlns:a="http://schemas.openxmlformats.org/drawingml/2006/main">
              <a:ext uri="{FF2B5EF4-FFF2-40B4-BE49-F238E27FC236}">
                <a16:creationId xmlns:a16="http://schemas.microsoft.com/office/drawing/2014/main" id="{4654490A-1171-40B3-A080-396B28A64DFC}"/>
              </a:ext>
            </a:extLst>
          </p:cNvPr>
          <p:cNvSpPr>
            <a:spLocks xmlns:a="http://schemas.openxmlformats.org/drawingml/2006/main" noGrp="1"/>
          </p:cNvSpPr>
          <p:nvPr/>
        </p:nvSpPr>
        <p:spPr>
          <a:xfrm xmlns:a="http://schemas.openxmlformats.org/drawingml/2006/main">
            <a:off x="1400175" y="651510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1B40"/>
                </a:solidFill>
                <a:latin typeface="Montserrat Bold"/>
                <a:ea typeface="Montserrat Bold"/>
                <a:cs typeface="Montserrat Bold"/>
              </a:defRPr>
            </a:defPPr>
          </a:lstStyle>
          <a:p xmlns:a="http://schemas.openxmlformats.org/drawingml/2006/main">
            <a:pPr algn="l">
              <a:defRPr sz="2100" b="1">
                <a:solidFill>
                  <a:srgbClr val="101B40"/>
                </a:solidFill>
                <a:latin typeface="Montserrat Bold"/>
                <a:ea typeface="Montserrat Bold"/>
                <a:cs typeface="Montserrat Bold"/>
              </a:defRPr>
            </a:pPr>
            <a:r>
              <a:rPr sz="2100" b="1">
                <a:solidFill>
                  <a:srgbClr val="101B40"/>
                </a:solidFill>
                <a:latin typeface="Montserrat Bold"/>
                <a:ea typeface="Montserrat Bold"/>
                <a:cs typeface="Montserrat Bold"/>
              </a:rPr>
              <a:t>Generate answer</a:t>
            </a:r>
          </a:p>
        </p:txBody>
      </p:sp>
      <p:sp>
        <p:nvSpPr>
          <p:cNvPr id="97" name="Local / cloud model&#10;Answer + sources">
            <a:extLst xmlns:a="http://schemas.openxmlformats.org/drawingml/2006/main">
              <a:ext uri="{FF2B5EF4-FFF2-40B4-BE49-F238E27FC236}">
                <a16:creationId xmlns:a16="http://schemas.microsoft.com/office/drawing/2014/main" id="{A29173DB-C2D5-4C4F-9507-16045FD2F3A6}"/>
              </a:ext>
            </a:extLst>
          </p:cNvPr>
          <p:cNvSpPr>
            <a:spLocks xmlns:a="http://schemas.openxmlformats.org/drawingml/2006/main" noGrp="1"/>
          </p:cNvSpPr>
          <p:nvPr/>
        </p:nvSpPr>
        <p:spPr>
          <a:xfrm xmlns:a="http://schemas.openxmlformats.org/drawingml/2006/main">
            <a:off x="1400175" y="7077075"/>
            <a:ext cx="2533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 cloud model</a:t>
            </a:r>
          </a:p>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Answer + sources</a:t>
            </a:r>
          </a:p>
        </p:txBody>
      </p:sp>
      <p:cxnSp>
        <p:nvCxnSpPr>
          <p:cNvPr id="98" name="">
            <a:extLst xmlns:a="http://schemas.openxmlformats.org/drawingml/2006/main">
              <a:ext uri="{FF2B5EF4-FFF2-40B4-BE49-F238E27FC236}">
                <a16:creationId xmlns:a16="http://schemas.microsoft.com/office/drawing/2014/main" id="{5C4C6865-95CB-4FEF-B186-739AF3AE28FC}"/>
              </a:ext>
            </a:extLst>
          </p:cNvPr>
          <p:cNvCxnSpPr>
            <a:stCxn xmlns:a="http://schemas.openxmlformats.org/drawingml/2006/main" id="80" idx="3"/>
            <a:endCxn xmlns:a="http://schemas.openxmlformats.org/drawingml/2006/main" id="83" idx="1"/>
          </p:cNvCxnSpPr>
          <p:nvPr/>
        </p:nvCxnSpPr>
        <p:spPr>
          <a:xfrm xmlns:a="http://schemas.openxmlformats.org/drawingml/2006/main">
            <a:off x="4095750" y="4810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99" name="">
            <a:extLst xmlns:a="http://schemas.openxmlformats.org/drawingml/2006/main">
              <a:ext uri="{FF2B5EF4-FFF2-40B4-BE49-F238E27FC236}">
                <a16:creationId xmlns:a16="http://schemas.microsoft.com/office/drawing/2014/main" id="{ACCFEE32-70E3-4DA9-9659-395CBEDC31D2}"/>
              </a:ext>
            </a:extLst>
          </p:cNvPr>
          <p:cNvCxnSpPr>
            <a:stCxn xmlns:a="http://schemas.openxmlformats.org/drawingml/2006/main" id="83" idx="3"/>
            <a:endCxn xmlns:a="http://schemas.openxmlformats.org/drawingml/2006/main" id="86" idx="1"/>
          </p:cNvCxnSpPr>
          <p:nvPr/>
        </p:nvCxnSpPr>
        <p:spPr>
          <a:xfrm xmlns:a="http://schemas.openxmlformats.org/drawingml/2006/main">
            <a:off x="7524750" y="4810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100" name="">
            <a:extLst xmlns:a="http://schemas.openxmlformats.org/drawingml/2006/main">
              <a:ext uri="{FF2B5EF4-FFF2-40B4-BE49-F238E27FC236}">
                <a16:creationId xmlns:a16="http://schemas.microsoft.com/office/drawing/2014/main" id="{2A5B89B3-A6A6-418C-866A-B82E21422190}"/>
              </a:ext>
            </a:extLst>
          </p:cNvPr>
          <p:cNvCxnSpPr>
            <a:stCxn xmlns:a="http://schemas.openxmlformats.org/drawingml/2006/main" id="86" idx="2"/>
            <a:endCxn xmlns:a="http://schemas.openxmlformats.org/drawingml/2006/main" id="89" idx="0"/>
          </p:cNvCxnSpPr>
          <p:nvPr/>
        </p:nvCxnSpPr>
        <p:spPr>
          <a:xfrm xmlns:a="http://schemas.openxmlformats.org/drawingml/2006/main">
            <a:off x="9525000" y="5572125"/>
            <a:ext cx="0" cy="76200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101" name="">
            <a:extLst xmlns:a="http://schemas.openxmlformats.org/drawingml/2006/main">
              <a:ext uri="{FF2B5EF4-FFF2-40B4-BE49-F238E27FC236}">
                <a16:creationId xmlns:a16="http://schemas.microsoft.com/office/drawing/2014/main" id="{F8EA0E28-727E-4797-BC4D-0C6C6E12230D}"/>
              </a:ext>
            </a:extLst>
          </p:cNvPr>
          <p:cNvCxnSpPr>
            <a:stCxn xmlns:a="http://schemas.openxmlformats.org/drawingml/2006/main" id="89" idx="1"/>
            <a:endCxn xmlns:a="http://schemas.openxmlformats.org/drawingml/2006/main" id="92" idx="3"/>
          </p:cNvCxnSpPr>
          <p:nvPr/>
        </p:nvCxnSpPr>
        <p:spPr>
          <a:xfrm xmlns:a="http://schemas.openxmlformats.org/drawingml/2006/main" flipH="1">
            <a:off x="7524750" y="7096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102" name="">
            <a:extLst xmlns:a="http://schemas.openxmlformats.org/drawingml/2006/main">
              <a:ext uri="{FF2B5EF4-FFF2-40B4-BE49-F238E27FC236}">
                <a16:creationId xmlns:a16="http://schemas.microsoft.com/office/drawing/2014/main" id="{D4326CBB-2745-4730-BE87-A44E546242BC}"/>
              </a:ext>
            </a:extLst>
          </p:cNvPr>
          <p:cNvCxnSpPr>
            <a:stCxn xmlns:a="http://schemas.openxmlformats.org/drawingml/2006/main" id="92" idx="1"/>
            <a:endCxn xmlns:a="http://schemas.openxmlformats.org/drawingml/2006/main" id="95" idx="3"/>
          </p:cNvCxnSpPr>
          <p:nvPr/>
        </p:nvCxnSpPr>
        <p:spPr>
          <a:xfrm xmlns:a="http://schemas.openxmlformats.org/drawingml/2006/main" flipH="1">
            <a:off x="4095750" y="7096125"/>
            <a:ext cx="571500"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103" name="Two indexes, two tasks">
            <a:extLst xmlns:a="http://schemas.openxmlformats.org/drawingml/2006/main">
              <a:ext uri="{FF2B5EF4-FFF2-40B4-BE49-F238E27FC236}">
                <a16:creationId xmlns:a16="http://schemas.microsoft.com/office/drawing/2014/main" id="{262E29AD-F0BF-4B98-9CF2-403B69FF39CC}"/>
              </a:ext>
            </a:extLst>
          </p:cNvPr>
          <p:cNvSpPr>
            <a:spLocks xmlns:a="http://schemas.openxmlformats.org/drawingml/2006/main" noGrp="1"/>
          </p:cNvSpPr>
          <p:nvPr/>
        </p:nvSpPr>
        <p:spPr>
          <a:xfrm xmlns:a="http://schemas.openxmlformats.org/drawingml/2006/main">
            <a:off x="1238250" y="8220075"/>
            <a:ext cx="957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Two indexes, two tasks</a:t>
            </a:r>
          </a:p>
        </p:txBody>
      </p:sp>
      <p:sp>
        <p:nvSpPr>
          <p:cNvPr id="104" name="Paper vectors map topics. Passage vectors support RAG.">
            <a:extLst xmlns:a="http://schemas.openxmlformats.org/drawingml/2006/main">
              <a:ext uri="{FF2B5EF4-FFF2-40B4-BE49-F238E27FC236}">
                <a16:creationId xmlns:a16="http://schemas.microsoft.com/office/drawing/2014/main" id="{5EDB0EFC-D1C6-4151-8156-A1A802D7ECA8}"/>
              </a:ext>
            </a:extLst>
          </p:cNvPr>
          <p:cNvSpPr>
            <a:spLocks xmlns:a="http://schemas.openxmlformats.org/drawingml/2006/main" noGrp="1"/>
          </p:cNvSpPr>
          <p:nvPr/>
        </p:nvSpPr>
        <p:spPr>
          <a:xfrm xmlns:a="http://schemas.openxmlformats.org/drawingml/2006/main">
            <a:off x="1238250" y="8705850"/>
            <a:ext cx="9572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36681"/>
                </a:solidFill>
                <a:latin typeface="Montserrat"/>
                <a:ea typeface="Montserrat"/>
                <a:cs typeface="Montserrat"/>
              </a:defRPr>
            </a:defPPr>
          </a:lstStyle>
          <a:p xmlns:a="http://schemas.openxmlformats.org/drawingml/2006/main">
            <a:pPr algn="l">
              <a:defRPr sz="1950" b="0">
                <a:solidFill>
                  <a:srgbClr val="536681"/>
                </a:solidFill>
                <a:latin typeface="Montserrat"/>
                <a:ea typeface="Montserrat"/>
                <a:cs typeface="Montserrat"/>
              </a:defRPr>
            </a:pPr>
            <a:r>
              <a:rPr sz="1950" b="0">
                <a:solidFill>
                  <a:srgbClr val="536681"/>
                </a:solidFill>
                <a:latin typeface="Montserrat"/>
                <a:ea typeface="Montserrat"/>
                <a:cs typeface="Montserrat"/>
              </a:rPr>
              <a:t>Paper vectors map topics. Passage vectors support RAG.</a:t>
            </a:r>
          </a:p>
        </p:txBody>
      </p:sp>
      <p:sp>
        <p:nvSpPr>
          <p:cNvPr id="105" name="Auto / RAG / Chat modes make retrieval behaviour explicit.">
            <a:extLst xmlns:a="http://schemas.openxmlformats.org/drawingml/2006/main">
              <a:ext uri="{FF2B5EF4-FFF2-40B4-BE49-F238E27FC236}">
                <a16:creationId xmlns:a16="http://schemas.microsoft.com/office/drawing/2014/main" id="{F82BE41C-4F91-4D1F-967D-C577193141E4}"/>
              </a:ext>
            </a:extLst>
          </p:cNvPr>
          <p:cNvSpPr>
            <a:spLocks xmlns:a="http://schemas.openxmlformats.org/drawingml/2006/main" noGrp="1"/>
          </p:cNvSpPr>
          <p:nvPr/>
        </p:nvSpPr>
        <p:spPr>
          <a:xfrm xmlns:a="http://schemas.openxmlformats.org/drawingml/2006/main">
            <a:off x="1238250" y="9124950"/>
            <a:ext cx="9572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Auto / RAG / Chat modes make retrieval behaviour explicit.</a:t>
            </a:r>
          </a:p>
        </p:txBody>
      </p:sp>
      <p:sp>
        <p:nvSpPr>
          <p:cNvPr id="106" name="Source evidence needs human review.">
            <a:extLst xmlns:a="http://schemas.openxmlformats.org/drawingml/2006/main">
              <a:ext uri="{FF2B5EF4-FFF2-40B4-BE49-F238E27FC236}">
                <a16:creationId xmlns:a16="http://schemas.microsoft.com/office/drawing/2014/main" id="{277EB5A1-D014-4FCF-861C-BCE7834D6E20}"/>
              </a:ext>
            </a:extLst>
          </p:cNvPr>
          <p:cNvSpPr>
            <a:spLocks xmlns:a="http://schemas.openxmlformats.org/drawingml/2006/main" noGrp="1"/>
          </p:cNvSpPr>
          <p:nvPr/>
        </p:nvSpPr>
        <p:spPr>
          <a:xfrm xmlns:a="http://schemas.openxmlformats.org/drawingml/2006/main">
            <a:off x="11430000" y="9315450"/>
            <a:ext cx="5476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01B40"/>
                </a:solidFill>
                <a:latin typeface="Montserrat Bold"/>
                <a:ea typeface="Montserrat Bold"/>
                <a:cs typeface="Montserrat Bold"/>
              </a:defRPr>
            </a:defPPr>
          </a:lstStyle>
          <a:p xmlns:a="http://schemas.openxmlformats.org/drawingml/2006/main">
            <a:pPr algn="l">
              <a:defRPr sz="1725" b="1">
                <a:solidFill>
                  <a:srgbClr val="101B40"/>
                </a:solidFill>
                <a:latin typeface="Montserrat Bold"/>
                <a:ea typeface="Montserrat Bold"/>
                <a:cs typeface="Montserrat Bold"/>
              </a:defRPr>
            </a:pPr>
            <a:r>
              <a:rPr sz="1725" b="1">
                <a:solidFill>
                  <a:srgbClr val="101B40"/>
                </a:solidFill>
                <a:latin typeface="Montserrat Bold"/>
                <a:ea typeface="Montserrat Bold"/>
                <a:cs typeface="Montserrat Bold"/>
              </a:rPr>
              <a:t>Source evidence needs human review.</a:t>
            </a:r>
          </a:p>
        </p:txBody>
      </p:sp>
    </p:spTree>
    <p:extLst>
      <p:ext uri="{BB962C8B-B14F-4D97-AF65-F5344CB8AC3E}">
        <p14:creationId xmlns:p14="http://schemas.microsoft.com/office/powerpoint/2010/main" val="447674980"/>
      </p:ext>
    </p:extLst>
  </p:cSld>
</p:sld>
</file>

<file path=ppt/slides/slide6.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EF1386A-B871-434E-B9E0-ADB51A83F63B}"/>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8FA2FF8A-FF93-4AB4-BF87-6CA549027389}"/>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E3F06451-2542-4216-B6E6-4F3E7FB559C2}"/>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B31EC481-B235-4631-837D-DF2DADFF8880}"/>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21" name="TextBox 21">
            <a:extLst xmlns:a="http://schemas.openxmlformats.org/drawingml/2006/main">
              <a:ext uri="{FF2B5EF4-FFF2-40B4-BE49-F238E27FC236}">
                <a16:creationId xmlns:a16="http://schemas.microsoft.com/office/drawing/2014/main" id="{98029099-95C8-456E-A7D8-AECE49B0F095}"/>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22" name="TextBox 22">
            <a:extLst xmlns:a="http://schemas.openxmlformats.org/drawingml/2006/main">
              <a:ext uri="{FF2B5EF4-FFF2-40B4-BE49-F238E27FC236}">
                <a16:creationId xmlns:a16="http://schemas.microsoft.com/office/drawing/2014/main" id="{F8AEB1B3-DD3F-4DDD-A65F-BB886F103FC2}"/>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23" name="TextBox 23">
            <a:extLst xmlns:a="http://schemas.openxmlformats.org/drawingml/2006/main">
              <a:ext uri="{FF2B5EF4-FFF2-40B4-BE49-F238E27FC236}">
                <a16:creationId xmlns:a16="http://schemas.microsoft.com/office/drawing/2014/main" id="{05E98AB3-52C2-4C5A-8936-D94021A951FD}"/>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24" name="TextBox 24">
            <a:extLst xmlns:a="http://schemas.openxmlformats.org/drawingml/2006/main">
              <a:ext uri="{FF2B5EF4-FFF2-40B4-BE49-F238E27FC236}">
                <a16:creationId xmlns:a16="http://schemas.microsoft.com/office/drawing/2014/main" id="{4DDB76A6-3927-4E47-B512-52465BBF5101}"/>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25" name="TextBox 25">
            <a:extLst xmlns:a="http://schemas.openxmlformats.org/drawingml/2006/main">
              <a:ext uri="{FF2B5EF4-FFF2-40B4-BE49-F238E27FC236}">
                <a16:creationId xmlns:a16="http://schemas.microsoft.com/office/drawing/2014/main" id="{8394B56D-3A17-4FE1-81B1-45C5E9ADA1D5}"/>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26" name="07">
            <a:extLst xmlns:a="http://schemas.openxmlformats.org/drawingml/2006/main">
              <a:ext uri="{FF2B5EF4-FFF2-40B4-BE49-F238E27FC236}">
                <a16:creationId xmlns:a16="http://schemas.microsoft.com/office/drawing/2014/main" id="{7BF2860D-C4D2-4253-AD6D-E99B0B9F59D9}"/>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06</a:t>
            </a:r>
          </a:p>
        </p:txBody>
      </p:sp>
      <p:sp>
        <p:nvSpPr>
          <p:cNvPr id="27" name="PDF-GalaxAI">
            <a:extLst xmlns:a="http://schemas.openxmlformats.org/drawingml/2006/main">
              <a:ext uri="{FF2B5EF4-FFF2-40B4-BE49-F238E27FC236}">
                <a16:creationId xmlns:a16="http://schemas.microsoft.com/office/drawing/2014/main" id="{43F2856C-D0D1-41F9-9820-2FF10101F8B9}"/>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28" name="07 / 12">
            <a:extLst xmlns:a="http://schemas.openxmlformats.org/drawingml/2006/main">
              <a:ext uri="{FF2B5EF4-FFF2-40B4-BE49-F238E27FC236}">
                <a16:creationId xmlns:a16="http://schemas.microsoft.com/office/drawing/2014/main" id="{36572C1D-11A9-4322-BE05-3DD85918A547}"/>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06 / 09</a:t>
            </a:r>
          </a:p>
        </p:txBody>
      </p:sp>
      <p:sp>
        <p:nvSpPr>
          <p:cNvPr id="29" name="Evidence Tracing &amp; Source Reading">
            <a:extLst xmlns:a="http://schemas.openxmlformats.org/drawingml/2006/main">
              <a:ext uri="{FF2B5EF4-FFF2-40B4-BE49-F238E27FC236}">
                <a16:creationId xmlns:a16="http://schemas.microsoft.com/office/drawing/2014/main" id="{0C578D84-E687-43BE-AB8A-06627D9793C8}"/>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Evidence Tracing &amp; Source Reading</a:t>
            </a:r>
          </a:p>
        </p:txBody>
      </p:sp>
      <p:sp>
        <p:nvSpPr>
          <p:cNvPr id="30" name="A citation opens the original document and directs attention to candid">
            <a:extLst xmlns:a="http://schemas.openxmlformats.org/drawingml/2006/main">
              <a:ext uri="{FF2B5EF4-FFF2-40B4-BE49-F238E27FC236}">
                <a16:creationId xmlns:a16="http://schemas.microsoft.com/office/drawing/2014/main" id="{AD3A90E9-6F17-49A0-A1E6-C225E11BC8FE}"/>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citation opens the original document and directs attention to candidate supporting text.</a:t>
            </a:r>
          </a:p>
        </p:txBody>
      </p:sp>
      <p:sp>
        <p:nvSpPr>
          <p:cNvPr id="31" name="Screenshot placeholder: 【此处放回答引用原文跳转截图】">
            <a:extLst xmlns:a="http://schemas.openxmlformats.org/drawingml/2006/main">
              <a:ext uri="{FF2B5EF4-FFF2-40B4-BE49-F238E27FC236}">
                <a16:creationId xmlns:a16="http://schemas.microsoft.com/office/drawing/2014/main" id="{4BD579BF-DBE7-4A56-ABE6-DA04ADFF1D62}"/>
              </a:ext>
            </a:extLst>
          </p:cNvPr>
          <p:cNvSpPr>
            <a:spLocks xmlns:a="http://schemas.openxmlformats.org/drawingml/2006/main" noGrp="1"/>
          </p:cNvSpPr>
          <p:nvPr/>
        </p:nvSpPr>
        <p:spPr>
          <a:xfrm xmlns:a="http://schemas.openxmlformats.org/drawingml/2006/main">
            <a:off x="1238250" y="4048125"/>
            <a:ext cx="7429500" cy="4181475"/>
          </a:xfrm>
          <a:prstGeom xmlns:a="http://schemas.openxmlformats.org/drawingml/2006/main" prst="roundRect">
            <a:avLst>
              <a:gd name="adj" fmla="val 5467"/>
            </a:avLst>
          </a:prstGeom>
          <a:solidFill xmlns:a="http://schemas.openxmlformats.org/drawingml/2006/main">
            <a:srgbClr val="DCE2EB"/>
          </a:solidFill>
          <a:ln xmlns:a="http://schemas.openxmlformats.org/drawingml/2006/main" w="16193">
            <a:solidFill>
              <a:srgbClr val="8FA4C1"/>
            </a:solidFill>
          </a:ln>
        </p:spPr>
      </p:sp>
      <p:sp>
        <p:nvSpPr>
          <p:cNvPr id="32" name="【此处放回答引用原文跳转截图】">
            <a:extLst xmlns:a="http://schemas.openxmlformats.org/drawingml/2006/main">
              <a:ext uri="{FF2B5EF4-FFF2-40B4-BE49-F238E27FC236}">
                <a16:creationId xmlns:a16="http://schemas.microsoft.com/office/drawing/2014/main" id="{D57FCC91-C34F-4AEA-A794-4697B54BEB0B}"/>
              </a:ext>
            </a:extLst>
          </p:cNvPr>
          <p:cNvSpPr>
            <a:spLocks xmlns:a="http://schemas.openxmlformats.org/drawingml/2006/main" noGrp="1"/>
          </p:cNvSpPr>
          <p:nvPr/>
        </p:nvSpPr>
        <p:spPr>
          <a:xfrm xmlns:a="http://schemas.openxmlformats.org/drawingml/2006/main">
            <a:off x="1447800" y="5853113"/>
            <a:ext cx="701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【此处放回答引用原文跳转截图】</a:t>
            </a:r>
          </a:p>
        </p:txBody>
      </p:sp>
      <p:sp>
        <p:nvSpPr>
          <p:cNvPr id="33" name="16:9">
            <a:extLst xmlns:a="http://schemas.openxmlformats.org/drawingml/2006/main">
              <a:ext uri="{FF2B5EF4-FFF2-40B4-BE49-F238E27FC236}">
                <a16:creationId xmlns:a16="http://schemas.microsoft.com/office/drawing/2014/main" id="{060AE422-DE78-4638-968D-04A8EA9EE059}"/>
              </a:ext>
            </a:extLst>
          </p:cNvPr>
          <p:cNvSpPr>
            <a:spLocks xmlns:a="http://schemas.openxmlformats.org/drawingml/2006/main" noGrp="1"/>
          </p:cNvSpPr>
          <p:nvPr/>
        </p:nvSpPr>
        <p:spPr>
          <a:xfrm xmlns:a="http://schemas.openxmlformats.org/drawingml/2006/main">
            <a:off x="7286625" y="42195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4" name="Screenshot placeholder: 【此处放文献阅读与高亮联动截图】">
            <a:extLst xmlns:a="http://schemas.openxmlformats.org/drawingml/2006/main">
              <a:ext uri="{FF2B5EF4-FFF2-40B4-BE49-F238E27FC236}">
                <a16:creationId xmlns:a16="http://schemas.microsoft.com/office/drawing/2014/main" id="{11C3B11D-14AE-4501-AC81-35741EA37688}"/>
              </a:ext>
            </a:extLst>
          </p:cNvPr>
          <p:cNvSpPr>
            <a:spLocks xmlns:a="http://schemas.openxmlformats.org/drawingml/2006/main" noGrp="1"/>
          </p:cNvSpPr>
          <p:nvPr/>
        </p:nvSpPr>
        <p:spPr>
          <a:xfrm xmlns:a="http://schemas.openxmlformats.org/drawingml/2006/main">
            <a:off x="9477375" y="4048125"/>
            <a:ext cx="7429500" cy="4181475"/>
          </a:xfrm>
          <a:prstGeom xmlns:a="http://schemas.openxmlformats.org/drawingml/2006/main" prst="roundRect">
            <a:avLst>
              <a:gd name="adj" fmla="val 5467"/>
            </a:avLst>
          </a:prstGeom>
          <a:solidFill xmlns:a="http://schemas.openxmlformats.org/drawingml/2006/main">
            <a:srgbClr val="DCE2EB"/>
          </a:solidFill>
          <a:ln xmlns:a="http://schemas.openxmlformats.org/drawingml/2006/main" w="16193">
            <a:solidFill>
              <a:srgbClr val="8FA4C1"/>
            </a:solidFill>
          </a:ln>
        </p:spPr>
      </p:sp>
      <p:sp>
        <p:nvSpPr>
          <p:cNvPr id="35" name="【此处放文献阅读与高亮联动截图】">
            <a:extLst xmlns:a="http://schemas.openxmlformats.org/drawingml/2006/main">
              <a:ext uri="{FF2B5EF4-FFF2-40B4-BE49-F238E27FC236}">
                <a16:creationId xmlns:a16="http://schemas.microsoft.com/office/drawing/2014/main" id="{18BBA2F6-0643-4D68-9298-9F0FD40180CC}"/>
              </a:ext>
            </a:extLst>
          </p:cNvPr>
          <p:cNvSpPr>
            <a:spLocks xmlns:a="http://schemas.openxmlformats.org/drawingml/2006/main" noGrp="1"/>
          </p:cNvSpPr>
          <p:nvPr/>
        </p:nvSpPr>
        <p:spPr>
          <a:xfrm xmlns:a="http://schemas.openxmlformats.org/drawingml/2006/main">
            <a:off x="9686925" y="5853113"/>
            <a:ext cx="701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536681"/>
                </a:solidFill>
                <a:latin typeface="Microsoft YaHei"/>
                <a:ea typeface="Microsoft YaHei"/>
                <a:cs typeface="Microsoft YaHei"/>
              </a:defRPr>
            </a:defPPr>
          </a:lstStyle>
          <a:p xmlns:a="http://schemas.openxmlformats.org/drawingml/2006/main">
            <a:pPr algn="ctr">
              <a:buNone/>
              <a:defRPr sz="2250" b="0">
                <a:solidFill>
                  <a:srgbClr val="536681"/>
                </a:solidFill>
                <a:latin typeface="Microsoft YaHei"/>
                <a:ea typeface="Microsoft YaHei"/>
                <a:cs typeface="Microsoft YaHei"/>
              </a:defRPr>
            </a:pPr>
            <a:r>
              <a:rPr sz="2250" b="0">
                <a:solidFill>
                  <a:srgbClr val="536681"/>
                </a:solidFill>
                <a:latin typeface="Microsoft YaHei"/>
                <a:ea typeface="Microsoft YaHei"/>
                <a:cs typeface="Microsoft YaHei"/>
              </a:rPr>
              <a:t>【此处放文献阅读与高亮联动截图】</a:t>
            </a:r>
          </a:p>
        </p:txBody>
      </p:sp>
      <p:sp>
        <p:nvSpPr>
          <p:cNvPr id="36" name="16:9">
            <a:extLst xmlns:a="http://schemas.openxmlformats.org/drawingml/2006/main">
              <a:ext uri="{FF2B5EF4-FFF2-40B4-BE49-F238E27FC236}">
                <a16:creationId xmlns:a16="http://schemas.microsoft.com/office/drawing/2014/main" id="{C9AA21A0-9632-4E95-93AD-53B6DD6E461C}"/>
              </a:ext>
            </a:extLst>
          </p:cNvPr>
          <p:cNvSpPr>
            <a:spLocks xmlns:a="http://schemas.openxmlformats.org/drawingml/2006/main" noGrp="1"/>
          </p:cNvSpPr>
          <p:nvPr/>
        </p:nvSpPr>
        <p:spPr>
          <a:xfrm xmlns:a="http://schemas.openxmlformats.org/drawingml/2006/main">
            <a:off x="15525750" y="42195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36681"/>
                </a:solidFill>
                <a:latin typeface="Montserrat"/>
                <a:ea typeface="Montserrat"/>
                <a:cs typeface="Montserrat"/>
              </a:defRPr>
            </a:defPPr>
          </a:lstStyle>
          <a:p xmlns:a="http://schemas.openxmlformats.org/drawingml/2006/main">
            <a:pPr algn="r">
              <a:buNone/>
              <a:defRPr sz="1575" b="0">
                <a:solidFill>
                  <a:srgbClr val="536681"/>
                </a:solidFill>
                <a:latin typeface="Montserrat"/>
                <a:ea typeface="Montserrat"/>
                <a:cs typeface="Montserrat"/>
              </a:defRPr>
            </a:pPr>
            <a:r>
              <a:rPr sz="1575" b="0">
                <a:solidFill>
                  <a:srgbClr val="536681"/>
                </a:solidFill>
                <a:latin typeface="Montserrat"/>
                <a:ea typeface="Montserrat"/>
                <a:cs typeface="Montserrat"/>
              </a:rPr>
              <a:t>16:9</a:t>
            </a:r>
          </a:p>
        </p:txBody>
      </p:sp>
      <p:sp>
        <p:nvSpPr>
          <p:cNvPr id="37" name="1  Retrieved passage">
            <a:extLst xmlns:a="http://schemas.openxmlformats.org/drawingml/2006/main">
              <a:ext uri="{FF2B5EF4-FFF2-40B4-BE49-F238E27FC236}">
                <a16:creationId xmlns:a16="http://schemas.microsoft.com/office/drawing/2014/main" id="{CF0D299F-CDD6-4AB9-980A-950582FC0A4C}"/>
              </a:ext>
            </a:extLst>
          </p:cNvPr>
          <p:cNvSpPr>
            <a:spLocks xmlns:a="http://schemas.openxmlformats.org/drawingml/2006/main" noGrp="1"/>
          </p:cNvSpPr>
          <p:nvPr/>
        </p:nvSpPr>
        <p:spPr>
          <a:xfrm xmlns:a="http://schemas.openxmlformats.org/drawingml/2006/main">
            <a:off x="123825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1  Retrieved passage</a:t>
            </a:r>
          </a:p>
        </p:txBody>
      </p:sp>
      <p:sp>
        <p:nvSpPr>
          <p:cNvPr id="38" name="paper_id, chunk_id and snippet">
            <a:extLst xmlns:a="http://schemas.openxmlformats.org/drawingml/2006/main">
              <a:ext uri="{FF2B5EF4-FFF2-40B4-BE49-F238E27FC236}">
                <a16:creationId xmlns:a16="http://schemas.microsoft.com/office/drawing/2014/main" id="{90229FAA-448B-4007-A698-BD860F089711}"/>
              </a:ext>
            </a:extLst>
          </p:cNvPr>
          <p:cNvSpPr>
            <a:spLocks xmlns:a="http://schemas.openxmlformats.org/drawingml/2006/main" noGrp="1"/>
          </p:cNvSpPr>
          <p:nvPr/>
        </p:nvSpPr>
        <p:spPr>
          <a:xfrm xmlns:a="http://schemas.openxmlformats.org/drawingml/2006/main">
            <a:off x="123825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paper_id, chunk_id and snippet</a:t>
            </a:r>
          </a:p>
        </p:txBody>
      </p:sp>
      <p:sp>
        <p:nvSpPr>
          <p:cNvPr id="39" name="2  Page location">
            <a:extLst xmlns:a="http://schemas.openxmlformats.org/drawingml/2006/main">
              <a:ext uri="{FF2B5EF4-FFF2-40B4-BE49-F238E27FC236}">
                <a16:creationId xmlns:a16="http://schemas.microsoft.com/office/drawing/2014/main" id="{05138EA6-BC7D-4697-893C-BC724600E99B}"/>
              </a:ext>
            </a:extLst>
          </p:cNvPr>
          <p:cNvSpPr>
            <a:spLocks xmlns:a="http://schemas.openxmlformats.org/drawingml/2006/main" noGrp="1"/>
          </p:cNvSpPr>
          <p:nvPr/>
        </p:nvSpPr>
        <p:spPr>
          <a:xfrm xmlns:a="http://schemas.openxmlformats.org/drawingml/2006/main">
            <a:off x="666750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2  Page location</a:t>
            </a:r>
          </a:p>
        </p:txBody>
      </p:sp>
      <p:sp>
        <p:nvSpPr>
          <p:cNvPr id="40" name="Normalised text and keyword matching">
            <a:extLst xmlns:a="http://schemas.openxmlformats.org/drawingml/2006/main">
              <a:ext uri="{FF2B5EF4-FFF2-40B4-BE49-F238E27FC236}">
                <a16:creationId xmlns:a16="http://schemas.microsoft.com/office/drawing/2014/main" id="{AD3524AB-A7AD-4C21-AC95-B7E555DD0384}"/>
              </a:ext>
            </a:extLst>
          </p:cNvPr>
          <p:cNvSpPr>
            <a:spLocks xmlns:a="http://schemas.openxmlformats.org/drawingml/2006/main" noGrp="1"/>
          </p:cNvSpPr>
          <p:nvPr/>
        </p:nvSpPr>
        <p:spPr>
          <a:xfrm xmlns:a="http://schemas.openxmlformats.org/drawingml/2006/main">
            <a:off x="666750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Normalised text and keyword matching</a:t>
            </a:r>
          </a:p>
        </p:txBody>
      </p:sp>
      <p:sp>
        <p:nvSpPr>
          <p:cNvPr id="41" name="3  Reader response">
            <a:extLst xmlns:a="http://schemas.openxmlformats.org/drawingml/2006/main">
              <a:ext uri="{FF2B5EF4-FFF2-40B4-BE49-F238E27FC236}">
                <a16:creationId xmlns:a16="http://schemas.microsoft.com/office/drawing/2014/main" id="{5CEDB522-FECF-4269-8C82-0BB20F71C96F}"/>
              </a:ext>
            </a:extLst>
          </p:cNvPr>
          <p:cNvSpPr>
            <a:spLocks xmlns:a="http://schemas.openxmlformats.org/drawingml/2006/main" noGrp="1"/>
          </p:cNvSpPr>
          <p:nvPr/>
        </p:nvSpPr>
        <p:spPr>
          <a:xfrm xmlns:a="http://schemas.openxmlformats.org/drawingml/2006/main">
            <a:off x="12096750" y="86391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3  Reader response</a:t>
            </a:r>
          </a:p>
        </p:txBody>
      </p:sp>
      <p:sp>
        <p:nvSpPr>
          <p:cNvPr id="42" name="Open the PDF page and highlight terms">
            <a:extLst xmlns:a="http://schemas.openxmlformats.org/drawingml/2006/main">
              <a:ext uri="{FF2B5EF4-FFF2-40B4-BE49-F238E27FC236}">
                <a16:creationId xmlns:a16="http://schemas.microsoft.com/office/drawing/2014/main" id="{E97E6B30-8DF7-4EFD-8F90-B4C83AE5F849}"/>
              </a:ext>
            </a:extLst>
          </p:cNvPr>
          <p:cNvSpPr>
            <a:spLocks xmlns:a="http://schemas.openxmlformats.org/drawingml/2006/main" noGrp="1"/>
          </p:cNvSpPr>
          <p:nvPr/>
        </p:nvSpPr>
        <p:spPr>
          <a:xfrm xmlns:a="http://schemas.openxmlformats.org/drawingml/2006/main">
            <a:off x="12096750" y="91249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Open the PDF page and highlight terms</a:t>
            </a:r>
          </a:p>
        </p:txBody>
      </p:sp>
    </p:spTree>
    <p:extLst>
      <p:ext uri="{BB962C8B-B14F-4D97-AF65-F5344CB8AC3E}">
        <p14:creationId xmlns:p14="http://schemas.microsoft.com/office/powerpoint/2010/main" val="2130362618"/>
      </p:ext>
    </p:extLst>
  </p:cSld>
</p:sld>
</file>

<file path=ppt/slides/slide7.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0EBB5D1-BA68-47DE-BFF8-8E2FD2785477}"/>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3BE45BEB-BEFB-48A4-BDEB-CC342A0FEDA6}"/>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4BA2262B-652D-4E9D-9011-CC8F9ADEFEED}"/>
              </a:ext>
            </a:extLst>
          </p:cNvPr>
          <p:cNvSpPr>
            <a:spLocks xmlns:a="http://schemas.openxmlformats.org/drawingml/2006/main" noGrp="1"/>
          </p:cNvSpPr>
          <p:nvPr/>
        </p:nvSpPr>
        <p:spPr>
          <a:xfrm xmlns:a="http://schemas.openxmlformats.org/drawingml/2006/main" rot="0" flipH="0" flipV="0">
            <a:off x="9458325" y="628650"/>
            <a:ext cx="16668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84EA0E48-D85F-42AC-AF4E-3D56CDB188B9}"/>
              </a:ext>
            </a:extLst>
          </p:cNvPr>
          <p:cNvSpPr>
            <a:spLocks xmlns:a="http://schemas.openxmlformats.org/drawingml/2006/main" noGrp="1"/>
          </p:cNvSpPr>
          <p:nvPr/>
        </p:nvSpPr>
        <p:spPr>
          <a:xfrm xmlns:a="http://schemas.openxmlformats.org/drawingml/2006/main" rot="0" flipH="0" flipV="0">
            <a:off x="9460786" y="483641"/>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TextBox 9">
            <a:extLst xmlns:a="http://schemas.openxmlformats.org/drawingml/2006/main">
              <a:ext uri="{FF2B5EF4-FFF2-40B4-BE49-F238E27FC236}">
                <a16:creationId xmlns:a16="http://schemas.microsoft.com/office/drawing/2014/main" id="{4DFA61FF-071D-48A7-81D5-04E81BE0130C}"/>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60EF4159-831A-4F7F-B20D-8BE9A7360C87}"/>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D1563E6A-E1D7-4A37-A1F6-AAD90F9B9F8E}"/>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CE8FF437-9BCF-4CBD-86E8-60360A4031B6}"/>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5A5EDE88-64C1-4D0F-B7A6-EC2B8400AE8F}"/>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08">
            <a:extLst xmlns:a="http://schemas.openxmlformats.org/drawingml/2006/main">
              <a:ext uri="{FF2B5EF4-FFF2-40B4-BE49-F238E27FC236}">
                <a16:creationId xmlns:a16="http://schemas.microsoft.com/office/drawing/2014/main" id="{0728AA14-BDD9-4206-AB7E-380FA547C687}"/>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07</a:t>
            </a:r>
          </a:p>
        </p:txBody>
      </p:sp>
      <p:sp>
        <p:nvSpPr>
          <p:cNvPr id="15" name="PDF-GalaxAI">
            <a:extLst xmlns:a="http://schemas.openxmlformats.org/drawingml/2006/main">
              <a:ext uri="{FF2B5EF4-FFF2-40B4-BE49-F238E27FC236}">
                <a16:creationId xmlns:a16="http://schemas.microsoft.com/office/drawing/2014/main" id="{9D01298A-BF2B-48DD-9414-882660E3F5ED}"/>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08 / 12">
            <a:extLst xmlns:a="http://schemas.openxmlformats.org/drawingml/2006/main">
              <a:ext uri="{FF2B5EF4-FFF2-40B4-BE49-F238E27FC236}">
                <a16:creationId xmlns:a16="http://schemas.microsoft.com/office/drawing/2014/main" id="{CA9CB935-052F-4E2D-82A9-914A1760FC95}"/>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07 / 09</a:t>
            </a:r>
          </a:p>
        </p:txBody>
      </p:sp>
      <p:sp>
        <p:nvSpPr>
          <p:cNvPr id="17" name="Full-Stack System Architecture">
            <a:extLst xmlns:a="http://schemas.openxmlformats.org/drawingml/2006/main">
              <a:ext uri="{FF2B5EF4-FFF2-40B4-BE49-F238E27FC236}">
                <a16:creationId xmlns:a16="http://schemas.microsoft.com/office/drawing/2014/main" id="{C7AA5BB8-7626-4EC6-A846-BD73398F9B41}"/>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Full-Stack System Architecture</a:t>
            </a:r>
          </a:p>
        </p:txBody>
      </p:sp>
      <p:sp>
        <p:nvSpPr>
          <p:cNvPr id="18" name="A shared paper identity connects semantic processing, WebGL exploratio">
            <a:extLst xmlns:a="http://schemas.openxmlformats.org/drawingml/2006/main">
              <a:ext uri="{FF2B5EF4-FFF2-40B4-BE49-F238E27FC236}">
                <a16:creationId xmlns:a16="http://schemas.microsoft.com/office/drawing/2014/main" id="{C3F24517-4257-4A83-9579-13D4D632515E}"/>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A shared paper identity connects semantic processing, WebGL exploration and evidence-based reading.</a:t>
            </a:r>
          </a:p>
        </p:txBody>
      </p:sp>
      <p:sp>
        <p:nvSpPr>
          <p:cNvPr id="19" name="">
            <a:extLst xmlns:a="http://schemas.openxmlformats.org/drawingml/2006/main">
              <a:ext uri="{FF2B5EF4-FFF2-40B4-BE49-F238E27FC236}">
                <a16:creationId xmlns:a16="http://schemas.microsoft.com/office/drawing/2014/main" id="{C087AC62-8009-4A7F-881F-14DD7BB9D264}"/>
              </a:ext>
            </a:extLst>
          </p:cNvPr>
          <p:cNvSpPr>
            <a:spLocks xmlns:a="http://schemas.openxmlformats.org/drawingml/2006/main" noGrp="1"/>
          </p:cNvSpPr>
          <p:nvPr/>
        </p:nvSpPr>
        <p:spPr>
          <a:xfrm xmlns:a="http://schemas.openxmlformats.org/drawingml/2006/main">
            <a:off x="1238250" y="4048125"/>
            <a:ext cx="4667250" cy="1857375"/>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0" name="React web application">
            <a:extLst xmlns:a="http://schemas.openxmlformats.org/drawingml/2006/main">
              <a:ext uri="{FF2B5EF4-FFF2-40B4-BE49-F238E27FC236}">
                <a16:creationId xmlns:a16="http://schemas.microsoft.com/office/drawing/2014/main" id="{3D1AE0AF-C17E-4BED-A9B5-9A82690EE897}"/>
              </a:ext>
            </a:extLst>
          </p:cNvPr>
          <p:cNvSpPr>
            <a:spLocks xmlns:a="http://schemas.openxmlformats.org/drawingml/2006/main" noGrp="1"/>
          </p:cNvSpPr>
          <p:nvPr/>
        </p:nvSpPr>
        <p:spPr>
          <a:xfrm xmlns:a="http://schemas.openxmlformats.org/drawingml/2006/main">
            <a:off x="1447800" y="4238625"/>
            <a:ext cx="424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React web application</a:t>
            </a:r>
          </a:p>
        </p:txBody>
      </p:sp>
      <p:sp>
        <p:nvSpPr>
          <p:cNvPr id="21" name="Vite + TypeScript&#10;Shared paper and interaction state">
            <a:extLst xmlns:a="http://schemas.openxmlformats.org/drawingml/2006/main">
              <a:ext uri="{FF2B5EF4-FFF2-40B4-BE49-F238E27FC236}">
                <a16:creationId xmlns:a16="http://schemas.microsoft.com/office/drawing/2014/main" id="{F7C78A0E-CC49-48E2-A88D-BBA7764785BD}"/>
              </a:ext>
            </a:extLst>
          </p:cNvPr>
          <p:cNvSpPr>
            <a:spLocks xmlns:a="http://schemas.openxmlformats.org/drawingml/2006/main" noGrp="1"/>
          </p:cNvSpPr>
          <p:nvPr/>
        </p:nvSpPr>
        <p:spPr>
          <a:xfrm xmlns:a="http://schemas.openxmlformats.org/drawingml/2006/main">
            <a:off x="1447800" y="4781550"/>
            <a:ext cx="42481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Vite + TypeScript</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Shared paper and interaction state</a:t>
            </a:r>
          </a:p>
        </p:txBody>
      </p:sp>
      <p:sp>
        <p:nvSpPr>
          <p:cNvPr id="22" name="">
            <a:extLst xmlns:a="http://schemas.openxmlformats.org/drawingml/2006/main">
              <a:ext uri="{FF2B5EF4-FFF2-40B4-BE49-F238E27FC236}">
                <a16:creationId xmlns:a16="http://schemas.microsoft.com/office/drawing/2014/main" id="{1EA9CC8D-3EBE-4B30-84B2-C5E7232E026A}"/>
              </a:ext>
            </a:extLst>
          </p:cNvPr>
          <p:cNvSpPr>
            <a:spLocks xmlns:a="http://schemas.openxmlformats.org/drawingml/2006/main" noGrp="1"/>
          </p:cNvSpPr>
          <p:nvPr/>
        </p:nvSpPr>
        <p:spPr>
          <a:xfrm xmlns:a="http://schemas.openxmlformats.org/drawingml/2006/main">
            <a:off x="7000875" y="4048125"/>
            <a:ext cx="5000625" cy="1857375"/>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3" name="FastAPI service">
            <a:extLst xmlns:a="http://schemas.openxmlformats.org/drawingml/2006/main">
              <a:ext uri="{FF2B5EF4-FFF2-40B4-BE49-F238E27FC236}">
                <a16:creationId xmlns:a16="http://schemas.microsoft.com/office/drawing/2014/main" id="{308F2386-41FB-4001-8BA6-AA43B4D3AF2A}"/>
              </a:ext>
            </a:extLst>
          </p:cNvPr>
          <p:cNvSpPr>
            <a:spLocks xmlns:a="http://schemas.openxmlformats.org/drawingml/2006/main" noGrp="1"/>
          </p:cNvSpPr>
          <p:nvPr/>
        </p:nvSpPr>
        <p:spPr>
          <a:xfrm xmlns:a="http://schemas.openxmlformats.org/drawingml/2006/main">
            <a:off x="7210425" y="4238625"/>
            <a:ext cx="4581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FastAPI service</a:t>
            </a:r>
          </a:p>
        </p:txBody>
      </p:sp>
      <p:sp>
        <p:nvSpPr>
          <p:cNvPr id="24" name="Upload, graph, query and file APIs&#10;Provider resolution and error state">
            <a:extLst xmlns:a="http://schemas.openxmlformats.org/drawingml/2006/main">
              <a:ext uri="{FF2B5EF4-FFF2-40B4-BE49-F238E27FC236}">
                <a16:creationId xmlns:a16="http://schemas.microsoft.com/office/drawing/2014/main" id="{E12DA4F2-FDCE-4701-B845-B8BFCBEDA3D1}"/>
              </a:ext>
            </a:extLst>
          </p:cNvPr>
          <p:cNvSpPr>
            <a:spLocks xmlns:a="http://schemas.openxmlformats.org/drawingml/2006/main" noGrp="1"/>
          </p:cNvSpPr>
          <p:nvPr/>
        </p:nvSpPr>
        <p:spPr>
          <a:xfrm xmlns:a="http://schemas.openxmlformats.org/drawingml/2006/main">
            <a:off x="7210425" y="4781550"/>
            <a:ext cx="45815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Upload, graph, query and file APIs</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Provider resolution and error states</a:t>
            </a:r>
          </a:p>
        </p:txBody>
      </p:sp>
      <p:sp>
        <p:nvSpPr>
          <p:cNvPr id="25" name="">
            <a:extLst xmlns:a="http://schemas.openxmlformats.org/drawingml/2006/main">
              <a:ext uri="{FF2B5EF4-FFF2-40B4-BE49-F238E27FC236}">
                <a16:creationId xmlns:a16="http://schemas.microsoft.com/office/drawing/2014/main" id="{5A86C9EF-1AD7-4538-B94D-4A7FEB25BAE6}"/>
              </a:ext>
            </a:extLst>
          </p:cNvPr>
          <p:cNvSpPr>
            <a:spLocks xmlns:a="http://schemas.openxmlformats.org/drawingml/2006/main" noGrp="1"/>
          </p:cNvSpPr>
          <p:nvPr/>
        </p:nvSpPr>
        <p:spPr>
          <a:xfrm xmlns:a="http://schemas.openxmlformats.org/drawingml/2006/main">
            <a:off x="13096875" y="4048125"/>
            <a:ext cx="3810000" cy="1857375"/>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6193">
            <a:solidFill>
              <a:srgbClr val="8FA4C1"/>
            </a:solidFill>
          </a:ln>
        </p:spPr>
      </p:sp>
      <p:sp>
        <p:nvSpPr>
          <p:cNvPr id="26" name="Inference providers">
            <a:extLst xmlns:a="http://schemas.openxmlformats.org/drawingml/2006/main">
              <a:ext uri="{FF2B5EF4-FFF2-40B4-BE49-F238E27FC236}">
                <a16:creationId xmlns:a16="http://schemas.microsoft.com/office/drawing/2014/main" id="{604766E5-9E22-4F57-855B-47741AE7FB98}"/>
              </a:ext>
            </a:extLst>
          </p:cNvPr>
          <p:cNvSpPr>
            <a:spLocks xmlns:a="http://schemas.openxmlformats.org/drawingml/2006/main" noGrp="1"/>
          </p:cNvSpPr>
          <p:nvPr/>
        </p:nvSpPr>
        <p:spPr>
          <a:xfrm xmlns:a="http://schemas.openxmlformats.org/drawingml/2006/main">
            <a:off x="13306425" y="4238625"/>
            <a:ext cx="3390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Inference providers</a:t>
            </a:r>
          </a:p>
        </p:txBody>
      </p:sp>
      <p:sp>
        <p:nvSpPr>
          <p:cNvPr id="27" name="Local Ollama&#10;Gemini / OpenAI-compatible APIs">
            <a:extLst xmlns:a="http://schemas.openxmlformats.org/drawingml/2006/main">
              <a:ext uri="{FF2B5EF4-FFF2-40B4-BE49-F238E27FC236}">
                <a16:creationId xmlns:a16="http://schemas.microsoft.com/office/drawing/2014/main" id="{7D813D14-A417-4E71-8417-B8746C3486F1}"/>
              </a:ext>
            </a:extLst>
          </p:cNvPr>
          <p:cNvSpPr>
            <a:spLocks xmlns:a="http://schemas.openxmlformats.org/drawingml/2006/main" noGrp="1"/>
          </p:cNvSpPr>
          <p:nvPr/>
        </p:nvSpPr>
        <p:spPr>
          <a:xfrm xmlns:a="http://schemas.openxmlformats.org/drawingml/2006/main">
            <a:off x="13306425" y="4781550"/>
            <a:ext cx="33909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Local Ollama</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Gemini / OpenAI-compatible APIs</a:t>
            </a:r>
          </a:p>
        </p:txBody>
      </p:sp>
      <p:cxnSp>
        <p:nvCxnSpPr>
          <p:cNvPr id="28" name="">
            <a:extLst xmlns:a="http://schemas.openxmlformats.org/drawingml/2006/main">
              <a:ext uri="{FF2B5EF4-FFF2-40B4-BE49-F238E27FC236}">
                <a16:creationId xmlns:a16="http://schemas.microsoft.com/office/drawing/2014/main" id="{EB86B12D-EF7E-4BC5-A64C-378447CF628F}"/>
              </a:ext>
            </a:extLst>
          </p:cNvPr>
          <p:cNvCxnSpPr>
            <a:stCxn xmlns:a="http://schemas.openxmlformats.org/drawingml/2006/main" id="19" idx="3"/>
            <a:endCxn xmlns:a="http://schemas.openxmlformats.org/drawingml/2006/main" id="22" idx="1"/>
          </p:cNvCxnSpPr>
          <p:nvPr/>
        </p:nvCxnSpPr>
        <p:spPr>
          <a:xfrm xmlns:a="http://schemas.openxmlformats.org/drawingml/2006/main">
            <a:off x="5905500" y="4976813"/>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29" name="">
            <a:extLst xmlns:a="http://schemas.openxmlformats.org/drawingml/2006/main">
              <a:ext uri="{FF2B5EF4-FFF2-40B4-BE49-F238E27FC236}">
                <a16:creationId xmlns:a16="http://schemas.microsoft.com/office/drawing/2014/main" id="{5E861A8C-F276-4923-94C7-2E9CFFE834A7}"/>
              </a:ext>
            </a:extLst>
          </p:cNvPr>
          <p:cNvCxnSpPr>
            <a:stCxn xmlns:a="http://schemas.openxmlformats.org/drawingml/2006/main" id="22" idx="3"/>
            <a:endCxn xmlns:a="http://schemas.openxmlformats.org/drawingml/2006/main" id="25" idx="1"/>
          </p:cNvCxnSpPr>
          <p:nvPr/>
        </p:nvCxnSpPr>
        <p:spPr>
          <a:xfrm xmlns:a="http://schemas.openxmlformats.org/drawingml/2006/main">
            <a:off x="12001500" y="4976813"/>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30" name="">
            <a:extLst xmlns:a="http://schemas.openxmlformats.org/drawingml/2006/main">
              <a:ext uri="{FF2B5EF4-FFF2-40B4-BE49-F238E27FC236}">
                <a16:creationId xmlns:a16="http://schemas.microsoft.com/office/drawing/2014/main" id="{0A7B49F7-2DE6-46F4-A0B7-F14262BD32B7}"/>
              </a:ext>
            </a:extLst>
          </p:cNvPr>
          <p:cNvSpPr>
            <a:spLocks xmlns:a="http://schemas.openxmlformats.org/drawingml/2006/main" noGrp="1"/>
          </p:cNvSpPr>
          <p:nvPr/>
        </p:nvSpPr>
        <p:spPr>
          <a:xfrm xmlns:a="http://schemas.openxmlformats.org/drawingml/2006/main">
            <a:off x="1238250" y="7096125"/>
            <a:ext cx="4667250"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1" name="Interaction modules">
            <a:extLst xmlns:a="http://schemas.openxmlformats.org/drawingml/2006/main">
              <a:ext uri="{FF2B5EF4-FFF2-40B4-BE49-F238E27FC236}">
                <a16:creationId xmlns:a16="http://schemas.microsoft.com/office/drawing/2014/main" id="{6047C89B-0B38-4B8E-8AFC-6DA863D186C8}"/>
              </a:ext>
            </a:extLst>
          </p:cNvPr>
          <p:cNvSpPr>
            <a:spLocks xmlns:a="http://schemas.openxmlformats.org/drawingml/2006/main" noGrp="1"/>
          </p:cNvSpPr>
          <p:nvPr/>
        </p:nvSpPr>
        <p:spPr>
          <a:xfrm xmlns:a="http://schemas.openxmlformats.org/drawingml/2006/main">
            <a:off x="1447800" y="7286625"/>
            <a:ext cx="424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Interaction modules</a:t>
            </a:r>
          </a:p>
        </p:txBody>
      </p:sp>
      <p:sp>
        <p:nvSpPr>
          <p:cNvPr id="32" name="Three.js / GLSL galaxy&#10;PDF.js reader and chat">
            <a:extLst xmlns:a="http://schemas.openxmlformats.org/drawingml/2006/main">
              <a:ext uri="{FF2B5EF4-FFF2-40B4-BE49-F238E27FC236}">
                <a16:creationId xmlns:a16="http://schemas.microsoft.com/office/drawing/2014/main" id="{DDA02AC3-8376-4578-BE05-744281A15584}"/>
              </a:ext>
            </a:extLst>
          </p:cNvPr>
          <p:cNvSpPr>
            <a:spLocks xmlns:a="http://schemas.openxmlformats.org/drawingml/2006/main" noGrp="1"/>
          </p:cNvSpPr>
          <p:nvPr/>
        </p:nvSpPr>
        <p:spPr>
          <a:xfrm xmlns:a="http://schemas.openxmlformats.org/drawingml/2006/main">
            <a:off x="1447800" y="7829550"/>
            <a:ext cx="424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Three.js / GLSL galaxy</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PDF.js reader and chat</a:t>
            </a:r>
          </a:p>
        </p:txBody>
      </p:sp>
      <p:sp>
        <p:nvSpPr>
          <p:cNvPr id="33" name="">
            <a:extLst xmlns:a="http://schemas.openxmlformats.org/drawingml/2006/main">
              <a:ext uri="{FF2B5EF4-FFF2-40B4-BE49-F238E27FC236}">
                <a16:creationId xmlns:a16="http://schemas.microsoft.com/office/drawing/2014/main" id="{F32B54B6-332E-41F5-8B0D-6D0D702CB6BB}"/>
              </a:ext>
            </a:extLst>
          </p:cNvPr>
          <p:cNvSpPr>
            <a:spLocks xmlns:a="http://schemas.openxmlformats.org/drawingml/2006/main" noGrp="1"/>
          </p:cNvSpPr>
          <p:nvPr/>
        </p:nvSpPr>
        <p:spPr>
          <a:xfrm xmlns:a="http://schemas.openxmlformats.org/drawingml/2006/main">
            <a:off x="7000875" y="7096125"/>
            <a:ext cx="5000625"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4" name="Processing modules">
            <a:extLst xmlns:a="http://schemas.openxmlformats.org/drawingml/2006/main">
              <a:ext uri="{FF2B5EF4-FFF2-40B4-BE49-F238E27FC236}">
                <a16:creationId xmlns:a16="http://schemas.microsoft.com/office/drawing/2014/main" id="{86C2039B-79DE-4088-B97D-749115D5AAE0}"/>
              </a:ext>
            </a:extLst>
          </p:cNvPr>
          <p:cNvSpPr>
            <a:spLocks xmlns:a="http://schemas.openxmlformats.org/drawingml/2006/main" noGrp="1"/>
          </p:cNvSpPr>
          <p:nvPr/>
        </p:nvSpPr>
        <p:spPr>
          <a:xfrm xmlns:a="http://schemas.openxmlformats.org/drawingml/2006/main">
            <a:off x="7210425" y="7286625"/>
            <a:ext cx="4581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Processing modules</a:t>
            </a:r>
          </a:p>
        </p:txBody>
      </p:sp>
      <p:sp>
        <p:nvSpPr>
          <p:cNvPr id="35" name="Parsing, chunking, embeddings&#10;KMeans, UMAP/PCA, retrieval">
            <a:extLst xmlns:a="http://schemas.openxmlformats.org/drawingml/2006/main">
              <a:ext uri="{FF2B5EF4-FFF2-40B4-BE49-F238E27FC236}">
                <a16:creationId xmlns:a16="http://schemas.microsoft.com/office/drawing/2014/main" id="{74DDB047-DCBC-49E3-B7E1-048481F2FCAF}"/>
              </a:ext>
            </a:extLst>
          </p:cNvPr>
          <p:cNvSpPr>
            <a:spLocks xmlns:a="http://schemas.openxmlformats.org/drawingml/2006/main" noGrp="1"/>
          </p:cNvSpPr>
          <p:nvPr/>
        </p:nvSpPr>
        <p:spPr>
          <a:xfrm xmlns:a="http://schemas.openxmlformats.org/drawingml/2006/main">
            <a:off x="7210425" y="7829550"/>
            <a:ext cx="45815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Parsing, chunking, embeddings</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KMeans, UMAP/PCA, retrieval</a:t>
            </a:r>
          </a:p>
        </p:txBody>
      </p:sp>
      <p:sp>
        <p:nvSpPr>
          <p:cNvPr id="36" name="">
            <a:extLst xmlns:a="http://schemas.openxmlformats.org/drawingml/2006/main">
              <a:ext uri="{FF2B5EF4-FFF2-40B4-BE49-F238E27FC236}">
                <a16:creationId xmlns:a16="http://schemas.microsoft.com/office/drawing/2014/main" id="{D34BAA49-3564-46C4-B1E2-1F96083D2DB7}"/>
              </a:ext>
            </a:extLst>
          </p:cNvPr>
          <p:cNvSpPr>
            <a:spLocks xmlns:a="http://schemas.openxmlformats.org/drawingml/2006/main" noGrp="1"/>
          </p:cNvSpPr>
          <p:nvPr/>
        </p:nvSpPr>
        <p:spPr>
          <a:xfrm xmlns:a="http://schemas.openxmlformats.org/drawingml/2006/main">
            <a:off x="13096875" y="7096125"/>
            <a:ext cx="3810000" cy="1666875"/>
          </a:xfrm>
          <a:prstGeom xmlns:a="http://schemas.openxmlformats.org/drawingml/2006/main" prst="roundRect">
            <a:avLst>
              <a:gd name="adj" fmla="val 10286"/>
            </a:avLst>
          </a:prstGeom>
          <a:solidFill xmlns:a="http://schemas.openxmlformats.org/drawingml/2006/main">
            <a:srgbClr val="FFFFFF"/>
          </a:solidFill>
          <a:ln xmlns:a="http://schemas.openxmlformats.org/drawingml/2006/main" w="16193">
            <a:solidFill>
              <a:srgbClr val="8FA4C1"/>
            </a:solidFill>
          </a:ln>
        </p:spPr>
      </p:sp>
      <p:sp>
        <p:nvSpPr>
          <p:cNvPr id="37" name="Local persistence">
            <a:extLst xmlns:a="http://schemas.openxmlformats.org/drawingml/2006/main">
              <a:ext uri="{FF2B5EF4-FFF2-40B4-BE49-F238E27FC236}">
                <a16:creationId xmlns:a16="http://schemas.microsoft.com/office/drawing/2014/main" id="{D3AE9CD7-3673-454C-BECD-EB999E1A9A52}"/>
              </a:ext>
            </a:extLst>
          </p:cNvPr>
          <p:cNvSpPr>
            <a:spLocks xmlns:a="http://schemas.openxmlformats.org/drawingml/2006/main" noGrp="1"/>
          </p:cNvSpPr>
          <p:nvPr/>
        </p:nvSpPr>
        <p:spPr>
          <a:xfrm xmlns:a="http://schemas.openxmlformats.org/drawingml/2006/main">
            <a:off x="13306425" y="7286625"/>
            <a:ext cx="3390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01B40"/>
                </a:solidFill>
                <a:latin typeface="Montserrat Bold"/>
                <a:ea typeface="Montserrat Bold"/>
                <a:cs typeface="Montserrat Bold"/>
              </a:defRPr>
            </a:defPPr>
          </a:lstStyle>
          <a:p xmlns:a="http://schemas.openxmlformats.org/drawingml/2006/main">
            <a:pPr algn="l">
              <a:buNone/>
              <a:defRPr sz="2175" b="1">
                <a:solidFill>
                  <a:srgbClr val="101B40"/>
                </a:solidFill>
                <a:latin typeface="Montserrat Bold"/>
                <a:ea typeface="Montserrat Bold"/>
                <a:cs typeface="Montserrat Bold"/>
              </a:defRPr>
            </a:pPr>
            <a:r>
              <a:rPr sz="2175" b="1">
                <a:solidFill>
                  <a:srgbClr val="101B40"/>
                </a:solidFill>
                <a:latin typeface="Montserrat Bold"/>
                <a:ea typeface="Montserrat Bold"/>
                <a:cs typeface="Montserrat Bold"/>
              </a:rPr>
              <a:t>Local persistence</a:t>
            </a:r>
          </a:p>
        </p:txBody>
      </p:sp>
      <p:sp>
        <p:nvSpPr>
          <p:cNvPr id="38" name="PDF files + JSON metadata&#10;Chroma paper and chunk vectors">
            <a:extLst xmlns:a="http://schemas.openxmlformats.org/drawingml/2006/main">
              <a:ext uri="{FF2B5EF4-FFF2-40B4-BE49-F238E27FC236}">
                <a16:creationId xmlns:a16="http://schemas.microsoft.com/office/drawing/2014/main" id="{4C25BEB1-CC2B-4A41-9117-78D0EE4409BE}"/>
              </a:ext>
            </a:extLst>
          </p:cNvPr>
          <p:cNvSpPr>
            <a:spLocks xmlns:a="http://schemas.openxmlformats.org/drawingml/2006/main" noGrp="1"/>
          </p:cNvSpPr>
          <p:nvPr/>
        </p:nvSpPr>
        <p:spPr>
          <a:xfrm xmlns:a="http://schemas.openxmlformats.org/drawingml/2006/main">
            <a:off x="13306425" y="7829550"/>
            <a:ext cx="3390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PDF files + JSON metadata</a:t>
            </a:r>
          </a:p>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Chroma paper and chunk vectors</a:t>
            </a:r>
          </a:p>
        </p:txBody>
      </p:sp>
      <p:cxnSp>
        <p:nvCxnSpPr>
          <p:cNvPr id="39" name="">
            <a:extLst xmlns:a="http://schemas.openxmlformats.org/drawingml/2006/main">
              <a:ext uri="{FF2B5EF4-FFF2-40B4-BE49-F238E27FC236}">
                <a16:creationId xmlns:a16="http://schemas.microsoft.com/office/drawing/2014/main" id="{D65577EB-B0FC-4456-BC0B-962EB4DDF25D}"/>
              </a:ext>
            </a:extLst>
          </p:cNvPr>
          <p:cNvCxnSpPr>
            <a:stCxn xmlns:a="http://schemas.openxmlformats.org/drawingml/2006/main" id="19" idx="2"/>
            <a:endCxn xmlns:a="http://schemas.openxmlformats.org/drawingml/2006/main" id="30" idx="0"/>
          </p:cNvCxnSpPr>
          <p:nvPr/>
        </p:nvCxnSpPr>
        <p:spPr>
          <a:xfrm xmlns:a="http://schemas.openxmlformats.org/drawingml/2006/main">
            <a:off x="3571875" y="5905500"/>
            <a:ext cx="0" cy="1190625"/>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40" name="">
            <a:extLst xmlns:a="http://schemas.openxmlformats.org/drawingml/2006/main">
              <a:ext uri="{FF2B5EF4-FFF2-40B4-BE49-F238E27FC236}">
                <a16:creationId xmlns:a16="http://schemas.microsoft.com/office/drawing/2014/main" id="{2A593859-76C3-4F7E-91CD-15FB4BF36D71}"/>
              </a:ext>
            </a:extLst>
          </p:cNvPr>
          <p:cNvCxnSpPr>
            <a:stCxn xmlns:a="http://schemas.openxmlformats.org/drawingml/2006/main" id="22" idx="2"/>
            <a:endCxn xmlns:a="http://schemas.openxmlformats.org/drawingml/2006/main" id="33" idx="0"/>
          </p:cNvCxnSpPr>
          <p:nvPr/>
        </p:nvCxnSpPr>
        <p:spPr>
          <a:xfrm xmlns:a="http://schemas.openxmlformats.org/drawingml/2006/main">
            <a:off x="9501188" y="5905500"/>
            <a:ext cx="0" cy="1190625"/>
          </a:xfrm>
          <a:prstGeom xmlns:a="http://schemas.openxmlformats.org/drawingml/2006/main" prst="straightConnector1">
            <a:avLst/>
          </a:prstGeom>
          <a:ln xmlns:a="http://schemas.openxmlformats.org/drawingml/2006/main" w="28575">
            <a:solidFill>
              <a:srgbClr val="8FA4C1"/>
            </a:solidFill>
            <a:tailEnd type="triangle" w="med" len="med"/>
          </a:ln>
        </p:spPr>
      </p:cxnSp>
      <p:cxnSp>
        <p:nvCxnSpPr>
          <p:cNvPr id="41" name="">
            <a:extLst xmlns:a="http://schemas.openxmlformats.org/drawingml/2006/main">
              <a:ext uri="{FF2B5EF4-FFF2-40B4-BE49-F238E27FC236}">
                <a16:creationId xmlns:a16="http://schemas.microsoft.com/office/drawing/2014/main" id="{A63B4E8B-FF7F-44D1-93C0-CC0A3C924AE4}"/>
              </a:ext>
            </a:extLst>
          </p:cNvPr>
          <p:cNvCxnSpPr>
            <a:stCxn xmlns:a="http://schemas.openxmlformats.org/drawingml/2006/main" id="33" idx="3"/>
            <a:endCxn xmlns:a="http://schemas.openxmlformats.org/drawingml/2006/main" id="36" idx="1"/>
          </p:cNvCxnSpPr>
          <p:nvPr/>
        </p:nvCxnSpPr>
        <p:spPr>
          <a:xfrm xmlns:a="http://schemas.openxmlformats.org/drawingml/2006/main">
            <a:off x="12001500" y="7929563"/>
            <a:ext cx="1095375" cy="0"/>
          </a:xfrm>
          <a:prstGeom xmlns:a="http://schemas.openxmlformats.org/drawingml/2006/main" prst="straightConnector1">
            <a:avLst/>
          </a:prstGeom>
          <a:ln xmlns:a="http://schemas.openxmlformats.org/drawingml/2006/main" w="28575">
            <a:solidFill>
              <a:srgbClr val="8FA4C1"/>
            </a:solidFill>
            <a:tailEnd type="triangle" w="med" len="med"/>
          </a:ln>
        </p:spPr>
      </p:cxnSp>
      <p:sp>
        <p:nvSpPr>
          <p:cNvPr id="42" name="Privacy decision: files and vectors stay local. Cloud inference receiv">
            <a:extLst xmlns:a="http://schemas.openxmlformats.org/drawingml/2006/main">
              <a:ext uri="{FF2B5EF4-FFF2-40B4-BE49-F238E27FC236}">
                <a16:creationId xmlns:a16="http://schemas.microsoft.com/office/drawing/2014/main" id="{048A55AE-D868-43D9-A4CD-0BDAAE3D5827}"/>
              </a:ext>
            </a:extLst>
          </p:cNvPr>
          <p:cNvSpPr>
            <a:spLocks xmlns:a="http://schemas.openxmlformats.org/drawingml/2006/main" noGrp="1"/>
          </p:cNvSpPr>
          <p:nvPr/>
        </p:nvSpPr>
        <p:spPr>
          <a:xfrm xmlns:a="http://schemas.openxmlformats.org/drawingml/2006/main">
            <a:off x="1238250" y="9086850"/>
            <a:ext cx="1566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Privacy decision: files and vectors stay local. Cloud inference receives the selected context and any submitted image.</a:t>
            </a:r>
          </a:p>
        </p:txBody>
      </p:sp>
    </p:spTree>
    <p:extLst>
      <p:ext uri="{BB962C8B-B14F-4D97-AF65-F5344CB8AC3E}">
        <p14:creationId xmlns:p14="http://schemas.microsoft.com/office/powerpoint/2010/main" val="1977874978"/>
      </p:ext>
    </p:extLst>
  </p:cSld>
</p:sld>
</file>

<file path=ppt/slides/slide8.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920F2C7-7F14-4D60-A417-6274F09C5B61}"/>
              </a:ext>
            </a:extLst>
          </p:cNvPr>
          <p:cNvSpPr>
            <a:spLocks xmlns:a="http://schemas.openxmlformats.org/drawingml/2006/main" noGrp="1"/>
          </p:cNvSpPr>
          <p:nvPr/>
        </p:nvSpPr>
        <p:spPr>
          <a:xfrm xmlns:a="http://schemas.openxmlformats.org/drawingml/2006/main" rot="0" flipH="0" flipV="0">
            <a:off x="350265" y="341540"/>
            <a:ext cx="17587469" cy="9603920"/>
          </a:xfrm>
          <a:custGeom xmlns:a="http://schemas.openxmlformats.org/drawingml/2006/main">
            <a:rect l="l" t="t" r="r" b="b"/>
            <a:pathLst>
              <a:path w="4632091" h="2529427">
                <a:moveTo>
                  <a:pt x="22450" y="0"/>
                </a:moveTo>
                <a:lnTo>
                  <a:pt x="4609641" y="0"/>
                </a:lnTo>
                <a:cubicBezTo>
                  <a:pt x="4615595" y="0"/>
                  <a:pt x="4621305" y="2365"/>
                  <a:pt x="4625515" y="6575"/>
                </a:cubicBezTo>
                <a:cubicBezTo>
                  <a:pt x="4629725" y="10786"/>
                  <a:pt x="4632091" y="16496"/>
                  <a:pt x="4632091" y="22450"/>
                </a:cubicBezTo>
                <a:lnTo>
                  <a:pt x="4632091" y="2506977"/>
                </a:lnTo>
                <a:cubicBezTo>
                  <a:pt x="4632091" y="2519376"/>
                  <a:pt x="4622039" y="2529427"/>
                  <a:pt x="4609641" y="2529427"/>
                </a:cubicBezTo>
                <a:lnTo>
                  <a:pt x="22450" y="2529427"/>
                </a:lnTo>
                <a:cubicBezTo>
                  <a:pt x="10051" y="2529427"/>
                  <a:pt x="0" y="2519376"/>
                  <a:pt x="0" y="2506977"/>
                </a:cubicBezTo>
                <a:lnTo>
                  <a:pt x="0" y="22450"/>
                </a:lnTo>
                <a:cubicBezTo>
                  <a:pt x="0" y="10051"/>
                  <a:pt x="10051" y="0"/>
                  <a:pt x="22450" y="0"/>
                </a:cubicBezTo>
                <a:close/>
              </a:path>
            </a:pathLst>
          </a:custGeom>
          <a:solidFill xmlns:a="http://schemas.openxmlformats.org/drawingml/2006/main">
            <a:srgbClr val="DCE2EB"/>
          </a:solidFill>
        </p:spPr>
      </p:sp>
      <p:sp>
        <p:nvSpPr>
          <p:cNvPr id="6" name="Freeform 6">
            <a:extLst xmlns:a="http://schemas.openxmlformats.org/drawingml/2006/main">
              <a:ext uri="{FF2B5EF4-FFF2-40B4-BE49-F238E27FC236}">
                <a16:creationId xmlns:a16="http://schemas.microsoft.com/office/drawing/2014/main" id="{85EED528-DCB8-4BAD-AACC-47944D2E34DB}"/>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7" name="TextBox 7">
            <a:extLst xmlns:a="http://schemas.openxmlformats.org/drawingml/2006/main">
              <a:ext uri="{FF2B5EF4-FFF2-40B4-BE49-F238E27FC236}">
                <a16:creationId xmlns:a16="http://schemas.microsoft.com/office/drawing/2014/main" id="{E02053D9-6A79-4A94-B3A0-6B831B814550}"/>
              </a:ext>
            </a:extLst>
          </p:cNvPr>
          <p:cNvSpPr>
            <a:spLocks xmlns:a="http://schemas.openxmlformats.org/drawingml/2006/main" noGrp="1"/>
          </p:cNvSpPr>
          <p:nvPr/>
        </p:nvSpPr>
        <p:spPr>
          <a:xfrm xmlns:a="http://schemas.openxmlformats.org/drawingml/2006/main" rot="0" flipH="0" flipV="0">
            <a:off x="4409081" y="617340"/>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Freeform 9">
            <a:extLst xmlns:a="http://schemas.openxmlformats.org/drawingml/2006/main">
              <a:ext uri="{FF2B5EF4-FFF2-40B4-BE49-F238E27FC236}">
                <a16:creationId xmlns:a16="http://schemas.microsoft.com/office/drawing/2014/main" id="{3A4DB3B2-6561-42C9-B572-B0BB7C421802}"/>
              </a:ext>
            </a:extLst>
          </p:cNvPr>
          <p:cNvSpPr>
            <a:spLocks xmlns:a="http://schemas.openxmlformats.org/drawingml/2006/main" noGrp="1"/>
          </p:cNvSpPr>
          <p:nvPr/>
        </p:nvSpPr>
        <p:spPr>
          <a:xfrm xmlns:a="http://schemas.openxmlformats.org/drawingml/2006/main" rot="0" flipH="0" flipV="0">
            <a:off x="11849100" y="628650"/>
            <a:ext cx="1704975" cy="590550"/>
          </a:xfrm>
          <a:custGeom xmlns:a="http://schemas.openxmlformats.org/drawingml/2006/main">
            <a:rect l="l" t="t" r="r" b="b"/>
            <a:pathLst>
              <a:path w="438737" h="155110">
                <a:moveTo>
                  <a:pt x="77555" y="0"/>
                </a:moveTo>
                <a:lnTo>
                  <a:pt x="361182" y="0"/>
                </a:lnTo>
                <a:cubicBezTo>
                  <a:pt x="404015" y="0"/>
                  <a:pt x="438737" y="34722"/>
                  <a:pt x="438737" y="77555"/>
                </a:cubicBezTo>
                <a:lnTo>
                  <a:pt x="438737" y="77555"/>
                </a:lnTo>
                <a:cubicBezTo>
                  <a:pt x="438737" y="120387"/>
                  <a:pt x="404015" y="155110"/>
                  <a:pt x="361182"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10" name="TextBox 10">
            <a:extLst xmlns:a="http://schemas.openxmlformats.org/drawingml/2006/main">
              <a:ext uri="{FF2B5EF4-FFF2-40B4-BE49-F238E27FC236}">
                <a16:creationId xmlns:a16="http://schemas.microsoft.com/office/drawing/2014/main" id="{1E533097-F34B-4477-96E4-06B881A7FEF9}"/>
              </a:ext>
            </a:extLst>
          </p:cNvPr>
          <p:cNvSpPr>
            <a:spLocks xmlns:a="http://schemas.openxmlformats.org/drawingml/2006/main" noGrp="1"/>
          </p:cNvSpPr>
          <p:nvPr/>
        </p:nvSpPr>
        <p:spPr>
          <a:xfrm xmlns:a="http://schemas.openxmlformats.org/drawingml/2006/main" rot="0" flipH="0" flipV="0">
            <a:off x="9460786" y="730170"/>
            <a:ext cx="1665830"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50" name="TextBox 50">
            <a:extLst xmlns:a="http://schemas.openxmlformats.org/drawingml/2006/main">
              <a:ext uri="{FF2B5EF4-FFF2-40B4-BE49-F238E27FC236}">
                <a16:creationId xmlns:a16="http://schemas.microsoft.com/office/drawing/2014/main" id="{895BCC7A-6881-483E-932F-B61A2679877F}"/>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51" name="TextBox 51">
            <a:extLst xmlns:a="http://schemas.openxmlformats.org/drawingml/2006/main">
              <a:ext uri="{FF2B5EF4-FFF2-40B4-BE49-F238E27FC236}">
                <a16:creationId xmlns:a16="http://schemas.microsoft.com/office/drawing/2014/main" id="{B4F69C6D-2F5E-4E66-BF00-E7FD361766F4}"/>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52" name="TextBox 52">
            <a:extLst xmlns:a="http://schemas.openxmlformats.org/drawingml/2006/main">
              <a:ext uri="{FF2B5EF4-FFF2-40B4-BE49-F238E27FC236}">
                <a16:creationId xmlns:a16="http://schemas.microsoft.com/office/drawing/2014/main" id="{ED64CD2A-0B13-4227-A754-AC91C1920263}"/>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53" name="TextBox 53">
            <a:extLst xmlns:a="http://schemas.openxmlformats.org/drawingml/2006/main">
              <a:ext uri="{FF2B5EF4-FFF2-40B4-BE49-F238E27FC236}">
                <a16:creationId xmlns:a16="http://schemas.microsoft.com/office/drawing/2014/main" id="{6AC844EA-1E85-4885-B17D-075CE187DCAD}"/>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REVIEW</a:t>
            </a:r>
          </a:p>
        </p:txBody>
      </p:sp>
      <p:sp>
        <p:nvSpPr>
          <p:cNvPr id="54" name="TextBox 54">
            <a:extLst xmlns:a="http://schemas.openxmlformats.org/drawingml/2006/main">
              <a:ext uri="{FF2B5EF4-FFF2-40B4-BE49-F238E27FC236}">
                <a16:creationId xmlns:a16="http://schemas.microsoft.com/office/drawing/2014/main" id="{06C9C5BE-06CD-4F89-8344-682E121917E0}"/>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55" name="10">
            <a:extLst xmlns:a="http://schemas.openxmlformats.org/drawingml/2006/main">
              <a:ext uri="{FF2B5EF4-FFF2-40B4-BE49-F238E27FC236}">
                <a16:creationId xmlns:a16="http://schemas.microsoft.com/office/drawing/2014/main" id="{A72DA1A9-5C12-4349-9104-22DC0E71FDE8}"/>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08</a:t>
            </a:r>
          </a:p>
        </p:txBody>
      </p:sp>
      <p:sp>
        <p:nvSpPr>
          <p:cNvPr id="56" name="PDF-GalaxAI">
            <a:extLst xmlns:a="http://schemas.openxmlformats.org/drawingml/2006/main">
              <a:ext uri="{FF2B5EF4-FFF2-40B4-BE49-F238E27FC236}">
                <a16:creationId xmlns:a16="http://schemas.microsoft.com/office/drawing/2014/main" id="{022E15D2-4591-4EC2-AA14-655E8FBEFCD4}"/>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57" name="10 / 12">
            <a:extLst xmlns:a="http://schemas.openxmlformats.org/drawingml/2006/main">
              <a:ext uri="{FF2B5EF4-FFF2-40B4-BE49-F238E27FC236}">
                <a16:creationId xmlns:a16="http://schemas.microsoft.com/office/drawing/2014/main" id="{10394BA7-D5FA-41D9-B1B0-0D9A03CCA644}"/>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08 / 09</a:t>
            </a:r>
          </a:p>
        </p:txBody>
      </p:sp>
      <p:sp>
        <p:nvSpPr>
          <p:cNvPr id="58" name="Engineering Challenges &amp; Design Decisions">
            <a:extLst xmlns:a="http://schemas.openxmlformats.org/drawingml/2006/main">
              <a:ext uri="{FF2B5EF4-FFF2-40B4-BE49-F238E27FC236}">
                <a16:creationId xmlns:a16="http://schemas.microsoft.com/office/drawing/2014/main" id="{D6F190E9-E6FE-4E3C-A366-0368C86689F5}"/>
              </a:ext>
            </a:extLst>
          </p:cNvPr>
          <p:cNvSpPr>
            <a:spLocks xmlns:a="http://schemas.openxmlformats.org/drawingml/2006/main" noGrp="1"/>
          </p:cNvSpPr>
          <p:nvPr/>
        </p:nvSpPr>
        <p:spPr>
          <a:xfrm xmlns:a="http://schemas.openxmlformats.org/drawingml/2006/main">
            <a:off x="1238250" y="1952625"/>
            <a:ext cx="15668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01B40"/>
                </a:solidFill>
                <a:latin typeface="Montserrat Bold"/>
                <a:ea typeface="Montserrat Bold"/>
                <a:cs typeface="Montserrat Bold"/>
              </a:defRPr>
            </a:defPPr>
          </a:lstStyle>
          <a:p xmlns:a="http://schemas.openxmlformats.org/drawingml/2006/main">
            <a:pPr algn="l">
              <a:buNone/>
              <a:defRPr sz="4425" b="1">
                <a:solidFill>
                  <a:srgbClr val="101B40"/>
                </a:solidFill>
                <a:latin typeface="Montserrat Bold"/>
                <a:ea typeface="Montserrat Bold"/>
                <a:cs typeface="Montserrat Bold"/>
              </a:defRPr>
            </a:pPr>
            <a:r>
              <a:rPr sz="4425" b="1">
                <a:solidFill>
                  <a:srgbClr val="101B40"/>
                </a:solidFill>
                <a:latin typeface="Montserrat Bold"/>
                <a:ea typeface="Montserrat Bold"/>
                <a:cs typeface="Montserrat Bold"/>
              </a:rPr>
              <a:t>Engineering Decisions &amp; Evaluation</a:t>
            </a:r>
          </a:p>
        </p:txBody>
      </p:sp>
      <p:sp>
        <p:nvSpPr>
          <p:cNvPr id="59" name="I translated interaction failures into explicit rendering, retrieval a">
            <a:extLst xmlns:a="http://schemas.openxmlformats.org/drawingml/2006/main">
              <a:ext uri="{FF2B5EF4-FFF2-40B4-BE49-F238E27FC236}">
                <a16:creationId xmlns:a16="http://schemas.microsoft.com/office/drawing/2014/main" id="{31D8B20D-8B14-4305-A36C-C876CD6606AD}"/>
              </a:ext>
            </a:extLst>
          </p:cNvPr>
          <p:cNvSpPr>
            <a:spLocks xmlns:a="http://schemas.openxmlformats.org/drawingml/2006/main" noGrp="1"/>
          </p:cNvSpPr>
          <p:nvPr/>
        </p:nvSpPr>
        <p:spPr>
          <a:xfrm xmlns:a="http://schemas.openxmlformats.org/drawingml/2006/main">
            <a:off x="1257300" y="2905125"/>
            <a:ext cx="1538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681"/>
                </a:solidFill>
                <a:latin typeface="Montserrat"/>
                <a:ea typeface="Montserrat"/>
                <a:cs typeface="Montserrat"/>
              </a:defRPr>
            </a:defPPr>
          </a:lstStyle>
          <a:p xmlns:a="http://schemas.openxmlformats.org/drawingml/2006/main">
            <a:pPr algn="l">
              <a:buNone/>
              <a:defRPr sz="2250" b="0">
                <a:solidFill>
                  <a:srgbClr val="536681"/>
                </a:solidFill>
                <a:latin typeface="Montserrat"/>
                <a:ea typeface="Montserrat"/>
                <a:cs typeface="Montserrat"/>
              </a:defRPr>
            </a:pPr>
            <a:r>
              <a:rPr sz="2250" b="0">
                <a:solidFill>
                  <a:srgbClr val="536681"/>
                </a:solidFill>
                <a:latin typeface="Montserrat"/>
                <a:ea typeface="Montserrat"/>
                <a:cs typeface="Montserrat"/>
              </a:rPr>
              <a:t>Implementation choices and test evidence show what works and what still needs evaluation.</a:t>
            </a:r>
          </a:p>
        </p:txBody>
      </p:sp>
      <p:sp>
        <p:nvSpPr>
          <p:cNvPr id="60" name="OBSERVED PROBLEM">
            <a:extLst xmlns:a="http://schemas.openxmlformats.org/drawingml/2006/main">
              <a:ext uri="{FF2B5EF4-FFF2-40B4-BE49-F238E27FC236}">
                <a16:creationId xmlns:a16="http://schemas.microsoft.com/office/drawing/2014/main" id="{C625A27F-A625-420D-98E4-E37F415C995B}"/>
              </a:ext>
            </a:extLst>
          </p:cNvPr>
          <p:cNvSpPr>
            <a:spLocks xmlns:a="http://schemas.openxmlformats.org/drawingml/2006/main" noGrp="1"/>
          </p:cNvSpPr>
          <p:nvPr/>
        </p:nvSpPr>
        <p:spPr>
          <a:xfrm xmlns:a="http://schemas.openxmlformats.org/drawingml/2006/main">
            <a:off x="1238250" y="399097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OBSERVED PROBLEM</a:t>
            </a:r>
          </a:p>
        </p:txBody>
      </p:sp>
      <p:sp>
        <p:nvSpPr>
          <p:cNvPr id="61" name="IMPLEMENTATION DECISION">
            <a:extLst xmlns:a="http://schemas.openxmlformats.org/drawingml/2006/main">
              <a:ext uri="{FF2B5EF4-FFF2-40B4-BE49-F238E27FC236}">
                <a16:creationId xmlns:a16="http://schemas.microsoft.com/office/drawing/2014/main" id="{E9B55179-C145-4207-95D4-7D4A320F34D3}"/>
              </a:ext>
            </a:extLst>
          </p:cNvPr>
          <p:cNvSpPr>
            <a:spLocks xmlns:a="http://schemas.openxmlformats.org/drawingml/2006/main" noGrp="1"/>
          </p:cNvSpPr>
          <p:nvPr/>
        </p:nvSpPr>
        <p:spPr>
          <a:xfrm xmlns:a="http://schemas.openxmlformats.org/drawingml/2006/main">
            <a:off x="6000750" y="39909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IMPLEMENTATION DECISION</a:t>
            </a:r>
          </a:p>
        </p:txBody>
      </p:sp>
      <p:sp>
        <p:nvSpPr>
          <p:cNvPr id="62" name="EVIDENCE / LIMIT">
            <a:extLst xmlns:a="http://schemas.openxmlformats.org/drawingml/2006/main">
              <a:ext uri="{FF2B5EF4-FFF2-40B4-BE49-F238E27FC236}">
                <a16:creationId xmlns:a16="http://schemas.microsoft.com/office/drawing/2014/main" id="{EF411080-1670-4F3D-91DF-34C899C75596}"/>
              </a:ext>
            </a:extLst>
          </p:cNvPr>
          <p:cNvSpPr>
            <a:spLocks xmlns:a="http://schemas.openxmlformats.org/drawingml/2006/main" noGrp="1"/>
          </p:cNvSpPr>
          <p:nvPr/>
        </p:nvSpPr>
        <p:spPr>
          <a:xfrm xmlns:a="http://schemas.openxmlformats.org/drawingml/2006/main">
            <a:off x="13144500" y="39909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EVIDENCE / LIMIT</a:t>
            </a:r>
          </a:p>
        </p:txBody>
      </p:sp>
      <p:sp>
        <p:nvSpPr>
          <p:cNvPr id="63" name="Occlusion and&#10;navigation friction">
            <a:extLst xmlns:a="http://schemas.openxmlformats.org/drawingml/2006/main">
              <a:ext uri="{FF2B5EF4-FFF2-40B4-BE49-F238E27FC236}">
                <a16:creationId xmlns:a16="http://schemas.microsoft.com/office/drawing/2014/main" id="{2C522306-A15F-452E-92E8-34C170354711}"/>
              </a:ext>
            </a:extLst>
          </p:cNvPr>
          <p:cNvSpPr>
            <a:spLocks xmlns:a="http://schemas.openxmlformats.org/drawingml/2006/main" noGrp="1"/>
          </p:cNvSpPr>
          <p:nvPr/>
        </p:nvSpPr>
        <p:spPr>
          <a:xfrm xmlns:a="http://schemas.openxmlformats.org/drawingml/2006/main">
            <a:off x="1238250" y="4695825"/>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Occlusion and</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navigation friction</a:t>
            </a:r>
          </a:p>
        </p:txBody>
      </p:sp>
      <p:sp>
        <p:nvSpPr>
          <p:cNvPr id="64" name="Quality presets adjust volume samples, particle count and DPR. OrbitCo">
            <a:extLst xmlns:a="http://schemas.openxmlformats.org/drawingml/2006/main">
              <a:ext uri="{FF2B5EF4-FFF2-40B4-BE49-F238E27FC236}">
                <a16:creationId xmlns:a16="http://schemas.microsoft.com/office/drawing/2014/main" id="{5F61D5F1-B29D-4C86-A002-0873EF1D1128}"/>
              </a:ext>
            </a:extLst>
          </p:cNvPr>
          <p:cNvSpPr>
            <a:spLocks xmlns:a="http://schemas.openxmlformats.org/drawingml/2006/main" noGrp="1"/>
          </p:cNvSpPr>
          <p:nvPr/>
        </p:nvSpPr>
        <p:spPr>
          <a:xfrm xmlns:a="http://schemas.openxmlformats.org/drawingml/2006/main">
            <a:off x="6000750" y="4695825"/>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Quality presets adjust volume samples, particle count and DPR. OrbitControls bounds zoom.</a:t>
            </a:r>
          </a:p>
        </p:txBody>
      </p:sp>
      <p:sp>
        <p:nvSpPr>
          <p:cNvPr id="65" name="Earlier manual report records improved occlusion. Large-scale FPS rema">
            <a:extLst xmlns:a="http://schemas.openxmlformats.org/drawingml/2006/main">
              <a:ext uri="{FF2B5EF4-FFF2-40B4-BE49-F238E27FC236}">
                <a16:creationId xmlns:a16="http://schemas.microsoft.com/office/drawing/2014/main" id="{6E5FC667-10BD-4960-9929-8DCC1886CDAF}"/>
              </a:ext>
            </a:extLst>
          </p:cNvPr>
          <p:cNvSpPr>
            <a:spLocks xmlns:a="http://schemas.openxmlformats.org/drawingml/2006/main" noGrp="1"/>
          </p:cNvSpPr>
          <p:nvPr/>
        </p:nvSpPr>
        <p:spPr>
          <a:xfrm xmlns:a="http://schemas.openxmlformats.org/drawingml/2006/main">
            <a:off x="13144500" y="4695825"/>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Earlier manual report records improved occlusion. Large-scale FPS remains unmeasured.</a:t>
            </a:r>
          </a:p>
        </p:txBody>
      </p:sp>
      <p:sp>
        <p:nvSpPr>
          <p:cNvPr id="66" name="">
            <a:extLst xmlns:a="http://schemas.openxmlformats.org/drawingml/2006/main">
              <a:ext uri="{FF2B5EF4-FFF2-40B4-BE49-F238E27FC236}">
                <a16:creationId xmlns:a16="http://schemas.microsoft.com/office/drawing/2014/main" id="{E545C968-BD8D-452F-9126-56D90BF442AB}"/>
              </a:ext>
            </a:extLst>
          </p:cNvPr>
          <p:cNvSpPr>
            <a:spLocks xmlns:a="http://schemas.openxmlformats.org/drawingml/2006/main" noGrp="1"/>
          </p:cNvSpPr>
          <p:nvPr/>
        </p:nvSpPr>
        <p:spPr>
          <a:xfrm xmlns:a="http://schemas.openxmlformats.org/drawingml/2006/main">
            <a:off x="1238250" y="6029325"/>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67" name="Weak keywords and&#10;unreadable PDF text">
            <a:extLst xmlns:a="http://schemas.openxmlformats.org/drawingml/2006/main">
              <a:ext uri="{FF2B5EF4-FFF2-40B4-BE49-F238E27FC236}">
                <a16:creationId xmlns:a16="http://schemas.microsoft.com/office/drawing/2014/main" id="{EE38C130-B76F-43BF-BD5A-E5FACCA678CD}"/>
              </a:ext>
            </a:extLst>
          </p:cNvPr>
          <p:cNvSpPr>
            <a:spLocks xmlns:a="http://schemas.openxmlformats.org/drawingml/2006/main" noGrp="1"/>
          </p:cNvSpPr>
          <p:nvPr/>
        </p:nvSpPr>
        <p:spPr>
          <a:xfrm xmlns:a="http://schemas.openxmlformats.org/drawingml/2006/main">
            <a:off x="1238250" y="6191250"/>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Weak keywords and</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unreadable PDF text</a:t>
            </a:r>
          </a:p>
        </p:txBody>
      </p:sp>
      <p:sp>
        <p:nvSpPr>
          <p:cNvPr id="68" name="Preserve declared keywords. Apply stop-word filtering, corpus TF-IDF a">
            <a:extLst xmlns:a="http://schemas.openxmlformats.org/drawingml/2006/main">
              <a:ext uri="{FF2B5EF4-FFF2-40B4-BE49-F238E27FC236}">
                <a16:creationId xmlns:a16="http://schemas.microsoft.com/office/drawing/2014/main" id="{5EB7E966-C78E-443E-B3A9-D8D8378166E6}"/>
              </a:ext>
            </a:extLst>
          </p:cNvPr>
          <p:cNvSpPr>
            <a:spLocks xmlns:a="http://schemas.openxmlformats.org/drawingml/2006/main" noGrp="1"/>
          </p:cNvSpPr>
          <p:nvPr/>
        </p:nvSpPr>
        <p:spPr>
          <a:xfrm xmlns:a="http://schemas.openxmlformats.org/drawingml/2006/main">
            <a:off x="6000750" y="6191250"/>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Preserve declared keywords. Apply stop-word filtering, corpus TF-IDF and diverse selection. Use OCR when needed.</a:t>
            </a:r>
          </a:p>
        </p:txBody>
      </p:sp>
      <p:sp>
        <p:nvSpPr>
          <p:cNvPr id="69" name="Code implements the pipeline. OCR and layout quality vary across docum">
            <a:extLst xmlns:a="http://schemas.openxmlformats.org/drawingml/2006/main">
              <a:ext uri="{FF2B5EF4-FFF2-40B4-BE49-F238E27FC236}">
                <a16:creationId xmlns:a16="http://schemas.microsoft.com/office/drawing/2014/main" id="{7285340C-FF37-4289-A5B4-F17C69178FC6}"/>
              </a:ext>
            </a:extLst>
          </p:cNvPr>
          <p:cNvSpPr>
            <a:spLocks xmlns:a="http://schemas.openxmlformats.org/drawingml/2006/main" noGrp="1"/>
          </p:cNvSpPr>
          <p:nvPr/>
        </p:nvSpPr>
        <p:spPr>
          <a:xfrm xmlns:a="http://schemas.openxmlformats.org/drawingml/2006/main">
            <a:off x="13144500" y="6191250"/>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Code implements the pipeline. OCR and layout quality vary across documents.</a:t>
            </a:r>
          </a:p>
        </p:txBody>
      </p:sp>
      <p:sp>
        <p:nvSpPr>
          <p:cNvPr id="70" name="">
            <a:extLst xmlns:a="http://schemas.openxmlformats.org/drawingml/2006/main">
              <a:ext uri="{FF2B5EF4-FFF2-40B4-BE49-F238E27FC236}">
                <a16:creationId xmlns:a16="http://schemas.microsoft.com/office/drawing/2014/main" id="{1E3DC9E0-4FB1-4939-8BF4-6E2154D020FF}"/>
              </a:ext>
            </a:extLst>
          </p:cNvPr>
          <p:cNvSpPr>
            <a:spLocks xmlns:a="http://schemas.openxmlformats.org/drawingml/2006/main" noGrp="1"/>
          </p:cNvSpPr>
          <p:nvPr/>
        </p:nvSpPr>
        <p:spPr>
          <a:xfrm xmlns:a="http://schemas.openxmlformats.org/drawingml/2006/main">
            <a:off x="1238250" y="7524750"/>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71" name="Unverifiable answers&#10;and disconnected views">
            <a:extLst xmlns:a="http://schemas.openxmlformats.org/drawingml/2006/main">
              <a:ext uri="{FF2B5EF4-FFF2-40B4-BE49-F238E27FC236}">
                <a16:creationId xmlns:a16="http://schemas.microsoft.com/office/drawing/2014/main" id="{628DCCDA-4A66-4EBE-A824-92472737096D}"/>
              </a:ext>
            </a:extLst>
          </p:cNvPr>
          <p:cNvSpPr>
            <a:spLocks xmlns:a="http://schemas.openxmlformats.org/drawingml/2006/main" noGrp="1"/>
          </p:cNvSpPr>
          <p:nvPr/>
        </p:nvSpPr>
        <p:spPr>
          <a:xfrm xmlns:a="http://schemas.openxmlformats.org/drawingml/2006/main">
            <a:off x="1238250" y="7686675"/>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01B40"/>
                </a:solidFill>
                <a:latin typeface="Montserrat Bold"/>
                <a:ea typeface="Montserrat Bold"/>
                <a:cs typeface="Montserrat Bold"/>
              </a:defRPr>
            </a:defPPr>
          </a:lstStyle>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Unverifiable answers</a:t>
            </a:r>
          </a:p>
          <a:p xmlns:a="http://schemas.openxmlformats.org/drawingml/2006/main">
            <a:pPr algn="l">
              <a:buNone/>
              <a:defRPr sz="2325" b="1">
                <a:solidFill>
                  <a:srgbClr val="101B40"/>
                </a:solidFill>
                <a:latin typeface="Montserrat Bold"/>
                <a:ea typeface="Montserrat Bold"/>
                <a:cs typeface="Montserrat Bold"/>
              </a:defRPr>
            </a:pPr>
            <a:r>
              <a:rPr sz="2325" b="1">
                <a:solidFill>
                  <a:srgbClr val="101B40"/>
                </a:solidFill>
                <a:latin typeface="Montserrat Bold"/>
                <a:ea typeface="Montserrat Bold"/>
                <a:cs typeface="Montserrat Bold"/>
              </a:rPr>
              <a:t>and disconnected views</a:t>
            </a:r>
          </a:p>
        </p:txBody>
      </p:sp>
      <p:sp>
        <p:nvSpPr>
          <p:cNvPr id="72" name="Return source snippets and candidate pages. Propagate paper identity i">
            <a:extLst xmlns:a="http://schemas.openxmlformats.org/drawingml/2006/main">
              <a:ext uri="{FF2B5EF4-FFF2-40B4-BE49-F238E27FC236}">
                <a16:creationId xmlns:a16="http://schemas.microsoft.com/office/drawing/2014/main" id="{E4BDE8CF-001F-470C-BDCD-E335389FCB5A}"/>
              </a:ext>
            </a:extLst>
          </p:cNvPr>
          <p:cNvSpPr>
            <a:spLocks xmlns:a="http://schemas.openxmlformats.org/drawingml/2006/main" noGrp="1"/>
          </p:cNvSpPr>
          <p:nvPr/>
        </p:nvSpPr>
        <p:spPr>
          <a:xfrm xmlns:a="http://schemas.openxmlformats.org/drawingml/2006/main">
            <a:off x="6000750" y="7686675"/>
            <a:ext cx="6572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681"/>
                </a:solidFill>
                <a:latin typeface="Montserrat"/>
                <a:ea typeface="Montserrat"/>
                <a:cs typeface="Montserrat"/>
              </a:defRPr>
            </a:defPPr>
          </a:lstStyle>
          <a:p xmlns:a="http://schemas.openxmlformats.org/drawingml/2006/main">
            <a:pPr algn="l">
              <a:buNone/>
              <a:defRPr sz="2100" b="0">
                <a:solidFill>
                  <a:srgbClr val="536681"/>
                </a:solidFill>
                <a:latin typeface="Montserrat"/>
                <a:ea typeface="Montserrat"/>
                <a:cs typeface="Montserrat"/>
              </a:defRPr>
            </a:pPr>
            <a:r>
              <a:rPr sz="2100" b="0">
                <a:solidFill>
                  <a:srgbClr val="536681"/>
                </a:solidFill>
                <a:latin typeface="Montserrat"/>
                <a:ea typeface="Montserrat"/>
                <a:cs typeface="Montserrat"/>
              </a:rPr>
              <a:t>Return source snippets and candidate pages. Propagate paper identity into galaxy highlights and the PDF reader.</a:t>
            </a:r>
          </a:p>
        </p:txBody>
      </p:sp>
      <p:sp>
        <p:nvSpPr>
          <p:cNvPr id="73" name="Source linking exists in code. Matching is heuristic and needs end-to-">
            <a:extLst xmlns:a="http://schemas.openxmlformats.org/drawingml/2006/main">
              <a:ext uri="{FF2B5EF4-FFF2-40B4-BE49-F238E27FC236}">
                <a16:creationId xmlns:a16="http://schemas.microsoft.com/office/drawing/2014/main" id="{C3AC312C-0726-4707-A3EF-D110F3BC1D6C}"/>
              </a:ext>
            </a:extLst>
          </p:cNvPr>
          <p:cNvSpPr>
            <a:spLocks xmlns:a="http://schemas.openxmlformats.org/drawingml/2006/main" noGrp="1"/>
          </p:cNvSpPr>
          <p:nvPr/>
        </p:nvSpPr>
        <p:spPr>
          <a:xfrm xmlns:a="http://schemas.openxmlformats.org/drawingml/2006/main">
            <a:off x="13144500" y="7686675"/>
            <a:ext cx="4095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681"/>
                </a:solidFill>
                <a:latin typeface="Montserrat"/>
                <a:ea typeface="Montserrat"/>
                <a:cs typeface="Montserrat"/>
              </a:defRPr>
            </a:defPPr>
          </a:lstStyle>
          <a:p xmlns:a="http://schemas.openxmlformats.org/drawingml/2006/main">
            <a:pPr algn="l">
              <a:buNone/>
              <a:defRPr sz="1875" b="0">
                <a:solidFill>
                  <a:srgbClr val="536681"/>
                </a:solidFill>
                <a:latin typeface="Montserrat"/>
                <a:ea typeface="Montserrat"/>
                <a:cs typeface="Montserrat"/>
              </a:defRPr>
            </a:pPr>
            <a:r>
              <a:rPr sz="1875" b="0">
                <a:solidFill>
                  <a:srgbClr val="536681"/>
                </a:solidFill>
                <a:latin typeface="Montserrat"/>
                <a:ea typeface="Montserrat"/>
                <a:cs typeface="Montserrat"/>
              </a:rPr>
              <a:t>Source linking exists in code. Matching is heuristic and needs end-to-end validation.</a:t>
            </a:r>
          </a:p>
        </p:txBody>
      </p:sp>
      <p:sp>
        <p:nvSpPr>
          <p:cNvPr id="74" name="">
            <a:extLst xmlns:a="http://schemas.openxmlformats.org/drawingml/2006/main">
              <a:ext uri="{FF2B5EF4-FFF2-40B4-BE49-F238E27FC236}">
                <a16:creationId xmlns:a16="http://schemas.microsoft.com/office/drawing/2014/main" id="{63F5F11D-E4A8-430A-824D-A6F3C1BE543C}"/>
              </a:ext>
            </a:extLst>
          </p:cNvPr>
          <p:cNvSpPr>
            <a:spLocks xmlns:a="http://schemas.openxmlformats.org/drawingml/2006/main" noGrp="1"/>
          </p:cNvSpPr>
          <p:nvPr/>
        </p:nvSpPr>
        <p:spPr>
          <a:xfrm xmlns:a="http://schemas.openxmlformats.org/drawingml/2006/main">
            <a:off x="1238250" y="9020175"/>
            <a:ext cx="15668625"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75" name="Reliability: connection checks, index warnings, parser fallback and gr">
            <a:extLst xmlns:a="http://schemas.openxmlformats.org/drawingml/2006/main">
              <a:ext uri="{FF2B5EF4-FFF2-40B4-BE49-F238E27FC236}">
                <a16:creationId xmlns:a16="http://schemas.microsoft.com/office/drawing/2014/main" id="{0DBA5FC5-AE29-4002-83E7-0BB8FFD39B23}"/>
              </a:ext>
            </a:extLst>
          </p:cNvPr>
          <p:cNvSpPr>
            <a:spLocks xmlns:a="http://schemas.openxmlformats.org/drawingml/2006/main" noGrp="1"/>
          </p:cNvSpPr>
          <p:nvPr/>
        </p:nvSpPr>
        <p:spPr>
          <a:xfrm xmlns:a="http://schemas.openxmlformats.org/drawingml/2006/main">
            <a:off x="1238250" y="9324975"/>
            <a:ext cx="1566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681"/>
                </a:solidFill>
                <a:latin typeface="Montserrat"/>
                <a:ea typeface="Montserrat"/>
                <a:cs typeface="Montserrat"/>
              </a:defRPr>
            </a:defPPr>
          </a:lstStyle>
          <a:p xmlns:a="http://schemas.openxmlformats.org/drawingml/2006/main">
            <a:pPr algn="l">
              <a:buNone/>
              <a:defRPr sz="1800" b="0">
                <a:solidFill>
                  <a:srgbClr val="536681"/>
                </a:solidFill>
                <a:latin typeface="Montserrat"/>
                <a:ea typeface="Montserrat"/>
                <a:cs typeface="Montserrat"/>
              </a:defRPr>
            </a:pPr>
            <a:r>
              <a:rPr sz="1800" b="0">
                <a:solidFill>
                  <a:srgbClr val="536681"/>
                </a:solidFill>
                <a:latin typeface="Montserrat"/>
                <a:ea typeface="Montserrat"/>
                <a:cs typeface="Montserrat"/>
              </a:rPr>
              <a:t>Validation: frontend build passes. Earlier manual tests cover previews, tooltips and nebula visibility.</a:t>
            </a:r>
          </a:p>
        </p:txBody>
      </p:sp>
    </p:spTree>
    <p:extLst>
      <p:ext uri="{BB962C8B-B14F-4D97-AF65-F5344CB8AC3E}">
        <p14:creationId xmlns:p14="http://schemas.microsoft.com/office/powerpoint/2010/main" val="447674980"/>
      </p:ext>
    </p:extLst>
  </p:cSld>
</p:sld>
</file>

<file path=ppt/slides/slide9.xml><?xml version="1.0" encoding="utf-8"?>
<p:sld xmlns:p="http://schemas.openxmlformats.org/presentationml/2006/main">
  <p:cSld>
    <p:bg>
      <p:bgPr>
        <a:solidFill xmlns:a="http://schemas.openxmlformats.org/drawingml/2006/main">
          <a:srgbClr val="F1F1F1"/>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2340FA1-B602-4140-92CC-CC8F1112AF1D}"/>
              </a:ext>
            </a:extLst>
          </p:cNvPr>
          <p:cNvSpPr>
            <a:spLocks xmlns:a="http://schemas.openxmlformats.org/drawingml/2006/main" noGrp="1"/>
          </p:cNvSpPr>
          <p:nvPr/>
        </p:nvSpPr>
        <p:spPr>
          <a:xfrm xmlns:a="http://schemas.openxmlformats.org/drawingml/2006/main" rot="0" flipH="0" flipV="0">
            <a:off x="4410075" y="514350"/>
            <a:ext cx="9467850" cy="819150"/>
          </a:xfrm>
          <a:custGeom xmlns:a="http://schemas.openxmlformats.org/drawingml/2006/main">
            <a:rect l="l" t="t" r="r" b="b"/>
            <a:pathLst>
              <a:path w="2494114" h="214543">
                <a:moveTo>
                  <a:pt x="81753" y="0"/>
                </a:moveTo>
                <a:lnTo>
                  <a:pt x="2412360" y="0"/>
                </a:lnTo>
                <a:cubicBezTo>
                  <a:pt x="2457512" y="0"/>
                  <a:pt x="2494114" y="36602"/>
                  <a:pt x="2494114" y="81753"/>
                </a:cubicBezTo>
                <a:lnTo>
                  <a:pt x="2494114" y="132789"/>
                </a:lnTo>
                <a:cubicBezTo>
                  <a:pt x="2494114" y="177940"/>
                  <a:pt x="2457512" y="214543"/>
                  <a:pt x="2412360" y="214543"/>
                </a:cubicBezTo>
                <a:lnTo>
                  <a:pt x="81753" y="214543"/>
                </a:lnTo>
                <a:cubicBezTo>
                  <a:pt x="36602" y="214543"/>
                  <a:pt x="0" y="177940"/>
                  <a:pt x="0" y="132789"/>
                </a:cubicBezTo>
                <a:lnTo>
                  <a:pt x="0" y="81753"/>
                </a:lnTo>
                <a:cubicBezTo>
                  <a:pt x="0" y="36602"/>
                  <a:pt x="36602" y="0"/>
                  <a:pt x="81753" y="0"/>
                </a:cubicBezTo>
                <a:close/>
              </a:path>
            </a:pathLst>
          </a:custGeom>
          <a:ln xmlns:a="http://schemas.openxmlformats.org/drawingml/2006/main" w="38100" cap="rnd">
            <a:solidFill>
              <a:srgbClr val="101B40"/>
            </a:solidFill>
            <a:prstDash val="solid"/>
            <a:round/>
          </a:ln>
        </p:spPr>
      </p:sp>
      <p:sp>
        <p:nvSpPr>
          <p:cNvPr id="4" name="TextBox 4">
            <a:extLst xmlns:a="http://schemas.openxmlformats.org/drawingml/2006/main">
              <a:ext uri="{FF2B5EF4-FFF2-40B4-BE49-F238E27FC236}">
                <a16:creationId xmlns:a16="http://schemas.microsoft.com/office/drawing/2014/main" id="{2DD7587C-D23A-46D4-979F-CCBCC38F1D8E}"/>
              </a:ext>
            </a:extLst>
          </p:cNvPr>
          <p:cNvSpPr>
            <a:spLocks xmlns:a="http://schemas.openxmlformats.org/drawingml/2006/main" noGrp="1"/>
          </p:cNvSpPr>
          <p:nvPr/>
        </p:nvSpPr>
        <p:spPr>
          <a:xfrm xmlns:a="http://schemas.openxmlformats.org/drawingml/2006/main" rot="0" flipH="0" flipV="0">
            <a:off x="4409081" y="370811"/>
            <a:ext cx="9469839" cy="95925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6" name="Freeform 6">
            <a:extLst xmlns:a="http://schemas.openxmlformats.org/drawingml/2006/main">
              <a:ext uri="{FF2B5EF4-FFF2-40B4-BE49-F238E27FC236}">
                <a16:creationId xmlns:a16="http://schemas.microsoft.com/office/drawing/2014/main" id="{A962661A-69B5-4DFE-95A3-B92E796C603E}"/>
              </a:ext>
            </a:extLst>
          </p:cNvPr>
          <p:cNvSpPr>
            <a:spLocks xmlns:a="http://schemas.openxmlformats.org/drawingml/2006/main" noGrp="1"/>
          </p:cNvSpPr>
          <p:nvPr/>
        </p:nvSpPr>
        <p:spPr>
          <a:xfrm xmlns:a="http://schemas.openxmlformats.org/drawingml/2006/main" rot="0" flipH="0" flipV="0">
            <a:off x="11849100" y="628650"/>
            <a:ext cx="1704975" cy="590550"/>
          </a:xfrm>
          <a:custGeom xmlns:a="http://schemas.openxmlformats.org/drawingml/2006/main">
            <a:rect l="l" t="t" r="r" b="b"/>
            <a:pathLst>
              <a:path w="449944" h="155110">
                <a:moveTo>
                  <a:pt x="77555" y="0"/>
                </a:moveTo>
                <a:lnTo>
                  <a:pt x="372389" y="0"/>
                </a:lnTo>
                <a:cubicBezTo>
                  <a:pt x="415221" y="0"/>
                  <a:pt x="449944" y="34722"/>
                  <a:pt x="449944" y="77555"/>
                </a:cubicBezTo>
                <a:lnTo>
                  <a:pt x="449944" y="77555"/>
                </a:lnTo>
                <a:cubicBezTo>
                  <a:pt x="449944" y="120387"/>
                  <a:pt x="415221" y="155110"/>
                  <a:pt x="372389" y="155110"/>
                </a:cubicBezTo>
                <a:lnTo>
                  <a:pt x="77555" y="155110"/>
                </a:lnTo>
                <a:cubicBezTo>
                  <a:pt x="34722" y="155110"/>
                  <a:pt x="0" y="120387"/>
                  <a:pt x="0" y="77555"/>
                </a:cubicBezTo>
                <a:lnTo>
                  <a:pt x="0" y="77555"/>
                </a:lnTo>
                <a:cubicBezTo>
                  <a:pt x="0" y="34722"/>
                  <a:pt x="34722" y="0"/>
                  <a:pt x="77555" y="0"/>
                </a:cubicBezTo>
                <a:close/>
              </a:path>
            </a:pathLst>
          </a:custGeom>
          <a:solidFill xmlns:a="http://schemas.openxmlformats.org/drawingml/2006/main">
            <a:srgbClr val="101B40"/>
          </a:solidFill>
          <a:ln xmlns:a="http://schemas.openxmlformats.org/drawingml/2006/main" cap="rnd">
            <a:noFill/>
            <a:prstDash val="solid"/>
            <a:round/>
          </a:ln>
        </p:spPr>
      </p:sp>
      <p:sp>
        <p:nvSpPr>
          <p:cNvPr id="7" name="TextBox 7">
            <a:extLst xmlns:a="http://schemas.openxmlformats.org/drawingml/2006/main">
              <a:ext uri="{FF2B5EF4-FFF2-40B4-BE49-F238E27FC236}">
                <a16:creationId xmlns:a16="http://schemas.microsoft.com/office/drawing/2014/main" id="{059905A8-3B2D-487C-BBCC-02A2D92F5CAA}"/>
              </a:ext>
            </a:extLst>
          </p:cNvPr>
          <p:cNvSpPr>
            <a:spLocks xmlns:a="http://schemas.openxmlformats.org/drawingml/2006/main" noGrp="1"/>
          </p:cNvSpPr>
          <p:nvPr/>
        </p:nvSpPr>
        <p:spPr>
          <a:xfrm xmlns:a="http://schemas.openxmlformats.org/drawingml/2006/main" rot="0" flipH="0" flipV="0">
            <a:off x="11850296" y="483641"/>
            <a:ext cx="1708381" cy="733592"/>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871"/>
              </a:lnSpc>
              <a:buNone/>
            </a:pPr>
          </a:p>
        </p:txBody>
      </p:sp>
      <p:sp>
        <p:nvSpPr>
          <p:cNvPr id="9" name="TextBox 9">
            <a:extLst xmlns:a="http://schemas.openxmlformats.org/drawingml/2006/main">
              <a:ext uri="{FF2B5EF4-FFF2-40B4-BE49-F238E27FC236}">
                <a16:creationId xmlns:a16="http://schemas.microsoft.com/office/drawing/2014/main" id="{754B61C2-9EE6-472D-A6A2-DC523688500E}"/>
              </a:ext>
            </a:extLst>
          </p:cNvPr>
          <p:cNvSpPr>
            <a:spLocks xmlns:a="http://schemas.openxmlformats.org/drawingml/2006/main" noGrp="1"/>
          </p:cNvSpPr>
          <p:nvPr/>
        </p:nvSpPr>
        <p:spPr>
          <a:xfrm xmlns:a="http://schemas.openxmlformats.org/drawingml/2006/main" rot="0">
            <a:off x="4438650" y="733425"/>
            <a:ext cx="16668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VISION</a:t>
            </a:r>
          </a:p>
        </p:txBody>
      </p:sp>
      <p:sp>
        <p:nvSpPr>
          <p:cNvPr id="10" name="TextBox 10">
            <a:extLst xmlns:a="http://schemas.openxmlformats.org/drawingml/2006/main">
              <a:ext uri="{FF2B5EF4-FFF2-40B4-BE49-F238E27FC236}">
                <a16:creationId xmlns:a16="http://schemas.microsoft.com/office/drawing/2014/main" id="{FD31696D-529F-4B60-B0C4-94E426CF172B}"/>
              </a:ext>
            </a:extLst>
          </p:cNvPr>
          <p:cNvSpPr>
            <a:spLocks xmlns:a="http://schemas.openxmlformats.org/drawingml/2006/main" noGrp="1"/>
          </p:cNvSpPr>
          <p:nvPr/>
        </p:nvSpPr>
        <p:spPr>
          <a:xfrm xmlns:a="http://schemas.openxmlformats.org/drawingml/2006/main" rot="0">
            <a:off x="6829425" y="733425"/>
            <a:ext cx="190500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DESIGN</a:t>
            </a:r>
          </a:p>
        </p:txBody>
      </p:sp>
      <p:sp>
        <p:nvSpPr>
          <p:cNvPr id="11" name="TextBox 11">
            <a:extLst xmlns:a="http://schemas.openxmlformats.org/drawingml/2006/main">
              <a:ext uri="{FF2B5EF4-FFF2-40B4-BE49-F238E27FC236}">
                <a16:creationId xmlns:a16="http://schemas.microsoft.com/office/drawing/2014/main" id="{99F32776-C8E6-42A5-BC85-E42AFE028ED4}"/>
              </a:ext>
            </a:extLst>
          </p:cNvPr>
          <p:cNvSpPr>
            <a:spLocks xmlns:a="http://schemas.openxmlformats.org/drawingml/2006/main" noGrp="1"/>
          </p:cNvSpPr>
          <p:nvPr/>
        </p:nvSpPr>
        <p:spPr>
          <a:xfrm xmlns:a="http://schemas.openxmlformats.org/drawingml/2006/main" rot="0">
            <a:off x="9496425" y="733425"/>
            <a:ext cx="1590675"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0">
                <a:solidFill>
                  <a:srgbClr val="101B40"/>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0">
                <a:solidFill>
                  <a:srgbClr val="101B40"/>
                </a:solidFill>
                <a:latin typeface="Montserrat"/>
                <a:ea typeface="Montserrat"/>
                <a:cs typeface="Montserrat"/>
              </a:defRPr>
            </a:pPr>
            <a:r>
              <a:rPr sz="1800" b="0" spc="3">
                <a:solidFill>
                  <a:srgbClr val="101B40"/>
                </a:solidFill>
                <a:latin typeface="Montserrat"/>
                <a:ea typeface="Montserrat"/>
                <a:cs typeface="Montserrat"/>
              </a:rPr>
              <a:t>SYSTEM</a:t>
            </a:r>
          </a:p>
        </p:txBody>
      </p:sp>
      <p:sp>
        <p:nvSpPr>
          <p:cNvPr id="12" name="TextBox 12">
            <a:extLst xmlns:a="http://schemas.openxmlformats.org/drawingml/2006/main">
              <a:ext uri="{FF2B5EF4-FFF2-40B4-BE49-F238E27FC236}">
                <a16:creationId xmlns:a16="http://schemas.microsoft.com/office/drawing/2014/main" id="{3EA2CD63-30F7-47C9-A14F-CAEB0CFCEAA1}"/>
              </a:ext>
            </a:extLst>
          </p:cNvPr>
          <p:cNvSpPr>
            <a:spLocks xmlns:a="http://schemas.openxmlformats.org/drawingml/2006/main" noGrp="1"/>
          </p:cNvSpPr>
          <p:nvPr/>
        </p:nvSpPr>
        <p:spPr>
          <a:xfrm xmlns:a="http://schemas.openxmlformats.org/drawingml/2006/main" rot="0">
            <a:off x="11591925" y="733425"/>
            <a:ext cx="2228850" cy="32905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lgn="ctr">
              <a:defRPr sz="1800" b="1">
                <a:solidFill>
                  <a:srgbClr val="FFFFFF"/>
                </a:solidFill>
                <a:latin typeface="Montserrat"/>
                <a:ea typeface="Montserrat"/>
                <a:cs typeface="Montserrat"/>
              </a:defRPr>
            </a:defPPr>
          </a:lstStyle>
          <a:p xmlns:a="http://schemas.openxmlformats.org/drawingml/2006/main">
            <a:pPr marL="0" lvl="0" indent="0" algn="ctr">
              <a:lnSpc>
                <a:spcPts val="2591"/>
              </a:lnSpc>
              <a:spcBef>
                <a:spcPct val="0"/>
              </a:spcBef>
              <a:buNone/>
              <a:defRPr sz="1800" b="1">
                <a:solidFill>
                  <a:srgbClr val="FFFFFF"/>
                </a:solidFill>
                <a:latin typeface="Montserrat"/>
                <a:ea typeface="Montserrat"/>
                <a:cs typeface="Montserrat"/>
              </a:defRPr>
            </a:pPr>
            <a:r>
              <a:rPr sz="1800" b="1" spc="3">
                <a:solidFill>
                  <a:srgbClr val="FFFFFF"/>
                </a:solidFill>
                <a:latin typeface="Montserrat"/>
                <a:ea typeface="Montserrat"/>
                <a:cs typeface="Montserrat"/>
              </a:rPr>
              <a:t>REVIEW</a:t>
            </a:r>
          </a:p>
        </p:txBody>
      </p:sp>
      <p:sp>
        <p:nvSpPr>
          <p:cNvPr id="13" name="TextBox 13">
            <a:extLst xmlns:a="http://schemas.openxmlformats.org/drawingml/2006/main">
              <a:ext uri="{FF2B5EF4-FFF2-40B4-BE49-F238E27FC236}">
                <a16:creationId xmlns:a16="http://schemas.microsoft.com/office/drawing/2014/main" id="{10D73892-C280-469A-8FEB-18F5EC370843}"/>
              </a:ext>
            </a:extLst>
          </p:cNvPr>
          <p:cNvSpPr>
            <a:spLocks xmlns:a="http://schemas.openxmlformats.org/drawingml/2006/main" noGrp="1"/>
          </p:cNvSpPr>
          <p:nvPr/>
        </p:nvSpPr>
        <p:spPr>
          <a:xfrm xmlns:a="http://schemas.openxmlformats.org/drawingml/2006/main" rot="0">
            <a:off x="800100" y="628650"/>
            <a:ext cx="2381250" cy="56769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defPPr>
              <a:defRPr sz="1800" b="1">
                <a:solidFill>
                  <a:srgbClr val="101B40"/>
                </a:solidFill>
                <a:latin typeface="Montserrat"/>
                <a:ea typeface="Montserrat"/>
                <a:cs typeface="Montserrat"/>
              </a:defRPr>
            </a:defPPr>
          </a:lstStyle>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PDF</a:t>
            </a:r>
          </a:p>
          <a:p xmlns:a="http://schemas.openxmlformats.org/drawingml/2006/main">
            <a:pPr marL="0" lvl="0" indent="0" algn="l">
              <a:lnSpc>
                <a:spcPts val="2235"/>
              </a:lnSpc>
              <a:buNone/>
              <a:defRPr sz="1800" b="1">
                <a:solidFill>
                  <a:srgbClr val="101B40"/>
                </a:solidFill>
                <a:latin typeface="Montserrat"/>
                <a:ea typeface="Montserrat"/>
                <a:cs typeface="Montserrat"/>
              </a:defRPr>
            </a:pPr>
            <a:r>
              <a:rPr sz="1800" b="1" spc="4">
                <a:solidFill>
                  <a:srgbClr val="101B40"/>
                </a:solidFill>
                <a:latin typeface="Montserrat"/>
                <a:ea typeface="Montserrat"/>
                <a:cs typeface="Montserrat"/>
              </a:rPr>
              <a:t>GALAXAI</a:t>
            </a:r>
          </a:p>
        </p:txBody>
      </p:sp>
      <p:sp>
        <p:nvSpPr>
          <p:cNvPr id="14" name="12">
            <a:extLst xmlns:a="http://schemas.openxmlformats.org/drawingml/2006/main">
              <a:ext uri="{FF2B5EF4-FFF2-40B4-BE49-F238E27FC236}">
                <a16:creationId xmlns:a16="http://schemas.microsoft.com/office/drawing/2014/main" id="{86C60EE0-126D-48F0-B0E3-EF0E2BD10E51}"/>
              </a:ext>
            </a:extLst>
          </p:cNvPr>
          <p:cNvSpPr>
            <a:spLocks xmlns:a="http://schemas.openxmlformats.org/drawingml/2006/main" noGrp="1"/>
          </p:cNvSpPr>
          <p:nvPr/>
        </p:nvSpPr>
        <p:spPr>
          <a:xfrm xmlns:a="http://schemas.openxmlformats.org/drawingml/2006/main">
            <a:off x="16735425" y="73342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1">
                <a:solidFill>
                  <a:srgbClr val="101B40"/>
                </a:solidFill>
                <a:latin typeface="Montserrat Bold"/>
                <a:ea typeface="Montserrat Bold"/>
                <a:cs typeface="Montserrat Bold"/>
              </a:defRPr>
            </a:defPPr>
          </a:lstStyle>
          <a:p xmlns:a="http://schemas.openxmlformats.org/drawingml/2006/main">
            <a:pPr algn="r">
              <a:buNone/>
              <a:defRPr sz="1875" b="1">
                <a:solidFill>
                  <a:srgbClr val="101B40"/>
                </a:solidFill>
                <a:latin typeface="Montserrat Bold"/>
                <a:ea typeface="Montserrat Bold"/>
                <a:cs typeface="Montserrat Bold"/>
              </a:defRPr>
            </a:pPr>
            <a:r>
              <a:rPr sz="1875" b="1">
                <a:solidFill>
                  <a:srgbClr val="101B40"/>
                </a:solidFill>
                <a:latin typeface="Montserrat Bold"/>
                <a:ea typeface="Montserrat Bold"/>
                <a:cs typeface="Montserrat Bold"/>
              </a:rPr>
              <a:t>09</a:t>
            </a:r>
          </a:p>
        </p:txBody>
      </p:sp>
      <p:sp>
        <p:nvSpPr>
          <p:cNvPr id="15" name="PDF-GalaxAI">
            <a:extLst xmlns:a="http://schemas.openxmlformats.org/drawingml/2006/main">
              <a:ext uri="{FF2B5EF4-FFF2-40B4-BE49-F238E27FC236}">
                <a16:creationId xmlns:a16="http://schemas.microsoft.com/office/drawing/2014/main" id="{6C288DDE-6802-40FE-BD25-FBDE6B7290C4}"/>
              </a:ext>
            </a:extLst>
          </p:cNvPr>
          <p:cNvSpPr>
            <a:spLocks xmlns:a="http://schemas.openxmlformats.org/drawingml/2006/main" noGrp="1"/>
          </p:cNvSpPr>
          <p:nvPr/>
        </p:nvSpPr>
        <p:spPr>
          <a:xfrm xmlns:a="http://schemas.openxmlformats.org/drawingml/2006/main">
            <a:off x="1238250" y="9620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6681"/>
                </a:solidFill>
                <a:latin typeface="Montserrat"/>
                <a:ea typeface="Montserrat"/>
                <a:cs typeface="Montserrat"/>
              </a:defRPr>
            </a:defPPr>
          </a:lstStyle>
          <a:p xmlns:a="http://schemas.openxmlformats.org/drawingml/2006/main">
            <a:pPr algn="l">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PDF-GalaxAI</a:t>
            </a:r>
          </a:p>
        </p:txBody>
      </p:sp>
      <p:sp>
        <p:nvSpPr>
          <p:cNvPr id="16" name="12 / 12">
            <a:extLst xmlns:a="http://schemas.openxmlformats.org/drawingml/2006/main">
              <a:ext uri="{FF2B5EF4-FFF2-40B4-BE49-F238E27FC236}">
                <a16:creationId xmlns:a16="http://schemas.microsoft.com/office/drawing/2014/main" id="{7AA5E54A-3585-4D2A-BF1A-1B9799A0517D}"/>
              </a:ext>
            </a:extLst>
          </p:cNvPr>
          <p:cNvSpPr>
            <a:spLocks xmlns:a="http://schemas.openxmlformats.org/drawingml/2006/main" noGrp="1"/>
          </p:cNvSpPr>
          <p:nvPr/>
        </p:nvSpPr>
        <p:spPr>
          <a:xfrm xmlns:a="http://schemas.openxmlformats.org/drawingml/2006/main">
            <a:off x="15430500" y="96202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0">
                <a:solidFill>
                  <a:srgbClr val="536681"/>
                </a:solidFill>
                <a:latin typeface="Montserrat"/>
                <a:ea typeface="Montserrat"/>
                <a:cs typeface="Montserrat"/>
              </a:defRPr>
            </a:defPPr>
          </a:lstStyle>
          <a:p xmlns:a="http://schemas.openxmlformats.org/drawingml/2006/main">
            <a:pPr algn="r">
              <a:buNone/>
              <a:defRPr sz="1650" b="0">
                <a:solidFill>
                  <a:srgbClr val="536681"/>
                </a:solidFill>
                <a:latin typeface="Montserrat"/>
                <a:ea typeface="Montserrat"/>
                <a:cs typeface="Montserrat"/>
              </a:defRPr>
            </a:pPr>
            <a:r>
              <a:rPr sz="1650" b="0">
                <a:solidFill>
                  <a:srgbClr val="536681"/>
                </a:solidFill>
                <a:latin typeface="Montserrat"/>
                <a:ea typeface="Montserrat"/>
                <a:cs typeface="Montserrat"/>
              </a:rPr>
              <a:t>09 / 09</a:t>
            </a:r>
          </a:p>
        </p:txBody>
      </p:sp>
      <p:sp>
        <p:nvSpPr>
          <p:cNvPr id="17" name="Design-Driven&#10;Technological Innovation">
            <a:extLst xmlns:a="http://schemas.openxmlformats.org/drawingml/2006/main">
              <a:ext uri="{FF2B5EF4-FFF2-40B4-BE49-F238E27FC236}">
                <a16:creationId xmlns:a16="http://schemas.microsoft.com/office/drawing/2014/main" id="{A662C3D7-58B7-4124-974E-E1F3ADBAA015}"/>
              </a:ext>
            </a:extLst>
          </p:cNvPr>
          <p:cNvSpPr>
            <a:spLocks xmlns:a="http://schemas.openxmlformats.org/drawingml/2006/main" noGrp="1"/>
          </p:cNvSpPr>
          <p:nvPr/>
        </p:nvSpPr>
        <p:spPr>
          <a:xfrm xmlns:a="http://schemas.openxmlformats.org/drawingml/2006/main">
            <a:off x="2190750" y="2305050"/>
            <a:ext cx="13906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5400" b="1">
                <a:solidFill>
                  <a:srgbClr val="101B40"/>
                </a:solidFill>
                <a:latin typeface="Montserrat Bold"/>
                <a:ea typeface="Montserrat Bold"/>
                <a:cs typeface="Montserrat Bold"/>
              </a:defRPr>
            </a:defPPr>
          </a:lstStyle>
          <a:p xmlns:a="http://schemas.openxmlformats.org/drawingml/2006/main">
            <a:pPr algn="ctr">
              <a:buNone/>
              <a:defRPr sz="5400" b="1">
                <a:solidFill>
                  <a:srgbClr val="101B40"/>
                </a:solidFill>
                <a:latin typeface="Montserrat Bold"/>
                <a:ea typeface="Montserrat Bold"/>
                <a:cs typeface="Montserrat Bold"/>
              </a:defRPr>
            </a:pPr>
            <a:r>
              <a:rPr sz="5400" b="1">
                <a:solidFill>
                  <a:srgbClr val="101B40"/>
                </a:solidFill>
                <a:latin typeface="Montserrat Bold"/>
                <a:ea typeface="Montserrat Bold"/>
                <a:cs typeface="Montserrat Bold"/>
              </a:rPr>
              <a:t>Design-Driven</a:t>
            </a:r>
          </a:p>
          <a:p xmlns:a="http://schemas.openxmlformats.org/drawingml/2006/main">
            <a:pPr algn="ctr">
              <a:buNone/>
              <a:defRPr sz="5400" b="1">
                <a:solidFill>
                  <a:srgbClr val="101B40"/>
                </a:solidFill>
                <a:latin typeface="Montserrat Bold"/>
                <a:ea typeface="Montserrat Bold"/>
                <a:cs typeface="Montserrat Bold"/>
              </a:defRPr>
            </a:pPr>
            <a:r>
              <a:rPr sz="5400" b="1">
                <a:solidFill>
                  <a:srgbClr val="101B40"/>
                </a:solidFill>
                <a:latin typeface="Montserrat Bold"/>
                <a:ea typeface="Montserrat Bold"/>
                <a:cs typeface="Montserrat Bold"/>
              </a:rPr>
              <a:t>Technological Innovation</a:t>
            </a:r>
          </a:p>
        </p:txBody>
      </p:sp>
      <p:sp>
        <p:nvSpPr>
          <p:cNvPr id="18" name="I independently designed and developed an application that makes&#10;seman">
            <a:extLst xmlns:a="http://schemas.openxmlformats.org/drawingml/2006/main">
              <a:ext uri="{FF2B5EF4-FFF2-40B4-BE49-F238E27FC236}">
                <a16:creationId xmlns:a16="http://schemas.microsoft.com/office/drawing/2014/main" id="{FE6458D2-377A-4050-96BE-C46C0124D829}"/>
              </a:ext>
            </a:extLst>
          </p:cNvPr>
          <p:cNvSpPr>
            <a:spLocks xmlns:a="http://schemas.openxmlformats.org/drawingml/2006/main" noGrp="1"/>
          </p:cNvSpPr>
          <p:nvPr/>
        </p:nvSpPr>
        <p:spPr>
          <a:xfrm xmlns:a="http://schemas.openxmlformats.org/drawingml/2006/main">
            <a:off x="2571750" y="4457700"/>
            <a:ext cx="1314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625" b="0">
                <a:solidFill>
                  <a:srgbClr val="101B40"/>
                </a:solidFill>
                <a:latin typeface="Montserrat"/>
                <a:ea typeface="Montserrat"/>
                <a:cs typeface="Montserrat"/>
              </a:defRPr>
            </a:defPPr>
          </a:lstStyle>
          <a:p xmlns:a="http://schemas.openxmlformats.org/drawingml/2006/main">
            <a:pPr algn="ctr">
              <a:buNone/>
              <a:defRPr sz="2625" b="0">
                <a:solidFill>
                  <a:srgbClr val="101B40"/>
                </a:solidFill>
                <a:latin typeface="Montserrat"/>
                <a:ea typeface="Montserrat"/>
                <a:cs typeface="Montserrat"/>
              </a:defRPr>
            </a:pPr>
            <a:r>
              <a:rPr sz="2625" b="0">
                <a:solidFill>
                  <a:srgbClr val="101B40"/>
                </a:solidFill>
                <a:latin typeface="Montserrat"/>
                <a:ea typeface="Montserrat"/>
                <a:cs typeface="Montserrat"/>
              </a:rPr>
              <a:t>I independently designed and developed an application that makes</a:t>
            </a:r>
          </a:p>
          <a:p xmlns:a="http://schemas.openxmlformats.org/drawingml/2006/main">
            <a:pPr algn="ctr">
              <a:buNone/>
              <a:defRPr sz="2625" b="0">
                <a:solidFill>
                  <a:srgbClr val="101B40"/>
                </a:solidFill>
                <a:latin typeface="Montserrat"/>
                <a:ea typeface="Montserrat"/>
                <a:cs typeface="Montserrat"/>
              </a:defRPr>
            </a:pPr>
            <a:r>
              <a:rPr sz="2625" b="0">
                <a:solidFill>
                  <a:srgbClr val="101B40"/>
                </a:solidFill>
                <a:latin typeface="Montserrat"/>
                <a:ea typeface="Montserrat"/>
                <a:cs typeface="Montserrat"/>
              </a:rPr>
              <a:t>semantic relationships explorable and original evidence accessible.</a:t>
            </a:r>
          </a:p>
        </p:txBody>
      </p:sp>
      <p:sp>
        <p:nvSpPr>
          <p:cNvPr id="19" name="Next evaluation">
            <a:extLst xmlns:a="http://schemas.openxmlformats.org/drawingml/2006/main">
              <a:ext uri="{FF2B5EF4-FFF2-40B4-BE49-F238E27FC236}">
                <a16:creationId xmlns:a16="http://schemas.microsoft.com/office/drawing/2014/main" id="{029CE2F1-CA54-422D-BC28-4B05706A785E}"/>
              </a:ext>
            </a:extLst>
          </p:cNvPr>
          <p:cNvSpPr>
            <a:spLocks xmlns:a="http://schemas.openxmlformats.org/drawingml/2006/main" noGrp="1"/>
          </p:cNvSpPr>
          <p:nvPr/>
        </p:nvSpPr>
        <p:spPr>
          <a:xfrm xmlns:a="http://schemas.openxmlformats.org/drawingml/2006/main">
            <a:off x="2667000" y="61531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Next evaluation</a:t>
            </a:r>
          </a:p>
        </p:txBody>
      </p:sp>
      <p:sp>
        <p:nvSpPr>
          <p:cNvPr id="20" name="Compare 3D exploration with lists and 2D graphs. Measure task completi">
            <a:extLst xmlns:a="http://schemas.openxmlformats.org/drawingml/2006/main">
              <a:ext uri="{FF2B5EF4-FFF2-40B4-BE49-F238E27FC236}">
                <a16:creationId xmlns:a16="http://schemas.microsoft.com/office/drawing/2014/main" id="{90231FC2-F8BA-41B0-810D-5B87E467F932}"/>
              </a:ext>
            </a:extLst>
          </p:cNvPr>
          <p:cNvSpPr>
            <a:spLocks xmlns:a="http://schemas.openxmlformats.org/drawingml/2006/main" noGrp="1"/>
          </p:cNvSpPr>
          <p:nvPr/>
        </p:nvSpPr>
        <p:spPr>
          <a:xfrm xmlns:a="http://schemas.openxmlformats.org/drawingml/2006/main">
            <a:off x="2667000" y="6791325"/>
            <a:ext cx="6286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681"/>
                </a:solidFill>
                <a:latin typeface="Montserrat"/>
                <a:ea typeface="Montserrat"/>
                <a:cs typeface="Montserrat"/>
              </a:defRPr>
            </a:defPPr>
          </a:lstStyle>
          <a:p xmlns:a="http://schemas.openxmlformats.org/drawingml/2006/main">
            <a:pPr algn="l">
              <a:buNone/>
              <a:defRPr sz="2175" b="0">
                <a:solidFill>
                  <a:srgbClr val="536681"/>
                </a:solidFill>
                <a:latin typeface="Montserrat"/>
                <a:ea typeface="Montserrat"/>
                <a:cs typeface="Montserrat"/>
              </a:defRPr>
            </a:pPr>
            <a:r>
              <a:rPr sz="2175" b="0">
                <a:solidFill>
                  <a:srgbClr val="536681"/>
                </a:solidFill>
                <a:latin typeface="Montserrat"/>
                <a:ea typeface="Montserrat"/>
                <a:cs typeface="Montserrat"/>
              </a:rPr>
              <a:t>Compare 3D exploration with lists and 2D graphs. Measure task completion time and usability.</a:t>
            </a:r>
          </a:p>
        </p:txBody>
      </p:sp>
      <p:sp>
        <p:nvSpPr>
          <p:cNvPr id="21" name="Next engineering step">
            <a:extLst xmlns:a="http://schemas.openxmlformats.org/drawingml/2006/main">
              <a:ext uri="{FF2B5EF4-FFF2-40B4-BE49-F238E27FC236}">
                <a16:creationId xmlns:a16="http://schemas.microsoft.com/office/drawing/2014/main" id="{4A65BCB0-1D9A-416C-90A1-0100E7845DE9}"/>
              </a:ext>
            </a:extLst>
          </p:cNvPr>
          <p:cNvSpPr>
            <a:spLocks xmlns:a="http://schemas.openxmlformats.org/drawingml/2006/main" noGrp="1"/>
          </p:cNvSpPr>
          <p:nvPr/>
        </p:nvSpPr>
        <p:spPr>
          <a:xfrm xmlns:a="http://schemas.openxmlformats.org/drawingml/2006/main">
            <a:off x="10001250" y="6153150"/>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Next engineering step</a:t>
            </a:r>
          </a:p>
        </p:txBody>
      </p:sp>
      <p:sp>
        <p:nvSpPr>
          <p:cNvPr id="22" name="Improve source alignment, test retrieval quality and profile rendering">
            <a:extLst xmlns:a="http://schemas.openxmlformats.org/drawingml/2006/main">
              <a:ext uri="{FF2B5EF4-FFF2-40B4-BE49-F238E27FC236}">
                <a16:creationId xmlns:a16="http://schemas.microsoft.com/office/drawing/2014/main" id="{981170D5-B5C7-455B-A47B-D78B0A0D3BFC}"/>
              </a:ext>
            </a:extLst>
          </p:cNvPr>
          <p:cNvSpPr>
            <a:spLocks xmlns:a="http://schemas.openxmlformats.org/drawingml/2006/main" noGrp="1"/>
          </p:cNvSpPr>
          <p:nvPr/>
        </p:nvSpPr>
        <p:spPr>
          <a:xfrm xmlns:a="http://schemas.openxmlformats.org/drawingml/2006/main">
            <a:off x="10001250" y="6791325"/>
            <a:ext cx="5905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681"/>
                </a:solidFill>
                <a:latin typeface="Montserrat"/>
                <a:ea typeface="Montserrat"/>
                <a:cs typeface="Montserrat"/>
              </a:defRPr>
            </a:defPPr>
          </a:lstStyle>
          <a:p xmlns:a="http://schemas.openxmlformats.org/drawingml/2006/main">
            <a:pPr algn="l">
              <a:buNone/>
              <a:defRPr sz="2175" b="0">
                <a:solidFill>
                  <a:srgbClr val="536681"/>
                </a:solidFill>
                <a:latin typeface="Montserrat"/>
                <a:ea typeface="Montserrat"/>
                <a:cs typeface="Montserrat"/>
              </a:defRPr>
            </a:pPr>
            <a:r>
              <a:rPr sz="2175" b="0">
                <a:solidFill>
                  <a:srgbClr val="536681"/>
                </a:solidFill>
                <a:latin typeface="Montserrat"/>
                <a:ea typeface="Montserrat"/>
                <a:cs typeface="Montserrat"/>
              </a:rPr>
              <a:t>Improve source alignment, test retrieval quality and profile rendering with larger libraries.</a:t>
            </a:r>
          </a:p>
        </p:txBody>
      </p:sp>
      <p:sp>
        <p:nvSpPr>
          <p:cNvPr id="23" name="">
            <a:extLst xmlns:a="http://schemas.openxmlformats.org/drawingml/2006/main">
              <a:ext uri="{FF2B5EF4-FFF2-40B4-BE49-F238E27FC236}">
                <a16:creationId xmlns:a16="http://schemas.microsoft.com/office/drawing/2014/main" id="{26C7F01A-4667-4FFC-8B58-77C90C72BD10}"/>
              </a:ext>
            </a:extLst>
          </p:cNvPr>
          <p:cNvSpPr>
            <a:spLocks xmlns:a="http://schemas.openxmlformats.org/drawingml/2006/main" noGrp="1"/>
          </p:cNvSpPr>
          <p:nvPr/>
        </p:nvSpPr>
        <p:spPr>
          <a:xfrm xmlns:a="http://schemas.openxmlformats.org/drawingml/2006/main">
            <a:off x="2667000" y="8267700"/>
            <a:ext cx="13144500" cy="0"/>
          </a:xfrm>
          <a:prstGeom xmlns:a="http://schemas.openxmlformats.org/drawingml/2006/main" prst="line">
            <a:avLst/>
          </a:prstGeom>
          <a:noFill xmlns:a="http://schemas.openxmlformats.org/drawingml/2006/main"/>
          <a:ln xmlns:a="http://schemas.openxmlformats.org/drawingml/2006/main" w="13335">
            <a:solidFill>
              <a:srgbClr val="8FA4C1"/>
            </a:solidFill>
          </a:ln>
        </p:spPr>
      </p:sp>
      <p:sp>
        <p:nvSpPr>
          <p:cNvPr id="24" name="[Your Name]">
            <a:extLst xmlns:a="http://schemas.openxmlformats.org/drawingml/2006/main">
              <a:ext uri="{FF2B5EF4-FFF2-40B4-BE49-F238E27FC236}">
                <a16:creationId xmlns:a16="http://schemas.microsoft.com/office/drawing/2014/main" id="{3F751FEA-7CB6-49FC-8521-63D3411C2FC4}"/>
              </a:ext>
            </a:extLst>
          </p:cNvPr>
          <p:cNvSpPr>
            <a:spLocks xmlns:a="http://schemas.openxmlformats.org/drawingml/2006/main" noGrp="1"/>
          </p:cNvSpPr>
          <p:nvPr/>
        </p:nvSpPr>
        <p:spPr>
          <a:xfrm xmlns:a="http://schemas.openxmlformats.org/drawingml/2006/main">
            <a:off x="2667000" y="859155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01B40"/>
                </a:solidFill>
                <a:latin typeface="Montserrat Bold"/>
                <a:ea typeface="Montserrat Bold"/>
                <a:cs typeface="Montserrat Bold"/>
              </a:defRPr>
            </a:defPPr>
          </a:lstStyle>
          <a:p xmlns:a="http://schemas.openxmlformats.org/drawingml/2006/main">
            <a:pPr algn="l">
              <a:buNone/>
              <a:defRPr sz="2550" b="1">
                <a:solidFill>
                  <a:srgbClr val="101B40"/>
                </a:solidFill>
                <a:latin typeface="Montserrat Bold"/>
                <a:ea typeface="Montserrat Bold"/>
                <a:cs typeface="Montserrat Bold"/>
              </a:defRPr>
            </a:pPr>
            <a:r>
              <a:rPr sz="2550" b="1">
                <a:solidFill>
                  <a:srgbClr val="101B40"/>
                </a:solidFill>
                <a:latin typeface="Montserrat Bold"/>
                <a:ea typeface="Montserrat Bold"/>
                <a:cs typeface="Montserrat Bold"/>
              </a:rPr>
              <a:t>[Your Name]</a:t>
            </a:r>
          </a:p>
        </p:txBody>
      </p:sp>
      <p:sp>
        <p:nvSpPr>
          <p:cNvPr id="25" name="GitHub">
            <a:extLst xmlns:a="http://schemas.openxmlformats.org/drawingml/2006/main">
              <a:ext uri="{FF2B5EF4-FFF2-40B4-BE49-F238E27FC236}">
                <a16:creationId xmlns:a16="http://schemas.microsoft.com/office/drawing/2014/main" id="{1154105B-6A4F-450B-97EE-54067C03DF22}"/>
              </a:ext>
            </a:extLst>
          </p:cNvPr>
          <p:cNvSpPr>
            <a:spLocks xmlns:a="http://schemas.openxmlformats.org/drawingml/2006/main" noGrp="1"/>
          </p:cNvSpPr>
          <p:nvPr/>
        </p:nvSpPr>
        <p:spPr>
          <a:xfrm xmlns:a="http://schemas.openxmlformats.org/drawingml/2006/main">
            <a:off x="10001250" y="850582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36681"/>
                </a:solidFill>
                <a:latin typeface="Montserrat Bold"/>
                <a:ea typeface="Montserrat Bold"/>
                <a:cs typeface="Montserrat Bold"/>
              </a:defRPr>
            </a:defPPr>
          </a:lstStyle>
          <a:p xmlns:a="http://schemas.openxmlformats.org/drawingml/2006/main">
            <a:pPr algn="l">
              <a:buNone/>
              <a:defRPr sz="1800" b="1">
                <a:solidFill>
                  <a:srgbClr val="536681"/>
                </a:solidFill>
                <a:latin typeface="Montserrat Bold"/>
                <a:ea typeface="Montserrat Bold"/>
                <a:cs typeface="Montserrat Bold"/>
              </a:defRPr>
            </a:pPr>
            <a:r>
              <a:rPr sz="1800" b="1">
                <a:solidFill>
                  <a:srgbClr val="536681"/>
                </a:solidFill>
                <a:latin typeface="Montserrat Bold"/>
                <a:ea typeface="Montserrat Bold"/>
                <a:cs typeface="Montserrat Bold"/>
              </a:rPr>
              <a:t>GitHub</a:t>
            </a:r>
          </a:p>
        </p:txBody>
      </p:sp>
      <p:sp>
        <p:nvSpPr>
          <p:cNvPr id="26" name="[Add your GitHub URL]">
            <a:extLst xmlns:a="http://schemas.openxmlformats.org/drawingml/2006/main">
              <a:ext uri="{FF2B5EF4-FFF2-40B4-BE49-F238E27FC236}">
                <a16:creationId xmlns:a16="http://schemas.microsoft.com/office/drawing/2014/main" id="{C68A934F-CBBF-4E0C-8922-4E0FE36F8670}"/>
              </a:ext>
            </a:extLst>
          </p:cNvPr>
          <p:cNvSpPr>
            <a:spLocks xmlns:a="http://schemas.openxmlformats.org/drawingml/2006/main" noGrp="1"/>
          </p:cNvSpPr>
          <p:nvPr/>
        </p:nvSpPr>
        <p:spPr>
          <a:xfrm xmlns:a="http://schemas.openxmlformats.org/drawingml/2006/main">
            <a:off x="10001250" y="8915400"/>
            <a:ext cx="590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01B40"/>
                </a:solidFill>
                <a:latin typeface="Montserrat"/>
                <a:ea typeface="Montserrat"/>
                <a:cs typeface="Montserrat"/>
              </a:defRPr>
            </a:defPPr>
          </a:lstStyle>
          <a:p xmlns:a="http://schemas.openxmlformats.org/drawingml/2006/main">
            <a:pPr algn="l">
              <a:buNone/>
              <a:defRPr sz="2100" b="0">
                <a:solidFill>
                  <a:srgbClr val="101B40"/>
                </a:solidFill>
                <a:latin typeface="Montserrat"/>
                <a:ea typeface="Montserrat"/>
                <a:cs typeface="Montserrat"/>
              </a:defRPr>
            </a:pPr>
            <a:r>
              <a:rPr sz="2100" b="0">
                <a:solidFill>
                  <a:srgbClr val="101B40"/>
                </a:solidFill>
                <a:latin typeface="Montserrat"/>
                <a:ea typeface="Montserrat"/>
                <a:cs typeface="Montserrat"/>
              </a:rPr>
              <a:t>[Add your GitHub URL]</a:t>
            </a:r>
          </a:p>
        </p:txBody>
      </p:sp>
    </p:spTree>
    <p:extLst>
      <p:ext uri="{BB962C8B-B14F-4D97-AF65-F5344CB8AC3E}">
        <p14:creationId xmlns:p14="http://schemas.microsoft.com/office/powerpoint/2010/main" val="166619149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2026-10-11T18:50:16.2130000Z</dcterms:created>
  <dcterms:modified xsi:type="dcterms:W3CDTF">2026-10-11T18:50:16.2130000Z</dcterms:modified>
</coreProperties>
</file>